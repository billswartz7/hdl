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 id="2147483668" r:id="rId3"/>
  </p:sldMasterIdLst>
  <p:notesMasterIdLst>
    <p:notesMasterId r:id="rId78"/>
  </p:notesMasterIdLst>
  <p:sldIdLst>
    <p:sldId id="256" r:id="rId4"/>
    <p:sldId id="257" r:id="rId5"/>
    <p:sldId id="294" r:id="rId6"/>
    <p:sldId id="295" r:id="rId7"/>
    <p:sldId id="296" r:id="rId8"/>
    <p:sldId id="297" r:id="rId9"/>
    <p:sldId id="298" r:id="rId10"/>
    <p:sldId id="258" r:id="rId11"/>
    <p:sldId id="299" r:id="rId12"/>
    <p:sldId id="259" r:id="rId13"/>
    <p:sldId id="300" r:id="rId14"/>
    <p:sldId id="301" r:id="rId15"/>
    <p:sldId id="302" r:id="rId16"/>
    <p:sldId id="303" r:id="rId17"/>
    <p:sldId id="304" r:id="rId18"/>
    <p:sldId id="305" r:id="rId19"/>
    <p:sldId id="260" r:id="rId20"/>
    <p:sldId id="261" r:id="rId21"/>
    <p:sldId id="306" r:id="rId22"/>
    <p:sldId id="307" r:id="rId23"/>
    <p:sldId id="308" r:id="rId24"/>
    <p:sldId id="262" r:id="rId25"/>
    <p:sldId id="263" r:id="rId26"/>
    <p:sldId id="309" r:id="rId27"/>
    <p:sldId id="310" r:id="rId28"/>
    <p:sldId id="311" r:id="rId29"/>
    <p:sldId id="264" r:id="rId30"/>
    <p:sldId id="312" r:id="rId31"/>
    <p:sldId id="265" r:id="rId32"/>
    <p:sldId id="313" r:id="rId33"/>
    <p:sldId id="266" r:id="rId34"/>
    <p:sldId id="314" r:id="rId35"/>
    <p:sldId id="267" r:id="rId36"/>
    <p:sldId id="315" r:id="rId37"/>
    <p:sldId id="268" r:id="rId38"/>
    <p:sldId id="269" r:id="rId39"/>
    <p:sldId id="270" r:id="rId40"/>
    <p:sldId id="271" r:id="rId41"/>
    <p:sldId id="272" r:id="rId42"/>
    <p:sldId id="316" r:id="rId43"/>
    <p:sldId id="317" r:id="rId44"/>
    <p:sldId id="273" r:id="rId45"/>
    <p:sldId id="318" r:id="rId46"/>
    <p:sldId id="319" r:id="rId47"/>
    <p:sldId id="320" r:id="rId48"/>
    <p:sldId id="274" r:id="rId49"/>
    <p:sldId id="321" r:id="rId50"/>
    <p:sldId id="322" r:id="rId51"/>
    <p:sldId id="323" r:id="rId52"/>
    <p:sldId id="275" r:id="rId53"/>
    <p:sldId id="324" r:id="rId54"/>
    <p:sldId id="276" r:id="rId55"/>
    <p:sldId id="277" r:id="rId56"/>
    <p:sldId id="278" r:id="rId57"/>
    <p:sldId id="325" r:id="rId58"/>
    <p:sldId id="279" r:id="rId59"/>
    <p:sldId id="280" r:id="rId60"/>
    <p:sldId id="281" r:id="rId61"/>
    <p:sldId id="326" r:id="rId62"/>
    <p:sldId id="282" r:id="rId63"/>
    <p:sldId id="283" r:id="rId64"/>
    <p:sldId id="284" r:id="rId65"/>
    <p:sldId id="285" r:id="rId66"/>
    <p:sldId id="327" r:id="rId67"/>
    <p:sldId id="286" r:id="rId68"/>
    <p:sldId id="287" r:id="rId69"/>
    <p:sldId id="288" r:id="rId70"/>
    <p:sldId id="289" r:id="rId71"/>
    <p:sldId id="328" r:id="rId72"/>
    <p:sldId id="290" r:id="rId73"/>
    <p:sldId id="291" r:id="rId74"/>
    <p:sldId id="292" r:id="rId75"/>
    <p:sldId id="329" r:id="rId76"/>
    <p:sldId id="293" r:id="rId77"/>
  </p:sldIdLst>
  <p:sldSz cx="10058400" cy="7772400"/>
  <p:notesSz cx="10058400" cy="7772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92" userDrawn="1">
          <p15:clr>
            <a:srgbClr val="A4A3A4"/>
          </p15:clr>
        </p15:guide>
        <p15:guide id="2" pos="33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44" autoAdjust="0"/>
    <p:restoredTop sz="94660"/>
  </p:normalViewPr>
  <p:slideViewPr>
    <p:cSldViewPr snapToGrid="0" showGuides="1">
      <p:cViewPr varScale="1">
        <p:scale>
          <a:sx n="97" d="100"/>
          <a:sy n="97" d="100"/>
        </p:scale>
        <p:origin x="2148" y="72"/>
      </p:cViewPr>
      <p:guideLst>
        <p:guide orient="horz" pos="4392"/>
        <p:guide pos="3312"/>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presProps" Target="presProps.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80"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pPr algn="ctr"/>
            <a:r>
              <a:rPr lang="en-US" sz="4400" b="0" u="none" strike="noStrike">
                <a:solidFill>
                  <a:srgbClr val="000000"/>
                </a:solidFill>
                <a:effectLst/>
                <a:uFillTx/>
                <a:latin typeface="Arial"/>
              </a:rPr>
              <a:t>Click to move the slide</a:t>
            </a:r>
          </a:p>
        </p:txBody>
      </p:sp>
      <p:sp>
        <p:nvSpPr>
          <p:cNvPr id="38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382"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383" name="PlaceHolder 4"/>
          <p:cNvSpPr>
            <a:spLocks noGrp="1"/>
          </p:cNvSpPr>
          <p:nvPr>
            <p:ph type="dt" idx="16"/>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384" name="PlaceHolder 5"/>
          <p:cNvSpPr>
            <a:spLocks noGrp="1"/>
          </p:cNvSpPr>
          <p:nvPr>
            <p:ph type="ftr" idx="17"/>
          </p:nvPr>
        </p:nvSpPr>
        <p:spPr>
          <a:xfrm>
            <a:off x="0" y="9555480"/>
            <a:ext cx="3372840" cy="50256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385" name="PlaceHolder 6"/>
          <p:cNvSpPr>
            <a:spLocks noGrp="1"/>
          </p:cNvSpPr>
          <p:nvPr>
            <p:ph type="sldNum" idx="18"/>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20BBEA29-00E4-49AD-9593-1714797B7997}"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83319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Session 4. Parts 1 to 3 built the machine: a GPU full of multiply-accumulate units. Parts 4 to 6 are about what the machine spends most of its time doing: training. Today, the backpropagation algorithm and its strengths and weaknesses. Part 5 maps it onto GPU hardware. Part 6 introduces Dust, a 2026 research algorithm that trains without backpropagation.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42942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Road map for the second half of the unit.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925007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Start from zero: many students have never seen a neural network written down. It is just a function with a lot of adjustable numbers inside it.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1860879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Each input is multiplied by its own weight, the products are summed with a bias, and the sum goes through a simple function f. That is the whole neuron: a multiply-accumulate (a MAC, from Part 1) followed by a function.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539118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Weights and the bias are what learning adjusts. The activation function is fixed; we will meet sigmoid, tanh and ReLU later today.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9475878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Hidden simply means not directly visible at the input or the output. Deep learning just means many hidden layers.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8524913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collection of all examples is the training data. The targets are usually labelled by people, or for language models taken from the text itself: the target is the next word.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5520265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Use the picture of a mixing board with a billion sliders. Backpropagation is the rule that tells you, for every slider simultaneously, which direction lowers the error.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1020805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A reference slide. Leave it up a moment; every symbol here is defined in more detail in the next few slides. Eta is the Greek letter.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2771405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Over many examples, the loss is the average over the examples. Training is an optimization problem: find the weights that make this one number small.</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0836352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Regression means the answer is a continuous number. y minus t is the error.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9914166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derivative fact on the last line is used on the backward-pass slides: dL/dy = y - 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7695337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If the target is cat, p(correct answer) is 0.7 here. The network makes probabilities from raw outputs with a function called softmax; we do not need its details today.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5292674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Minus log turns a probability near 1 into a loss near 0 and a probability near 0 into a large loss. For the cat example, L = -ln 0.7 = 0.36.</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6269608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Rise over run, from freshman calculus. Draw a curve on the board and a tangent line.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6279485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gradient points uphill; we will step the other way.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955700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One weight, one loss: a curve. The slope at the current weight tells us which way is downhill. With a billion weights the curve becomes a surface in a billion dimensions, but the rule is the same: compute the slope with respect to every weight and step against it.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8502031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Note the HDL-style assignment arrow, as in the rest of the course. The whole difficulty of training is computing that partial derivative for every weight efficiently. That is what backpropagation does.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3221983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best weight is w = 0. Each step multiplies w by (1 - 2 eta): 0.8, 0.2, and -1.2. A factor bigger than one in magnitude means the weight jumps across the valley further each time.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3670732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Forward because data flows from input to output. Every use of a trained network, for example a chatbot answering, is only forward passes. Training also needs slopes.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3475280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run is 2 epsilon because we moved from w - epsilon to w + epsilon. It is the obvious way to measure a slope, and it works, but look at the cost on the next slide.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4905500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Keep this slide in mind: Dust in part 6 is a far smarter version of this idea. For now, it is the reason we need the chain rule.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387035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If z changes 3 times as fast as w, and y changes 2 times as fast as z, then y changes 6 times as fast as w. Freshman calculus is all the mathematics backpropagation needs.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3992710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Each piece's derivative is easy on its own. The chain rule combines them without ever writing out the whole function.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82081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cleverness of backpropagation is in the order of evaluation: multiply from the loss backwards so every intermediate product is reused.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6986933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Large positive inputs give nearly 1, large negative inputs nearly 0. Sketch the S-shaped curve on the board. We use it in the tiny network next.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6638580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Small enough to do by hand, big enough to show every step: two weights, one nonlinearity, one loss. Write the values on the board and keep them up for the next six slides.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6283355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is one neuron with one input and no bias, feeding a second neuron with no activation. Small enough to do by hand.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3364715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Compute left to right. Emphasize the last line: z, h and y are stored. That storage requirement is one of the weaknesses we list later, and a big part of GPU memory use in part 5.</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17000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We start at the output end because the loss is where the error is measured. Each red number below a node is the derivative of the loss with respect to that node's value.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7779413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derivative of the loss with respect to itself is 1. The derivative of one-half (y - t) squared is y - 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5155364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gradient from above is the red number already computed to the right. Multiply it by the local derivative to get the gradient here.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737477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Every multiply node produces two gradients: one for its weight, used to update it, and one for its input, passed further back. In matrix form these become the two backward GEMMs of part 5.</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9779249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Derivation, if students ask: sigma = (1 + e^-z)^-1, so its derivative is e^-z / (1 + e^-z)^2, which simplifies to sigma times (1 - sigma).</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3905923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sigmoid's derivative can be written in terms of its own output, which is why we kept h. Note 0.235 is less than one: every sigmoid shrinks the gradient. Remember that for the vanishing-gradient slide.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1117418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We stop at x because inputs are data, not weights. Count the work: the backward pass was about as many multiplies as the forward pass, twice as many in general, and it produced every gradient at once.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0636053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Values computed in double precision and rounded to four places. Repeat the step a few hundred times and y converges to the target.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3784471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is exactly the testbench idea from the SystemVerilog MAC: a slow, obviously correct reference model checks the fast implementation. Every deep-learning framework is tested this way.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3016891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locality is why frameworks can provide automatic differentiation: every operation ships with its own backward function, and the framework chains them together.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757339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A matrix is a 2-D array of numbers. Column j of W holds all the weights of neuron j.</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2170209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Rows times columns is how matrix sizes are written. Batching is what turns many small vector operations into one big matrix operation.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2020580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Process a batch of B examples at once. Each row of X is one example. This is the operation the tensor cores of part 3 were built for.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0126499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Each entry of Y is a dot product: a row of X times a column of W. That is a chain of MACs, the operation Parts 1 to 3 built hardware for.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8297125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is the matrix version of the red numbers on the tiny network.</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7177992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In hardware no data needs to move to transpose: the multiply just reads the matrix in a different order.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56242194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These are the matrix versions of the two results from the w2 slide: one gradient to pass back, one for the weight. Check the shapes: dY is B by out, W transpose is out by in, so dX is B by in like X. X transpose is in by B, dY is B by out, so dW is in by out like W. Students should derive these once; part 5 implements them as CUDA kernels.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02281398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When multiplying matrices, the inner sizes must match and the outer sizes give the result. Shape checking catches most bugs in a hand-written backward pass.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9826647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Nonlinear means its graph is not a straight line. Any nonlinearity works in principle; the choice is about how well gradients flow and how cheap it is.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5475921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ReLU is the most common activation in modern networks. Its slope is 0 for negative inputs and 1 for positive inputs.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35491759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Without a nonlinearity, stacked layers collapse into a single matrix. ReLU dominates partly because its backward pass is trivial: pass the gradient where the input was positive, block it elsewhere. In hardware that is a sign bit driving a mux.</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94443767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Read this before the code on the next slide. The code is Python-like pseudocode; model.forward and model.backward stand for the forward and backward passes we just did by hand.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53654833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Every training run, from this toy to a frontier language model, is this loop. Each pass over the data is an epoch. Part 5 is about making each line fast on a GPU.</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19474792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Batch size is a hardware decision as much as a statistical one: B is the row dimension of every GEMM. Too small and the tensor cores idle.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1442030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Momentum smooths out the noise of mini-batch gradients: directions that agree from step to step build up speed; directions that flip back and forth cancel.</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92101613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Adam divides the momentum by the square root of the running average of g squared. Adam is the default for transformers. Its two running averages per weight triple the optimizer memory, which matters in part 5.</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95149234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algorithm is old; what changed was compute. The 1986 Nature paper made it famous. Part 1 covered the 2012 AlexNet moment, when GPUs made it practical at scale.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99882461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Now evaluate the algorithm. First what it does well.</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52724450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is sometimes called the cheap gradient principle: reverse-mode differentiation computes the full gradient of a scalar at a small constant multiple of the cost of evaluating it. The backward pass costs about twice the forward pass, so training is roughly three forwards' worth of work per step.</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23897972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Only enough to understand the next slide. Each is built from multiplies, adds and simple functions, so each is differentiable and backprop applies.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92805252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Exactness matters: an exact gradient means each step is as informed as it can be. Generality and automation are why one algorithm trains every architecture people invent.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18496831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is the link to the first three sessions and the setup for part 5. The Dust authors make the same point from the other side: architectures, optimizers and hardware all co-evolved around backpropagation.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85426833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Now the weaknesses. Each of these is a reason people keep looking for alternatives, which leads to Dust in part 6.</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10888053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Early layers in a deep sigmoid network barely learn because their gradient has been multiplied by many small numbers. Residual connections, the x + f(x) in every transformer block, give the gradient a path that skips the product.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47404937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Residual connections, the x + f(x) in every transformer block, give the gradient a path that skips the long product. Together these fixes are why networks with hundreds of layers can be trained.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30446419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If any box in the chain has no derivative, the gradient stops there. Engineers use tricks such as straight-through estimators or reinforcement learning, but these are approximations. The Dust authors name non-differentiable and looped architectures as a motivation.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81156879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Recall the forward-pass slide: z, h and y had to be kept. For a large model that is many gigabytes per batch. Part 5: how GPUs cope. Activation checkpointing trades compute for this memory.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29133788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Forward locking: a layer cannot run until the layers before it have. Backward locking: it cannot update until the error has come all the way back. On one GPU this is hidden by doing layers one after another. Spread across GPUs, one layer per GPU, most GPUs sit idle. Part 5 shows the pipeline bubble this creates.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63830242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Not a practical engineering problem by itself, but it is a hint that other learning rules exist. Hinton, a co-author of the 1986 paper, has worked on alternatives such as the forward-forward algorithm.</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97040610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Picture a horse saddle: along the horse's spine it curves up, side to side it curves down. In very large networks local minima turn out to be less of a problem than people feared; saddle points and flat regions are more common.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64171174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None of these is fatal, and in very large networks local minima turn out to be less of a problem than people feared. But all of them cost engineering time.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65170451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Summary slide. Every item on the right is a research area. Part 6 looks at one answer to the differentiability and locking problems.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45288414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Recap before the exercise.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62915906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Same truth table as the XOR gate. Plot the four points on the board: the two 1s sit on one diagonal and the two 0s on the other. One layer draws one line, so it cannot solve XOR. That was a famous objection to early neural networks.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16812553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Step 5 makes vanishing gradients visible: the first layers' gradients become tiny and the loss stalls. XOR is the classic problem a single layer cannot solve, so it needs the hidden layer and therefore backprop.</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5253951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754560" y="2409480"/>
            <a:ext cx="8548920" cy="163152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5" name="PlaceHolder 2"/>
          <p:cNvSpPr>
            <a:spLocks noGrp="1"/>
          </p:cNvSpPr>
          <p:nvPr>
            <p:ph type="ftr" idx="1"/>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2" name="PlaceHolder 3"/>
          <p:cNvSpPr>
            <a:spLocks noGrp="1"/>
          </p:cNvSpPr>
          <p:nvPr>
            <p:ph type="dt" idx="2"/>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3" name="PlaceHolder 4"/>
          <p:cNvSpPr>
            <a:spLocks noGrp="1"/>
          </p:cNvSpPr>
          <p:nvPr>
            <p:ph type="sldNum" idx="3"/>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7F920929-0F69-4400-B58F-F0F9AC4A6A2D}"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5" name="PlaceHolder 2"/>
          <p:cNvSpPr>
            <a:spLocks noGrp="1"/>
          </p:cNvSpPr>
          <p:nvPr>
            <p:ph type="body"/>
          </p:nvPr>
        </p:nvSpPr>
        <p:spPr>
          <a:xfrm>
            <a:off x="502920" y="1787760"/>
            <a:ext cx="905184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6" name="PlaceHolder 3"/>
          <p:cNvSpPr>
            <a:spLocks noGrp="1"/>
          </p:cNvSpPr>
          <p:nvPr>
            <p:ph type="ftr" idx="4"/>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7" name="PlaceHolder 4"/>
          <p:cNvSpPr>
            <a:spLocks noGrp="1"/>
          </p:cNvSpPr>
          <p:nvPr>
            <p:ph type="dt" idx="5"/>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8" name="PlaceHolder 5"/>
          <p:cNvSpPr>
            <a:spLocks noGrp="1"/>
          </p:cNvSpPr>
          <p:nvPr>
            <p:ph type="sldNum" idx="6"/>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5BC29054-6F74-4644-9529-D93E886B0EF0}"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bg>
      <p:bgPr>
        <a:solidFill>
          <a:schemeClr val="lt1"/>
        </a:solidFill>
        <a:effectLst/>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10" name="PlaceHolder 2"/>
          <p:cNvSpPr>
            <a:spLocks noGrp="1"/>
          </p:cNvSpPr>
          <p:nvPr>
            <p:ph type="body"/>
          </p:nvPr>
        </p:nvSpPr>
        <p:spPr>
          <a:xfrm>
            <a:off x="502920" y="1787760"/>
            <a:ext cx="437472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11" name="PlaceHolder 3"/>
          <p:cNvSpPr>
            <a:spLocks noGrp="1"/>
          </p:cNvSpPr>
          <p:nvPr>
            <p:ph type="body"/>
          </p:nvPr>
        </p:nvSpPr>
        <p:spPr>
          <a:xfrm>
            <a:off x="5180040" y="1787760"/>
            <a:ext cx="437472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12" name="PlaceHolder 4"/>
          <p:cNvSpPr>
            <a:spLocks noGrp="1"/>
          </p:cNvSpPr>
          <p:nvPr>
            <p:ph type="ftr" idx="7"/>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3" name="PlaceHolder 5"/>
          <p:cNvSpPr>
            <a:spLocks noGrp="1"/>
          </p:cNvSpPr>
          <p:nvPr>
            <p:ph type="dt" idx="8"/>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4" name="PlaceHolder 6"/>
          <p:cNvSpPr>
            <a:spLocks noGrp="1"/>
          </p:cNvSpPr>
          <p:nvPr>
            <p:ph type="sldNum" idx="9"/>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4839A86E-239E-4764-956E-22B529859FEB}"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bg>
      <p:bgPr>
        <a:solidFill>
          <a:schemeClr val="lt1"/>
        </a:solidFill>
        <a:effectLst/>
      </p:bgPr>
    </p:bg>
    <p:spTree>
      <p:nvGrpSpPr>
        <p:cNvPr id="1" name=""/>
        <p:cNvGrpSpPr/>
        <p:nvPr/>
      </p:nvGrpSpPr>
      <p:grpSpPr>
        <a:xfrm>
          <a:off x="0" y="0"/>
          <a:ext cx="0" cy="0"/>
          <a:chOff x="0" y="0"/>
          <a:chExt cx="0" cy="0"/>
        </a:xfrm>
      </p:grpSpPr>
      <p:sp>
        <p:nvSpPr>
          <p:cNvPr id="15" name="bk object 16"/>
          <p:cNvSpPr/>
          <p:nvPr/>
        </p:nvSpPr>
        <p:spPr>
          <a:xfrm>
            <a:off x="2341800" y="638280"/>
            <a:ext cx="360" cy="5485680"/>
          </a:xfrm>
          <a:custGeom>
            <a:avLst/>
            <a:gdLst>
              <a:gd name="textAreaLeft" fmla="*/ 0 w 360"/>
              <a:gd name="textAreaRight" fmla="*/ 1440 w 360"/>
              <a:gd name="textAreaTop" fmla="*/ 0 h 5485680"/>
              <a:gd name="textAreaBottom" fmla="*/ 5486400 h 5485680"/>
            </a:gdLst>
            <a:ahLst/>
            <a:cxnLst/>
            <a:rect l="textAreaLeft" t="textAreaTop" r="textAreaRight" b="textAreaBottom"/>
            <a:pathLst>
              <a:path h="5486398">
                <a:moveTo>
                  <a:pt x="0" y="0"/>
                </a:moveTo>
                <a:lnTo>
                  <a:pt x="0" y="5486398"/>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 name="bk object 17"/>
          <p:cNvSpPr/>
          <p:nvPr/>
        </p:nvSpPr>
        <p:spPr>
          <a:xfrm>
            <a:off x="2296080" y="607896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 name="bk object 18"/>
          <p:cNvSpPr/>
          <p:nvPr/>
        </p:nvSpPr>
        <p:spPr>
          <a:xfrm>
            <a:off x="2296080" y="553968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 name="bk object 19"/>
          <p:cNvSpPr/>
          <p:nvPr/>
        </p:nvSpPr>
        <p:spPr>
          <a:xfrm>
            <a:off x="2296080" y="50000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9" name="bk object 20"/>
          <p:cNvSpPr/>
          <p:nvPr/>
        </p:nvSpPr>
        <p:spPr>
          <a:xfrm>
            <a:off x="2296080" y="446040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0" name="bk object 21"/>
          <p:cNvSpPr/>
          <p:nvPr/>
        </p:nvSpPr>
        <p:spPr>
          <a:xfrm>
            <a:off x="2296080" y="392112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1" name="bk object 22"/>
          <p:cNvSpPr/>
          <p:nvPr/>
        </p:nvSpPr>
        <p:spPr>
          <a:xfrm>
            <a:off x="2296080" y="338148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2" name="bk object 23"/>
          <p:cNvSpPr/>
          <p:nvPr/>
        </p:nvSpPr>
        <p:spPr>
          <a:xfrm>
            <a:off x="2296080" y="28418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3" name="bk object 24"/>
          <p:cNvSpPr/>
          <p:nvPr/>
        </p:nvSpPr>
        <p:spPr>
          <a:xfrm>
            <a:off x="2296080" y="230256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4" name="bk object 25"/>
          <p:cNvSpPr/>
          <p:nvPr/>
        </p:nvSpPr>
        <p:spPr>
          <a:xfrm>
            <a:off x="2296080" y="176292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5" name="bk object 26"/>
          <p:cNvSpPr/>
          <p:nvPr/>
        </p:nvSpPr>
        <p:spPr>
          <a:xfrm>
            <a:off x="2296080" y="12236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6" name="bk object 27"/>
          <p:cNvSpPr/>
          <p:nvPr/>
        </p:nvSpPr>
        <p:spPr>
          <a:xfrm>
            <a:off x="2296080" y="68400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7" name="bk object 28"/>
          <p:cNvSpPr/>
          <p:nvPr/>
        </p:nvSpPr>
        <p:spPr>
          <a:xfrm>
            <a:off x="2107080" y="5949000"/>
            <a:ext cx="134640" cy="204480"/>
          </a:xfrm>
          <a:custGeom>
            <a:avLst/>
            <a:gdLst>
              <a:gd name="textAreaLeft" fmla="*/ 0 w 134640"/>
              <a:gd name="textAreaRight" fmla="*/ 135360 w 134640"/>
              <a:gd name="textAreaTop" fmla="*/ 0 h 204480"/>
              <a:gd name="textAreaBottom" fmla="*/ 205200 h 204480"/>
            </a:gdLst>
            <a:ahLst/>
            <a:cxnLst/>
            <a:rect l="textAreaLeft" t="textAreaTop" r="textAreaRight" b="textAreaBottom"/>
            <a:pathLst>
              <a:path w="135254" h="205371">
                <a:moveTo>
                  <a:pt x="81533" y="0"/>
                </a:moveTo>
                <a:lnTo>
                  <a:pt x="54101" y="0"/>
                </a:lnTo>
                <a:lnTo>
                  <a:pt x="30098" y="11823"/>
                </a:lnTo>
                <a:lnTo>
                  <a:pt x="18033" y="20840"/>
                </a:lnTo>
                <a:lnTo>
                  <a:pt x="6095" y="44970"/>
                </a:lnTo>
                <a:lnTo>
                  <a:pt x="3175" y="53975"/>
                </a:lnTo>
                <a:lnTo>
                  <a:pt x="253" y="75196"/>
                </a:lnTo>
                <a:lnTo>
                  <a:pt x="253" y="102628"/>
                </a:lnTo>
                <a:lnTo>
                  <a:pt x="0" y="102628"/>
                </a:lnTo>
                <a:lnTo>
                  <a:pt x="0" y="130060"/>
                </a:lnTo>
                <a:lnTo>
                  <a:pt x="2920" y="151269"/>
                </a:lnTo>
                <a:lnTo>
                  <a:pt x="11937" y="169430"/>
                </a:lnTo>
                <a:lnTo>
                  <a:pt x="17906" y="184543"/>
                </a:lnTo>
                <a:lnTo>
                  <a:pt x="29971" y="193560"/>
                </a:lnTo>
                <a:lnTo>
                  <a:pt x="42036" y="199529"/>
                </a:lnTo>
                <a:lnTo>
                  <a:pt x="66166" y="205371"/>
                </a:lnTo>
                <a:lnTo>
                  <a:pt x="81279" y="202450"/>
                </a:lnTo>
                <a:lnTo>
                  <a:pt x="93344" y="199529"/>
                </a:lnTo>
                <a:lnTo>
                  <a:pt x="105409" y="193560"/>
                </a:lnTo>
                <a:lnTo>
                  <a:pt x="114426" y="184543"/>
                </a:lnTo>
                <a:lnTo>
                  <a:pt x="116397" y="181241"/>
                </a:lnTo>
                <a:lnTo>
                  <a:pt x="57276" y="181241"/>
                </a:lnTo>
                <a:lnTo>
                  <a:pt x="54356" y="178320"/>
                </a:lnTo>
                <a:lnTo>
                  <a:pt x="51434" y="178320"/>
                </a:lnTo>
                <a:lnTo>
                  <a:pt x="39623" y="166509"/>
                </a:lnTo>
                <a:lnTo>
                  <a:pt x="33654" y="157492"/>
                </a:lnTo>
                <a:lnTo>
                  <a:pt x="30709" y="139204"/>
                </a:lnTo>
                <a:lnTo>
                  <a:pt x="27812" y="124218"/>
                </a:lnTo>
                <a:lnTo>
                  <a:pt x="27812" y="103009"/>
                </a:lnTo>
                <a:lnTo>
                  <a:pt x="27558" y="102628"/>
                </a:lnTo>
                <a:lnTo>
                  <a:pt x="27558" y="78371"/>
                </a:lnTo>
                <a:lnTo>
                  <a:pt x="30479" y="66306"/>
                </a:lnTo>
                <a:lnTo>
                  <a:pt x="33400" y="48145"/>
                </a:lnTo>
                <a:lnTo>
                  <a:pt x="39369" y="39128"/>
                </a:lnTo>
                <a:lnTo>
                  <a:pt x="51181" y="27317"/>
                </a:lnTo>
                <a:lnTo>
                  <a:pt x="57150" y="24396"/>
                </a:lnTo>
                <a:lnTo>
                  <a:pt x="116294" y="24396"/>
                </a:lnTo>
                <a:lnTo>
                  <a:pt x="114553" y="20840"/>
                </a:lnTo>
                <a:lnTo>
                  <a:pt x="105536" y="11823"/>
                </a:lnTo>
                <a:lnTo>
                  <a:pt x="81533" y="0"/>
                </a:lnTo>
                <a:close/>
              </a:path>
              <a:path w="135254" h="205371">
                <a:moveTo>
                  <a:pt x="116294" y="24396"/>
                </a:moveTo>
                <a:lnTo>
                  <a:pt x="75310" y="24396"/>
                </a:lnTo>
                <a:lnTo>
                  <a:pt x="84327" y="27317"/>
                </a:lnTo>
                <a:lnTo>
                  <a:pt x="96265" y="39255"/>
                </a:lnTo>
                <a:lnTo>
                  <a:pt x="102234" y="48272"/>
                </a:lnTo>
                <a:lnTo>
                  <a:pt x="105156" y="66433"/>
                </a:lnTo>
                <a:lnTo>
                  <a:pt x="108076" y="81546"/>
                </a:lnTo>
                <a:lnTo>
                  <a:pt x="108052" y="124218"/>
                </a:lnTo>
                <a:lnTo>
                  <a:pt x="105135" y="139331"/>
                </a:lnTo>
                <a:lnTo>
                  <a:pt x="102234" y="157365"/>
                </a:lnTo>
                <a:lnTo>
                  <a:pt x="96265" y="166382"/>
                </a:lnTo>
                <a:lnTo>
                  <a:pt x="84327" y="178320"/>
                </a:lnTo>
                <a:lnTo>
                  <a:pt x="78358" y="178320"/>
                </a:lnTo>
                <a:lnTo>
                  <a:pt x="75437" y="181241"/>
                </a:lnTo>
                <a:lnTo>
                  <a:pt x="116397" y="181241"/>
                </a:lnTo>
                <a:lnTo>
                  <a:pt x="123443" y="169430"/>
                </a:lnTo>
                <a:lnTo>
                  <a:pt x="129412" y="151269"/>
                </a:lnTo>
                <a:lnTo>
                  <a:pt x="132333" y="130060"/>
                </a:lnTo>
                <a:lnTo>
                  <a:pt x="135254" y="102628"/>
                </a:lnTo>
                <a:lnTo>
                  <a:pt x="132333" y="75196"/>
                </a:lnTo>
                <a:lnTo>
                  <a:pt x="129412" y="53975"/>
                </a:lnTo>
                <a:lnTo>
                  <a:pt x="123443" y="32778"/>
                </a:lnTo>
                <a:lnTo>
                  <a:pt x="117475" y="26809"/>
                </a:lnTo>
                <a:lnTo>
                  <a:pt x="116294" y="24396"/>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8" name="bk object 29"/>
          <p:cNvSpPr/>
          <p:nvPr/>
        </p:nvSpPr>
        <p:spPr>
          <a:xfrm>
            <a:off x="2147040" y="5409720"/>
            <a:ext cx="68400" cy="200160"/>
          </a:xfrm>
          <a:custGeom>
            <a:avLst/>
            <a:gdLst>
              <a:gd name="textAreaLeft" fmla="*/ 0 w 68400"/>
              <a:gd name="textAreaRight" fmla="*/ 69120 w 68400"/>
              <a:gd name="textAreaTop" fmla="*/ 0 h 200160"/>
              <a:gd name="textAreaBottom" fmla="*/ 200880 h 200160"/>
            </a:gdLst>
            <a:ahLst/>
            <a:cxnLst/>
            <a:rect l="textAreaLeft" t="textAreaTop" r="textAreaRight" b="textAreaBottom"/>
            <a:pathLst>
              <a:path w="69087" h="201041">
                <a:moveTo>
                  <a:pt x="69087" y="0"/>
                </a:moveTo>
                <a:lnTo>
                  <a:pt x="50927" y="0"/>
                </a:lnTo>
                <a:lnTo>
                  <a:pt x="48006" y="9004"/>
                </a:lnTo>
                <a:lnTo>
                  <a:pt x="48006" y="14986"/>
                </a:lnTo>
                <a:lnTo>
                  <a:pt x="36195" y="26797"/>
                </a:lnTo>
                <a:lnTo>
                  <a:pt x="27178" y="32766"/>
                </a:lnTo>
                <a:lnTo>
                  <a:pt x="18161" y="35687"/>
                </a:lnTo>
                <a:lnTo>
                  <a:pt x="0" y="35687"/>
                </a:lnTo>
                <a:lnTo>
                  <a:pt x="0" y="56895"/>
                </a:lnTo>
                <a:lnTo>
                  <a:pt x="45593" y="56895"/>
                </a:lnTo>
                <a:lnTo>
                  <a:pt x="45593" y="200025"/>
                </a:lnTo>
                <a:lnTo>
                  <a:pt x="44831" y="201041"/>
                </a:lnTo>
                <a:lnTo>
                  <a:pt x="69087" y="201041"/>
                </a:lnTo>
                <a:lnTo>
                  <a:pt x="6908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9" name="bk object 30"/>
          <p:cNvSpPr/>
          <p:nvPr/>
        </p:nvSpPr>
        <p:spPr>
          <a:xfrm>
            <a:off x="2104200" y="4871880"/>
            <a:ext cx="136800" cy="194400"/>
          </a:xfrm>
          <a:custGeom>
            <a:avLst/>
            <a:gdLst>
              <a:gd name="textAreaLeft" fmla="*/ 0 w 136800"/>
              <a:gd name="textAreaRight" fmla="*/ 137520 w 136800"/>
              <a:gd name="textAreaTop" fmla="*/ 0 h 194400"/>
              <a:gd name="textAreaBottom" fmla="*/ 195120 h 194400"/>
            </a:gdLst>
            <a:ahLst/>
            <a:cxnLst/>
            <a:rect l="textAreaLeft" t="textAreaTop" r="textAreaRight" b="textAreaBottom"/>
            <a:pathLst>
              <a:path w="137541" h="195199">
                <a:moveTo>
                  <a:pt x="123952" y="21463"/>
                </a:moveTo>
                <a:lnTo>
                  <a:pt x="77978" y="21463"/>
                </a:lnTo>
                <a:lnTo>
                  <a:pt x="95885" y="30226"/>
                </a:lnTo>
                <a:lnTo>
                  <a:pt x="101854" y="36195"/>
                </a:lnTo>
                <a:lnTo>
                  <a:pt x="107633" y="48006"/>
                </a:lnTo>
                <a:lnTo>
                  <a:pt x="107696" y="66294"/>
                </a:lnTo>
                <a:lnTo>
                  <a:pt x="104775" y="72263"/>
                </a:lnTo>
                <a:lnTo>
                  <a:pt x="101854" y="81280"/>
                </a:lnTo>
                <a:lnTo>
                  <a:pt x="90043" y="93091"/>
                </a:lnTo>
                <a:lnTo>
                  <a:pt x="81025" y="99047"/>
                </a:lnTo>
                <a:lnTo>
                  <a:pt x="62865" y="108077"/>
                </a:lnTo>
                <a:lnTo>
                  <a:pt x="53848" y="114046"/>
                </a:lnTo>
                <a:lnTo>
                  <a:pt x="14731" y="144018"/>
                </a:lnTo>
                <a:lnTo>
                  <a:pt x="2921" y="180213"/>
                </a:lnTo>
                <a:lnTo>
                  <a:pt x="0" y="186182"/>
                </a:lnTo>
                <a:lnTo>
                  <a:pt x="0" y="195199"/>
                </a:lnTo>
                <a:lnTo>
                  <a:pt x="507" y="194818"/>
                </a:lnTo>
                <a:lnTo>
                  <a:pt x="137541" y="194818"/>
                </a:lnTo>
                <a:lnTo>
                  <a:pt x="137541" y="170561"/>
                </a:lnTo>
                <a:lnTo>
                  <a:pt x="30861" y="170561"/>
                </a:lnTo>
                <a:lnTo>
                  <a:pt x="30861" y="164592"/>
                </a:lnTo>
                <a:lnTo>
                  <a:pt x="36703" y="158750"/>
                </a:lnTo>
                <a:lnTo>
                  <a:pt x="39624" y="152781"/>
                </a:lnTo>
                <a:lnTo>
                  <a:pt x="48513" y="143891"/>
                </a:lnTo>
                <a:lnTo>
                  <a:pt x="54482" y="140970"/>
                </a:lnTo>
                <a:lnTo>
                  <a:pt x="72517" y="129032"/>
                </a:lnTo>
                <a:lnTo>
                  <a:pt x="75437" y="126111"/>
                </a:lnTo>
                <a:lnTo>
                  <a:pt x="93599" y="120142"/>
                </a:lnTo>
                <a:lnTo>
                  <a:pt x="96519" y="117221"/>
                </a:lnTo>
                <a:lnTo>
                  <a:pt x="102488" y="114300"/>
                </a:lnTo>
                <a:lnTo>
                  <a:pt x="111506" y="105283"/>
                </a:lnTo>
                <a:lnTo>
                  <a:pt x="120523" y="99314"/>
                </a:lnTo>
                <a:lnTo>
                  <a:pt x="126492" y="90297"/>
                </a:lnTo>
                <a:lnTo>
                  <a:pt x="129412" y="87376"/>
                </a:lnTo>
                <a:lnTo>
                  <a:pt x="132334" y="81407"/>
                </a:lnTo>
                <a:lnTo>
                  <a:pt x="135255" y="72390"/>
                </a:lnTo>
                <a:lnTo>
                  <a:pt x="135255" y="44958"/>
                </a:lnTo>
                <a:lnTo>
                  <a:pt x="132334" y="32893"/>
                </a:lnTo>
                <a:lnTo>
                  <a:pt x="126365" y="23876"/>
                </a:lnTo>
                <a:lnTo>
                  <a:pt x="123952" y="21463"/>
                </a:lnTo>
                <a:close/>
              </a:path>
              <a:path w="137541" h="195199">
                <a:moveTo>
                  <a:pt x="84200" y="0"/>
                </a:moveTo>
                <a:lnTo>
                  <a:pt x="53848" y="0"/>
                </a:lnTo>
                <a:lnTo>
                  <a:pt x="47879" y="2921"/>
                </a:lnTo>
                <a:lnTo>
                  <a:pt x="41910" y="2921"/>
                </a:lnTo>
                <a:lnTo>
                  <a:pt x="8890" y="38989"/>
                </a:lnTo>
                <a:lnTo>
                  <a:pt x="5968" y="48006"/>
                </a:lnTo>
                <a:lnTo>
                  <a:pt x="5968" y="69215"/>
                </a:lnTo>
                <a:lnTo>
                  <a:pt x="30225" y="69215"/>
                </a:lnTo>
                <a:lnTo>
                  <a:pt x="30225" y="60198"/>
                </a:lnTo>
                <a:lnTo>
                  <a:pt x="33147" y="54229"/>
                </a:lnTo>
                <a:lnTo>
                  <a:pt x="33225" y="48006"/>
                </a:lnTo>
                <a:lnTo>
                  <a:pt x="36068" y="39243"/>
                </a:lnTo>
                <a:lnTo>
                  <a:pt x="42037" y="33274"/>
                </a:lnTo>
                <a:lnTo>
                  <a:pt x="48006" y="30353"/>
                </a:lnTo>
                <a:lnTo>
                  <a:pt x="53975" y="24384"/>
                </a:lnTo>
                <a:lnTo>
                  <a:pt x="59943" y="24384"/>
                </a:lnTo>
                <a:lnTo>
                  <a:pt x="68961" y="21463"/>
                </a:lnTo>
                <a:lnTo>
                  <a:pt x="123952" y="21463"/>
                </a:lnTo>
                <a:lnTo>
                  <a:pt x="117348" y="14859"/>
                </a:lnTo>
                <a:lnTo>
                  <a:pt x="108331" y="8890"/>
                </a:lnTo>
                <a:lnTo>
                  <a:pt x="96266" y="2921"/>
                </a:lnTo>
                <a:lnTo>
                  <a:pt x="8420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0" name="bk object 31"/>
          <p:cNvSpPr/>
          <p:nvPr/>
        </p:nvSpPr>
        <p:spPr>
          <a:xfrm>
            <a:off x="2104200" y="4331880"/>
            <a:ext cx="134280" cy="203400"/>
          </a:xfrm>
          <a:custGeom>
            <a:avLst/>
            <a:gdLst>
              <a:gd name="textAreaLeft" fmla="*/ 0 w 134280"/>
              <a:gd name="textAreaRight" fmla="*/ 135000 w 134280"/>
              <a:gd name="textAreaTop" fmla="*/ 0 h 203400"/>
              <a:gd name="textAreaBottom" fmla="*/ 204120 h 203400"/>
            </a:gdLst>
            <a:ahLst/>
            <a:cxnLst/>
            <a:rect l="textAreaLeft" t="textAreaTop" r="textAreaRight" b="textAreaBottom"/>
            <a:pathLst>
              <a:path w="135128" h="203949">
                <a:moveTo>
                  <a:pt x="24256" y="134620"/>
                </a:moveTo>
                <a:lnTo>
                  <a:pt x="0" y="134620"/>
                </a:lnTo>
                <a:lnTo>
                  <a:pt x="127" y="135128"/>
                </a:lnTo>
                <a:lnTo>
                  <a:pt x="127" y="159385"/>
                </a:lnTo>
                <a:lnTo>
                  <a:pt x="3048" y="162306"/>
                </a:lnTo>
                <a:lnTo>
                  <a:pt x="3048" y="165227"/>
                </a:lnTo>
                <a:lnTo>
                  <a:pt x="9017" y="177292"/>
                </a:lnTo>
                <a:lnTo>
                  <a:pt x="26924" y="195199"/>
                </a:lnTo>
                <a:lnTo>
                  <a:pt x="38988" y="198120"/>
                </a:lnTo>
                <a:lnTo>
                  <a:pt x="57023" y="203949"/>
                </a:lnTo>
                <a:lnTo>
                  <a:pt x="72136" y="203949"/>
                </a:lnTo>
                <a:lnTo>
                  <a:pt x="78105" y="201041"/>
                </a:lnTo>
                <a:lnTo>
                  <a:pt x="90169" y="201041"/>
                </a:lnTo>
                <a:lnTo>
                  <a:pt x="114300" y="189103"/>
                </a:lnTo>
                <a:lnTo>
                  <a:pt x="117221" y="183134"/>
                </a:lnTo>
                <a:lnTo>
                  <a:pt x="123190" y="180212"/>
                </a:lnTo>
                <a:lnTo>
                  <a:pt x="123566" y="179450"/>
                </a:lnTo>
                <a:lnTo>
                  <a:pt x="66040" y="179450"/>
                </a:lnTo>
                <a:lnTo>
                  <a:pt x="53975" y="176530"/>
                </a:lnTo>
                <a:lnTo>
                  <a:pt x="48006" y="176530"/>
                </a:lnTo>
                <a:lnTo>
                  <a:pt x="38988" y="170561"/>
                </a:lnTo>
                <a:lnTo>
                  <a:pt x="33019" y="164592"/>
                </a:lnTo>
                <a:lnTo>
                  <a:pt x="24256" y="146685"/>
                </a:lnTo>
                <a:lnTo>
                  <a:pt x="24256" y="134620"/>
                </a:lnTo>
                <a:close/>
              </a:path>
              <a:path w="135128" h="203949">
                <a:moveTo>
                  <a:pt x="121424" y="105029"/>
                </a:moveTo>
                <a:lnTo>
                  <a:pt x="74930" y="105029"/>
                </a:lnTo>
                <a:lnTo>
                  <a:pt x="77850" y="107950"/>
                </a:lnTo>
                <a:lnTo>
                  <a:pt x="83819" y="107950"/>
                </a:lnTo>
                <a:lnTo>
                  <a:pt x="86741" y="110871"/>
                </a:lnTo>
                <a:lnTo>
                  <a:pt x="98679" y="116712"/>
                </a:lnTo>
                <a:lnTo>
                  <a:pt x="104648" y="125730"/>
                </a:lnTo>
                <a:lnTo>
                  <a:pt x="107568" y="131699"/>
                </a:lnTo>
                <a:lnTo>
                  <a:pt x="107568" y="149860"/>
                </a:lnTo>
                <a:lnTo>
                  <a:pt x="104648" y="155829"/>
                </a:lnTo>
                <a:lnTo>
                  <a:pt x="101727" y="164846"/>
                </a:lnTo>
                <a:lnTo>
                  <a:pt x="95885" y="170687"/>
                </a:lnTo>
                <a:lnTo>
                  <a:pt x="89916" y="173609"/>
                </a:lnTo>
                <a:lnTo>
                  <a:pt x="80899" y="176530"/>
                </a:lnTo>
                <a:lnTo>
                  <a:pt x="77978" y="176530"/>
                </a:lnTo>
                <a:lnTo>
                  <a:pt x="75056" y="179450"/>
                </a:lnTo>
                <a:lnTo>
                  <a:pt x="123566" y="179450"/>
                </a:lnTo>
                <a:lnTo>
                  <a:pt x="135128" y="156083"/>
                </a:lnTo>
                <a:lnTo>
                  <a:pt x="135128" y="125730"/>
                </a:lnTo>
                <a:lnTo>
                  <a:pt x="129159" y="113665"/>
                </a:lnTo>
                <a:lnTo>
                  <a:pt x="123190" y="107696"/>
                </a:lnTo>
                <a:lnTo>
                  <a:pt x="121424" y="105029"/>
                </a:lnTo>
                <a:close/>
              </a:path>
              <a:path w="135128" h="203949">
                <a:moveTo>
                  <a:pt x="120425" y="24257"/>
                </a:moveTo>
                <a:lnTo>
                  <a:pt x="78359" y="24257"/>
                </a:lnTo>
                <a:lnTo>
                  <a:pt x="90297" y="30099"/>
                </a:lnTo>
                <a:lnTo>
                  <a:pt x="99187" y="38989"/>
                </a:lnTo>
                <a:lnTo>
                  <a:pt x="99187" y="44958"/>
                </a:lnTo>
                <a:lnTo>
                  <a:pt x="102107" y="53975"/>
                </a:lnTo>
                <a:lnTo>
                  <a:pt x="99249" y="59817"/>
                </a:lnTo>
                <a:lnTo>
                  <a:pt x="99187" y="68961"/>
                </a:lnTo>
                <a:lnTo>
                  <a:pt x="90297" y="77850"/>
                </a:lnTo>
                <a:lnTo>
                  <a:pt x="78359" y="83693"/>
                </a:lnTo>
                <a:lnTo>
                  <a:pt x="50927" y="83693"/>
                </a:lnTo>
                <a:lnTo>
                  <a:pt x="50927" y="107950"/>
                </a:lnTo>
                <a:lnTo>
                  <a:pt x="56896" y="107950"/>
                </a:lnTo>
                <a:lnTo>
                  <a:pt x="62865" y="105029"/>
                </a:lnTo>
                <a:lnTo>
                  <a:pt x="121424" y="105029"/>
                </a:lnTo>
                <a:lnTo>
                  <a:pt x="117221" y="98679"/>
                </a:lnTo>
                <a:lnTo>
                  <a:pt x="114300" y="95758"/>
                </a:lnTo>
                <a:lnTo>
                  <a:pt x="108331" y="92824"/>
                </a:lnTo>
                <a:lnTo>
                  <a:pt x="102362" y="92824"/>
                </a:lnTo>
                <a:lnTo>
                  <a:pt x="111379" y="89916"/>
                </a:lnTo>
                <a:lnTo>
                  <a:pt x="120268" y="81025"/>
                </a:lnTo>
                <a:lnTo>
                  <a:pt x="123190" y="75057"/>
                </a:lnTo>
                <a:lnTo>
                  <a:pt x="126111" y="66040"/>
                </a:lnTo>
                <a:lnTo>
                  <a:pt x="129031" y="53975"/>
                </a:lnTo>
                <a:lnTo>
                  <a:pt x="126111" y="38849"/>
                </a:lnTo>
                <a:lnTo>
                  <a:pt x="123190" y="29845"/>
                </a:lnTo>
                <a:lnTo>
                  <a:pt x="120425" y="24257"/>
                </a:lnTo>
                <a:close/>
              </a:path>
              <a:path w="135128" h="203949">
                <a:moveTo>
                  <a:pt x="78105" y="0"/>
                </a:moveTo>
                <a:lnTo>
                  <a:pt x="66040" y="0"/>
                </a:lnTo>
                <a:lnTo>
                  <a:pt x="50927" y="2921"/>
                </a:lnTo>
                <a:lnTo>
                  <a:pt x="41910" y="2921"/>
                </a:lnTo>
                <a:lnTo>
                  <a:pt x="29972" y="8762"/>
                </a:lnTo>
                <a:lnTo>
                  <a:pt x="20955" y="14732"/>
                </a:lnTo>
                <a:lnTo>
                  <a:pt x="18034" y="20700"/>
                </a:lnTo>
                <a:lnTo>
                  <a:pt x="15112" y="23622"/>
                </a:lnTo>
                <a:lnTo>
                  <a:pt x="9143" y="35674"/>
                </a:lnTo>
                <a:lnTo>
                  <a:pt x="3302" y="53721"/>
                </a:lnTo>
                <a:lnTo>
                  <a:pt x="3302" y="65786"/>
                </a:lnTo>
                <a:lnTo>
                  <a:pt x="27559" y="65786"/>
                </a:lnTo>
                <a:lnTo>
                  <a:pt x="30417" y="59944"/>
                </a:lnTo>
                <a:lnTo>
                  <a:pt x="30480" y="50800"/>
                </a:lnTo>
                <a:lnTo>
                  <a:pt x="33338" y="44958"/>
                </a:lnTo>
                <a:lnTo>
                  <a:pt x="33400" y="41910"/>
                </a:lnTo>
                <a:lnTo>
                  <a:pt x="36322" y="38989"/>
                </a:lnTo>
                <a:lnTo>
                  <a:pt x="39243" y="33020"/>
                </a:lnTo>
                <a:lnTo>
                  <a:pt x="57150" y="24257"/>
                </a:lnTo>
                <a:lnTo>
                  <a:pt x="120425" y="24257"/>
                </a:lnTo>
                <a:lnTo>
                  <a:pt x="117221" y="17780"/>
                </a:lnTo>
                <a:lnTo>
                  <a:pt x="99187" y="5842"/>
                </a:lnTo>
                <a:lnTo>
                  <a:pt x="87122" y="2921"/>
                </a:lnTo>
                <a:lnTo>
                  <a:pt x="7810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1" name="bk object 32"/>
          <p:cNvSpPr/>
          <p:nvPr/>
        </p:nvSpPr>
        <p:spPr>
          <a:xfrm>
            <a:off x="2104200" y="3796200"/>
            <a:ext cx="111960" cy="194040"/>
          </a:xfrm>
          <a:custGeom>
            <a:avLst/>
            <a:gdLst>
              <a:gd name="textAreaLeft" fmla="*/ 0 w 111960"/>
              <a:gd name="textAreaRight" fmla="*/ 112680 w 111960"/>
              <a:gd name="textAreaTop" fmla="*/ 0 h 194040"/>
              <a:gd name="textAreaBottom" fmla="*/ 194760 h 194040"/>
            </a:gdLst>
            <a:ahLst/>
            <a:cxnLst/>
            <a:rect l="textAreaLeft" t="textAreaTop" r="textAreaRight" b="textAreaBottom"/>
            <a:pathLst>
              <a:path w="112648" h="194817">
                <a:moveTo>
                  <a:pt x="112648" y="143001"/>
                </a:moveTo>
                <a:lnTo>
                  <a:pt x="85216" y="143001"/>
                </a:lnTo>
                <a:lnTo>
                  <a:pt x="85216" y="194817"/>
                </a:lnTo>
                <a:lnTo>
                  <a:pt x="112648" y="194817"/>
                </a:lnTo>
                <a:lnTo>
                  <a:pt x="112648" y="143001"/>
                </a:lnTo>
                <a:close/>
              </a:path>
              <a:path w="112648" h="194817">
                <a:moveTo>
                  <a:pt x="112648" y="0"/>
                </a:moveTo>
                <a:lnTo>
                  <a:pt x="85216" y="0"/>
                </a:lnTo>
                <a:lnTo>
                  <a:pt x="0" y="118744"/>
                </a:lnTo>
                <a:lnTo>
                  <a:pt x="0" y="143001"/>
                </a:lnTo>
                <a:lnTo>
                  <a:pt x="140080" y="143001"/>
                </a:lnTo>
                <a:lnTo>
                  <a:pt x="140080" y="121792"/>
                </a:lnTo>
                <a:lnTo>
                  <a:pt x="112648" y="121792"/>
                </a:lnTo>
                <a:lnTo>
                  <a:pt x="24383" y="121665"/>
                </a:lnTo>
                <a:lnTo>
                  <a:pt x="85216" y="33400"/>
                </a:lnTo>
                <a:lnTo>
                  <a:pt x="112648" y="33400"/>
                </a:lnTo>
                <a:lnTo>
                  <a:pt x="112648" y="0"/>
                </a:lnTo>
                <a:close/>
              </a:path>
              <a:path w="112648" h="194817">
                <a:moveTo>
                  <a:pt x="112648" y="33400"/>
                </a:moveTo>
                <a:lnTo>
                  <a:pt x="85216" y="33400"/>
                </a:lnTo>
                <a:lnTo>
                  <a:pt x="85216" y="121665"/>
                </a:lnTo>
                <a:lnTo>
                  <a:pt x="112648" y="121665"/>
                </a:lnTo>
                <a:lnTo>
                  <a:pt x="112648" y="3340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2" name="bk object 33"/>
          <p:cNvSpPr/>
          <p:nvPr/>
        </p:nvSpPr>
        <p:spPr>
          <a:xfrm>
            <a:off x="2104200" y="3253680"/>
            <a:ext cx="135000" cy="198720"/>
          </a:xfrm>
          <a:custGeom>
            <a:avLst/>
            <a:gdLst>
              <a:gd name="textAreaLeft" fmla="*/ 0 w 135000"/>
              <a:gd name="textAreaRight" fmla="*/ 135720 w 135000"/>
              <a:gd name="textAreaTop" fmla="*/ 0 h 198720"/>
              <a:gd name="textAreaBottom" fmla="*/ 199440 h 198720"/>
            </a:gdLst>
            <a:ahLst/>
            <a:cxnLst/>
            <a:rect l="textAreaLeft" t="textAreaTop" r="textAreaRight" b="textAreaBottom"/>
            <a:pathLst>
              <a:path w="135762" h="199389">
                <a:moveTo>
                  <a:pt x="27431" y="143001"/>
                </a:moveTo>
                <a:lnTo>
                  <a:pt x="635" y="143001"/>
                </a:lnTo>
                <a:lnTo>
                  <a:pt x="635" y="151637"/>
                </a:lnTo>
                <a:lnTo>
                  <a:pt x="21336" y="184530"/>
                </a:lnTo>
                <a:lnTo>
                  <a:pt x="51435" y="199389"/>
                </a:lnTo>
                <a:lnTo>
                  <a:pt x="81787" y="199389"/>
                </a:lnTo>
                <a:lnTo>
                  <a:pt x="93853" y="196469"/>
                </a:lnTo>
                <a:lnTo>
                  <a:pt x="105918" y="190500"/>
                </a:lnTo>
                <a:lnTo>
                  <a:pt x="120650" y="175767"/>
                </a:lnTo>
                <a:lnTo>
                  <a:pt x="57277" y="175767"/>
                </a:lnTo>
                <a:lnTo>
                  <a:pt x="48260" y="172847"/>
                </a:lnTo>
                <a:lnTo>
                  <a:pt x="42291" y="169925"/>
                </a:lnTo>
                <a:lnTo>
                  <a:pt x="27431" y="155066"/>
                </a:lnTo>
                <a:lnTo>
                  <a:pt x="27431" y="143001"/>
                </a:lnTo>
                <a:close/>
              </a:path>
              <a:path w="135762" h="199389">
                <a:moveTo>
                  <a:pt x="121920" y="89026"/>
                </a:moveTo>
                <a:lnTo>
                  <a:pt x="75437" y="89026"/>
                </a:lnTo>
                <a:lnTo>
                  <a:pt x="81406" y="91948"/>
                </a:lnTo>
                <a:lnTo>
                  <a:pt x="90424" y="94869"/>
                </a:lnTo>
                <a:lnTo>
                  <a:pt x="102362" y="106807"/>
                </a:lnTo>
                <a:lnTo>
                  <a:pt x="105282" y="115824"/>
                </a:lnTo>
                <a:lnTo>
                  <a:pt x="108204" y="118745"/>
                </a:lnTo>
                <a:lnTo>
                  <a:pt x="108204" y="143001"/>
                </a:lnTo>
                <a:lnTo>
                  <a:pt x="105282" y="148971"/>
                </a:lnTo>
                <a:lnTo>
                  <a:pt x="102362" y="157987"/>
                </a:lnTo>
                <a:lnTo>
                  <a:pt x="90424" y="169925"/>
                </a:lnTo>
                <a:lnTo>
                  <a:pt x="84455" y="172847"/>
                </a:lnTo>
                <a:lnTo>
                  <a:pt x="75437" y="175767"/>
                </a:lnTo>
                <a:lnTo>
                  <a:pt x="120650" y="175767"/>
                </a:lnTo>
                <a:lnTo>
                  <a:pt x="123952" y="172465"/>
                </a:lnTo>
                <a:lnTo>
                  <a:pt x="129793" y="160527"/>
                </a:lnTo>
                <a:lnTo>
                  <a:pt x="135762" y="148462"/>
                </a:lnTo>
                <a:lnTo>
                  <a:pt x="135762" y="118110"/>
                </a:lnTo>
                <a:lnTo>
                  <a:pt x="132842" y="106045"/>
                </a:lnTo>
                <a:lnTo>
                  <a:pt x="126873" y="93979"/>
                </a:lnTo>
                <a:lnTo>
                  <a:pt x="121920" y="89026"/>
                </a:lnTo>
                <a:close/>
              </a:path>
              <a:path w="135762" h="199389">
                <a:moveTo>
                  <a:pt x="635" y="142621"/>
                </a:moveTo>
                <a:lnTo>
                  <a:pt x="0" y="143001"/>
                </a:lnTo>
                <a:lnTo>
                  <a:pt x="635" y="143001"/>
                </a:lnTo>
                <a:lnTo>
                  <a:pt x="635" y="142621"/>
                </a:lnTo>
                <a:close/>
              </a:path>
              <a:path w="135762" h="199389">
                <a:moveTo>
                  <a:pt x="128016" y="0"/>
                </a:moveTo>
                <a:lnTo>
                  <a:pt x="21336" y="0"/>
                </a:lnTo>
                <a:lnTo>
                  <a:pt x="6223" y="106679"/>
                </a:lnTo>
                <a:lnTo>
                  <a:pt x="27431" y="106679"/>
                </a:lnTo>
                <a:lnTo>
                  <a:pt x="36322" y="97789"/>
                </a:lnTo>
                <a:lnTo>
                  <a:pt x="48260" y="91948"/>
                </a:lnTo>
                <a:lnTo>
                  <a:pt x="57277" y="89026"/>
                </a:lnTo>
                <a:lnTo>
                  <a:pt x="121920" y="89026"/>
                </a:lnTo>
                <a:lnTo>
                  <a:pt x="117856" y="84962"/>
                </a:lnTo>
                <a:lnTo>
                  <a:pt x="114997" y="79121"/>
                </a:lnTo>
                <a:lnTo>
                  <a:pt x="33781" y="79121"/>
                </a:lnTo>
                <a:lnTo>
                  <a:pt x="39750" y="24257"/>
                </a:lnTo>
                <a:lnTo>
                  <a:pt x="128016" y="24257"/>
                </a:lnTo>
                <a:lnTo>
                  <a:pt x="128016" y="0"/>
                </a:lnTo>
                <a:close/>
              </a:path>
              <a:path w="135762" h="199389">
                <a:moveTo>
                  <a:pt x="84962" y="67310"/>
                </a:moveTo>
                <a:lnTo>
                  <a:pt x="60706" y="67310"/>
                </a:lnTo>
                <a:lnTo>
                  <a:pt x="48641" y="70230"/>
                </a:lnTo>
                <a:lnTo>
                  <a:pt x="42672" y="70230"/>
                </a:lnTo>
                <a:lnTo>
                  <a:pt x="33781" y="79121"/>
                </a:lnTo>
                <a:lnTo>
                  <a:pt x="114997" y="79121"/>
                </a:lnTo>
                <a:lnTo>
                  <a:pt x="97028" y="70230"/>
                </a:lnTo>
                <a:lnTo>
                  <a:pt x="84962" y="6731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3" name="bk object 34"/>
          <p:cNvSpPr/>
          <p:nvPr/>
        </p:nvSpPr>
        <p:spPr>
          <a:xfrm>
            <a:off x="2109600" y="2711520"/>
            <a:ext cx="134280" cy="204480"/>
          </a:xfrm>
          <a:custGeom>
            <a:avLst/>
            <a:gdLst>
              <a:gd name="textAreaLeft" fmla="*/ 0 w 134280"/>
              <a:gd name="textAreaRight" fmla="*/ 135000 w 134280"/>
              <a:gd name="textAreaTop" fmla="*/ 0 h 204480"/>
              <a:gd name="textAreaBottom" fmla="*/ 205200 h 204480"/>
            </a:gdLst>
            <a:ahLst/>
            <a:cxnLst/>
            <a:rect l="textAreaLeft" t="textAreaTop" r="textAreaRight" b="textAreaBottom"/>
            <a:pathLst>
              <a:path w="135000" h="205104">
                <a:moveTo>
                  <a:pt x="84200" y="202184"/>
                </a:moveTo>
                <a:lnTo>
                  <a:pt x="53975" y="202184"/>
                </a:lnTo>
                <a:lnTo>
                  <a:pt x="69087" y="205104"/>
                </a:lnTo>
                <a:lnTo>
                  <a:pt x="84200" y="202184"/>
                </a:lnTo>
                <a:close/>
              </a:path>
              <a:path w="135000" h="205104">
                <a:moveTo>
                  <a:pt x="72008" y="0"/>
                </a:moveTo>
                <a:lnTo>
                  <a:pt x="56895" y="2920"/>
                </a:lnTo>
                <a:lnTo>
                  <a:pt x="44831" y="5841"/>
                </a:lnTo>
                <a:lnTo>
                  <a:pt x="38862" y="8762"/>
                </a:lnTo>
                <a:lnTo>
                  <a:pt x="32893" y="14731"/>
                </a:lnTo>
                <a:lnTo>
                  <a:pt x="20827" y="23749"/>
                </a:lnTo>
                <a:lnTo>
                  <a:pt x="17906" y="29717"/>
                </a:lnTo>
                <a:lnTo>
                  <a:pt x="11937" y="38735"/>
                </a:lnTo>
                <a:lnTo>
                  <a:pt x="0" y="81152"/>
                </a:lnTo>
                <a:lnTo>
                  <a:pt x="0" y="141986"/>
                </a:lnTo>
                <a:lnTo>
                  <a:pt x="2920" y="151002"/>
                </a:lnTo>
                <a:lnTo>
                  <a:pt x="11937" y="172212"/>
                </a:lnTo>
                <a:lnTo>
                  <a:pt x="20955" y="184276"/>
                </a:lnTo>
                <a:lnTo>
                  <a:pt x="29971" y="193293"/>
                </a:lnTo>
                <a:lnTo>
                  <a:pt x="45085" y="199262"/>
                </a:lnTo>
                <a:lnTo>
                  <a:pt x="48006" y="202184"/>
                </a:lnTo>
                <a:lnTo>
                  <a:pt x="90169" y="202184"/>
                </a:lnTo>
                <a:lnTo>
                  <a:pt x="96138" y="199262"/>
                </a:lnTo>
                <a:lnTo>
                  <a:pt x="102107" y="199262"/>
                </a:lnTo>
                <a:lnTo>
                  <a:pt x="108076" y="196341"/>
                </a:lnTo>
                <a:lnTo>
                  <a:pt x="117093" y="187325"/>
                </a:lnTo>
                <a:lnTo>
                  <a:pt x="121460" y="181482"/>
                </a:lnTo>
                <a:lnTo>
                  <a:pt x="53212" y="181482"/>
                </a:lnTo>
                <a:lnTo>
                  <a:pt x="50292" y="178562"/>
                </a:lnTo>
                <a:lnTo>
                  <a:pt x="44323" y="175640"/>
                </a:lnTo>
                <a:lnTo>
                  <a:pt x="32512" y="163829"/>
                </a:lnTo>
                <a:lnTo>
                  <a:pt x="32512" y="160909"/>
                </a:lnTo>
                <a:lnTo>
                  <a:pt x="29591" y="154939"/>
                </a:lnTo>
                <a:lnTo>
                  <a:pt x="38354" y="109727"/>
                </a:lnTo>
                <a:lnTo>
                  <a:pt x="62356" y="97916"/>
                </a:lnTo>
                <a:lnTo>
                  <a:pt x="122916" y="97916"/>
                </a:lnTo>
                <a:lnTo>
                  <a:pt x="121991" y="96519"/>
                </a:lnTo>
                <a:lnTo>
                  <a:pt x="26924" y="96519"/>
                </a:lnTo>
                <a:lnTo>
                  <a:pt x="26924" y="78359"/>
                </a:lnTo>
                <a:lnTo>
                  <a:pt x="29844" y="66293"/>
                </a:lnTo>
                <a:lnTo>
                  <a:pt x="32766" y="57276"/>
                </a:lnTo>
                <a:lnTo>
                  <a:pt x="38735" y="45212"/>
                </a:lnTo>
                <a:lnTo>
                  <a:pt x="41656" y="39242"/>
                </a:lnTo>
                <a:lnTo>
                  <a:pt x="50545" y="30352"/>
                </a:lnTo>
                <a:lnTo>
                  <a:pt x="62483" y="24511"/>
                </a:lnTo>
                <a:lnTo>
                  <a:pt x="124681" y="24511"/>
                </a:lnTo>
                <a:lnTo>
                  <a:pt x="120142" y="17652"/>
                </a:lnTo>
                <a:lnTo>
                  <a:pt x="114300" y="11811"/>
                </a:lnTo>
                <a:lnTo>
                  <a:pt x="102235" y="5841"/>
                </a:lnTo>
                <a:lnTo>
                  <a:pt x="72008" y="0"/>
                </a:lnTo>
                <a:close/>
              </a:path>
              <a:path w="135000" h="205104">
                <a:moveTo>
                  <a:pt x="122916" y="97916"/>
                </a:moveTo>
                <a:lnTo>
                  <a:pt x="77469" y="97916"/>
                </a:lnTo>
                <a:lnTo>
                  <a:pt x="86487" y="100837"/>
                </a:lnTo>
                <a:lnTo>
                  <a:pt x="92456" y="103759"/>
                </a:lnTo>
                <a:lnTo>
                  <a:pt x="98298" y="109600"/>
                </a:lnTo>
                <a:lnTo>
                  <a:pt x="101218" y="115569"/>
                </a:lnTo>
                <a:lnTo>
                  <a:pt x="104139" y="124587"/>
                </a:lnTo>
                <a:lnTo>
                  <a:pt x="107061" y="130555"/>
                </a:lnTo>
                <a:lnTo>
                  <a:pt x="107061" y="139573"/>
                </a:lnTo>
                <a:lnTo>
                  <a:pt x="107314" y="139700"/>
                </a:lnTo>
                <a:lnTo>
                  <a:pt x="107314" y="148716"/>
                </a:lnTo>
                <a:lnTo>
                  <a:pt x="104393" y="154686"/>
                </a:lnTo>
                <a:lnTo>
                  <a:pt x="101473" y="163702"/>
                </a:lnTo>
                <a:lnTo>
                  <a:pt x="98551" y="169672"/>
                </a:lnTo>
                <a:lnTo>
                  <a:pt x="92582" y="175640"/>
                </a:lnTo>
                <a:lnTo>
                  <a:pt x="80644" y="181482"/>
                </a:lnTo>
                <a:lnTo>
                  <a:pt x="121460" y="181482"/>
                </a:lnTo>
                <a:lnTo>
                  <a:pt x="126111" y="175260"/>
                </a:lnTo>
                <a:lnTo>
                  <a:pt x="132080" y="163194"/>
                </a:lnTo>
                <a:lnTo>
                  <a:pt x="132080" y="157225"/>
                </a:lnTo>
                <a:lnTo>
                  <a:pt x="135000" y="154304"/>
                </a:lnTo>
                <a:lnTo>
                  <a:pt x="135000" y="126873"/>
                </a:lnTo>
                <a:lnTo>
                  <a:pt x="132080" y="114807"/>
                </a:lnTo>
                <a:lnTo>
                  <a:pt x="126111" y="102742"/>
                </a:lnTo>
                <a:lnTo>
                  <a:pt x="122916" y="97916"/>
                </a:lnTo>
                <a:close/>
              </a:path>
              <a:path w="135000" h="205104">
                <a:moveTo>
                  <a:pt x="68833" y="72898"/>
                </a:moveTo>
                <a:lnTo>
                  <a:pt x="59817" y="75818"/>
                </a:lnTo>
                <a:lnTo>
                  <a:pt x="47751" y="78739"/>
                </a:lnTo>
                <a:lnTo>
                  <a:pt x="38735" y="81661"/>
                </a:lnTo>
                <a:lnTo>
                  <a:pt x="29844" y="90550"/>
                </a:lnTo>
                <a:lnTo>
                  <a:pt x="26924" y="96519"/>
                </a:lnTo>
                <a:lnTo>
                  <a:pt x="121991" y="96519"/>
                </a:lnTo>
                <a:lnTo>
                  <a:pt x="120142" y="93725"/>
                </a:lnTo>
                <a:lnTo>
                  <a:pt x="108076" y="84709"/>
                </a:lnTo>
                <a:lnTo>
                  <a:pt x="96012" y="78739"/>
                </a:lnTo>
                <a:lnTo>
                  <a:pt x="83946" y="75818"/>
                </a:lnTo>
                <a:lnTo>
                  <a:pt x="68833" y="72898"/>
                </a:lnTo>
                <a:close/>
              </a:path>
              <a:path w="135000" h="205104">
                <a:moveTo>
                  <a:pt x="124681" y="24511"/>
                </a:moveTo>
                <a:lnTo>
                  <a:pt x="80644" y="24511"/>
                </a:lnTo>
                <a:lnTo>
                  <a:pt x="86613" y="27431"/>
                </a:lnTo>
                <a:lnTo>
                  <a:pt x="95631" y="30352"/>
                </a:lnTo>
                <a:lnTo>
                  <a:pt x="98551" y="33274"/>
                </a:lnTo>
                <a:lnTo>
                  <a:pt x="101473" y="33274"/>
                </a:lnTo>
                <a:lnTo>
                  <a:pt x="107314" y="45212"/>
                </a:lnTo>
                <a:lnTo>
                  <a:pt x="107314" y="54228"/>
                </a:lnTo>
                <a:lnTo>
                  <a:pt x="134746" y="54228"/>
                </a:lnTo>
                <a:lnTo>
                  <a:pt x="134874" y="53593"/>
                </a:lnTo>
                <a:lnTo>
                  <a:pt x="134874" y="47625"/>
                </a:lnTo>
                <a:lnTo>
                  <a:pt x="129031" y="35687"/>
                </a:lnTo>
                <a:lnTo>
                  <a:pt x="126111" y="26669"/>
                </a:lnTo>
                <a:lnTo>
                  <a:pt x="124681" y="2451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4" name="bk object 35"/>
          <p:cNvSpPr/>
          <p:nvPr/>
        </p:nvSpPr>
        <p:spPr>
          <a:xfrm>
            <a:off x="2106000" y="2179080"/>
            <a:ext cx="28080" cy="192960"/>
          </a:xfrm>
          <a:custGeom>
            <a:avLst/>
            <a:gdLst>
              <a:gd name="textAreaLeft" fmla="*/ 0 w 28080"/>
              <a:gd name="textAreaRight" fmla="*/ 28800 w 28080"/>
              <a:gd name="textAreaTop" fmla="*/ 0 h 192960"/>
              <a:gd name="textAreaBottom" fmla="*/ 193680 h 192960"/>
            </a:gdLst>
            <a:ahLst/>
            <a:cxnLst/>
            <a:rect l="textAreaLeft" t="textAreaTop" r="textAreaRight" b="textAreaBottom"/>
            <a:pathLst>
              <a:path w="28722" h="193675">
                <a:moveTo>
                  <a:pt x="28722" y="193548"/>
                </a:moveTo>
              </a:path>
              <a:path w="28722" h="193675">
                <a:moveTo>
                  <a:pt x="137032" y="0"/>
                </a:moveTo>
                <a:lnTo>
                  <a:pt x="0" y="0"/>
                </a:lnTo>
                <a:lnTo>
                  <a:pt x="0" y="24256"/>
                </a:lnTo>
                <a:lnTo>
                  <a:pt x="109727" y="24256"/>
                </a:lnTo>
                <a:lnTo>
                  <a:pt x="97662" y="39370"/>
                </a:lnTo>
                <a:lnTo>
                  <a:pt x="91693" y="45338"/>
                </a:lnTo>
                <a:lnTo>
                  <a:pt x="79628" y="63500"/>
                </a:lnTo>
                <a:lnTo>
                  <a:pt x="67563" y="78612"/>
                </a:lnTo>
                <a:lnTo>
                  <a:pt x="55499" y="102870"/>
                </a:lnTo>
                <a:lnTo>
                  <a:pt x="46481" y="124078"/>
                </a:lnTo>
                <a:lnTo>
                  <a:pt x="40512" y="145287"/>
                </a:lnTo>
                <a:lnTo>
                  <a:pt x="34543" y="169545"/>
                </a:lnTo>
                <a:lnTo>
                  <a:pt x="31622" y="175513"/>
                </a:lnTo>
                <a:lnTo>
                  <a:pt x="28722" y="193548"/>
                </a:lnTo>
                <a:lnTo>
                  <a:pt x="59054" y="193548"/>
                </a:lnTo>
                <a:lnTo>
                  <a:pt x="61975" y="172338"/>
                </a:lnTo>
                <a:lnTo>
                  <a:pt x="61975" y="163322"/>
                </a:lnTo>
                <a:lnTo>
                  <a:pt x="67944" y="142112"/>
                </a:lnTo>
                <a:lnTo>
                  <a:pt x="70865" y="133096"/>
                </a:lnTo>
                <a:lnTo>
                  <a:pt x="73787" y="121030"/>
                </a:lnTo>
                <a:lnTo>
                  <a:pt x="82803" y="102870"/>
                </a:lnTo>
                <a:lnTo>
                  <a:pt x="94868" y="81661"/>
                </a:lnTo>
                <a:lnTo>
                  <a:pt x="103885" y="63500"/>
                </a:lnTo>
                <a:lnTo>
                  <a:pt x="115950" y="48387"/>
                </a:lnTo>
                <a:lnTo>
                  <a:pt x="121919" y="39370"/>
                </a:lnTo>
                <a:lnTo>
                  <a:pt x="137032" y="24256"/>
                </a:lnTo>
                <a:lnTo>
                  <a:pt x="137032"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5" name="bk object 36"/>
          <p:cNvSpPr/>
          <p:nvPr/>
        </p:nvSpPr>
        <p:spPr>
          <a:xfrm>
            <a:off x="2107800" y="1636560"/>
            <a:ext cx="134640" cy="200160"/>
          </a:xfrm>
          <a:custGeom>
            <a:avLst/>
            <a:gdLst>
              <a:gd name="textAreaLeft" fmla="*/ 0 w 134640"/>
              <a:gd name="textAreaRight" fmla="*/ 135360 w 134640"/>
              <a:gd name="textAreaTop" fmla="*/ 0 h 200160"/>
              <a:gd name="textAreaBottom" fmla="*/ 200880 h 200160"/>
            </a:gdLst>
            <a:ahLst/>
            <a:cxnLst/>
            <a:rect l="textAreaLeft" t="textAreaTop" r="textAreaRight" b="textAreaBottom"/>
            <a:pathLst>
              <a:path w="135509" h="200913">
                <a:moveTo>
                  <a:pt x="32584" y="89815"/>
                </a:moveTo>
                <a:lnTo>
                  <a:pt x="26670" y="92709"/>
                </a:lnTo>
                <a:lnTo>
                  <a:pt x="23749" y="92709"/>
                </a:lnTo>
                <a:lnTo>
                  <a:pt x="17780" y="98678"/>
                </a:lnTo>
                <a:lnTo>
                  <a:pt x="11811" y="101600"/>
                </a:lnTo>
                <a:lnTo>
                  <a:pt x="5842" y="110616"/>
                </a:lnTo>
                <a:lnTo>
                  <a:pt x="0" y="128650"/>
                </a:lnTo>
                <a:lnTo>
                  <a:pt x="0" y="152907"/>
                </a:lnTo>
                <a:lnTo>
                  <a:pt x="2921" y="164972"/>
                </a:lnTo>
                <a:lnTo>
                  <a:pt x="11938" y="177037"/>
                </a:lnTo>
                <a:lnTo>
                  <a:pt x="29972" y="195071"/>
                </a:lnTo>
                <a:lnTo>
                  <a:pt x="54102" y="200913"/>
                </a:lnTo>
                <a:lnTo>
                  <a:pt x="81534" y="200913"/>
                </a:lnTo>
                <a:lnTo>
                  <a:pt x="90551" y="197992"/>
                </a:lnTo>
                <a:lnTo>
                  <a:pt x="105664" y="195071"/>
                </a:lnTo>
                <a:lnTo>
                  <a:pt x="123444" y="177291"/>
                </a:lnTo>
                <a:lnTo>
                  <a:pt x="53213" y="177291"/>
                </a:lnTo>
                <a:lnTo>
                  <a:pt x="47244" y="174370"/>
                </a:lnTo>
                <a:lnTo>
                  <a:pt x="44323" y="174370"/>
                </a:lnTo>
                <a:lnTo>
                  <a:pt x="32385" y="162432"/>
                </a:lnTo>
                <a:lnTo>
                  <a:pt x="29464" y="156463"/>
                </a:lnTo>
                <a:lnTo>
                  <a:pt x="26543" y="147446"/>
                </a:lnTo>
                <a:lnTo>
                  <a:pt x="26543" y="138429"/>
                </a:lnTo>
                <a:lnTo>
                  <a:pt x="26797" y="138429"/>
                </a:lnTo>
                <a:lnTo>
                  <a:pt x="26859" y="129412"/>
                </a:lnTo>
                <a:lnTo>
                  <a:pt x="32639" y="117601"/>
                </a:lnTo>
                <a:lnTo>
                  <a:pt x="38608" y="111632"/>
                </a:lnTo>
                <a:lnTo>
                  <a:pt x="44577" y="108712"/>
                </a:lnTo>
                <a:lnTo>
                  <a:pt x="53594" y="105790"/>
                </a:lnTo>
                <a:lnTo>
                  <a:pt x="59563" y="102869"/>
                </a:lnTo>
                <a:lnTo>
                  <a:pt x="121406" y="102869"/>
                </a:lnTo>
                <a:lnTo>
                  <a:pt x="120650" y="101726"/>
                </a:lnTo>
                <a:lnTo>
                  <a:pt x="114681" y="98805"/>
                </a:lnTo>
                <a:lnTo>
                  <a:pt x="108712" y="92837"/>
                </a:lnTo>
                <a:lnTo>
                  <a:pt x="102743" y="89915"/>
                </a:lnTo>
                <a:lnTo>
                  <a:pt x="32893" y="89915"/>
                </a:lnTo>
                <a:lnTo>
                  <a:pt x="32584" y="89815"/>
                </a:lnTo>
                <a:close/>
              </a:path>
              <a:path w="135509" h="200913">
                <a:moveTo>
                  <a:pt x="121406" y="102869"/>
                </a:moveTo>
                <a:lnTo>
                  <a:pt x="74676" y="102869"/>
                </a:lnTo>
                <a:lnTo>
                  <a:pt x="92583" y="111632"/>
                </a:lnTo>
                <a:lnTo>
                  <a:pt x="101473" y="120522"/>
                </a:lnTo>
                <a:lnTo>
                  <a:pt x="101473" y="123443"/>
                </a:lnTo>
                <a:lnTo>
                  <a:pt x="104394" y="129412"/>
                </a:lnTo>
                <a:lnTo>
                  <a:pt x="107315" y="138429"/>
                </a:lnTo>
                <a:lnTo>
                  <a:pt x="104394" y="147446"/>
                </a:lnTo>
                <a:lnTo>
                  <a:pt x="104394" y="156463"/>
                </a:lnTo>
                <a:lnTo>
                  <a:pt x="98425" y="162432"/>
                </a:lnTo>
                <a:lnTo>
                  <a:pt x="95504" y="168401"/>
                </a:lnTo>
                <a:lnTo>
                  <a:pt x="89535" y="174370"/>
                </a:lnTo>
                <a:lnTo>
                  <a:pt x="83566" y="174370"/>
                </a:lnTo>
                <a:lnTo>
                  <a:pt x="80645" y="177291"/>
                </a:lnTo>
                <a:lnTo>
                  <a:pt x="123444" y="177291"/>
                </a:lnTo>
                <a:lnTo>
                  <a:pt x="123698" y="177037"/>
                </a:lnTo>
                <a:lnTo>
                  <a:pt x="129667" y="164972"/>
                </a:lnTo>
                <a:lnTo>
                  <a:pt x="135509" y="140842"/>
                </a:lnTo>
                <a:lnTo>
                  <a:pt x="132588" y="128777"/>
                </a:lnTo>
                <a:lnTo>
                  <a:pt x="132588" y="119760"/>
                </a:lnTo>
                <a:lnTo>
                  <a:pt x="121406" y="102869"/>
                </a:lnTo>
                <a:close/>
              </a:path>
              <a:path w="135509" h="200913">
                <a:moveTo>
                  <a:pt x="26797" y="138429"/>
                </a:moveTo>
                <a:lnTo>
                  <a:pt x="26543" y="138429"/>
                </a:lnTo>
                <a:lnTo>
                  <a:pt x="26797" y="138556"/>
                </a:lnTo>
                <a:close/>
              </a:path>
              <a:path w="135509" h="200913">
                <a:moveTo>
                  <a:pt x="103002" y="89788"/>
                </a:moveTo>
                <a:lnTo>
                  <a:pt x="32639" y="89788"/>
                </a:lnTo>
                <a:lnTo>
                  <a:pt x="32893" y="89915"/>
                </a:lnTo>
                <a:lnTo>
                  <a:pt x="102743" y="89915"/>
                </a:lnTo>
                <a:lnTo>
                  <a:pt x="103002" y="89788"/>
                </a:lnTo>
                <a:close/>
              </a:path>
              <a:path w="135509" h="200913">
                <a:moveTo>
                  <a:pt x="87503" y="0"/>
                </a:moveTo>
                <a:lnTo>
                  <a:pt x="44958" y="0"/>
                </a:lnTo>
                <a:lnTo>
                  <a:pt x="32893" y="5968"/>
                </a:lnTo>
                <a:lnTo>
                  <a:pt x="23876" y="11937"/>
                </a:lnTo>
                <a:lnTo>
                  <a:pt x="17907" y="17906"/>
                </a:lnTo>
                <a:lnTo>
                  <a:pt x="11938" y="26923"/>
                </a:lnTo>
                <a:lnTo>
                  <a:pt x="6096" y="38862"/>
                </a:lnTo>
                <a:lnTo>
                  <a:pt x="6096" y="60070"/>
                </a:lnTo>
                <a:lnTo>
                  <a:pt x="9017" y="69087"/>
                </a:lnTo>
                <a:lnTo>
                  <a:pt x="14986" y="78104"/>
                </a:lnTo>
                <a:lnTo>
                  <a:pt x="23876" y="86994"/>
                </a:lnTo>
                <a:lnTo>
                  <a:pt x="32584" y="89815"/>
                </a:lnTo>
                <a:lnTo>
                  <a:pt x="103002" y="89788"/>
                </a:lnTo>
                <a:lnTo>
                  <a:pt x="114681" y="84073"/>
                </a:lnTo>
                <a:lnTo>
                  <a:pt x="115823" y="82930"/>
                </a:lnTo>
                <a:lnTo>
                  <a:pt x="65659" y="82930"/>
                </a:lnTo>
                <a:lnTo>
                  <a:pt x="59690" y="80009"/>
                </a:lnTo>
                <a:lnTo>
                  <a:pt x="53721" y="80009"/>
                </a:lnTo>
                <a:lnTo>
                  <a:pt x="41783" y="74167"/>
                </a:lnTo>
                <a:lnTo>
                  <a:pt x="38862" y="71246"/>
                </a:lnTo>
                <a:lnTo>
                  <a:pt x="33020" y="59308"/>
                </a:lnTo>
                <a:lnTo>
                  <a:pt x="33020" y="50291"/>
                </a:lnTo>
                <a:lnTo>
                  <a:pt x="32893" y="50291"/>
                </a:lnTo>
                <a:lnTo>
                  <a:pt x="32893" y="44322"/>
                </a:lnTo>
                <a:lnTo>
                  <a:pt x="41656" y="26415"/>
                </a:lnTo>
                <a:lnTo>
                  <a:pt x="47625" y="23494"/>
                </a:lnTo>
                <a:lnTo>
                  <a:pt x="53594" y="23494"/>
                </a:lnTo>
                <a:lnTo>
                  <a:pt x="56515" y="20573"/>
                </a:lnTo>
                <a:lnTo>
                  <a:pt x="119367" y="20573"/>
                </a:lnTo>
                <a:lnTo>
                  <a:pt x="117602" y="17906"/>
                </a:lnTo>
                <a:lnTo>
                  <a:pt x="99568" y="5968"/>
                </a:lnTo>
                <a:lnTo>
                  <a:pt x="87503" y="0"/>
                </a:lnTo>
                <a:close/>
              </a:path>
              <a:path w="135509" h="200913">
                <a:moveTo>
                  <a:pt x="119367" y="20573"/>
                </a:moveTo>
                <a:lnTo>
                  <a:pt x="74676" y="20573"/>
                </a:lnTo>
                <a:lnTo>
                  <a:pt x="77597" y="23494"/>
                </a:lnTo>
                <a:lnTo>
                  <a:pt x="83566" y="23494"/>
                </a:lnTo>
                <a:lnTo>
                  <a:pt x="89535" y="26415"/>
                </a:lnTo>
                <a:lnTo>
                  <a:pt x="95504" y="32384"/>
                </a:lnTo>
                <a:lnTo>
                  <a:pt x="98425" y="38353"/>
                </a:lnTo>
                <a:lnTo>
                  <a:pt x="98425" y="44322"/>
                </a:lnTo>
                <a:lnTo>
                  <a:pt x="101346" y="50291"/>
                </a:lnTo>
                <a:lnTo>
                  <a:pt x="98425" y="59308"/>
                </a:lnTo>
                <a:lnTo>
                  <a:pt x="98425" y="65277"/>
                </a:lnTo>
                <a:lnTo>
                  <a:pt x="95504" y="71246"/>
                </a:lnTo>
                <a:lnTo>
                  <a:pt x="77597" y="80009"/>
                </a:lnTo>
                <a:lnTo>
                  <a:pt x="71628" y="80009"/>
                </a:lnTo>
                <a:lnTo>
                  <a:pt x="65659" y="82930"/>
                </a:lnTo>
                <a:lnTo>
                  <a:pt x="115823" y="82930"/>
                </a:lnTo>
                <a:lnTo>
                  <a:pt x="120650" y="78104"/>
                </a:lnTo>
                <a:lnTo>
                  <a:pt x="126492" y="60070"/>
                </a:lnTo>
                <a:lnTo>
                  <a:pt x="129413" y="48005"/>
                </a:lnTo>
                <a:lnTo>
                  <a:pt x="126461" y="38862"/>
                </a:lnTo>
                <a:lnTo>
                  <a:pt x="123571" y="26923"/>
                </a:lnTo>
                <a:lnTo>
                  <a:pt x="119367" y="20573"/>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6" name="bk object 37"/>
          <p:cNvSpPr/>
          <p:nvPr/>
        </p:nvSpPr>
        <p:spPr>
          <a:xfrm>
            <a:off x="2104200" y="1094040"/>
            <a:ext cx="137160" cy="204480"/>
          </a:xfrm>
          <a:custGeom>
            <a:avLst/>
            <a:gdLst>
              <a:gd name="textAreaLeft" fmla="*/ 0 w 137160"/>
              <a:gd name="textAreaRight" fmla="*/ 137880 w 137160"/>
              <a:gd name="textAreaTop" fmla="*/ 0 h 204480"/>
              <a:gd name="textAreaBottom" fmla="*/ 205200 h 204480"/>
            </a:gdLst>
            <a:ahLst/>
            <a:cxnLst/>
            <a:rect l="textAreaLeft" t="textAreaTop" r="textAreaRight" b="textAreaBottom"/>
            <a:pathLst>
              <a:path w="137922" h="205104">
                <a:moveTo>
                  <a:pt x="27431" y="150749"/>
                </a:moveTo>
                <a:lnTo>
                  <a:pt x="3175" y="150749"/>
                </a:lnTo>
                <a:lnTo>
                  <a:pt x="2667" y="151129"/>
                </a:lnTo>
                <a:lnTo>
                  <a:pt x="2667" y="169290"/>
                </a:lnTo>
                <a:lnTo>
                  <a:pt x="8636" y="178307"/>
                </a:lnTo>
                <a:lnTo>
                  <a:pt x="23622" y="193293"/>
                </a:lnTo>
                <a:lnTo>
                  <a:pt x="47625" y="205104"/>
                </a:lnTo>
                <a:lnTo>
                  <a:pt x="62737" y="205104"/>
                </a:lnTo>
                <a:lnTo>
                  <a:pt x="105029" y="193293"/>
                </a:lnTo>
                <a:lnTo>
                  <a:pt x="114576" y="180339"/>
                </a:lnTo>
                <a:lnTo>
                  <a:pt x="54102" y="180339"/>
                </a:lnTo>
                <a:lnTo>
                  <a:pt x="36194" y="171576"/>
                </a:lnTo>
                <a:lnTo>
                  <a:pt x="30353" y="159638"/>
                </a:lnTo>
                <a:lnTo>
                  <a:pt x="30353" y="156717"/>
                </a:lnTo>
                <a:lnTo>
                  <a:pt x="27431" y="150749"/>
                </a:lnTo>
                <a:close/>
              </a:path>
              <a:path w="137922" h="205104">
                <a:moveTo>
                  <a:pt x="136650" y="111378"/>
                </a:moveTo>
                <a:lnTo>
                  <a:pt x="110871" y="111378"/>
                </a:lnTo>
                <a:lnTo>
                  <a:pt x="107950" y="120395"/>
                </a:lnTo>
                <a:lnTo>
                  <a:pt x="107950" y="132460"/>
                </a:lnTo>
                <a:lnTo>
                  <a:pt x="105029" y="138429"/>
                </a:lnTo>
                <a:lnTo>
                  <a:pt x="87249" y="174498"/>
                </a:lnTo>
                <a:lnTo>
                  <a:pt x="78231" y="177418"/>
                </a:lnTo>
                <a:lnTo>
                  <a:pt x="72262" y="180339"/>
                </a:lnTo>
                <a:lnTo>
                  <a:pt x="114576" y="180339"/>
                </a:lnTo>
                <a:lnTo>
                  <a:pt x="123062" y="166115"/>
                </a:lnTo>
                <a:lnTo>
                  <a:pt x="132080" y="144906"/>
                </a:lnTo>
                <a:lnTo>
                  <a:pt x="135000" y="135889"/>
                </a:lnTo>
                <a:lnTo>
                  <a:pt x="135109" y="125856"/>
                </a:lnTo>
                <a:lnTo>
                  <a:pt x="136650" y="111378"/>
                </a:lnTo>
                <a:close/>
              </a:path>
              <a:path w="137922" h="205104">
                <a:moveTo>
                  <a:pt x="65912" y="0"/>
                </a:moveTo>
                <a:lnTo>
                  <a:pt x="41782" y="5841"/>
                </a:lnTo>
                <a:lnTo>
                  <a:pt x="17653" y="17779"/>
                </a:lnTo>
                <a:lnTo>
                  <a:pt x="11811" y="29717"/>
                </a:lnTo>
                <a:lnTo>
                  <a:pt x="5842" y="35686"/>
                </a:lnTo>
                <a:lnTo>
                  <a:pt x="5842" y="41655"/>
                </a:lnTo>
                <a:lnTo>
                  <a:pt x="123" y="65276"/>
                </a:lnTo>
                <a:lnTo>
                  <a:pt x="0" y="80899"/>
                </a:lnTo>
                <a:lnTo>
                  <a:pt x="20828" y="116966"/>
                </a:lnTo>
                <a:lnTo>
                  <a:pt x="53975" y="131825"/>
                </a:lnTo>
                <a:lnTo>
                  <a:pt x="72136" y="131825"/>
                </a:lnTo>
                <a:lnTo>
                  <a:pt x="78105" y="128904"/>
                </a:lnTo>
                <a:lnTo>
                  <a:pt x="96138" y="123062"/>
                </a:lnTo>
                <a:lnTo>
                  <a:pt x="104902" y="114300"/>
                </a:lnTo>
                <a:lnTo>
                  <a:pt x="110871" y="111378"/>
                </a:lnTo>
                <a:lnTo>
                  <a:pt x="136650" y="111378"/>
                </a:lnTo>
                <a:lnTo>
                  <a:pt x="137097" y="107187"/>
                </a:lnTo>
                <a:lnTo>
                  <a:pt x="57150" y="107187"/>
                </a:lnTo>
                <a:lnTo>
                  <a:pt x="54229" y="104266"/>
                </a:lnTo>
                <a:lnTo>
                  <a:pt x="51307" y="104266"/>
                </a:lnTo>
                <a:lnTo>
                  <a:pt x="42291" y="101345"/>
                </a:lnTo>
                <a:lnTo>
                  <a:pt x="39369" y="95376"/>
                </a:lnTo>
                <a:lnTo>
                  <a:pt x="33400" y="89407"/>
                </a:lnTo>
                <a:lnTo>
                  <a:pt x="30480" y="83438"/>
                </a:lnTo>
                <a:lnTo>
                  <a:pt x="27559" y="74421"/>
                </a:lnTo>
                <a:lnTo>
                  <a:pt x="27559" y="65404"/>
                </a:lnTo>
                <a:lnTo>
                  <a:pt x="27431" y="65276"/>
                </a:lnTo>
                <a:lnTo>
                  <a:pt x="27431" y="56260"/>
                </a:lnTo>
                <a:lnTo>
                  <a:pt x="33274" y="44323"/>
                </a:lnTo>
                <a:lnTo>
                  <a:pt x="33274" y="41401"/>
                </a:lnTo>
                <a:lnTo>
                  <a:pt x="39243" y="35432"/>
                </a:lnTo>
                <a:lnTo>
                  <a:pt x="42163" y="29463"/>
                </a:lnTo>
                <a:lnTo>
                  <a:pt x="51181" y="26542"/>
                </a:lnTo>
                <a:lnTo>
                  <a:pt x="57150" y="23621"/>
                </a:lnTo>
                <a:lnTo>
                  <a:pt x="118523" y="23621"/>
                </a:lnTo>
                <a:lnTo>
                  <a:pt x="117093" y="20700"/>
                </a:lnTo>
                <a:lnTo>
                  <a:pt x="105029" y="11683"/>
                </a:lnTo>
                <a:lnTo>
                  <a:pt x="93091" y="5841"/>
                </a:lnTo>
                <a:lnTo>
                  <a:pt x="81025" y="2920"/>
                </a:lnTo>
                <a:lnTo>
                  <a:pt x="65912" y="0"/>
                </a:lnTo>
                <a:close/>
              </a:path>
              <a:path w="137922" h="205104">
                <a:moveTo>
                  <a:pt x="118523" y="23621"/>
                </a:moveTo>
                <a:lnTo>
                  <a:pt x="78359" y="23621"/>
                </a:lnTo>
                <a:lnTo>
                  <a:pt x="84328" y="26542"/>
                </a:lnTo>
                <a:lnTo>
                  <a:pt x="93344" y="29463"/>
                </a:lnTo>
                <a:lnTo>
                  <a:pt x="99313" y="35432"/>
                </a:lnTo>
                <a:lnTo>
                  <a:pt x="102235" y="41401"/>
                </a:lnTo>
                <a:lnTo>
                  <a:pt x="105156" y="50418"/>
                </a:lnTo>
                <a:lnTo>
                  <a:pt x="108014" y="56260"/>
                </a:lnTo>
                <a:lnTo>
                  <a:pt x="107984" y="65785"/>
                </a:lnTo>
                <a:lnTo>
                  <a:pt x="105156" y="77469"/>
                </a:lnTo>
                <a:lnTo>
                  <a:pt x="105156" y="83438"/>
                </a:lnTo>
                <a:lnTo>
                  <a:pt x="102235" y="89407"/>
                </a:lnTo>
                <a:lnTo>
                  <a:pt x="90297" y="101345"/>
                </a:lnTo>
                <a:lnTo>
                  <a:pt x="81280" y="104266"/>
                </a:lnTo>
                <a:lnTo>
                  <a:pt x="75311" y="107187"/>
                </a:lnTo>
                <a:lnTo>
                  <a:pt x="137097" y="107187"/>
                </a:lnTo>
                <a:lnTo>
                  <a:pt x="137922" y="99440"/>
                </a:lnTo>
                <a:lnTo>
                  <a:pt x="137922" y="72008"/>
                </a:lnTo>
                <a:lnTo>
                  <a:pt x="131953" y="53848"/>
                </a:lnTo>
                <a:lnTo>
                  <a:pt x="125984" y="32638"/>
                </a:lnTo>
                <a:lnTo>
                  <a:pt x="120015" y="26669"/>
                </a:lnTo>
                <a:lnTo>
                  <a:pt x="118523" y="2362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7" name="bk object 38"/>
          <p:cNvSpPr/>
          <p:nvPr/>
        </p:nvSpPr>
        <p:spPr>
          <a:xfrm>
            <a:off x="1991520" y="55440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1881" h="201040">
                <a:moveTo>
                  <a:pt x="71881" y="0"/>
                </a:moveTo>
                <a:lnTo>
                  <a:pt x="53721" y="0"/>
                </a:lnTo>
                <a:lnTo>
                  <a:pt x="50800" y="9016"/>
                </a:lnTo>
                <a:lnTo>
                  <a:pt x="47879" y="14985"/>
                </a:lnTo>
                <a:lnTo>
                  <a:pt x="44958" y="24002"/>
                </a:lnTo>
                <a:lnTo>
                  <a:pt x="42037" y="26923"/>
                </a:lnTo>
                <a:lnTo>
                  <a:pt x="24130" y="35686"/>
                </a:lnTo>
                <a:lnTo>
                  <a:pt x="15112" y="35686"/>
                </a:lnTo>
                <a:lnTo>
                  <a:pt x="0" y="38607"/>
                </a:lnTo>
                <a:lnTo>
                  <a:pt x="0" y="56768"/>
                </a:lnTo>
                <a:lnTo>
                  <a:pt x="45593" y="56768"/>
                </a:lnTo>
                <a:lnTo>
                  <a:pt x="45593" y="199897"/>
                </a:lnTo>
                <a:lnTo>
                  <a:pt x="44450" y="201040"/>
                </a:lnTo>
                <a:lnTo>
                  <a:pt x="71881" y="201040"/>
                </a:lnTo>
                <a:lnTo>
                  <a:pt x="7188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8" name="bk object 39"/>
          <p:cNvSpPr/>
          <p:nvPr/>
        </p:nvSpPr>
        <p:spPr>
          <a:xfrm>
            <a:off x="2107080" y="553680"/>
            <a:ext cx="134640" cy="204840"/>
          </a:xfrm>
          <a:custGeom>
            <a:avLst/>
            <a:gdLst>
              <a:gd name="textAreaLeft" fmla="*/ 0 w 134640"/>
              <a:gd name="textAreaRight" fmla="*/ 135360 w 134640"/>
              <a:gd name="textAreaTop" fmla="*/ 0 h 204840"/>
              <a:gd name="textAreaBottom" fmla="*/ 205560 h 204840"/>
            </a:gdLst>
            <a:ahLst/>
            <a:cxnLst/>
            <a:rect l="textAreaLeft" t="textAreaTop" r="textAreaRight" b="textAreaBottom"/>
            <a:pathLst>
              <a:path w="135509" h="205611">
                <a:moveTo>
                  <a:pt x="81534" y="0"/>
                </a:moveTo>
                <a:lnTo>
                  <a:pt x="54102" y="0"/>
                </a:lnTo>
                <a:lnTo>
                  <a:pt x="29972" y="11938"/>
                </a:lnTo>
                <a:lnTo>
                  <a:pt x="17906" y="20954"/>
                </a:lnTo>
                <a:lnTo>
                  <a:pt x="11937" y="33020"/>
                </a:lnTo>
                <a:lnTo>
                  <a:pt x="2921" y="54228"/>
                </a:lnTo>
                <a:lnTo>
                  <a:pt x="0" y="75438"/>
                </a:lnTo>
                <a:lnTo>
                  <a:pt x="0" y="102870"/>
                </a:lnTo>
                <a:lnTo>
                  <a:pt x="254" y="102870"/>
                </a:lnTo>
                <a:lnTo>
                  <a:pt x="254" y="130301"/>
                </a:lnTo>
                <a:lnTo>
                  <a:pt x="3175" y="151511"/>
                </a:lnTo>
                <a:lnTo>
                  <a:pt x="12192" y="169672"/>
                </a:lnTo>
                <a:lnTo>
                  <a:pt x="18161" y="184785"/>
                </a:lnTo>
                <a:lnTo>
                  <a:pt x="30225" y="193801"/>
                </a:lnTo>
                <a:lnTo>
                  <a:pt x="42291" y="199771"/>
                </a:lnTo>
                <a:lnTo>
                  <a:pt x="66421" y="205611"/>
                </a:lnTo>
                <a:lnTo>
                  <a:pt x="81534" y="202692"/>
                </a:lnTo>
                <a:lnTo>
                  <a:pt x="93599" y="199771"/>
                </a:lnTo>
                <a:lnTo>
                  <a:pt x="105663" y="193801"/>
                </a:lnTo>
                <a:lnTo>
                  <a:pt x="114681" y="184785"/>
                </a:lnTo>
                <a:lnTo>
                  <a:pt x="116726" y="181355"/>
                </a:lnTo>
                <a:lnTo>
                  <a:pt x="57023" y="181355"/>
                </a:lnTo>
                <a:lnTo>
                  <a:pt x="51054" y="178435"/>
                </a:lnTo>
                <a:lnTo>
                  <a:pt x="39243" y="166624"/>
                </a:lnTo>
                <a:lnTo>
                  <a:pt x="33274" y="157606"/>
                </a:lnTo>
                <a:lnTo>
                  <a:pt x="30353" y="139446"/>
                </a:lnTo>
                <a:lnTo>
                  <a:pt x="27431" y="124333"/>
                </a:lnTo>
                <a:lnTo>
                  <a:pt x="27305" y="78611"/>
                </a:lnTo>
                <a:lnTo>
                  <a:pt x="30225" y="66548"/>
                </a:lnTo>
                <a:lnTo>
                  <a:pt x="33147" y="48387"/>
                </a:lnTo>
                <a:lnTo>
                  <a:pt x="39116" y="39370"/>
                </a:lnTo>
                <a:lnTo>
                  <a:pt x="50927" y="27559"/>
                </a:lnTo>
                <a:lnTo>
                  <a:pt x="56896" y="24638"/>
                </a:lnTo>
                <a:lnTo>
                  <a:pt x="117433" y="24638"/>
                </a:lnTo>
                <a:lnTo>
                  <a:pt x="114681" y="20954"/>
                </a:lnTo>
                <a:lnTo>
                  <a:pt x="105663" y="11938"/>
                </a:lnTo>
                <a:lnTo>
                  <a:pt x="81534" y="0"/>
                </a:lnTo>
                <a:close/>
              </a:path>
              <a:path w="135509" h="205611">
                <a:moveTo>
                  <a:pt x="117433" y="24638"/>
                </a:moveTo>
                <a:lnTo>
                  <a:pt x="75056" y="24638"/>
                </a:lnTo>
                <a:lnTo>
                  <a:pt x="84074" y="27559"/>
                </a:lnTo>
                <a:lnTo>
                  <a:pt x="96012" y="39497"/>
                </a:lnTo>
                <a:lnTo>
                  <a:pt x="101981" y="48514"/>
                </a:lnTo>
                <a:lnTo>
                  <a:pt x="104902" y="66675"/>
                </a:lnTo>
                <a:lnTo>
                  <a:pt x="107823" y="81788"/>
                </a:lnTo>
                <a:lnTo>
                  <a:pt x="107823" y="124333"/>
                </a:lnTo>
                <a:lnTo>
                  <a:pt x="104902" y="139446"/>
                </a:lnTo>
                <a:lnTo>
                  <a:pt x="101981" y="157606"/>
                </a:lnTo>
                <a:lnTo>
                  <a:pt x="96012" y="166624"/>
                </a:lnTo>
                <a:lnTo>
                  <a:pt x="84200" y="178435"/>
                </a:lnTo>
                <a:lnTo>
                  <a:pt x="75184" y="181355"/>
                </a:lnTo>
                <a:lnTo>
                  <a:pt x="116726" y="181355"/>
                </a:lnTo>
                <a:lnTo>
                  <a:pt x="123698" y="169672"/>
                </a:lnTo>
                <a:lnTo>
                  <a:pt x="129667" y="151511"/>
                </a:lnTo>
                <a:lnTo>
                  <a:pt x="132587" y="130301"/>
                </a:lnTo>
                <a:lnTo>
                  <a:pt x="135509" y="102870"/>
                </a:lnTo>
                <a:lnTo>
                  <a:pt x="132587" y="75438"/>
                </a:lnTo>
                <a:lnTo>
                  <a:pt x="129667" y="54228"/>
                </a:lnTo>
                <a:lnTo>
                  <a:pt x="123698" y="33020"/>
                </a:lnTo>
                <a:lnTo>
                  <a:pt x="117433" y="24638"/>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9" name="bk object 40"/>
          <p:cNvSpPr/>
          <p:nvPr/>
        </p:nvSpPr>
        <p:spPr>
          <a:xfrm>
            <a:off x="2341800" y="6124680"/>
            <a:ext cx="6009840" cy="360"/>
          </a:xfrm>
          <a:custGeom>
            <a:avLst/>
            <a:gdLst>
              <a:gd name="textAreaLeft" fmla="*/ 0 w 6009840"/>
              <a:gd name="textAreaRight" fmla="*/ 6010560 w 6009840"/>
              <a:gd name="textAreaTop" fmla="*/ 0 h 360"/>
              <a:gd name="textAreaBottom" fmla="*/ 1440 h 360"/>
            </a:gdLst>
            <a:ahLst/>
            <a:cxnLst/>
            <a:rect l="textAreaLeft" t="textAreaTop" r="textAreaRight" b="textAreaBottom"/>
            <a:pathLst>
              <a:path w="6010529">
                <a:moveTo>
                  <a:pt x="6010529" y="0"/>
                </a:moveTo>
                <a:lnTo>
                  <a:pt x="0" y="0"/>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0" name="bk object 41"/>
          <p:cNvSpPr/>
          <p:nvPr/>
        </p:nvSpPr>
        <p:spPr>
          <a:xfrm>
            <a:off x="23875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1" name="bk object 42"/>
          <p:cNvSpPr/>
          <p:nvPr/>
        </p:nvSpPr>
        <p:spPr>
          <a:xfrm>
            <a:off x="29818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2" name="bk object 43"/>
          <p:cNvSpPr/>
          <p:nvPr/>
        </p:nvSpPr>
        <p:spPr>
          <a:xfrm>
            <a:off x="35733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3" name="bk object 44"/>
          <p:cNvSpPr/>
          <p:nvPr/>
        </p:nvSpPr>
        <p:spPr>
          <a:xfrm>
            <a:off x="41644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4" name="bk object 45"/>
          <p:cNvSpPr/>
          <p:nvPr/>
        </p:nvSpPr>
        <p:spPr>
          <a:xfrm>
            <a:off x="47559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5" name="bk object 46"/>
          <p:cNvSpPr/>
          <p:nvPr/>
        </p:nvSpPr>
        <p:spPr>
          <a:xfrm>
            <a:off x="53470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6" name="bk object 47"/>
          <p:cNvSpPr/>
          <p:nvPr/>
        </p:nvSpPr>
        <p:spPr>
          <a:xfrm>
            <a:off x="59385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7" name="bk object 48"/>
          <p:cNvSpPr/>
          <p:nvPr/>
        </p:nvSpPr>
        <p:spPr>
          <a:xfrm>
            <a:off x="65329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8" name="bk object 49"/>
          <p:cNvSpPr/>
          <p:nvPr/>
        </p:nvSpPr>
        <p:spPr>
          <a:xfrm>
            <a:off x="712404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9" name="bk object 50"/>
          <p:cNvSpPr/>
          <p:nvPr/>
        </p:nvSpPr>
        <p:spPr>
          <a:xfrm>
            <a:off x="77155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0" name="bk object 51"/>
          <p:cNvSpPr/>
          <p:nvPr/>
        </p:nvSpPr>
        <p:spPr>
          <a:xfrm>
            <a:off x="830664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1" name="bk object 52"/>
          <p:cNvSpPr/>
          <p:nvPr/>
        </p:nvSpPr>
        <p:spPr>
          <a:xfrm>
            <a:off x="220428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9" h="202564">
                <a:moveTo>
                  <a:pt x="93599" y="2921"/>
                </a:moveTo>
                <a:lnTo>
                  <a:pt x="42291" y="2921"/>
                </a:lnTo>
                <a:lnTo>
                  <a:pt x="30226" y="11938"/>
                </a:lnTo>
                <a:lnTo>
                  <a:pt x="21209" y="20955"/>
                </a:lnTo>
                <a:lnTo>
                  <a:pt x="18287" y="26924"/>
                </a:lnTo>
                <a:lnTo>
                  <a:pt x="12318" y="32893"/>
                </a:lnTo>
                <a:lnTo>
                  <a:pt x="9398" y="41910"/>
                </a:lnTo>
                <a:lnTo>
                  <a:pt x="6477" y="53975"/>
                </a:lnTo>
                <a:lnTo>
                  <a:pt x="3542" y="75311"/>
                </a:lnTo>
                <a:lnTo>
                  <a:pt x="635" y="102616"/>
                </a:lnTo>
                <a:lnTo>
                  <a:pt x="0" y="102743"/>
                </a:lnTo>
                <a:lnTo>
                  <a:pt x="5842" y="148336"/>
                </a:lnTo>
                <a:lnTo>
                  <a:pt x="29845" y="193675"/>
                </a:lnTo>
                <a:lnTo>
                  <a:pt x="53975" y="202565"/>
                </a:lnTo>
                <a:lnTo>
                  <a:pt x="81406" y="202565"/>
                </a:lnTo>
                <a:lnTo>
                  <a:pt x="93472" y="199644"/>
                </a:lnTo>
                <a:lnTo>
                  <a:pt x="105537" y="193675"/>
                </a:lnTo>
                <a:lnTo>
                  <a:pt x="117602" y="181610"/>
                </a:lnTo>
                <a:lnTo>
                  <a:pt x="69850" y="181483"/>
                </a:lnTo>
                <a:lnTo>
                  <a:pt x="60833" y="178562"/>
                </a:lnTo>
                <a:lnTo>
                  <a:pt x="54864" y="178562"/>
                </a:lnTo>
                <a:lnTo>
                  <a:pt x="45847" y="172593"/>
                </a:lnTo>
                <a:lnTo>
                  <a:pt x="39878" y="166624"/>
                </a:lnTo>
                <a:lnTo>
                  <a:pt x="36956" y="154559"/>
                </a:lnTo>
                <a:lnTo>
                  <a:pt x="30987" y="139446"/>
                </a:lnTo>
                <a:lnTo>
                  <a:pt x="30987" y="124333"/>
                </a:lnTo>
                <a:lnTo>
                  <a:pt x="28067" y="103124"/>
                </a:lnTo>
                <a:lnTo>
                  <a:pt x="27940" y="102616"/>
                </a:lnTo>
                <a:lnTo>
                  <a:pt x="30861" y="78359"/>
                </a:lnTo>
                <a:lnTo>
                  <a:pt x="30861" y="63246"/>
                </a:lnTo>
                <a:lnTo>
                  <a:pt x="36830" y="48133"/>
                </a:lnTo>
                <a:lnTo>
                  <a:pt x="39751" y="39116"/>
                </a:lnTo>
                <a:lnTo>
                  <a:pt x="45720" y="30099"/>
                </a:lnTo>
                <a:lnTo>
                  <a:pt x="54737" y="27178"/>
                </a:lnTo>
                <a:lnTo>
                  <a:pt x="60706" y="24257"/>
                </a:lnTo>
                <a:lnTo>
                  <a:pt x="119344" y="24257"/>
                </a:lnTo>
                <a:lnTo>
                  <a:pt x="117729" y="20955"/>
                </a:lnTo>
                <a:lnTo>
                  <a:pt x="93599" y="2921"/>
                </a:lnTo>
                <a:close/>
              </a:path>
              <a:path w="135509" h="202564">
                <a:moveTo>
                  <a:pt x="119344" y="24257"/>
                </a:moveTo>
                <a:lnTo>
                  <a:pt x="78867" y="24257"/>
                </a:lnTo>
                <a:lnTo>
                  <a:pt x="90805" y="30099"/>
                </a:lnTo>
                <a:lnTo>
                  <a:pt x="102743" y="48133"/>
                </a:lnTo>
                <a:lnTo>
                  <a:pt x="108712" y="63246"/>
                </a:lnTo>
                <a:lnTo>
                  <a:pt x="108712" y="139446"/>
                </a:lnTo>
                <a:lnTo>
                  <a:pt x="102743" y="154559"/>
                </a:lnTo>
                <a:lnTo>
                  <a:pt x="96774" y="166624"/>
                </a:lnTo>
                <a:lnTo>
                  <a:pt x="84836" y="178562"/>
                </a:lnTo>
                <a:lnTo>
                  <a:pt x="78867" y="178562"/>
                </a:lnTo>
                <a:lnTo>
                  <a:pt x="69850" y="181483"/>
                </a:lnTo>
                <a:lnTo>
                  <a:pt x="117664" y="181483"/>
                </a:lnTo>
                <a:lnTo>
                  <a:pt x="123571" y="169545"/>
                </a:lnTo>
                <a:lnTo>
                  <a:pt x="132587" y="148336"/>
                </a:lnTo>
                <a:lnTo>
                  <a:pt x="135509" y="130175"/>
                </a:lnTo>
                <a:lnTo>
                  <a:pt x="135491" y="75184"/>
                </a:lnTo>
                <a:lnTo>
                  <a:pt x="132587" y="54102"/>
                </a:lnTo>
                <a:lnTo>
                  <a:pt x="123571" y="32893"/>
                </a:lnTo>
                <a:lnTo>
                  <a:pt x="119344" y="24257"/>
                </a:lnTo>
                <a:close/>
              </a:path>
              <a:path w="135509" h="202564">
                <a:moveTo>
                  <a:pt x="81661" y="0"/>
                </a:moveTo>
                <a:lnTo>
                  <a:pt x="54229"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2" name="bk object 53"/>
          <p:cNvSpPr/>
          <p:nvPr/>
        </p:nvSpPr>
        <p:spPr>
          <a:xfrm>
            <a:off x="237240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2" h="33401">
                <a:moveTo>
                  <a:pt x="0" y="16700"/>
                </a:moveTo>
                <a:lnTo>
                  <a:pt x="3035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3" name="bk object 54"/>
          <p:cNvSpPr/>
          <p:nvPr/>
        </p:nvSpPr>
        <p:spPr>
          <a:xfrm>
            <a:off x="2432520" y="629352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361" h="202564">
                <a:moveTo>
                  <a:pt x="93472" y="2920"/>
                </a:moveTo>
                <a:lnTo>
                  <a:pt x="42163" y="2920"/>
                </a:lnTo>
                <a:lnTo>
                  <a:pt x="36194" y="5841"/>
                </a:lnTo>
                <a:lnTo>
                  <a:pt x="21208" y="20827"/>
                </a:lnTo>
                <a:lnTo>
                  <a:pt x="18287" y="26796"/>
                </a:lnTo>
                <a:lnTo>
                  <a:pt x="12318" y="32765"/>
                </a:lnTo>
                <a:lnTo>
                  <a:pt x="9398" y="41782"/>
                </a:lnTo>
                <a:lnTo>
                  <a:pt x="6476" y="53847"/>
                </a:lnTo>
                <a:lnTo>
                  <a:pt x="3528" y="75310"/>
                </a:lnTo>
                <a:lnTo>
                  <a:pt x="635" y="102488"/>
                </a:lnTo>
                <a:lnTo>
                  <a:pt x="0" y="102869"/>
                </a:lnTo>
                <a:lnTo>
                  <a:pt x="5842" y="148462"/>
                </a:lnTo>
                <a:lnTo>
                  <a:pt x="29844" y="193801"/>
                </a:lnTo>
                <a:lnTo>
                  <a:pt x="53848" y="202564"/>
                </a:lnTo>
                <a:lnTo>
                  <a:pt x="81280" y="202564"/>
                </a:lnTo>
                <a:lnTo>
                  <a:pt x="93344" y="199643"/>
                </a:lnTo>
                <a:lnTo>
                  <a:pt x="105410" y="193674"/>
                </a:lnTo>
                <a:lnTo>
                  <a:pt x="117475" y="181609"/>
                </a:lnTo>
                <a:lnTo>
                  <a:pt x="117537" y="181482"/>
                </a:lnTo>
                <a:lnTo>
                  <a:pt x="69976" y="181482"/>
                </a:lnTo>
                <a:lnTo>
                  <a:pt x="60960" y="178561"/>
                </a:lnTo>
                <a:lnTo>
                  <a:pt x="54991" y="178561"/>
                </a:lnTo>
                <a:lnTo>
                  <a:pt x="45974" y="172592"/>
                </a:lnTo>
                <a:lnTo>
                  <a:pt x="40005" y="166611"/>
                </a:lnTo>
                <a:lnTo>
                  <a:pt x="37083" y="160654"/>
                </a:lnTo>
                <a:lnTo>
                  <a:pt x="37033" y="154558"/>
                </a:lnTo>
                <a:lnTo>
                  <a:pt x="31114" y="139572"/>
                </a:lnTo>
                <a:lnTo>
                  <a:pt x="31114" y="124459"/>
                </a:lnTo>
                <a:lnTo>
                  <a:pt x="28193" y="103250"/>
                </a:lnTo>
                <a:lnTo>
                  <a:pt x="28067" y="102488"/>
                </a:lnTo>
                <a:lnTo>
                  <a:pt x="30987" y="78231"/>
                </a:lnTo>
                <a:lnTo>
                  <a:pt x="30987" y="63118"/>
                </a:lnTo>
                <a:lnTo>
                  <a:pt x="36906" y="48132"/>
                </a:lnTo>
                <a:lnTo>
                  <a:pt x="36956" y="42036"/>
                </a:lnTo>
                <a:lnTo>
                  <a:pt x="39878" y="39115"/>
                </a:lnTo>
                <a:lnTo>
                  <a:pt x="45847" y="30086"/>
                </a:lnTo>
                <a:lnTo>
                  <a:pt x="54863" y="27177"/>
                </a:lnTo>
                <a:lnTo>
                  <a:pt x="60832" y="24256"/>
                </a:lnTo>
                <a:lnTo>
                  <a:pt x="119217" y="24256"/>
                </a:lnTo>
                <a:lnTo>
                  <a:pt x="117601" y="20954"/>
                </a:lnTo>
                <a:lnTo>
                  <a:pt x="93472" y="2920"/>
                </a:lnTo>
                <a:close/>
              </a:path>
              <a:path w="135361" h="202564">
                <a:moveTo>
                  <a:pt x="119217" y="24256"/>
                </a:moveTo>
                <a:lnTo>
                  <a:pt x="78993" y="24256"/>
                </a:lnTo>
                <a:lnTo>
                  <a:pt x="90931" y="30086"/>
                </a:lnTo>
                <a:lnTo>
                  <a:pt x="102869" y="48132"/>
                </a:lnTo>
                <a:lnTo>
                  <a:pt x="108788" y="63118"/>
                </a:lnTo>
                <a:lnTo>
                  <a:pt x="108788" y="139572"/>
                </a:lnTo>
                <a:lnTo>
                  <a:pt x="102807" y="154685"/>
                </a:lnTo>
                <a:lnTo>
                  <a:pt x="96900" y="166611"/>
                </a:lnTo>
                <a:lnTo>
                  <a:pt x="84962" y="178561"/>
                </a:lnTo>
                <a:lnTo>
                  <a:pt x="78993" y="178561"/>
                </a:lnTo>
                <a:lnTo>
                  <a:pt x="69976" y="181482"/>
                </a:lnTo>
                <a:lnTo>
                  <a:pt x="117537" y="181482"/>
                </a:lnTo>
                <a:lnTo>
                  <a:pt x="123443" y="169544"/>
                </a:lnTo>
                <a:lnTo>
                  <a:pt x="132461" y="148335"/>
                </a:lnTo>
                <a:lnTo>
                  <a:pt x="135361" y="130301"/>
                </a:lnTo>
                <a:lnTo>
                  <a:pt x="135347" y="75056"/>
                </a:lnTo>
                <a:lnTo>
                  <a:pt x="132461" y="54101"/>
                </a:lnTo>
                <a:lnTo>
                  <a:pt x="123381" y="32765"/>
                </a:lnTo>
                <a:lnTo>
                  <a:pt x="119217" y="24256"/>
                </a:lnTo>
                <a:close/>
              </a:path>
              <a:path w="135361" h="202564">
                <a:moveTo>
                  <a:pt x="81533" y="0"/>
                </a:moveTo>
                <a:lnTo>
                  <a:pt x="54101" y="0"/>
                </a:lnTo>
                <a:lnTo>
                  <a:pt x="48132" y="2920"/>
                </a:lnTo>
                <a:lnTo>
                  <a:pt x="87503" y="2920"/>
                </a:lnTo>
                <a:lnTo>
                  <a:pt x="81533"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4" name="bk object 55"/>
          <p:cNvSpPr/>
          <p:nvPr/>
        </p:nvSpPr>
        <p:spPr>
          <a:xfrm>
            <a:off x="2816640" y="6293160"/>
            <a:ext cx="137520" cy="201960"/>
          </a:xfrm>
          <a:custGeom>
            <a:avLst/>
            <a:gdLst>
              <a:gd name="textAreaLeft" fmla="*/ 0 w 137520"/>
              <a:gd name="textAreaRight" fmla="*/ 138240 w 137520"/>
              <a:gd name="textAreaTop" fmla="*/ 0 h 201960"/>
              <a:gd name="textAreaBottom" fmla="*/ 202680 h 201960"/>
            </a:gdLst>
            <a:ahLst/>
            <a:cxnLst/>
            <a:rect l="textAreaLeft" t="textAreaTop" r="textAreaRight" b="textAreaBottom"/>
            <a:pathLst>
              <a:path w="138289" h="202564">
                <a:moveTo>
                  <a:pt x="96519" y="2921"/>
                </a:moveTo>
                <a:lnTo>
                  <a:pt x="45338" y="2921"/>
                </a:lnTo>
                <a:lnTo>
                  <a:pt x="21208" y="20955"/>
                </a:lnTo>
                <a:lnTo>
                  <a:pt x="15367" y="32893"/>
                </a:lnTo>
                <a:lnTo>
                  <a:pt x="9398" y="41910"/>
                </a:lnTo>
                <a:lnTo>
                  <a:pt x="6476" y="53975"/>
                </a:lnTo>
                <a:lnTo>
                  <a:pt x="3542" y="75311"/>
                </a:lnTo>
                <a:lnTo>
                  <a:pt x="635" y="102616"/>
                </a:lnTo>
                <a:lnTo>
                  <a:pt x="0" y="102743"/>
                </a:lnTo>
                <a:lnTo>
                  <a:pt x="5842" y="148336"/>
                </a:lnTo>
                <a:lnTo>
                  <a:pt x="32893" y="193675"/>
                </a:lnTo>
                <a:lnTo>
                  <a:pt x="53975" y="202565"/>
                </a:lnTo>
                <a:lnTo>
                  <a:pt x="84328" y="202565"/>
                </a:lnTo>
                <a:lnTo>
                  <a:pt x="96393" y="199644"/>
                </a:lnTo>
                <a:lnTo>
                  <a:pt x="105410" y="193675"/>
                </a:lnTo>
                <a:lnTo>
                  <a:pt x="117475" y="181610"/>
                </a:lnTo>
                <a:lnTo>
                  <a:pt x="117854" y="181102"/>
                </a:lnTo>
                <a:lnTo>
                  <a:pt x="69976" y="181102"/>
                </a:lnTo>
                <a:lnTo>
                  <a:pt x="60960" y="178181"/>
                </a:lnTo>
                <a:lnTo>
                  <a:pt x="54991" y="178181"/>
                </a:lnTo>
                <a:lnTo>
                  <a:pt x="45974" y="172212"/>
                </a:lnTo>
                <a:lnTo>
                  <a:pt x="40005" y="166243"/>
                </a:lnTo>
                <a:lnTo>
                  <a:pt x="37083" y="160274"/>
                </a:lnTo>
                <a:lnTo>
                  <a:pt x="37033" y="154178"/>
                </a:lnTo>
                <a:lnTo>
                  <a:pt x="31114" y="139192"/>
                </a:lnTo>
                <a:lnTo>
                  <a:pt x="31097" y="123952"/>
                </a:lnTo>
                <a:lnTo>
                  <a:pt x="28193" y="102870"/>
                </a:lnTo>
                <a:lnTo>
                  <a:pt x="28067" y="102616"/>
                </a:lnTo>
                <a:lnTo>
                  <a:pt x="30972" y="78486"/>
                </a:lnTo>
                <a:lnTo>
                  <a:pt x="30987" y="63246"/>
                </a:lnTo>
                <a:lnTo>
                  <a:pt x="36906" y="48260"/>
                </a:lnTo>
                <a:lnTo>
                  <a:pt x="36956" y="42164"/>
                </a:lnTo>
                <a:lnTo>
                  <a:pt x="39878" y="39243"/>
                </a:lnTo>
                <a:lnTo>
                  <a:pt x="45847" y="30213"/>
                </a:lnTo>
                <a:lnTo>
                  <a:pt x="54863" y="27305"/>
                </a:lnTo>
                <a:lnTo>
                  <a:pt x="60832" y="24384"/>
                </a:lnTo>
                <a:lnTo>
                  <a:pt x="119280" y="24384"/>
                </a:lnTo>
                <a:lnTo>
                  <a:pt x="117601" y="20955"/>
                </a:lnTo>
                <a:lnTo>
                  <a:pt x="105537" y="11938"/>
                </a:lnTo>
                <a:lnTo>
                  <a:pt x="96519" y="2921"/>
                </a:lnTo>
                <a:close/>
              </a:path>
              <a:path w="138289" h="202564">
                <a:moveTo>
                  <a:pt x="119280" y="24384"/>
                </a:moveTo>
                <a:lnTo>
                  <a:pt x="78993" y="24384"/>
                </a:lnTo>
                <a:lnTo>
                  <a:pt x="84962" y="27305"/>
                </a:lnTo>
                <a:lnTo>
                  <a:pt x="93980" y="30213"/>
                </a:lnTo>
                <a:lnTo>
                  <a:pt x="99949" y="39243"/>
                </a:lnTo>
                <a:lnTo>
                  <a:pt x="102869" y="48260"/>
                </a:lnTo>
                <a:lnTo>
                  <a:pt x="108788" y="63246"/>
                </a:lnTo>
                <a:lnTo>
                  <a:pt x="108838" y="78486"/>
                </a:lnTo>
                <a:lnTo>
                  <a:pt x="111744" y="102616"/>
                </a:lnTo>
                <a:lnTo>
                  <a:pt x="111742" y="102870"/>
                </a:lnTo>
                <a:lnTo>
                  <a:pt x="108838" y="123952"/>
                </a:lnTo>
                <a:lnTo>
                  <a:pt x="108788" y="139192"/>
                </a:lnTo>
                <a:lnTo>
                  <a:pt x="102869" y="154178"/>
                </a:lnTo>
                <a:lnTo>
                  <a:pt x="99949" y="166243"/>
                </a:lnTo>
                <a:lnTo>
                  <a:pt x="93980" y="172212"/>
                </a:lnTo>
                <a:lnTo>
                  <a:pt x="84962" y="178181"/>
                </a:lnTo>
                <a:lnTo>
                  <a:pt x="78993" y="178181"/>
                </a:lnTo>
                <a:lnTo>
                  <a:pt x="69976" y="181102"/>
                </a:lnTo>
                <a:lnTo>
                  <a:pt x="117854" y="181102"/>
                </a:lnTo>
                <a:lnTo>
                  <a:pt x="126492" y="169545"/>
                </a:lnTo>
                <a:lnTo>
                  <a:pt x="132461" y="148336"/>
                </a:lnTo>
                <a:lnTo>
                  <a:pt x="135381" y="130175"/>
                </a:lnTo>
                <a:lnTo>
                  <a:pt x="138289" y="102870"/>
                </a:lnTo>
                <a:lnTo>
                  <a:pt x="138289" y="102616"/>
                </a:lnTo>
                <a:lnTo>
                  <a:pt x="135364" y="75184"/>
                </a:lnTo>
                <a:lnTo>
                  <a:pt x="132461" y="54102"/>
                </a:lnTo>
                <a:lnTo>
                  <a:pt x="126492" y="32893"/>
                </a:lnTo>
                <a:lnTo>
                  <a:pt x="120523" y="26924"/>
                </a:lnTo>
                <a:lnTo>
                  <a:pt x="119280" y="24384"/>
                </a:lnTo>
                <a:close/>
              </a:path>
              <a:path w="138289" h="202564">
                <a:moveTo>
                  <a:pt x="84581" y="0"/>
                </a:moveTo>
                <a:lnTo>
                  <a:pt x="54229" y="0"/>
                </a:lnTo>
                <a:lnTo>
                  <a:pt x="48260" y="2921"/>
                </a:lnTo>
                <a:lnTo>
                  <a:pt x="90550" y="2921"/>
                </a:lnTo>
                <a:lnTo>
                  <a:pt x="8458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5" name="bk object 56"/>
          <p:cNvSpPr/>
          <p:nvPr/>
        </p:nvSpPr>
        <p:spPr>
          <a:xfrm>
            <a:off x="298800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6" name="bk object 57"/>
          <p:cNvSpPr/>
          <p:nvPr/>
        </p:nvSpPr>
        <p:spPr>
          <a:xfrm>
            <a:off x="3043080" y="629352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2136" h="201040">
                <a:moveTo>
                  <a:pt x="72136" y="0"/>
                </a:moveTo>
                <a:lnTo>
                  <a:pt x="53975" y="0"/>
                </a:lnTo>
                <a:lnTo>
                  <a:pt x="51054" y="9016"/>
                </a:lnTo>
                <a:lnTo>
                  <a:pt x="45212" y="20954"/>
                </a:lnTo>
                <a:lnTo>
                  <a:pt x="36194" y="26911"/>
                </a:lnTo>
                <a:lnTo>
                  <a:pt x="30225" y="32892"/>
                </a:lnTo>
                <a:lnTo>
                  <a:pt x="21208" y="35813"/>
                </a:lnTo>
                <a:lnTo>
                  <a:pt x="0" y="35813"/>
                </a:lnTo>
                <a:lnTo>
                  <a:pt x="0" y="57022"/>
                </a:lnTo>
                <a:lnTo>
                  <a:pt x="45593" y="57022"/>
                </a:lnTo>
                <a:lnTo>
                  <a:pt x="45593" y="200151"/>
                </a:lnTo>
                <a:lnTo>
                  <a:pt x="44704" y="201040"/>
                </a:lnTo>
                <a:lnTo>
                  <a:pt x="72136" y="201040"/>
                </a:lnTo>
                <a:lnTo>
                  <a:pt x="72136"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7" name="bk object 58"/>
          <p:cNvSpPr/>
          <p:nvPr/>
        </p:nvSpPr>
        <p:spPr>
          <a:xfrm>
            <a:off x="3386520" y="6293520"/>
            <a:ext cx="137160" cy="201600"/>
          </a:xfrm>
          <a:custGeom>
            <a:avLst/>
            <a:gdLst>
              <a:gd name="textAreaLeft" fmla="*/ 0 w 137160"/>
              <a:gd name="textAreaRight" fmla="*/ 137880 w 137160"/>
              <a:gd name="textAreaTop" fmla="*/ 0 h 201600"/>
              <a:gd name="textAreaBottom" fmla="*/ 202320 h 201600"/>
            </a:gdLst>
            <a:ahLst/>
            <a:cxnLst/>
            <a:rect l="textAreaLeft" t="textAreaTop" r="textAreaRight" b="textAreaBottom"/>
            <a:pathLst>
              <a:path w="138049" h="202311">
                <a:moveTo>
                  <a:pt x="96393" y="2920"/>
                </a:moveTo>
                <a:lnTo>
                  <a:pt x="45212" y="2920"/>
                </a:lnTo>
                <a:lnTo>
                  <a:pt x="33147" y="11937"/>
                </a:lnTo>
                <a:lnTo>
                  <a:pt x="27178" y="14858"/>
                </a:lnTo>
                <a:lnTo>
                  <a:pt x="21209" y="20827"/>
                </a:lnTo>
                <a:lnTo>
                  <a:pt x="15367" y="32765"/>
                </a:lnTo>
                <a:lnTo>
                  <a:pt x="9398" y="41782"/>
                </a:lnTo>
                <a:lnTo>
                  <a:pt x="6477" y="53847"/>
                </a:lnTo>
                <a:lnTo>
                  <a:pt x="3542" y="75183"/>
                </a:lnTo>
                <a:lnTo>
                  <a:pt x="635" y="102488"/>
                </a:lnTo>
                <a:lnTo>
                  <a:pt x="0" y="102615"/>
                </a:lnTo>
                <a:lnTo>
                  <a:pt x="5842" y="148208"/>
                </a:lnTo>
                <a:lnTo>
                  <a:pt x="32766" y="193420"/>
                </a:lnTo>
                <a:lnTo>
                  <a:pt x="53848" y="202310"/>
                </a:lnTo>
                <a:lnTo>
                  <a:pt x="84201" y="202310"/>
                </a:lnTo>
                <a:lnTo>
                  <a:pt x="96266" y="199389"/>
                </a:lnTo>
                <a:lnTo>
                  <a:pt x="105283" y="193420"/>
                </a:lnTo>
                <a:lnTo>
                  <a:pt x="117221" y="181482"/>
                </a:lnTo>
                <a:lnTo>
                  <a:pt x="118075" y="180339"/>
                </a:lnTo>
                <a:lnTo>
                  <a:pt x="70231" y="180339"/>
                </a:lnTo>
                <a:lnTo>
                  <a:pt x="61214" y="177418"/>
                </a:lnTo>
                <a:lnTo>
                  <a:pt x="55245" y="177418"/>
                </a:lnTo>
                <a:lnTo>
                  <a:pt x="49276" y="171449"/>
                </a:lnTo>
                <a:lnTo>
                  <a:pt x="40259" y="165480"/>
                </a:lnTo>
                <a:lnTo>
                  <a:pt x="37337" y="153415"/>
                </a:lnTo>
                <a:lnTo>
                  <a:pt x="31419" y="138429"/>
                </a:lnTo>
                <a:lnTo>
                  <a:pt x="31369" y="102488"/>
                </a:lnTo>
                <a:lnTo>
                  <a:pt x="31292" y="62737"/>
                </a:lnTo>
                <a:lnTo>
                  <a:pt x="37252" y="47624"/>
                </a:lnTo>
                <a:lnTo>
                  <a:pt x="40132" y="38734"/>
                </a:lnTo>
                <a:lnTo>
                  <a:pt x="49149" y="29717"/>
                </a:lnTo>
                <a:lnTo>
                  <a:pt x="61087" y="23875"/>
                </a:lnTo>
                <a:lnTo>
                  <a:pt x="118839" y="23875"/>
                </a:lnTo>
                <a:lnTo>
                  <a:pt x="117348" y="20827"/>
                </a:lnTo>
                <a:lnTo>
                  <a:pt x="111379" y="14858"/>
                </a:lnTo>
                <a:lnTo>
                  <a:pt x="105410" y="11937"/>
                </a:lnTo>
                <a:lnTo>
                  <a:pt x="96393" y="2920"/>
                </a:lnTo>
                <a:close/>
              </a:path>
              <a:path w="138049" h="202311">
                <a:moveTo>
                  <a:pt x="118839" y="23875"/>
                </a:moveTo>
                <a:lnTo>
                  <a:pt x="79248" y="23875"/>
                </a:lnTo>
                <a:lnTo>
                  <a:pt x="85217" y="26796"/>
                </a:lnTo>
                <a:lnTo>
                  <a:pt x="94234" y="29717"/>
                </a:lnTo>
                <a:lnTo>
                  <a:pt x="100203" y="38734"/>
                </a:lnTo>
                <a:lnTo>
                  <a:pt x="103124" y="41655"/>
                </a:lnTo>
                <a:lnTo>
                  <a:pt x="103174" y="47751"/>
                </a:lnTo>
                <a:lnTo>
                  <a:pt x="109093" y="62737"/>
                </a:lnTo>
                <a:lnTo>
                  <a:pt x="109093" y="77850"/>
                </a:lnTo>
                <a:lnTo>
                  <a:pt x="111983" y="101853"/>
                </a:lnTo>
                <a:lnTo>
                  <a:pt x="111944" y="102615"/>
                </a:lnTo>
                <a:lnTo>
                  <a:pt x="109093" y="123316"/>
                </a:lnTo>
                <a:lnTo>
                  <a:pt x="109093" y="138429"/>
                </a:lnTo>
                <a:lnTo>
                  <a:pt x="103174" y="153415"/>
                </a:lnTo>
                <a:lnTo>
                  <a:pt x="103124" y="159511"/>
                </a:lnTo>
                <a:lnTo>
                  <a:pt x="100203" y="165480"/>
                </a:lnTo>
                <a:lnTo>
                  <a:pt x="94234" y="171449"/>
                </a:lnTo>
                <a:lnTo>
                  <a:pt x="85217" y="177418"/>
                </a:lnTo>
                <a:lnTo>
                  <a:pt x="79248" y="177418"/>
                </a:lnTo>
                <a:lnTo>
                  <a:pt x="70231" y="180339"/>
                </a:lnTo>
                <a:lnTo>
                  <a:pt x="118075" y="180339"/>
                </a:lnTo>
                <a:lnTo>
                  <a:pt x="126237" y="169417"/>
                </a:lnTo>
                <a:lnTo>
                  <a:pt x="132207" y="148208"/>
                </a:lnTo>
                <a:lnTo>
                  <a:pt x="135128" y="130047"/>
                </a:lnTo>
                <a:lnTo>
                  <a:pt x="138049" y="102615"/>
                </a:lnTo>
                <a:lnTo>
                  <a:pt x="135110" y="75056"/>
                </a:lnTo>
                <a:lnTo>
                  <a:pt x="132207" y="53974"/>
                </a:lnTo>
                <a:lnTo>
                  <a:pt x="126237" y="32765"/>
                </a:lnTo>
                <a:lnTo>
                  <a:pt x="120269" y="26796"/>
                </a:lnTo>
                <a:lnTo>
                  <a:pt x="118839" y="23875"/>
                </a:lnTo>
                <a:close/>
              </a:path>
              <a:path w="138049" h="202311">
                <a:moveTo>
                  <a:pt x="31369" y="101853"/>
                </a:moveTo>
                <a:lnTo>
                  <a:pt x="31242" y="102488"/>
                </a:lnTo>
                <a:lnTo>
                  <a:pt x="31369" y="101853"/>
                </a:lnTo>
                <a:close/>
              </a:path>
              <a:path w="138049" h="202311">
                <a:moveTo>
                  <a:pt x="84455" y="0"/>
                </a:moveTo>
                <a:lnTo>
                  <a:pt x="54102" y="0"/>
                </a:lnTo>
                <a:lnTo>
                  <a:pt x="51181" y="2920"/>
                </a:lnTo>
                <a:lnTo>
                  <a:pt x="90424" y="2920"/>
                </a:lnTo>
                <a:lnTo>
                  <a:pt x="8445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8" name="bk object 59"/>
          <p:cNvSpPr/>
          <p:nvPr/>
        </p:nvSpPr>
        <p:spPr>
          <a:xfrm>
            <a:off x="355788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9" name="bk object 60"/>
          <p:cNvSpPr/>
          <p:nvPr/>
        </p:nvSpPr>
        <p:spPr>
          <a:xfrm>
            <a:off x="3615840" y="6294960"/>
            <a:ext cx="136440" cy="197640"/>
          </a:xfrm>
          <a:custGeom>
            <a:avLst/>
            <a:gdLst>
              <a:gd name="textAreaLeft" fmla="*/ 0 w 136440"/>
              <a:gd name="textAreaRight" fmla="*/ 137160 w 136440"/>
              <a:gd name="textAreaTop" fmla="*/ 0 h 197640"/>
              <a:gd name="textAreaBottom" fmla="*/ 198360 h 197640"/>
            </a:gdLst>
            <a:ahLst/>
            <a:cxnLst/>
            <a:rect l="textAreaLeft" t="textAreaTop" r="textAreaRight" b="textAreaBottom"/>
            <a:pathLst>
              <a:path w="137287" h="198500">
                <a:moveTo>
                  <a:pt x="126675" y="24510"/>
                </a:moveTo>
                <a:lnTo>
                  <a:pt x="84200" y="24510"/>
                </a:lnTo>
                <a:lnTo>
                  <a:pt x="96138" y="30352"/>
                </a:lnTo>
                <a:lnTo>
                  <a:pt x="102108" y="36321"/>
                </a:lnTo>
                <a:lnTo>
                  <a:pt x="104966" y="42163"/>
                </a:lnTo>
                <a:lnTo>
                  <a:pt x="105029" y="45211"/>
                </a:lnTo>
                <a:lnTo>
                  <a:pt x="107823" y="48005"/>
                </a:lnTo>
                <a:lnTo>
                  <a:pt x="90170" y="93217"/>
                </a:lnTo>
                <a:lnTo>
                  <a:pt x="62992" y="108203"/>
                </a:lnTo>
                <a:lnTo>
                  <a:pt x="44958" y="120141"/>
                </a:lnTo>
                <a:lnTo>
                  <a:pt x="32893" y="126110"/>
                </a:lnTo>
                <a:lnTo>
                  <a:pt x="14859" y="144144"/>
                </a:lnTo>
                <a:lnTo>
                  <a:pt x="2921" y="168274"/>
                </a:lnTo>
                <a:lnTo>
                  <a:pt x="0" y="183387"/>
                </a:lnTo>
                <a:lnTo>
                  <a:pt x="0" y="198500"/>
                </a:lnTo>
                <a:lnTo>
                  <a:pt x="254" y="197992"/>
                </a:lnTo>
                <a:lnTo>
                  <a:pt x="137287" y="197992"/>
                </a:lnTo>
                <a:lnTo>
                  <a:pt x="137287" y="170560"/>
                </a:lnTo>
                <a:lnTo>
                  <a:pt x="30607" y="170560"/>
                </a:lnTo>
                <a:lnTo>
                  <a:pt x="30607" y="167639"/>
                </a:lnTo>
                <a:lnTo>
                  <a:pt x="33527" y="164718"/>
                </a:lnTo>
                <a:lnTo>
                  <a:pt x="39370" y="152780"/>
                </a:lnTo>
                <a:lnTo>
                  <a:pt x="45338" y="149859"/>
                </a:lnTo>
                <a:lnTo>
                  <a:pt x="48260" y="143890"/>
                </a:lnTo>
                <a:lnTo>
                  <a:pt x="54229" y="140969"/>
                </a:lnTo>
                <a:lnTo>
                  <a:pt x="63246" y="135000"/>
                </a:lnTo>
                <a:lnTo>
                  <a:pt x="72262" y="132079"/>
                </a:lnTo>
                <a:lnTo>
                  <a:pt x="75184" y="129158"/>
                </a:lnTo>
                <a:lnTo>
                  <a:pt x="93345" y="120141"/>
                </a:lnTo>
                <a:lnTo>
                  <a:pt x="96266" y="117220"/>
                </a:lnTo>
                <a:lnTo>
                  <a:pt x="102235" y="114299"/>
                </a:lnTo>
                <a:lnTo>
                  <a:pt x="111251" y="108330"/>
                </a:lnTo>
                <a:lnTo>
                  <a:pt x="126237" y="93344"/>
                </a:lnTo>
                <a:lnTo>
                  <a:pt x="129159" y="84327"/>
                </a:lnTo>
                <a:lnTo>
                  <a:pt x="135127" y="72262"/>
                </a:lnTo>
                <a:lnTo>
                  <a:pt x="135127" y="44830"/>
                </a:lnTo>
                <a:lnTo>
                  <a:pt x="132207" y="35813"/>
                </a:lnTo>
                <a:lnTo>
                  <a:pt x="126675" y="24510"/>
                </a:lnTo>
                <a:close/>
              </a:path>
              <a:path w="137287" h="198500">
                <a:moveTo>
                  <a:pt x="84200" y="0"/>
                </a:moveTo>
                <a:lnTo>
                  <a:pt x="53848" y="0"/>
                </a:lnTo>
                <a:lnTo>
                  <a:pt x="29845" y="11810"/>
                </a:lnTo>
                <a:lnTo>
                  <a:pt x="17907" y="23748"/>
                </a:lnTo>
                <a:lnTo>
                  <a:pt x="14986" y="29717"/>
                </a:lnTo>
                <a:lnTo>
                  <a:pt x="9017" y="38734"/>
                </a:lnTo>
                <a:lnTo>
                  <a:pt x="6096" y="47751"/>
                </a:lnTo>
                <a:lnTo>
                  <a:pt x="6096" y="68960"/>
                </a:lnTo>
                <a:lnTo>
                  <a:pt x="30352" y="68960"/>
                </a:lnTo>
                <a:lnTo>
                  <a:pt x="30352" y="59943"/>
                </a:lnTo>
                <a:lnTo>
                  <a:pt x="33274" y="53974"/>
                </a:lnTo>
                <a:lnTo>
                  <a:pt x="33274" y="48005"/>
                </a:lnTo>
                <a:lnTo>
                  <a:pt x="36068" y="45211"/>
                </a:lnTo>
                <a:lnTo>
                  <a:pt x="36195" y="42163"/>
                </a:lnTo>
                <a:lnTo>
                  <a:pt x="48006" y="30352"/>
                </a:lnTo>
                <a:lnTo>
                  <a:pt x="59944" y="24510"/>
                </a:lnTo>
                <a:lnTo>
                  <a:pt x="126675" y="24510"/>
                </a:lnTo>
                <a:lnTo>
                  <a:pt x="126364" y="23875"/>
                </a:lnTo>
                <a:lnTo>
                  <a:pt x="117348" y="14858"/>
                </a:lnTo>
                <a:lnTo>
                  <a:pt x="108331" y="8889"/>
                </a:lnTo>
                <a:lnTo>
                  <a:pt x="96266" y="2920"/>
                </a:lnTo>
                <a:lnTo>
                  <a:pt x="8420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0" name="bk object 61"/>
          <p:cNvSpPr/>
          <p:nvPr/>
        </p:nvSpPr>
        <p:spPr>
          <a:xfrm>
            <a:off x="3980880" y="6293160"/>
            <a:ext cx="134640" cy="201600"/>
          </a:xfrm>
          <a:custGeom>
            <a:avLst/>
            <a:gdLst>
              <a:gd name="textAreaLeft" fmla="*/ 0 w 134640"/>
              <a:gd name="textAreaRight" fmla="*/ 135360 w 134640"/>
              <a:gd name="textAreaTop" fmla="*/ 0 h 201600"/>
              <a:gd name="textAreaBottom" fmla="*/ 202320 h 201600"/>
            </a:gdLst>
            <a:ahLst/>
            <a:cxnLst/>
            <a:rect l="textAreaLeft" t="textAreaTop" r="textAreaRight" b="textAreaBottom"/>
            <a:pathLst>
              <a:path w="135509" h="202437">
                <a:moveTo>
                  <a:pt x="28448" y="102616"/>
                </a:moveTo>
                <a:lnTo>
                  <a:pt x="0" y="102616"/>
                </a:lnTo>
                <a:lnTo>
                  <a:pt x="0" y="130048"/>
                </a:lnTo>
                <a:lnTo>
                  <a:pt x="11937" y="169418"/>
                </a:lnTo>
                <a:lnTo>
                  <a:pt x="42037" y="199517"/>
                </a:lnTo>
                <a:lnTo>
                  <a:pt x="54101" y="202438"/>
                </a:lnTo>
                <a:lnTo>
                  <a:pt x="81534" y="202438"/>
                </a:lnTo>
                <a:lnTo>
                  <a:pt x="93599" y="199517"/>
                </a:lnTo>
                <a:lnTo>
                  <a:pt x="105663" y="193548"/>
                </a:lnTo>
                <a:lnTo>
                  <a:pt x="115155" y="180848"/>
                </a:lnTo>
                <a:lnTo>
                  <a:pt x="67183" y="180848"/>
                </a:lnTo>
                <a:lnTo>
                  <a:pt x="58165" y="177927"/>
                </a:lnTo>
                <a:lnTo>
                  <a:pt x="52197" y="177927"/>
                </a:lnTo>
                <a:lnTo>
                  <a:pt x="40259" y="165989"/>
                </a:lnTo>
                <a:lnTo>
                  <a:pt x="34289" y="153924"/>
                </a:lnTo>
                <a:lnTo>
                  <a:pt x="28472" y="123825"/>
                </a:lnTo>
                <a:lnTo>
                  <a:pt x="28448" y="102616"/>
                </a:lnTo>
                <a:close/>
              </a:path>
              <a:path w="135509" h="202437">
                <a:moveTo>
                  <a:pt x="116486" y="24257"/>
                </a:moveTo>
                <a:lnTo>
                  <a:pt x="76200" y="24257"/>
                </a:lnTo>
                <a:lnTo>
                  <a:pt x="85216" y="27178"/>
                </a:lnTo>
                <a:lnTo>
                  <a:pt x="91186" y="30099"/>
                </a:lnTo>
                <a:lnTo>
                  <a:pt x="97154" y="39116"/>
                </a:lnTo>
                <a:lnTo>
                  <a:pt x="100075" y="42037"/>
                </a:lnTo>
                <a:lnTo>
                  <a:pt x="102997" y="48006"/>
                </a:lnTo>
                <a:lnTo>
                  <a:pt x="108838" y="78232"/>
                </a:lnTo>
                <a:lnTo>
                  <a:pt x="108838" y="123825"/>
                </a:lnTo>
                <a:lnTo>
                  <a:pt x="102997" y="154038"/>
                </a:lnTo>
                <a:lnTo>
                  <a:pt x="97154" y="165989"/>
                </a:lnTo>
                <a:lnTo>
                  <a:pt x="85216" y="177927"/>
                </a:lnTo>
                <a:lnTo>
                  <a:pt x="76200" y="177927"/>
                </a:lnTo>
                <a:lnTo>
                  <a:pt x="67183" y="180848"/>
                </a:lnTo>
                <a:lnTo>
                  <a:pt x="115155" y="180848"/>
                </a:lnTo>
                <a:lnTo>
                  <a:pt x="123698" y="169418"/>
                </a:lnTo>
                <a:lnTo>
                  <a:pt x="129666" y="148209"/>
                </a:lnTo>
                <a:lnTo>
                  <a:pt x="132587" y="130048"/>
                </a:lnTo>
                <a:lnTo>
                  <a:pt x="135509" y="102616"/>
                </a:lnTo>
                <a:lnTo>
                  <a:pt x="132587" y="75184"/>
                </a:lnTo>
                <a:lnTo>
                  <a:pt x="129666" y="53975"/>
                </a:lnTo>
                <a:lnTo>
                  <a:pt x="123698" y="32766"/>
                </a:lnTo>
                <a:lnTo>
                  <a:pt x="117728" y="26797"/>
                </a:lnTo>
                <a:lnTo>
                  <a:pt x="116486" y="24257"/>
                </a:lnTo>
                <a:close/>
              </a:path>
              <a:path w="135509" h="202437">
                <a:moveTo>
                  <a:pt x="93852" y="2921"/>
                </a:moveTo>
                <a:lnTo>
                  <a:pt x="42545" y="2921"/>
                </a:lnTo>
                <a:lnTo>
                  <a:pt x="18414" y="20955"/>
                </a:lnTo>
                <a:lnTo>
                  <a:pt x="12573" y="32893"/>
                </a:lnTo>
                <a:lnTo>
                  <a:pt x="6603" y="41910"/>
                </a:lnTo>
                <a:lnTo>
                  <a:pt x="3683" y="53975"/>
                </a:lnTo>
                <a:lnTo>
                  <a:pt x="762" y="75184"/>
                </a:lnTo>
                <a:lnTo>
                  <a:pt x="762" y="102616"/>
                </a:lnTo>
                <a:lnTo>
                  <a:pt x="28321" y="102616"/>
                </a:lnTo>
                <a:lnTo>
                  <a:pt x="28345" y="78232"/>
                </a:lnTo>
                <a:lnTo>
                  <a:pt x="34162" y="48133"/>
                </a:lnTo>
                <a:lnTo>
                  <a:pt x="46100" y="30099"/>
                </a:lnTo>
                <a:lnTo>
                  <a:pt x="58038" y="24257"/>
                </a:lnTo>
                <a:lnTo>
                  <a:pt x="116486" y="24257"/>
                </a:lnTo>
                <a:lnTo>
                  <a:pt x="114808" y="20828"/>
                </a:lnTo>
                <a:lnTo>
                  <a:pt x="99822" y="5842"/>
                </a:lnTo>
                <a:lnTo>
                  <a:pt x="93852" y="2921"/>
                </a:lnTo>
                <a:close/>
              </a:path>
              <a:path w="135509" h="202437">
                <a:moveTo>
                  <a:pt x="28448" y="102489"/>
                </a:moveTo>
              </a:path>
              <a:path w="135509" h="202437">
                <a:moveTo>
                  <a:pt x="81914" y="0"/>
                </a:moveTo>
                <a:lnTo>
                  <a:pt x="54483" y="0"/>
                </a:lnTo>
                <a:lnTo>
                  <a:pt x="48513" y="2921"/>
                </a:lnTo>
                <a:lnTo>
                  <a:pt x="87884" y="2921"/>
                </a:lnTo>
                <a:lnTo>
                  <a:pt x="8191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1" name="bk object 62"/>
          <p:cNvSpPr/>
          <p:nvPr/>
        </p:nvSpPr>
        <p:spPr>
          <a:xfrm>
            <a:off x="414936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2" name="bk object 63"/>
          <p:cNvSpPr/>
          <p:nvPr/>
        </p:nvSpPr>
        <p:spPr>
          <a:xfrm>
            <a:off x="4207320" y="6294600"/>
            <a:ext cx="134640" cy="200520"/>
          </a:xfrm>
          <a:custGeom>
            <a:avLst/>
            <a:gdLst>
              <a:gd name="textAreaLeft" fmla="*/ 0 w 134640"/>
              <a:gd name="textAreaRight" fmla="*/ 135360 w 134640"/>
              <a:gd name="textAreaTop" fmla="*/ 0 h 200520"/>
              <a:gd name="textAreaBottom" fmla="*/ 201240 h 200520"/>
            </a:gdLst>
            <a:ahLst/>
            <a:cxnLst/>
            <a:rect l="textAreaLeft" t="textAreaTop" r="textAreaRight" b="textAreaBottom"/>
            <a:pathLst>
              <a:path w="135509" h="201167">
                <a:moveTo>
                  <a:pt x="24257" y="135000"/>
                </a:moveTo>
                <a:lnTo>
                  <a:pt x="0" y="135000"/>
                </a:lnTo>
                <a:lnTo>
                  <a:pt x="0" y="156209"/>
                </a:lnTo>
                <a:lnTo>
                  <a:pt x="26924" y="192278"/>
                </a:lnTo>
                <a:lnTo>
                  <a:pt x="48006" y="201167"/>
                </a:lnTo>
                <a:lnTo>
                  <a:pt x="78359" y="201167"/>
                </a:lnTo>
                <a:lnTo>
                  <a:pt x="102488" y="195325"/>
                </a:lnTo>
                <a:lnTo>
                  <a:pt x="114554" y="186308"/>
                </a:lnTo>
                <a:lnTo>
                  <a:pt x="123571" y="177291"/>
                </a:lnTo>
                <a:lnTo>
                  <a:pt x="123907" y="176783"/>
                </a:lnTo>
                <a:lnTo>
                  <a:pt x="53975" y="176783"/>
                </a:lnTo>
                <a:lnTo>
                  <a:pt x="48006" y="173862"/>
                </a:lnTo>
                <a:lnTo>
                  <a:pt x="38988" y="170941"/>
                </a:lnTo>
                <a:lnTo>
                  <a:pt x="33020" y="164972"/>
                </a:lnTo>
                <a:lnTo>
                  <a:pt x="30099" y="159003"/>
                </a:lnTo>
                <a:lnTo>
                  <a:pt x="27178" y="149986"/>
                </a:lnTo>
                <a:lnTo>
                  <a:pt x="24257" y="147065"/>
                </a:lnTo>
                <a:lnTo>
                  <a:pt x="24257" y="135000"/>
                </a:lnTo>
                <a:close/>
              </a:path>
              <a:path w="135509" h="201167">
                <a:moveTo>
                  <a:pt x="119998" y="21335"/>
                </a:moveTo>
                <a:lnTo>
                  <a:pt x="66294" y="21335"/>
                </a:lnTo>
                <a:lnTo>
                  <a:pt x="72262" y="24256"/>
                </a:lnTo>
                <a:lnTo>
                  <a:pt x="84328" y="24256"/>
                </a:lnTo>
                <a:lnTo>
                  <a:pt x="87249" y="27178"/>
                </a:lnTo>
                <a:lnTo>
                  <a:pt x="90170" y="27178"/>
                </a:lnTo>
                <a:lnTo>
                  <a:pt x="93091" y="33146"/>
                </a:lnTo>
                <a:lnTo>
                  <a:pt x="98933" y="38988"/>
                </a:lnTo>
                <a:lnTo>
                  <a:pt x="99060" y="45084"/>
                </a:lnTo>
                <a:lnTo>
                  <a:pt x="101981" y="51053"/>
                </a:lnTo>
                <a:lnTo>
                  <a:pt x="99060" y="60070"/>
                </a:lnTo>
                <a:lnTo>
                  <a:pt x="99060" y="66039"/>
                </a:lnTo>
                <a:lnTo>
                  <a:pt x="96138" y="72008"/>
                </a:lnTo>
                <a:lnTo>
                  <a:pt x="90170" y="77978"/>
                </a:lnTo>
                <a:lnTo>
                  <a:pt x="87249" y="77978"/>
                </a:lnTo>
                <a:lnTo>
                  <a:pt x="84328" y="80898"/>
                </a:lnTo>
                <a:lnTo>
                  <a:pt x="78359" y="83819"/>
                </a:lnTo>
                <a:lnTo>
                  <a:pt x="50927" y="83819"/>
                </a:lnTo>
                <a:lnTo>
                  <a:pt x="50927" y="105028"/>
                </a:lnTo>
                <a:lnTo>
                  <a:pt x="78359" y="105028"/>
                </a:lnTo>
                <a:lnTo>
                  <a:pt x="87375" y="107950"/>
                </a:lnTo>
                <a:lnTo>
                  <a:pt x="93345" y="110870"/>
                </a:lnTo>
                <a:lnTo>
                  <a:pt x="105283" y="122808"/>
                </a:lnTo>
                <a:lnTo>
                  <a:pt x="108204" y="131825"/>
                </a:lnTo>
                <a:lnTo>
                  <a:pt x="108204" y="153034"/>
                </a:lnTo>
                <a:lnTo>
                  <a:pt x="105283" y="155943"/>
                </a:lnTo>
                <a:lnTo>
                  <a:pt x="102362" y="161925"/>
                </a:lnTo>
                <a:lnTo>
                  <a:pt x="90424" y="173862"/>
                </a:lnTo>
                <a:lnTo>
                  <a:pt x="81407" y="176783"/>
                </a:lnTo>
                <a:lnTo>
                  <a:pt x="123907" y="176783"/>
                </a:lnTo>
                <a:lnTo>
                  <a:pt x="129540" y="168275"/>
                </a:lnTo>
                <a:lnTo>
                  <a:pt x="135509" y="153161"/>
                </a:lnTo>
                <a:lnTo>
                  <a:pt x="135509" y="125729"/>
                </a:lnTo>
                <a:lnTo>
                  <a:pt x="129540" y="113664"/>
                </a:lnTo>
                <a:lnTo>
                  <a:pt x="123571" y="104647"/>
                </a:lnTo>
                <a:lnTo>
                  <a:pt x="114681" y="95757"/>
                </a:lnTo>
                <a:lnTo>
                  <a:pt x="108712" y="92836"/>
                </a:lnTo>
                <a:lnTo>
                  <a:pt x="105791" y="92836"/>
                </a:lnTo>
                <a:lnTo>
                  <a:pt x="102870" y="89915"/>
                </a:lnTo>
                <a:lnTo>
                  <a:pt x="111887" y="86994"/>
                </a:lnTo>
                <a:lnTo>
                  <a:pt x="114808" y="86994"/>
                </a:lnTo>
                <a:lnTo>
                  <a:pt x="120777" y="81025"/>
                </a:lnTo>
                <a:lnTo>
                  <a:pt x="126619" y="62991"/>
                </a:lnTo>
                <a:lnTo>
                  <a:pt x="129509" y="51053"/>
                </a:lnTo>
                <a:lnTo>
                  <a:pt x="129540" y="44957"/>
                </a:lnTo>
                <a:lnTo>
                  <a:pt x="126619" y="38988"/>
                </a:lnTo>
                <a:lnTo>
                  <a:pt x="123698" y="26923"/>
                </a:lnTo>
                <a:lnTo>
                  <a:pt x="119998" y="21335"/>
                </a:lnTo>
                <a:close/>
              </a:path>
              <a:path w="135509" h="201167">
                <a:moveTo>
                  <a:pt x="87757" y="0"/>
                </a:moveTo>
                <a:lnTo>
                  <a:pt x="51308" y="0"/>
                </a:lnTo>
                <a:lnTo>
                  <a:pt x="42291" y="2920"/>
                </a:lnTo>
                <a:lnTo>
                  <a:pt x="9271" y="35940"/>
                </a:lnTo>
                <a:lnTo>
                  <a:pt x="3429" y="53975"/>
                </a:lnTo>
                <a:lnTo>
                  <a:pt x="3429" y="62991"/>
                </a:lnTo>
                <a:lnTo>
                  <a:pt x="27686" y="62991"/>
                </a:lnTo>
                <a:lnTo>
                  <a:pt x="30607" y="60070"/>
                </a:lnTo>
                <a:lnTo>
                  <a:pt x="30607" y="47993"/>
                </a:lnTo>
                <a:lnTo>
                  <a:pt x="36449" y="36067"/>
                </a:lnTo>
                <a:lnTo>
                  <a:pt x="45338" y="27178"/>
                </a:lnTo>
                <a:lnTo>
                  <a:pt x="51308" y="24256"/>
                </a:lnTo>
                <a:lnTo>
                  <a:pt x="57277" y="24256"/>
                </a:lnTo>
                <a:lnTo>
                  <a:pt x="66294" y="21335"/>
                </a:lnTo>
                <a:lnTo>
                  <a:pt x="119998" y="21335"/>
                </a:lnTo>
                <a:lnTo>
                  <a:pt x="117729" y="17906"/>
                </a:lnTo>
                <a:lnTo>
                  <a:pt x="108712" y="8889"/>
                </a:lnTo>
                <a:lnTo>
                  <a:pt x="102743" y="5968"/>
                </a:lnTo>
                <a:lnTo>
                  <a:pt x="99822" y="5968"/>
                </a:lnTo>
                <a:lnTo>
                  <a:pt x="8775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3" name="bk object 64"/>
          <p:cNvSpPr/>
          <p:nvPr/>
        </p:nvSpPr>
        <p:spPr>
          <a:xfrm>
            <a:off x="457236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9" h="202564">
                <a:moveTo>
                  <a:pt x="93725" y="2921"/>
                </a:moveTo>
                <a:lnTo>
                  <a:pt x="42418" y="2921"/>
                </a:lnTo>
                <a:lnTo>
                  <a:pt x="30352" y="11938"/>
                </a:lnTo>
                <a:lnTo>
                  <a:pt x="15367" y="26924"/>
                </a:lnTo>
                <a:lnTo>
                  <a:pt x="12446" y="32893"/>
                </a:lnTo>
                <a:lnTo>
                  <a:pt x="9525" y="41910"/>
                </a:lnTo>
                <a:lnTo>
                  <a:pt x="3556" y="53975"/>
                </a:lnTo>
                <a:lnTo>
                  <a:pt x="635" y="75184"/>
                </a:lnTo>
                <a:lnTo>
                  <a:pt x="635" y="102616"/>
                </a:lnTo>
                <a:lnTo>
                  <a:pt x="0" y="102743"/>
                </a:lnTo>
                <a:lnTo>
                  <a:pt x="0" y="130175"/>
                </a:lnTo>
                <a:lnTo>
                  <a:pt x="2921" y="148336"/>
                </a:lnTo>
                <a:lnTo>
                  <a:pt x="11937" y="169545"/>
                </a:lnTo>
                <a:lnTo>
                  <a:pt x="29972" y="193675"/>
                </a:lnTo>
                <a:lnTo>
                  <a:pt x="42037" y="199644"/>
                </a:lnTo>
                <a:lnTo>
                  <a:pt x="54101" y="202565"/>
                </a:lnTo>
                <a:lnTo>
                  <a:pt x="81534" y="202565"/>
                </a:lnTo>
                <a:lnTo>
                  <a:pt x="93599" y="199644"/>
                </a:lnTo>
                <a:lnTo>
                  <a:pt x="105663" y="193675"/>
                </a:lnTo>
                <a:lnTo>
                  <a:pt x="115440" y="180594"/>
                </a:lnTo>
                <a:lnTo>
                  <a:pt x="66929" y="180594"/>
                </a:lnTo>
                <a:lnTo>
                  <a:pt x="57912" y="177673"/>
                </a:lnTo>
                <a:lnTo>
                  <a:pt x="51943" y="177673"/>
                </a:lnTo>
                <a:lnTo>
                  <a:pt x="40005" y="165735"/>
                </a:lnTo>
                <a:lnTo>
                  <a:pt x="34036" y="153670"/>
                </a:lnTo>
                <a:lnTo>
                  <a:pt x="28243" y="123698"/>
                </a:lnTo>
                <a:lnTo>
                  <a:pt x="28194" y="102616"/>
                </a:lnTo>
                <a:lnTo>
                  <a:pt x="28116" y="78105"/>
                </a:lnTo>
                <a:lnTo>
                  <a:pt x="33909" y="48133"/>
                </a:lnTo>
                <a:lnTo>
                  <a:pt x="45847" y="30099"/>
                </a:lnTo>
                <a:lnTo>
                  <a:pt x="57785" y="24257"/>
                </a:lnTo>
                <a:lnTo>
                  <a:pt x="118109" y="24257"/>
                </a:lnTo>
                <a:lnTo>
                  <a:pt x="105790" y="11938"/>
                </a:lnTo>
                <a:lnTo>
                  <a:pt x="93725" y="2921"/>
                </a:lnTo>
                <a:close/>
              </a:path>
              <a:path w="135509" h="202564">
                <a:moveTo>
                  <a:pt x="118109" y="24257"/>
                </a:moveTo>
                <a:lnTo>
                  <a:pt x="75946" y="24257"/>
                </a:lnTo>
                <a:lnTo>
                  <a:pt x="84962" y="27178"/>
                </a:lnTo>
                <a:lnTo>
                  <a:pt x="90932" y="30099"/>
                </a:lnTo>
                <a:lnTo>
                  <a:pt x="93852" y="33020"/>
                </a:lnTo>
                <a:lnTo>
                  <a:pt x="96774" y="38989"/>
                </a:lnTo>
                <a:lnTo>
                  <a:pt x="102743" y="48006"/>
                </a:lnTo>
                <a:lnTo>
                  <a:pt x="105663" y="63119"/>
                </a:lnTo>
                <a:lnTo>
                  <a:pt x="105663" y="72136"/>
                </a:lnTo>
                <a:lnTo>
                  <a:pt x="108585" y="78105"/>
                </a:lnTo>
                <a:lnTo>
                  <a:pt x="108585" y="123698"/>
                </a:lnTo>
                <a:lnTo>
                  <a:pt x="105663" y="129667"/>
                </a:lnTo>
                <a:lnTo>
                  <a:pt x="105663" y="138684"/>
                </a:lnTo>
                <a:lnTo>
                  <a:pt x="102743" y="153797"/>
                </a:lnTo>
                <a:lnTo>
                  <a:pt x="96774" y="165862"/>
                </a:lnTo>
                <a:lnTo>
                  <a:pt x="84962" y="177673"/>
                </a:lnTo>
                <a:lnTo>
                  <a:pt x="75946" y="177673"/>
                </a:lnTo>
                <a:lnTo>
                  <a:pt x="66929" y="180594"/>
                </a:lnTo>
                <a:lnTo>
                  <a:pt x="115440" y="180594"/>
                </a:lnTo>
                <a:lnTo>
                  <a:pt x="123698" y="169545"/>
                </a:lnTo>
                <a:lnTo>
                  <a:pt x="129667" y="148336"/>
                </a:lnTo>
                <a:lnTo>
                  <a:pt x="132587" y="130175"/>
                </a:lnTo>
                <a:lnTo>
                  <a:pt x="135509" y="102743"/>
                </a:lnTo>
                <a:lnTo>
                  <a:pt x="132570" y="75184"/>
                </a:lnTo>
                <a:lnTo>
                  <a:pt x="129667" y="54102"/>
                </a:lnTo>
                <a:lnTo>
                  <a:pt x="123698" y="32893"/>
                </a:lnTo>
                <a:lnTo>
                  <a:pt x="120776" y="26924"/>
                </a:lnTo>
                <a:lnTo>
                  <a:pt x="118109" y="24257"/>
                </a:lnTo>
                <a:close/>
              </a:path>
              <a:path w="135509" h="202564">
                <a:moveTo>
                  <a:pt x="28194" y="102235"/>
                </a:moveTo>
                <a:lnTo>
                  <a:pt x="28067" y="102616"/>
                </a:lnTo>
                <a:lnTo>
                  <a:pt x="28194" y="102235"/>
                </a:lnTo>
                <a:close/>
              </a:path>
              <a:path w="135509" h="202564">
                <a:moveTo>
                  <a:pt x="81787" y="0"/>
                </a:moveTo>
                <a:lnTo>
                  <a:pt x="54356" y="0"/>
                </a:lnTo>
                <a:lnTo>
                  <a:pt x="48387" y="2921"/>
                </a:lnTo>
                <a:lnTo>
                  <a:pt x="87757" y="2921"/>
                </a:lnTo>
                <a:lnTo>
                  <a:pt x="8178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4" name="bk object 65"/>
          <p:cNvSpPr/>
          <p:nvPr/>
        </p:nvSpPr>
        <p:spPr>
          <a:xfrm>
            <a:off x="474084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5" name="bk object 66"/>
          <p:cNvSpPr/>
          <p:nvPr/>
        </p:nvSpPr>
        <p:spPr>
          <a:xfrm>
            <a:off x="4798800" y="6298560"/>
            <a:ext cx="111960" cy="194040"/>
          </a:xfrm>
          <a:custGeom>
            <a:avLst/>
            <a:gdLst>
              <a:gd name="textAreaLeft" fmla="*/ 0 w 111960"/>
              <a:gd name="textAreaRight" fmla="*/ 112680 w 111960"/>
              <a:gd name="textAreaTop" fmla="*/ 0 h 194040"/>
              <a:gd name="textAreaBottom" fmla="*/ 194760 h 194040"/>
            </a:gdLst>
            <a:ahLst/>
            <a:cxnLst/>
            <a:rect l="textAreaLeft" t="textAreaTop" r="textAreaRight" b="textAreaBottom"/>
            <a:pathLst>
              <a:path w="112649" h="194817">
                <a:moveTo>
                  <a:pt x="112649" y="143002"/>
                </a:moveTo>
                <a:lnTo>
                  <a:pt x="85217" y="143002"/>
                </a:lnTo>
                <a:lnTo>
                  <a:pt x="85217" y="194818"/>
                </a:lnTo>
                <a:lnTo>
                  <a:pt x="112649" y="194818"/>
                </a:lnTo>
                <a:lnTo>
                  <a:pt x="112649" y="143002"/>
                </a:lnTo>
                <a:close/>
              </a:path>
              <a:path w="112649" h="194817">
                <a:moveTo>
                  <a:pt x="112649" y="0"/>
                </a:moveTo>
                <a:lnTo>
                  <a:pt x="85217" y="0"/>
                </a:lnTo>
                <a:lnTo>
                  <a:pt x="0" y="118745"/>
                </a:lnTo>
                <a:lnTo>
                  <a:pt x="0" y="143002"/>
                </a:lnTo>
                <a:lnTo>
                  <a:pt x="140081" y="143002"/>
                </a:lnTo>
                <a:lnTo>
                  <a:pt x="140081" y="121793"/>
                </a:lnTo>
                <a:lnTo>
                  <a:pt x="112649" y="121793"/>
                </a:lnTo>
                <a:lnTo>
                  <a:pt x="24130" y="121666"/>
                </a:lnTo>
                <a:lnTo>
                  <a:pt x="84963" y="33401"/>
                </a:lnTo>
                <a:lnTo>
                  <a:pt x="112649" y="33401"/>
                </a:lnTo>
                <a:lnTo>
                  <a:pt x="112649" y="0"/>
                </a:lnTo>
                <a:close/>
              </a:path>
              <a:path w="112649" h="194817">
                <a:moveTo>
                  <a:pt x="112649" y="33401"/>
                </a:moveTo>
                <a:lnTo>
                  <a:pt x="84963" y="33401"/>
                </a:lnTo>
                <a:lnTo>
                  <a:pt x="84963" y="121666"/>
                </a:lnTo>
                <a:lnTo>
                  <a:pt x="112649" y="121666"/>
                </a:lnTo>
                <a:lnTo>
                  <a:pt x="112649" y="3340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6" name="bk object 67"/>
          <p:cNvSpPr/>
          <p:nvPr/>
        </p:nvSpPr>
        <p:spPr>
          <a:xfrm>
            <a:off x="5163480" y="6293520"/>
            <a:ext cx="135000" cy="201600"/>
          </a:xfrm>
          <a:custGeom>
            <a:avLst/>
            <a:gdLst>
              <a:gd name="textAreaLeft" fmla="*/ 0 w 135000"/>
              <a:gd name="textAreaRight" fmla="*/ 135720 w 135000"/>
              <a:gd name="textAreaTop" fmla="*/ 0 h 201600"/>
              <a:gd name="textAreaBottom" fmla="*/ 202320 h 201600"/>
            </a:gdLst>
            <a:ahLst/>
            <a:cxnLst/>
            <a:rect l="textAreaLeft" t="textAreaTop" r="textAreaRight" b="textAreaBottom"/>
            <a:pathLst>
              <a:path w="135636" h="202437">
                <a:moveTo>
                  <a:pt x="93852" y="2920"/>
                </a:moveTo>
                <a:lnTo>
                  <a:pt x="42545" y="2920"/>
                </a:lnTo>
                <a:lnTo>
                  <a:pt x="30479" y="11937"/>
                </a:lnTo>
                <a:lnTo>
                  <a:pt x="15494" y="26911"/>
                </a:lnTo>
                <a:lnTo>
                  <a:pt x="15367" y="29971"/>
                </a:lnTo>
                <a:lnTo>
                  <a:pt x="12573" y="32765"/>
                </a:lnTo>
                <a:lnTo>
                  <a:pt x="9651" y="41782"/>
                </a:lnTo>
                <a:lnTo>
                  <a:pt x="6730" y="53847"/>
                </a:lnTo>
                <a:lnTo>
                  <a:pt x="762" y="75056"/>
                </a:lnTo>
                <a:lnTo>
                  <a:pt x="762" y="102488"/>
                </a:lnTo>
                <a:lnTo>
                  <a:pt x="0" y="102615"/>
                </a:lnTo>
                <a:lnTo>
                  <a:pt x="0" y="130047"/>
                </a:lnTo>
                <a:lnTo>
                  <a:pt x="5969" y="148208"/>
                </a:lnTo>
                <a:lnTo>
                  <a:pt x="11937" y="169417"/>
                </a:lnTo>
                <a:lnTo>
                  <a:pt x="29972" y="193547"/>
                </a:lnTo>
                <a:lnTo>
                  <a:pt x="42037" y="199516"/>
                </a:lnTo>
                <a:lnTo>
                  <a:pt x="54101" y="202437"/>
                </a:lnTo>
                <a:lnTo>
                  <a:pt x="81534" y="202437"/>
                </a:lnTo>
                <a:lnTo>
                  <a:pt x="93599" y="199516"/>
                </a:lnTo>
                <a:lnTo>
                  <a:pt x="105663" y="193547"/>
                </a:lnTo>
                <a:lnTo>
                  <a:pt x="115250" y="180720"/>
                </a:lnTo>
                <a:lnTo>
                  <a:pt x="67183" y="180720"/>
                </a:lnTo>
                <a:lnTo>
                  <a:pt x="61213" y="177799"/>
                </a:lnTo>
                <a:lnTo>
                  <a:pt x="52197" y="177799"/>
                </a:lnTo>
                <a:lnTo>
                  <a:pt x="40259" y="165861"/>
                </a:lnTo>
                <a:lnTo>
                  <a:pt x="34289" y="153796"/>
                </a:lnTo>
                <a:lnTo>
                  <a:pt x="28472" y="123697"/>
                </a:lnTo>
                <a:lnTo>
                  <a:pt x="28448" y="102488"/>
                </a:lnTo>
                <a:lnTo>
                  <a:pt x="34162" y="48005"/>
                </a:lnTo>
                <a:lnTo>
                  <a:pt x="61087" y="24129"/>
                </a:lnTo>
                <a:lnTo>
                  <a:pt x="118109" y="24129"/>
                </a:lnTo>
                <a:lnTo>
                  <a:pt x="105917" y="11937"/>
                </a:lnTo>
                <a:lnTo>
                  <a:pt x="93852" y="2920"/>
                </a:lnTo>
                <a:close/>
              </a:path>
              <a:path w="135636" h="202437">
                <a:moveTo>
                  <a:pt x="118109" y="24129"/>
                </a:moveTo>
                <a:lnTo>
                  <a:pt x="76200" y="24129"/>
                </a:lnTo>
                <a:lnTo>
                  <a:pt x="85216" y="27050"/>
                </a:lnTo>
                <a:lnTo>
                  <a:pt x="91186" y="29971"/>
                </a:lnTo>
                <a:lnTo>
                  <a:pt x="103124" y="48005"/>
                </a:lnTo>
                <a:lnTo>
                  <a:pt x="106045" y="57022"/>
                </a:lnTo>
                <a:lnTo>
                  <a:pt x="106045" y="62991"/>
                </a:lnTo>
                <a:lnTo>
                  <a:pt x="108965" y="78104"/>
                </a:lnTo>
                <a:lnTo>
                  <a:pt x="108965" y="123697"/>
                </a:lnTo>
                <a:lnTo>
                  <a:pt x="106045" y="138810"/>
                </a:lnTo>
                <a:lnTo>
                  <a:pt x="106045" y="147827"/>
                </a:lnTo>
                <a:lnTo>
                  <a:pt x="103124" y="153796"/>
                </a:lnTo>
                <a:lnTo>
                  <a:pt x="97154" y="165861"/>
                </a:lnTo>
                <a:lnTo>
                  <a:pt x="85216" y="177799"/>
                </a:lnTo>
                <a:lnTo>
                  <a:pt x="76200" y="177799"/>
                </a:lnTo>
                <a:lnTo>
                  <a:pt x="67183" y="180720"/>
                </a:lnTo>
                <a:lnTo>
                  <a:pt x="115250" y="180720"/>
                </a:lnTo>
                <a:lnTo>
                  <a:pt x="123698" y="169417"/>
                </a:lnTo>
                <a:lnTo>
                  <a:pt x="129666" y="148208"/>
                </a:lnTo>
                <a:lnTo>
                  <a:pt x="135636" y="130047"/>
                </a:lnTo>
                <a:lnTo>
                  <a:pt x="135600" y="75056"/>
                </a:lnTo>
                <a:lnTo>
                  <a:pt x="123698" y="32765"/>
                </a:lnTo>
                <a:lnTo>
                  <a:pt x="120776" y="26796"/>
                </a:lnTo>
                <a:lnTo>
                  <a:pt x="118109" y="24129"/>
                </a:lnTo>
                <a:close/>
              </a:path>
              <a:path w="135636" h="202437">
                <a:moveTo>
                  <a:pt x="28448" y="102361"/>
                </a:moveTo>
              </a:path>
              <a:path w="135636" h="202437">
                <a:moveTo>
                  <a:pt x="81914" y="0"/>
                </a:moveTo>
                <a:lnTo>
                  <a:pt x="54483" y="0"/>
                </a:lnTo>
                <a:lnTo>
                  <a:pt x="48513" y="2920"/>
                </a:lnTo>
                <a:lnTo>
                  <a:pt x="87884" y="2920"/>
                </a:lnTo>
                <a:lnTo>
                  <a:pt x="8191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7" name="bk object 68"/>
          <p:cNvSpPr/>
          <p:nvPr/>
        </p:nvSpPr>
        <p:spPr>
          <a:xfrm>
            <a:off x="533196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8" name="bk object 69"/>
          <p:cNvSpPr/>
          <p:nvPr/>
        </p:nvSpPr>
        <p:spPr>
          <a:xfrm>
            <a:off x="5389920" y="6298560"/>
            <a:ext cx="138240" cy="195480"/>
          </a:xfrm>
          <a:custGeom>
            <a:avLst/>
            <a:gdLst>
              <a:gd name="textAreaLeft" fmla="*/ 0 w 138240"/>
              <a:gd name="textAreaRight" fmla="*/ 138960 w 138240"/>
              <a:gd name="textAreaTop" fmla="*/ 0 h 195480"/>
              <a:gd name="textAreaBottom" fmla="*/ 196200 h 195480"/>
            </a:gdLst>
            <a:ahLst/>
            <a:cxnLst/>
            <a:rect l="textAreaLeft" t="textAreaTop" r="textAreaRight" b="textAreaBottom"/>
            <a:pathLst>
              <a:path w="139064" h="196341">
                <a:moveTo>
                  <a:pt x="27432" y="142875"/>
                </a:moveTo>
                <a:lnTo>
                  <a:pt x="1270" y="142875"/>
                </a:lnTo>
                <a:lnTo>
                  <a:pt x="1311" y="148844"/>
                </a:lnTo>
                <a:lnTo>
                  <a:pt x="21971" y="181610"/>
                </a:lnTo>
                <a:lnTo>
                  <a:pt x="51955" y="196342"/>
                </a:lnTo>
                <a:lnTo>
                  <a:pt x="82296" y="196342"/>
                </a:lnTo>
                <a:lnTo>
                  <a:pt x="121412" y="175514"/>
                </a:lnTo>
                <a:lnTo>
                  <a:pt x="122903" y="172466"/>
                </a:lnTo>
                <a:lnTo>
                  <a:pt x="57023" y="172466"/>
                </a:lnTo>
                <a:lnTo>
                  <a:pt x="48006" y="169545"/>
                </a:lnTo>
                <a:lnTo>
                  <a:pt x="45085" y="169545"/>
                </a:lnTo>
                <a:lnTo>
                  <a:pt x="33274" y="157734"/>
                </a:lnTo>
                <a:lnTo>
                  <a:pt x="30352" y="151752"/>
                </a:lnTo>
                <a:lnTo>
                  <a:pt x="27432" y="148844"/>
                </a:lnTo>
                <a:lnTo>
                  <a:pt x="27432" y="142875"/>
                </a:lnTo>
                <a:close/>
              </a:path>
              <a:path w="139064" h="196341">
                <a:moveTo>
                  <a:pt x="123638" y="85852"/>
                </a:moveTo>
                <a:lnTo>
                  <a:pt x="75311" y="85852"/>
                </a:lnTo>
                <a:lnTo>
                  <a:pt x="78232" y="88773"/>
                </a:lnTo>
                <a:lnTo>
                  <a:pt x="84200" y="88773"/>
                </a:lnTo>
                <a:lnTo>
                  <a:pt x="90170" y="91694"/>
                </a:lnTo>
                <a:lnTo>
                  <a:pt x="102108" y="103632"/>
                </a:lnTo>
                <a:lnTo>
                  <a:pt x="108076" y="112649"/>
                </a:lnTo>
                <a:lnTo>
                  <a:pt x="108076" y="124714"/>
                </a:lnTo>
                <a:lnTo>
                  <a:pt x="110998" y="130683"/>
                </a:lnTo>
                <a:lnTo>
                  <a:pt x="108076" y="133604"/>
                </a:lnTo>
                <a:lnTo>
                  <a:pt x="107950" y="148844"/>
                </a:lnTo>
                <a:lnTo>
                  <a:pt x="90170" y="166624"/>
                </a:lnTo>
                <a:lnTo>
                  <a:pt x="84200" y="169545"/>
                </a:lnTo>
                <a:lnTo>
                  <a:pt x="75184" y="172466"/>
                </a:lnTo>
                <a:lnTo>
                  <a:pt x="122903" y="172466"/>
                </a:lnTo>
                <a:lnTo>
                  <a:pt x="124333" y="169545"/>
                </a:lnTo>
                <a:lnTo>
                  <a:pt x="133223" y="160655"/>
                </a:lnTo>
                <a:lnTo>
                  <a:pt x="133223" y="151638"/>
                </a:lnTo>
                <a:lnTo>
                  <a:pt x="136144" y="145669"/>
                </a:lnTo>
                <a:lnTo>
                  <a:pt x="139064" y="130556"/>
                </a:lnTo>
                <a:lnTo>
                  <a:pt x="136144" y="115443"/>
                </a:lnTo>
                <a:lnTo>
                  <a:pt x="133223" y="103378"/>
                </a:lnTo>
                <a:lnTo>
                  <a:pt x="127253" y="91313"/>
                </a:lnTo>
                <a:lnTo>
                  <a:pt x="123638" y="85852"/>
                </a:lnTo>
                <a:close/>
              </a:path>
              <a:path w="139064" h="196341">
                <a:moveTo>
                  <a:pt x="1270" y="142748"/>
                </a:moveTo>
                <a:lnTo>
                  <a:pt x="0" y="142875"/>
                </a:lnTo>
                <a:lnTo>
                  <a:pt x="1270" y="142875"/>
                </a:lnTo>
                <a:lnTo>
                  <a:pt x="1270" y="142748"/>
                </a:lnTo>
                <a:close/>
              </a:path>
              <a:path w="139064" h="196341">
                <a:moveTo>
                  <a:pt x="128155" y="0"/>
                </a:moveTo>
                <a:lnTo>
                  <a:pt x="21462" y="0"/>
                </a:lnTo>
                <a:lnTo>
                  <a:pt x="6350" y="103632"/>
                </a:lnTo>
                <a:lnTo>
                  <a:pt x="30607" y="103632"/>
                </a:lnTo>
                <a:lnTo>
                  <a:pt x="33527" y="97663"/>
                </a:lnTo>
                <a:lnTo>
                  <a:pt x="36449" y="97663"/>
                </a:lnTo>
                <a:lnTo>
                  <a:pt x="42430" y="91694"/>
                </a:lnTo>
                <a:lnTo>
                  <a:pt x="45338" y="91694"/>
                </a:lnTo>
                <a:lnTo>
                  <a:pt x="51308" y="88773"/>
                </a:lnTo>
                <a:lnTo>
                  <a:pt x="57276" y="88773"/>
                </a:lnTo>
                <a:lnTo>
                  <a:pt x="66294" y="85852"/>
                </a:lnTo>
                <a:lnTo>
                  <a:pt x="123638" y="85852"/>
                </a:lnTo>
                <a:lnTo>
                  <a:pt x="121285" y="82296"/>
                </a:lnTo>
                <a:lnTo>
                  <a:pt x="112958" y="76073"/>
                </a:lnTo>
                <a:lnTo>
                  <a:pt x="33909" y="76073"/>
                </a:lnTo>
                <a:lnTo>
                  <a:pt x="39877" y="21209"/>
                </a:lnTo>
                <a:lnTo>
                  <a:pt x="128155" y="21209"/>
                </a:lnTo>
                <a:lnTo>
                  <a:pt x="128155" y="0"/>
                </a:lnTo>
                <a:close/>
              </a:path>
              <a:path w="139064" h="196341">
                <a:moveTo>
                  <a:pt x="85089" y="64389"/>
                </a:moveTo>
                <a:lnTo>
                  <a:pt x="60833" y="64389"/>
                </a:lnTo>
                <a:lnTo>
                  <a:pt x="42799" y="70231"/>
                </a:lnTo>
                <a:lnTo>
                  <a:pt x="36830" y="73152"/>
                </a:lnTo>
                <a:lnTo>
                  <a:pt x="33909" y="76073"/>
                </a:lnTo>
                <a:lnTo>
                  <a:pt x="112958" y="76073"/>
                </a:lnTo>
                <a:lnTo>
                  <a:pt x="109220" y="73279"/>
                </a:lnTo>
                <a:lnTo>
                  <a:pt x="97155" y="67310"/>
                </a:lnTo>
                <a:lnTo>
                  <a:pt x="85089" y="64389"/>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9" name="bk object 70"/>
          <p:cNvSpPr/>
          <p:nvPr/>
        </p:nvSpPr>
        <p:spPr>
          <a:xfrm>
            <a:off x="575820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473" h="202564">
                <a:moveTo>
                  <a:pt x="93599" y="2921"/>
                </a:moveTo>
                <a:lnTo>
                  <a:pt x="42290" y="2921"/>
                </a:lnTo>
                <a:lnTo>
                  <a:pt x="30225" y="11938"/>
                </a:lnTo>
                <a:lnTo>
                  <a:pt x="15239" y="26924"/>
                </a:lnTo>
                <a:lnTo>
                  <a:pt x="12319" y="32893"/>
                </a:lnTo>
                <a:lnTo>
                  <a:pt x="9398" y="41910"/>
                </a:lnTo>
                <a:lnTo>
                  <a:pt x="6476" y="53975"/>
                </a:lnTo>
                <a:lnTo>
                  <a:pt x="508" y="75184"/>
                </a:lnTo>
                <a:lnTo>
                  <a:pt x="508" y="102616"/>
                </a:lnTo>
                <a:lnTo>
                  <a:pt x="0" y="102870"/>
                </a:lnTo>
                <a:lnTo>
                  <a:pt x="0" y="130302"/>
                </a:lnTo>
                <a:lnTo>
                  <a:pt x="5969" y="148463"/>
                </a:lnTo>
                <a:lnTo>
                  <a:pt x="8889" y="160528"/>
                </a:lnTo>
                <a:lnTo>
                  <a:pt x="11811" y="169545"/>
                </a:lnTo>
                <a:lnTo>
                  <a:pt x="29845" y="193675"/>
                </a:lnTo>
                <a:lnTo>
                  <a:pt x="41910" y="199644"/>
                </a:lnTo>
                <a:lnTo>
                  <a:pt x="53975" y="202565"/>
                </a:lnTo>
                <a:lnTo>
                  <a:pt x="81407" y="202565"/>
                </a:lnTo>
                <a:lnTo>
                  <a:pt x="93472" y="199644"/>
                </a:lnTo>
                <a:lnTo>
                  <a:pt x="105537" y="193675"/>
                </a:lnTo>
                <a:lnTo>
                  <a:pt x="115123" y="180848"/>
                </a:lnTo>
                <a:lnTo>
                  <a:pt x="66675" y="180848"/>
                </a:lnTo>
                <a:lnTo>
                  <a:pt x="60706" y="177927"/>
                </a:lnTo>
                <a:lnTo>
                  <a:pt x="51688" y="177927"/>
                </a:lnTo>
                <a:lnTo>
                  <a:pt x="39877" y="166116"/>
                </a:lnTo>
                <a:lnTo>
                  <a:pt x="33909" y="154038"/>
                </a:lnTo>
                <a:lnTo>
                  <a:pt x="28066" y="123825"/>
                </a:lnTo>
                <a:lnTo>
                  <a:pt x="27939" y="102616"/>
                </a:lnTo>
                <a:lnTo>
                  <a:pt x="27964" y="78232"/>
                </a:lnTo>
                <a:lnTo>
                  <a:pt x="33782" y="48133"/>
                </a:lnTo>
                <a:lnTo>
                  <a:pt x="45720" y="30099"/>
                </a:lnTo>
                <a:lnTo>
                  <a:pt x="48640" y="27178"/>
                </a:lnTo>
                <a:lnTo>
                  <a:pt x="51562" y="27178"/>
                </a:lnTo>
                <a:lnTo>
                  <a:pt x="60578" y="24257"/>
                </a:lnTo>
                <a:lnTo>
                  <a:pt x="117982" y="24257"/>
                </a:lnTo>
                <a:lnTo>
                  <a:pt x="105663" y="11938"/>
                </a:lnTo>
                <a:lnTo>
                  <a:pt x="93599" y="2921"/>
                </a:lnTo>
                <a:close/>
              </a:path>
              <a:path w="135473" h="202564">
                <a:moveTo>
                  <a:pt x="117982" y="24257"/>
                </a:moveTo>
                <a:lnTo>
                  <a:pt x="75691" y="24257"/>
                </a:lnTo>
                <a:lnTo>
                  <a:pt x="84709" y="27178"/>
                </a:lnTo>
                <a:lnTo>
                  <a:pt x="90677" y="30099"/>
                </a:lnTo>
                <a:lnTo>
                  <a:pt x="102615" y="48133"/>
                </a:lnTo>
                <a:lnTo>
                  <a:pt x="105537" y="57150"/>
                </a:lnTo>
                <a:lnTo>
                  <a:pt x="105537" y="63119"/>
                </a:lnTo>
                <a:lnTo>
                  <a:pt x="108458" y="78232"/>
                </a:lnTo>
                <a:lnTo>
                  <a:pt x="108458" y="123825"/>
                </a:lnTo>
                <a:lnTo>
                  <a:pt x="105537" y="138938"/>
                </a:lnTo>
                <a:lnTo>
                  <a:pt x="105537" y="147955"/>
                </a:lnTo>
                <a:lnTo>
                  <a:pt x="102559" y="154038"/>
                </a:lnTo>
                <a:lnTo>
                  <a:pt x="96647" y="165989"/>
                </a:lnTo>
                <a:lnTo>
                  <a:pt x="84709" y="177927"/>
                </a:lnTo>
                <a:lnTo>
                  <a:pt x="75691" y="177927"/>
                </a:lnTo>
                <a:lnTo>
                  <a:pt x="66675" y="180848"/>
                </a:lnTo>
                <a:lnTo>
                  <a:pt x="115123" y="180848"/>
                </a:lnTo>
                <a:lnTo>
                  <a:pt x="123571" y="169545"/>
                </a:lnTo>
                <a:lnTo>
                  <a:pt x="129539" y="148336"/>
                </a:lnTo>
                <a:lnTo>
                  <a:pt x="135467" y="130302"/>
                </a:lnTo>
                <a:lnTo>
                  <a:pt x="135473" y="75184"/>
                </a:lnTo>
                <a:lnTo>
                  <a:pt x="123571" y="32893"/>
                </a:lnTo>
                <a:lnTo>
                  <a:pt x="120650" y="26924"/>
                </a:lnTo>
                <a:lnTo>
                  <a:pt x="117982" y="24257"/>
                </a:lnTo>
                <a:close/>
              </a:path>
              <a:path w="135473" h="202564">
                <a:moveTo>
                  <a:pt x="81661" y="0"/>
                </a:moveTo>
                <a:lnTo>
                  <a:pt x="54228"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0" name="bk object 71"/>
          <p:cNvSpPr/>
          <p:nvPr/>
        </p:nvSpPr>
        <p:spPr>
          <a:xfrm>
            <a:off x="592632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1" name="bk object 72"/>
          <p:cNvSpPr/>
          <p:nvPr/>
        </p:nvSpPr>
        <p:spPr>
          <a:xfrm>
            <a:off x="5986800" y="6292440"/>
            <a:ext cx="137520" cy="201600"/>
          </a:xfrm>
          <a:custGeom>
            <a:avLst/>
            <a:gdLst>
              <a:gd name="textAreaLeft" fmla="*/ 0 w 137520"/>
              <a:gd name="textAreaRight" fmla="*/ 138240 w 137520"/>
              <a:gd name="textAreaTop" fmla="*/ 0 h 201600"/>
              <a:gd name="textAreaBottom" fmla="*/ 202320 h 201600"/>
            </a:gdLst>
            <a:ahLst/>
            <a:cxnLst/>
            <a:rect l="textAreaLeft" t="textAreaTop" r="textAreaRight" b="textAreaBottom"/>
            <a:pathLst>
              <a:path w="138303" h="202311">
                <a:moveTo>
                  <a:pt x="90424" y="0"/>
                </a:moveTo>
                <a:lnTo>
                  <a:pt x="60071" y="0"/>
                </a:lnTo>
                <a:lnTo>
                  <a:pt x="48006" y="5969"/>
                </a:lnTo>
                <a:lnTo>
                  <a:pt x="32893" y="11925"/>
                </a:lnTo>
                <a:lnTo>
                  <a:pt x="14859" y="36068"/>
                </a:lnTo>
                <a:lnTo>
                  <a:pt x="5842" y="57277"/>
                </a:lnTo>
                <a:lnTo>
                  <a:pt x="2921" y="78486"/>
                </a:lnTo>
                <a:lnTo>
                  <a:pt x="0" y="90551"/>
                </a:lnTo>
                <a:lnTo>
                  <a:pt x="87" y="130810"/>
                </a:lnTo>
                <a:lnTo>
                  <a:pt x="2921" y="151384"/>
                </a:lnTo>
                <a:lnTo>
                  <a:pt x="11937" y="169545"/>
                </a:lnTo>
                <a:lnTo>
                  <a:pt x="14859" y="178562"/>
                </a:lnTo>
                <a:lnTo>
                  <a:pt x="20700" y="184404"/>
                </a:lnTo>
                <a:lnTo>
                  <a:pt x="32766" y="193421"/>
                </a:lnTo>
                <a:lnTo>
                  <a:pt x="44831" y="199390"/>
                </a:lnTo>
                <a:lnTo>
                  <a:pt x="56896" y="202311"/>
                </a:lnTo>
                <a:lnTo>
                  <a:pt x="84328" y="202311"/>
                </a:lnTo>
                <a:lnTo>
                  <a:pt x="96393" y="199390"/>
                </a:lnTo>
                <a:lnTo>
                  <a:pt x="108458" y="193421"/>
                </a:lnTo>
                <a:lnTo>
                  <a:pt x="120142" y="181737"/>
                </a:lnTo>
                <a:lnTo>
                  <a:pt x="59182" y="181737"/>
                </a:lnTo>
                <a:lnTo>
                  <a:pt x="50164" y="178816"/>
                </a:lnTo>
                <a:lnTo>
                  <a:pt x="44196" y="172847"/>
                </a:lnTo>
                <a:lnTo>
                  <a:pt x="38226" y="169926"/>
                </a:lnTo>
                <a:lnTo>
                  <a:pt x="38226" y="167005"/>
                </a:lnTo>
                <a:lnTo>
                  <a:pt x="32385" y="155067"/>
                </a:lnTo>
                <a:lnTo>
                  <a:pt x="29463" y="146050"/>
                </a:lnTo>
                <a:lnTo>
                  <a:pt x="29463" y="127889"/>
                </a:lnTo>
                <a:lnTo>
                  <a:pt x="32385" y="121920"/>
                </a:lnTo>
                <a:lnTo>
                  <a:pt x="35306" y="112903"/>
                </a:lnTo>
                <a:lnTo>
                  <a:pt x="41275" y="106934"/>
                </a:lnTo>
                <a:lnTo>
                  <a:pt x="47244" y="104000"/>
                </a:lnTo>
                <a:lnTo>
                  <a:pt x="53212" y="98044"/>
                </a:lnTo>
                <a:lnTo>
                  <a:pt x="127508" y="98044"/>
                </a:lnTo>
                <a:lnTo>
                  <a:pt x="123444" y="93980"/>
                </a:lnTo>
                <a:lnTo>
                  <a:pt x="27050" y="93980"/>
                </a:lnTo>
                <a:lnTo>
                  <a:pt x="29972" y="81915"/>
                </a:lnTo>
                <a:lnTo>
                  <a:pt x="29972" y="66802"/>
                </a:lnTo>
                <a:lnTo>
                  <a:pt x="32893" y="54737"/>
                </a:lnTo>
                <a:lnTo>
                  <a:pt x="38862" y="42672"/>
                </a:lnTo>
                <a:lnTo>
                  <a:pt x="53721" y="27800"/>
                </a:lnTo>
                <a:lnTo>
                  <a:pt x="59689" y="24892"/>
                </a:lnTo>
                <a:lnTo>
                  <a:pt x="65659" y="24892"/>
                </a:lnTo>
                <a:lnTo>
                  <a:pt x="74675" y="21971"/>
                </a:lnTo>
                <a:lnTo>
                  <a:pt x="125432" y="21971"/>
                </a:lnTo>
                <a:lnTo>
                  <a:pt x="123444" y="17907"/>
                </a:lnTo>
                <a:lnTo>
                  <a:pt x="114426" y="8890"/>
                </a:lnTo>
                <a:lnTo>
                  <a:pt x="102362" y="2921"/>
                </a:lnTo>
                <a:lnTo>
                  <a:pt x="96393" y="2921"/>
                </a:lnTo>
                <a:lnTo>
                  <a:pt x="90424" y="0"/>
                </a:lnTo>
                <a:close/>
              </a:path>
              <a:path w="138303" h="202311">
                <a:moveTo>
                  <a:pt x="127508" y="98044"/>
                </a:moveTo>
                <a:lnTo>
                  <a:pt x="80645" y="98044"/>
                </a:lnTo>
                <a:lnTo>
                  <a:pt x="92583" y="103886"/>
                </a:lnTo>
                <a:lnTo>
                  <a:pt x="104521" y="115824"/>
                </a:lnTo>
                <a:lnTo>
                  <a:pt x="107442" y="121793"/>
                </a:lnTo>
                <a:lnTo>
                  <a:pt x="107442" y="130810"/>
                </a:lnTo>
                <a:lnTo>
                  <a:pt x="110362" y="139827"/>
                </a:lnTo>
                <a:lnTo>
                  <a:pt x="110109" y="139954"/>
                </a:lnTo>
                <a:lnTo>
                  <a:pt x="107187" y="145923"/>
                </a:lnTo>
                <a:lnTo>
                  <a:pt x="107146" y="155067"/>
                </a:lnTo>
                <a:lnTo>
                  <a:pt x="104267" y="163957"/>
                </a:lnTo>
                <a:lnTo>
                  <a:pt x="98298" y="169926"/>
                </a:lnTo>
                <a:lnTo>
                  <a:pt x="92329" y="172847"/>
                </a:lnTo>
                <a:lnTo>
                  <a:pt x="86360" y="178816"/>
                </a:lnTo>
                <a:lnTo>
                  <a:pt x="80391" y="181737"/>
                </a:lnTo>
                <a:lnTo>
                  <a:pt x="120142" y="181737"/>
                </a:lnTo>
                <a:lnTo>
                  <a:pt x="126492" y="175387"/>
                </a:lnTo>
                <a:lnTo>
                  <a:pt x="132461" y="163322"/>
                </a:lnTo>
                <a:lnTo>
                  <a:pt x="138303" y="139192"/>
                </a:lnTo>
                <a:lnTo>
                  <a:pt x="135382" y="124079"/>
                </a:lnTo>
                <a:lnTo>
                  <a:pt x="135382" y="115062"/>
                </a:lnTo>
                <a:lnTo>
                  <a:pt x="129412" y="99949"/>
                </a:lnTo>
                <a:lnTo>
                  <a:pt x="127508" y="98044"/>
                </a:lnTo>
                <a:close/>
              </a:path>
              <a:path w="138303" h="202311">
                <a:moveTo>
                  <a:pt x="84328" y="73152"/>
                </a:moveTo>
                <a:lnTo>
                  <a:pt x="60071" y="73152"/>
                </a:lnTo>
                <a:lnTo>
                  <a:pt x="51054" y="76073"/>
                </a:lnTo>
                <a:lnTo>
                  <a:pt x="33020" y="88011"/>
                </a:lnTo>
                <a:lnTo>
                  <a:pt x="27050" y="93980"/>
                </a:lnTo>
                <a:lnTo>
                  <a:pt x="123444" y="93980"/>
                </a:lnTo>
                <a:lnTo>
                  <a:pt x="111379" y="81915"/>
                </a:lnTo>
                <a:lnTo>
                  <a:pt x="99441" y="76073"/>
                </a:lnTo>
                <a:lnTo>
                  <a:pt x="84328" y="73152"/>
                </a:lnTo>
                <a:close/>
              </a:path>
              <a:path w="138303" h="202311">
                <a:moveTo>
                  <a:pt x="125432" y="21971"/>
                </a:moveTo>
                <a:lnTo>
                  <a:pt x="74675" y="21971"/>
                </a:lnTo>
                <a:lnTo>
                  <a:pt x="83693" y="24892"/>
                </a:lnTo>
                <a:lnTo>
                  <a:pt x="89662" y="24892"/>
                </a:lnTo>
                <a:lnTo>
                  <a:pt x="95631" y="27800"/>
                </a:lnTo>
                <a:lnTo>
                  <a:pt x="101600" y="33782"/>
                </a:lnTo>
                <a:lnTo>
                  <a:pt x="107442" y="45720"/>
                </a:lnTo>
                <a:lnTo>
                  <a:pt x="107442" y="51689"/>
                </a:lnTo>
                <a:lnTo>
                  <a:pt x="110362" y="54610"/>
                </a:lnTo>
                <a:lnTo>
                  <a:pt x="134620" y="54610"/>
                </a:lnTo>
                <a:lnTo>
                  <a:pt x="135255" y="53848"/>
                </a:lnTo>
                <a:lnTo>
                  <a:pt x="135255" y="44831"/>
                </a:lnTo>
                <a:lnTo>
                  <a:pt x="132334" y="38862"/>
                </a:lnTo>
                <a:lnTo>
                  <a:pt x="132334" y="32893"/>
                </a:lnTo>
                <a:lnTo>
                  <a:pt x="126364" y="23876"/>
                </a:lnTo>
                <a:lnTo>
                  <a:pt x="125432" y="2197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2" name="bk object 73"/>
          <p:cNvSpPr/>
          <p:nvPr/>
        </p:nvSpPr>
        <p:spPr>
          <a:xfrm>
            <a:off x="6350040" y="6293520"/>
            <a:ext cx="134280" cy="201600"/>
          </a:xfrm>
          <a:custGeom>
            <a:avLst/>
            <a:gdLst>
              <a:gd name="textAreaLeft" fmla="*/ 0 w 134280"/>
              <a:gd name="textAreaRight" fmla="*/ 135000 w 134280"/>
              <a:gd name="textAreaTop" fmla="*/ 0 h 201600"/>
              <a:gd name="textAreaBottom" fmla="*/ 202320 h 201600"/>
            </a:gdLst>
            <a:ahLst/>
            <a:cxnLst/>
            <a:rect l="textAreaLeft" t="textAreaTop" r="textAreaRight" b="textAreaBottom"/>
            <a:pathLst>
              <a:path w="134929" h="202437">
                <a:moveTo>
                  <a:pt x="93090" y="2920"/>
                </a:moveTo>
                <a:lnTo>
                  <a:pt x="41782" y="2920"/>
                </a:lnTo>
                <a:lnTo>
                  <a:pt x="29717" y="11937"/>
                </a:lnTo>
                <a:lnTo>
                  <a:pt x="14731" y="26911"/>
                </a:lnTo>
                <a:lnTo>
                  <a:pt x="11811" y="32892"/>
                </a:lnTo>
                <a:lnTo>
                  <a:pt x="8889" y="41909"/>
                </a:lnTo>
                <a:lnTo>
                  <a:pt x="5968" y="53974"/>
                </a:lnTo>
                <a:lnTo>
                  <a:pt x="3048" y="62991"/>
                </a:lnTo>
                <a:lnTo>
                  <a:pt x="126" y="75056"/>
                </a:lnTo>
                <a:lnTo>
                  <a:pt x="0" y="130428"/>
                </a:lnTo>
                <a:lnTo>
                  <a:pt x="5841" y="148462"/>
                </a:lnTo>
                <a:lnTo>
                  <a:pt x="8762" y="160527"/>
                </a:lnTo>
                <a:lnTo>
                  <a:pt x="11683" y="169544"/>
                </a:lnTo>
                <a:lnTo>
                  <a:pt x="14604" y="175513"/>
                </a:lnTo>
                <a:lnTo>
                  <a:pt x="20574" y="181482"/>
                </a:lnTo>
                <a:lnTo>
                  <a:pt x="29590" y="193547"/>
                </a:lnTo>
                <a:lnTo>
                  <a:pt x="47625" y="202437"/>
                </a:lnTo>
                <a:lnTo>
                  <a:pt x="81025" y="202437"/>
                </a:lnTo>
                <a:lnTo>
                  <a:pt x="93090" y="199516"/>
                </a:lnTo>
                <a:lnTo>
                  <a:pt x="105155" y="193547"/>
                </a:lnTo>
                <a:lnTo>
                  <a:pt x="114185" y="181482"/>
                </a:lnTo>
                <a:lnTo>
                  <a:pt x="114692" y="180974"/>
                </a:lnTo>
                <a:lnTo>
                  <a:pt x="69341" y="180974"/>
                </a:lnTo>
                <a:lnTo>
                  <a:pt x="60325" y="178053"/>
                </a:lnTo>
                <a:lnTo>
                  <a:pt x="51307" y="178053"/>
                </a:lnTo>
                <a:lnTo>
                  <a:pt x="39369" y="166115"/>
                </a:lnTo>
                <a:lnTo>
                  <a:pt x="33400" y="154050"/>
                </a:lnTo>
                <a:lnTo>
                  <a:pt x="27558" y="123824"/>
                </a:lnTo>
                <a:lnTo>
                  <a:pt x="27431" y="78231"/>
                </a:lnTo>
                <a:lnTo>
                  <a:pt x="33274" y="48005"/>
                </a:lnTo>
                <a:lnTo>
                  <a:pt x="45212" y="29971"/>
                </a:lnTo>
                <a:lnTo>
                  <a:pt x="51180" y="27050"/>
                </a:lnTo>
                <a:lnTo>
                  <a:pt x="60198" y="24129"/>
                </a:lnTo>
                <a:lnTo>
                  <a:pt x="117358" y="24129"/>
                </a:lnTo>
                <a:lnTo>
                  <a:pt x="105155" y="11937"/>
                </a:lnTo>
                <a:lnTo>
                  <a:pt x="93090" y="2920"/>
                </a:lnTo>
                <a:close/>
              </a:path>
              <a:path w="134929" h="202437">
                <a:moveTo>
                  <a:pt x="117358" y="24129"/>
                </a:moveTo>
                <a:lnTo>
                  <a:pt x="75311" y="24129"/>
                </a:lnTo>
                <a:lnTo>
                  <a:pt x="84327" y="27050"/>
                </a:lnTo>
                <a:lnTo>
                  <a:pt x="90296" y="29971"/>
                </a:lnTo>
                <a:lnTo>
                  <a:pt x="102235" y="48005"/>
                </a:lnTo>
                <a:lnTo>
                  <a:pt x="108076" y="78231"/>
                </a:lnTo>
                <a:lnTo>
                  <a:pt x="108076" y="123824"/>
                </a:lnTo>
                <a:lnTo>
                  <a:pt x="102235" y="154050"/>
                </a:lnTo>
                <a:lnTo>
                  <a:pt x="96265" y="166115"/>
                </a:lnTo>
                <a:lnTo>
                  <a:pt x="84327" y="178053"/>
                </a:lnTo>
                <a:lnTo>
                  <a:pt x="75311" y="178053"/>
                </a:lnTo>
                <a:lnTo>
                  <a:pt x="69341" y="180974"/>
                </a:lnTo>
                <a:lnTo>
                  <a:pt x="114692" y="180974"/>
                </a:lnTo>
                <a:lnTo>
                  <a:pt x="120141" y="175513"/>
                </a:lnTo>
                <a:lnTo>
                  <a:pt x="123062" y="169544"/>
                </a:lnTo>
                <a:lnTo>
                  <a:pt x="129031" y="148335"/>
                </a:lnTo>
                <a:lnTo>
                  <a:pt x="134917" y="130428"/>
                </a:lnTo>
                <a:lnTo>
                  <a:pt x="134929" y="75056"/>
                </a:lnTo>
                <a:lnTo>
                  <a:pt x="123062" y="32892"/>
                </a:lnTo>
                <a:lnTo>
                  <a:pt x="120141" y="26911"/>
                </a:lnTo>
                <a:lnTo>
                  <a:pt x="117358" y="24129"/>
                </a:lnTo>
                <a:close/>
              </a:path>
              <a:path w="134929" h="202437">
                <a:moveTo>
                  <a:pt x="81152" y="0"/>
                </a:moveTo>
                <a:lnTo>
                  <a:pt x="53720" y="0"/>
                </a:lnTo>
                <a:lnTo>
                  <a:pt x="47751" y="2920"/>
                </a:lnTo>
                <a:lnTo>
                  <a:pt x="87121" y="2920"/>
                </a:lnTo>
                <a:lnTo>
                  <a:pt x="81152"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3" name="bk object 74"/>
          <p:cNvSpPr/>
          <p:nvPr/>
        </p:nvSpPr>
        <p:spPr>
          <a:xfrm>
            <a:off x="651744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4" name="bk object 75"/>
          <p:cNvSpPr/>
          <p:nvPr/>
        </p:nvSpPr>
        <p:spPr>
          <a:xfrm>
            <a:off x="6577200" y="6300000"/>
            <a:ext cx="133200" cy="192960"/>
          </a:xfrm>
          <a:custGeom>
            <a:avLst/>
            <a:gdLst>
              <a:gd name="textAreaLeft" fmla="*/ 0 w 133200"/>
              <a:gd name="textAreaRight" fmla="*/ 133920 w 133200"/>
              <a:gd name="textAreaTop" fmla="*/ 0 h 192960"/>
              <a:gd name="textAreaBottom" fmla="*/ 193680 h 192960"/>
            </a:gdLst>
            <a:ahLst/>
            <a:cxnLst/>
            <a:rect l="textAreaLeft" t="textAreaTop" r="textAreaRight" b="textAreaBottom"/>
            <a:pathLst>
              <a:path w="133984" h="193675">
                <a:moveTo>
                  <a:pt x="133984" y="0"/>
                </a:moveTo>
                <a:lnTo>
                  <a:pt x="0" y="0"/>
                </a:lnTo>
                <a:lnTo>
                  <a:pt x="0" y="24256"/>
                </a:lnTo>
                <a:lnTo>
                  <a:pt x="106679" y="24256"/>
                </a:lnTo>
                <a:lnTo>
                  <a:pt x="94615" y="39369"/>
                </a:lnTo>
                <a:lnTo>
                  <a:pt x="91694" y="45338"/>
                </a:lnTo>
                <a:lnTo>
                  <a:pt x="76580" y="60451"/>
                </a:lnTo>
                <a:lnTo>
                  <a:pt x="70611" y="69468"/>
                </a:lnTo>
                <a:lnTo>
                  <a:pt x="67691" y="78485"/>
                </a:lnTo>
                <a:lnTo>
                  <a:pt x="55625" y="102730"/>
                </a:lnTo>
                <a:lnTo>
                  <a:pt x="43687" y="120776"/>
                </a:lnTo>
                <a:lnTo>
                  <a:pt x="37656" y="142240"/>
                </a:lnTo>
                <a:lnTo>
                  <a:pt x="31750" y="166230"/>
                </a:lnTo>
                <a:lnTo>
                  <a:pt x="31750" y="175259"/>
                </a:lnTo>
                <a:lnTo>
                  <a:pt x="28828" y="193420"/>
                </a:lnTo>
                <a:lnTo>
                  <a:pt x="28575" y="193675"/>
                </a:lnTo>
                <a:lnTo>
                  <a:pt x="56006" y="193675"/>
                </a:lnTo>
                <a:lnTo>
                  <a:pt x="58927" y="172465"/>
                </a:lnTo>
                <a:lnTo>
                  <a:pt x="61849" y="160400"/>
                </a:lnTo>
                <a:lnTo>
                  <a:pt x="67889" y="141985"/>
                </a:lnTo>
                <a:lnTo>
                  <a:pt x="73786" y="121031"/>
                </a:lnTo>
                <a:lnTo>
                  <a:pt x="82803" y="99822"/>
                </a:lnTo>
                <a:lnTo>
                  <a:pt x="91821" y="81660"/>
                </a:lnTo>
                <a:lnTo>
                  <a:pt x="103885" y="63500"/>
                </a:lnTo>
                <a:lnTo>
                  <a:pt x="112902" y="48387"/>
                </a:lnTo>
                <a:lnTo>
                  <a:pt x="121920" y="39369"/>
                </a:lnTo>
                <a:lnTo>
                  <a:pt x="133984" y="21209"/>
                </a:lnTo>
                <a:lnTo>
                  <a:pt x="13398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5" name="bk object 76"/>
          <p:cNvSpPr/>
          <p:nvPr/>
        </p:nvSpPr>
        <p:spPr>
          <a:xfrm>
            <a:off x="6941160" y="6293160"/>
            <a:ext cx="134280" cy="201240"/>
          </a:xfrm>
          <a:custGeom>
            <a:avLst/>
            <a:gdLst>
              <a:gd name="textAreaLeft" fmla="*/ 0 w 134280"/>
              <a:gd name="textAreaRight" fmla="*/ 135000 w 134280"/>
              <a:gd name="textAreaTop" fmla="*/ 0 h 201240"/>
              <a:gd name="textAreaBottom" fmla="*/ 201960 h 201240"/>
            </a:gdLst>
            <a:ahLst/>
            <a:cxnLst/>
            <a:rect l="textAreaLeft" t="textAreaTop" r="textAreaRight" b="textAreaBottom"/>
            <a:pathLst>
              <a:path w="135127" h="201929">
                <a:moveTo>
                  <a:pt x="93345" y="2921"/>
                </a:moveTo>
                <a:lnTo>
                  <a:pt x="42037" y="2921"/>
                </a:lnTo>
                <a:lnTo>
                  <a:pt x="29972" y="11938"/>
                </a:lnTo>
                <a:lnTo>
                  <a:pt x="6223" y="53975"/>
                </a:lnTo>
                <a:lnTo>
                  <a:pt x="380" y="102616"/>
                </a:lnTo>
                <a:lnTo>
                  <a:pt x="40" y="102616"/>
                </a:lnTo>
                <a:lnTo>
                  <a:pt x="5842" y="147828"/>
                </a:lnTo>
                <a:lnTo>
                  <a:pt x="20700" y="180975"/>
                </a:lnTo>
                <a:lnTo>
                  <a:pt x="29718" y="193040"/>
                </a:lnTo>
                <a:lnTo>
                  <a:pt x="41782" y="199009"/>
                </a:lnTo>
                <a:lnTo>
                  <a:pt x="53848" y="201930"/>
                </a:lnTo>
                <a:lnTo>
                  <a:pt x="81279" y="201930"/>
                </a:lnTo>
                <a:lnTo>
                  <a:pt x="93345" y="199009"/>
                </a:lnTo>
                <a:lnTo>
                  <a:pt x="105410" y="193040"/>
                </a:lnTo>
                <a:lnTo>
                  <a:pt x="114332" y="181102"/>
                </a:lnTo>
                <a:lnTo>
                  <a:pt x="69596" y="181102"/>
                </a:lnTo>
                <a:lnTo>
                  <a:pt x="60578" y="178181"/>
                </a:lnTo>
                <a:lnTo>
                  <a:pt x="51562" y="178181"/>
                </a:lnTo>
                <a:lnTo>
                  <a:pt x="39624" y="166243"/>
                </a:lnTo>
                <a:lnTo>
                  <a:pt x="33654" y="154178"/>
                </a:lnTo>
                <a:lnTo>
                  <a:pt x="27813" y="123952"/>
                </a:lnTo>
                <a:lnTo>
                  <a:pt x="27686" y="102616"/>
                </a:lnTo>
                <a:lnTo>
                  <a:pt x="380" y="102616"/>
                </a:lnTo>
                <a:lnTo>
                  <a:pt x="0" y="102235"/>
                </a:lnTo>
                <a:lnTo>
                  <a:pt x="27686" y="102235"/>
                </a:lnTo>
                <a:lnTo>
                  <a:pt x="27686" y="78359"/>
                </a:lnTo>
                <a:lnTo>
                  <a:pt x="33527" y="48133"/>
                </a:lnTo>
                <a:lnTo>
                  <a:pt x="45466" y="30099"/>
                </a:lnTo>
                <a:lnTo>
                  <a:pt x="51435" y="27178"/>
                </a:lnTo>
                <a:lnTo>
                  <a:pt x="60451" y="24257"/>
                </a:lnTo>
                <a:lnTo>
                  <a:pt x="117728" y="24257"/>
                </a:lnTo>
                <a:lnTo>
                  <a:pt x="105410" y="11938"/>
                </a:lnTo>
                <a:lnTo>
                  <a:pt x="93345" y="2921"/>
                </a:lnTo>
                <a:close/>
              </a:path>
              <a:path w="135127" h="201929">
                <a:moveTo>
                  <a:pt x="117728" y="24257"/>
                </a:moveTo>
                <a:lnTo>
                  <a:pt x="78613" y="24257"/>
                </a:lnTo>
                <a:lnTo>
                  <a:pt x="90550" y="30099"/>
                </a:lnTo>
                <a:lnTo>
                  <a:pt x="102489" y="48133"/>
                </a:lnTo>
                <a:lnTo>
                  <a:pt x="108330" y="78359"/>
                </a:lnTo>
                <a:lnTo>
                  <a:pt x="108330" y="123952"/>
                </a:lnTo>
                <a:lnTo>
                  <a:pt x="102489" y="154178"/>
                </a:lnTo>
                <a:lnTo>
                  <a:pt x="96520" y="166243"/>
                </a:lnTo>
                <a:lnTo>
                  <a:pt x="84581" y="178181"/>
                </a:lnTo>
                <a:lnTo>
                  <a:pt x="78613" y="178181"/>
                </a:lnTo>
                <a:lnTo>
                  <a:pt x="69596" y="181102"/>
                </a:lnTo>
                <a:lnTo>
                  <a:pt x="114332" y="181102"/>
                </a:lnTo>
                <a:lnTo>
                  <a:pt x="114426" y="180975"/>
                </a:lnTo>
                <a:lnTo>
                  <a:pt x="120396" y="175006"/>
                </a:lnTo>
                <a:lnTo>
                  <a:pt x="123317" y="169037"/>
                </a:lnTo>
                <a:lnTo>
                  <a:pt x="129286" y="160020"/>
                </a:lnTo>
                <a:lnTo>
                  <a:pt x="132206" y="147955"/>
                </a:lnTo>
                <a:lnTo>
                  <a:pt x="132206" y="138938"/>
                </a:lnTo>
                <a:lnTo>
                  <a:pt x="135127" y="129921"/>
                </a:lnTo>
                <a:lnTo>
                  <a:pt x="135127" y="75057"/>
                </a:lnTo>
                <a:lnTo>
                  <a:pt x="132206" y="62992"/>
                </a:lnTo>
                <a:lnTo>
                  <a:pt x="132206" y="53975"/>
                </a:lnTo>
                <a:lnTo>
                  <a:pt x="129286" y="41910"/>
                </a:lnTo>
                <a:lnTo>
                  <a:pt x="123317" y="32893"/>
                </a:lnTo>
                <a:lnTo>
                  <a:pt x="120396" y="26924"/>
                </a:lnTo>
                <a:lnTo>
                  <a:pt x="117728" y="24257"/>
                </a:lnTo>
                <a:close/>
              </a:path>
              <a:path w="135127" h="201929">
                <a:moveTo>
                  <a:pt x="81406" y="0"/>
                </a:moveTo>
                <a:lnTo>
                  <a:pt x="53975" y="0"/>
                </a:lnTo>
                <a:lnTo>
                  <a:pt x="48005" y="2921"/>
                </a:lnTo>
                <a:lnTo>
                  <a:pt x="87375" y="2921"/>
                </a:lnTo>
                <a:lnTo>
                  <a:pt x="81406"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6" name="bk object 77"/>
          <p:cNvSpPr/>
          <p:nvPr/>
        </p:nvSpPr>
        <p:spPr>
          <a:xfrm>
            <a:off x="710892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7" name="bk object 78"/>
          <p:cNvSpPr/>
          <p:nvPr/>
        </p:nvSpPr>
        <p:spPr>
          <a:xfrm>
            <a:off x="7170480" y="6293880"/>
            <a:ext cx="134640" cy="199800"/>
          </a:xfrm>
          <a:custGeom>
            <a:avLst/>
            <a:gdLst>
              <a:gd name="textAreaLeft" fmla="*/ 0 w 134640"/>
              <a:gd name="textAreaRight" fmla="*/ 135360 w 134640"/>
              <a:gd name="textAreaTop" fmla="*/ 0 h 199800"/>
              <a:gd name="textAreaBottom" fmla="*/ 200520 h 199800"/>
            </a:gdLst>
            <a:ahLst/>
            <a:cxnLst/>
            <a:rect l="textAreaLeft" t="textAreaTop" r="textAreaRight" b="textAreaBottom"/>
            <a:pathLst>
              <a:path w="135254" h="200405">
                <a:moveTo>
                  <a:pt x="32493" y="89606"/>
                </a:moveTo>
                <a:lnTo>
                  <a:pt x="26669" y="92456"/>
                </a:lnTo>
                <a:lnTo>
                  <a:pt x="23749" y="95377"/>
                </a:lnTo>
                <a:lnTo>
                  <a:pt x="17779" y="98298"/>
                </a:lnTo>
                <a:lnTo>
                  <a:pt x="14858" y="101219"/>
                </a:lnTo>
                <a:lnTo>
                  <a:pt x="2920" y="119253"/>
                </a:lnTo>
                <a:lnTo>
                  <a:pt x="0" y="128270"/>
                </a:lnTo>
                <a:lnTo>
                  <a:pt x="0" y="140335"/>
                </a:lnTo>
                <a:lnTo>
                  <a:pt x="20827" y="188595"/>
                </a:lnTo>
                <a:lnTo>
                  <a:pt x="44957" y="197485"/>
                </a:lnTo>
                <a:lnTo>
                  <a:pt x="53975" y="200406"/>
                </a:lnTo>
                <a:lnTo>
                  <a:pt x="81406" y="200406"/>
                </a:lnTo>
                <a:lnTo>
                  <a:pt x="105536" y="194551"/>
                </a:lnTo>
                <a:lnTo>
                  <a:pt x="114553" y="188595"/>
                </a:lnTo>
                <a:lnTo>
                  <a:pt x="120523" y="182626"/>
                </a:lnTo>
                <a:lnTo>
                  <a:pt x="123071" y="177419"/>
                </a:lnTo>
                <a:lnTo>
                  <a:pt x="53593" y="177419"/>
                </a:lnTo>
                <a:lnTo>
                  <a:pt x="44576" y="174498"/>
                </a:lnTo>
                <a:lnTo>
                  <a:pt x="38734" y="168656"/>
                </a:lnTo>
                <a:lnTo>
                  <a:pt x="35813" y="162687"/>
                </a:lnTo>
                <a:lnTo>
                  <a:pt x="29844" y="156718"/>
                </a:lnTo>
                <a:lnTo>
                  <a:pt x="29844" y="150749"/>
                </a:lnTo>
                <a:lnTo>
                  <a:pt x="26924" y="141732"/>
                </a:lnTo>
                <a:lnTo>
                  <a:pt x="29844" y="132588"/>
                </a:lnTo>
                <a:lnTo>
                  <a:pt x="29844" y="123571"/>
                </a:lnTo>
                <a:lnTo>
                  <a:pt x="41655" y="111760"/>
                </a:lnTo>
                <a:lnTo>
                  <a:pt x="53593" y="105918"/>
                </a:lnTo>
                <a:lnTo>
                  <a:pt x="126386" y="105918"/>
                </a:lnTo>
                <a:lnTo>
                  <a:pt x="123443" y="101473"/>
                </a:lnTo>
                <a:lnTo>
                  <a:pt x="111505" y="95631"/>
                </a:lnTo>
                <a:lnTo>
                  <a:pt x="108584" y="92710"/>
                </a:lnTo>
                <a:lnTo>
                  <a:pt x="102615" y="89776"/>
                </a:lnTo>
                <a:lnTo>
                  <a:pt x="33019" y="89776"/>
                </a:lnTo>
                <a:lnTo>
                  <a:pt x="32493" y="89606"/>
                </a:lnTo>
                <a:close/>
              </a:path>
              <a:path w="135254" h="200405">
                <a:moveTo>
                  <a:pt x="126386" y="105918"/>
                </a:moveTo>
                <a:lnTo>
                  <a:pt x="81025" y="105918"/>
                </a:lnTo>
                <a:lnTo>
                  <a:pt x="90042" y="108826"/>
                </a:lnTo>
                <a:lnTo>
                  <a:pt x="96011" y="111760"/>
                </a:lnTo>
                <a:lnTo>
                  <a:pt x="101980" y="117729"/>
                </a:lnTo>
                <a:lnTo>
                  <a:pt x="104839" y="123571"/>
                </a:lnTo>
                <a:lnTo>
                  <a:pt x="104901" y="126619"/>
                </a:lnTo>
                <a:lnTo>
                  <a:pt x="107823" y="132588"/>
                </a:lnTo>
                <a:lnTo>
                  <a:pt x="107823" y="150749"/>
                </a:lnTo>
                <a:lnTo>
                  <a:pt x="104901" y="156718"/>
                </a:lnTo>
                <a:lnTo>
                  <a:pt x="104901" y="159626"/>
                </a:lnTo>
                <a:lnTo>
                  <a:pt x="90042" y="174498"/>
                </a:lnTo>
                <a:lnTo>
                  <a:pt x="81025" y="177419"/>
                </a:lnTo>
                <a:lnTo>
                  <a:pt x="123071" y="177419"/>
                </a:lnTo>
                <a:lnTo>
                  <a:pt x="126364" y="170688"/>
                </a:lnTo>
                <a:lnTo>
                  <a:pt x="132333" y="164719"/>
                </a:lnTo>
                <a:lnTo>
                  <a:pt x="132333" y="158750"/>
                </a:lnTo>
                <a:lnTo>
                  <a:pt x="135254" y="152781"/>
                </a:lnTo>
                <a:lnTo>
                  <a:pt x="135172" y="128270"/>
                </a:lnTo>
                <a:lnTo>
                  <a:pt x="129412" y="110490"/>
                </a:lnTo>
                <a:lnTo>
                  <a:pt x="126386" y="105918"/>
                </a:lnTo>
                <a:close/>
              </a:path>
              <a:path w="135254" h="200405">
                <a:moveTo>
                  <a:pt x="103364" y="89535"/>
                </a:moveTo>
                <a:lnTo>
                  <a:pt x="32638" y="89535"/>
                </a:lnTo>
                <a:lnTo>
                  <a:pt x="33019" y="89776"/>
                </a:lnTo>
                <a:lnTo>
                  <a:pt x="102615" y="89776"/>
                </a:lnTo>
                <a:lnTo>
                  <a:pt x="103364" y="89535"/>
                </a:lnTo>
                <a:close/>
              </a:path>
              <a:path w="135254" h="200405">
                <a:moveTo>
                  <a:pt x="78485" y="0"/>
                </a:moveTo>
                <a:lnTo>
                  <a:pt x="57276" y="0"/>
                </a:lnTo>
                <a:lnTo>
                  <a:pt x="48259" y="2921"/>
                </a:lnTo>
                <a:lnTo>
                  <a:pt x="36194" y="5842"/>
                </a:lnTo>
                <a:lnTo>
                  <a:pt x="18160" y="17780"/>
                </a:lnTo>
                <a:lnTo>
                  <a:pt x="12191" y="26797"/>
                </a:lnTo>
                <a:lnTo>
                  <a:pt x="6350" y="50927"/>
                </a:lnTo>
                <a:lnTo>
                  <a:pt x="15112" y="77978"/>
                </a:lnTo>
                <a:lnTo>
                  <a:pt x="24002" y="86868"/>
                </a:lnTo>
                <a:lnTo>
                  <a:pt x="32493" y="89606"/>
                </a:lnTo>
                <a:lnTo>
                  <a:pt x="32638" y="89535"/>
                </a:lnTo>
                <a:lnTo>
                  <a:pt x="103364" y="89535"/>
                </a:lnTo>
                <a:lnTo>
                  <a:pt x="111632" y="86868"/>
                </a:lnTo>
                <a:lnTo>
                  <a:pt x="115570" y="82931"/>
                </a:lnTo>
                <a:lnTo>
                  <a:pt x="59689" y="82931"/>
                </a:lnTo>
                <a:lnTo>
                  <a:pt x="59689" y="80010"/>
                </a:lnTo>
                <a:lnTo>
                  <a:pt x="56768" y="80010"/>
                </a:lnTo>
                <a:lnTo>
                  <a:pt x="38861" y="71247"/>
                </a:lnTo>
                <a:lnTo>
                  <a:pt x="35940" y="65278"/>
                </a:lnTo>
                <a:lnTo>
                  <a:pt x="35940" y="59309"/>
                </a:lnTo>
                <a:lnTo>
                  <a:pt x="33019" y="50292"/>
                </a:lnTo>
                <a:lnTo>
                  <a:pt x="35940" y="44196"/>
                </a:lnTo>
                <a:lnTo>
                  <a:pt x="35940" y="38227"/>
                </a:lnTo>
                <a:lnTo>
                  <a:pt x="38861" y="32258"/>
                </a:lnTo>
                <a:lnTo>
                  <a:pt x="44830" y="29337"/>
                </a:lnTo>
                <a:lnTo>
                  <a:pt x="50800" y="23368"/>
                </a:lnTo>
                <a:lnTo>
                  <a:pt x="56768" y="23368"/>
                </a:lnTo>
                <a:lnTo>
                  <a:pt x="59689" y="20447"/>
                </a:lnTo>
                <a:lnTo>
                  <a:pt x="119367" y="20447"/>
                </a:lnTo>
                <a:lnTo>
                  <a:pt x="117601" y="17780"/>
                </a:lnTo>
                <a:lnTo>
                  <a:pt x="111632" y="11811"/>
                </a:lnTo>
                <a:lnTo>
                  <a:pt x="102615" y="5842"/>
                </a:lnTo>
                <a:lnTo>
                  <a:pt x="78485" y="0"/>
                </a:lnTo>
                <a:close/>
              </a:path>
              <a:path w="135254" h="200405">
                <a:moveTo>
                  <a:pt x="119367" y="20447"/>
                </a:moveTo>
                <a:lnTo>
                  <a:pt x="74815" y="20447"/>
                </a:lnTo>
                <a:lnTo>
                  <a:pt x="80772" y="23368"/>
                </a:lnTo>
                <a:lnTo>
                  <a:pt x="86740" y="23368"/>
                </a:lnTo>
                <a:lnTo>
                  <a:pt x="89661" y="29337"/>
                </a:lnTo>
                <a:lnTo>
                  <a:pt x="95630" y="32258"/>
                </a:lnTo>
                <a:lnTo>
                  <a:pt x="101473" y="44196"/>
                </a:lnTo>
                <a:lnTo>
                  <a:pt x="101473" y="59309"/>
                </a:lnTo>
                <a:lnTo>
                  <a:pt x="95630" y="71247"/>
                </a:lnTo>
                <a:lnTo>
                  <a:pt x="92709" y="74168"/>
                </a:lnTo>
                <a:lnTo>
                  <a:pt x="74815" y="82931"/>
                </a:lnTo>
                <a:lnTo>
                  <a:pt x="115570" y="82931"/>
                </a:lnTo>
                <a:lnTo>
                  <a:pt x="120523" y="77978"/>
                </a:lnTo>
                <a:lnTo>
                  <a:pt x="126491" y="68961"/>
                </a:lnTo>
                <a:lnTo>
                  <a:pt x="129412" y="59944"/>
                </a:lnTo>
                <a:lnTo>
                  <a:pt x="129412" y="50927"/>
                </a:lnTo>
                <a:lnTo>
                  <a:pt x="123570" y="26797"/>
                </a:lnTo>
                <a:lnTo>
                  <a:pt x="119367" y="20447"/>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8" name="bk object 79"/>
          <p:cNvSpPr/>
          <p:nvPr/>
        </p:nvSpPr>
        <p:spPr>
          <a:xfrm>
            <a:off x="7531920" y="6293160"/>
            <a:ext cx="134640" cy="201240"/>
          </a:xfrm>
          <a:custGeom>
            <a:avLst/>
            <a:gdLst>
              <a:gd name="textAreaLeft" fmla="*/ 0 w 134640"/>
              <a:gd name="textAreaRight" fmla="*/ 135360 w 134640"/>
              <a:gd name="textAreaTop" fmla="*/ 0 h 201240"/>
              <a:gd name="textAreaBottom" fmla="*/ 201960 h 201240"/>
            </a:gdLst>
            <a:ahLst/>
            <a:cxnLst/>
            <a:rect l="textAreaLeft" t="textAreaTop" r="textAreaRight" b="textAreaBottom"/>
            <a:pathLst>
              <a:path w="135394" h="202056">
                <a:moveTo>
                  <a:pt x="0" y="102235"/>
                </a:moveTo>
                <a:lnTo>
                  <a:pt x="5842" y="147828"/>
                </a:lnTo>
                <a:lnTo>
                  <a:pt x="29845" y="193167"/>
                </a:lnTo>
                <a:lnTo>
                  <a:pt x="53975" y="202057"/>
                </a:lnTo>
                <a:lnTo>
                  <a:pt x="81407" y="202057"/>
                </a:lnTo>
                <a:lnTo>
                  <a:pt x="93472" y="199136"/>
                </a:lnTo>
                <a:lnTo>
                  <a:pt x="105537" y="193167"/>
                </a:lnTo>
                <a:lnTo>
                  <a:pt x="117221" y="181483"/>
                </a:lnTo>
                <a:lnTo>
                  <a:pt x="69723" y="181483"/>
                </a:lnTo>
                <a:lnTo>
                  <a:pt x="60706" y="178562"/>
                </a:lnTo>
                <a:lnTo>
                  <a:pt x="51689" y="178562"/>
                </a:lnTo>
                <a:lnTo>
                  <a:pt x="39751" y="166624"/>
                </a:lnTo>
                <a:lnTo>
                  <a:pt x="36830" y="154559"/>
                </a:lnTo>
                <a:lnTo>
                  <a:pt x="33909" y="148590"/>
                </a:lnTo>
                <a:lnTo>
                  <a:pt x="30988" y="139573"/>
                </a:lnTo>
                <a:lnTo>
                  <a:pt x="30988" y="124460"/>
                </a:lnTo>
                <a:lnTo>
                  <a:pt x="28067" y="103238"/>
                </a:lnTo>
                <a:lnTo>
                  <a:pt x="27927" y="102616"/>
                </a:lnTo>
                <a:lnTo>
                  <a:pt x="635" y="102616"/>
                </a:lnTo>
                <a:lnTo>
                  <a:pt x="0" y="102235"/>
                </a:lnTo>
                <a:close/>
              </a:path>
              <a:path w="135394" h="202056">
                <a:moveTo>
                  <a:pt x="119407" y="24384"/>
                </a:moveTo>
                <a:lnTo>
                  <a:pt x="78740" y="24384"/>
                </a:lnTo>
                <a:lnTo>
                  <a:pt x="84709" y="27305"/>
                </a:lnTo>
                <a:lnTo>
                  <a:pt x="87630" y="27305"/>
                </a:lnTo>
                <a:lnTo>
                  <a:pt x="90551" y="30213"/>
                </a:lnTo>
                <a:lnTo>
                  <a:pt x="102489" y="48260"/>
                </a:lnTo>
                <a:lnTo>
                  <a:pt x="108407" y="63246"/>
                </a:lnTo>
                <a:lnTo>
                  <a:pt x="108458" y="139573"/>
                </a:lnTo>
                <a:lnTo>
                  <a:pt x="102489" y="154686"/>
                </a:lnTo>
                <a:lnTo>
                  <a:pt x="96520" y="166738"/>
                </a:lnTo>
                <a:lnTo>
                  <a:pt x="84709" y="178562"/>
                </a:lnTo>
                <a:lnTo>
                  <a:pt x="78740" y="178562"/>
                </a:lnTo>
                <a:lnTo>
                  <a:pt x="69723" y="181483"/>
                </a:lnTo>
                <a:lnTo>
                  <a:pt x="117221" y="181483"/>
                </a:lnTo>
                <a:lnTo>
                  <a:pt x="117602" y="181102"/>
                </a:lnTo>
                <a:lnTo>
                  <a:pt x="123571" y="169037"/>
                </a:lnTo>
                <a:lnTo>
                  <a:pt x="129540" y="160020"/>
                </a:lnTo>
                <a:lnTo>
                  <a:pt x="132461" y="147955"/>
                </a:lnTo>
                <a:lnTo>
                  <a:pt x="132461" y="138938"/>
                </a:lnTo>
                <a:lnTo>
                  <a:pt x="135394" y="129921"/>
                </a:lnTo>
                <a:lnTo>
                  <a:pt x="135394" y="75057"/>
                </a:lnTo>
                <a:lnTo>
                  <a:pt x="132553" y="63373"/>
                </a:lnTo>
                <a:lnTo>
                  <a:pt x="132461" y="53975"/>
                </a:lnTo>
                <a:lnTo>
                  <a:pt x="129540" y="41910"/>
                </a:lnTo>
                <a:lnTo>
                  <a:pt x="123571" y="32893"/>
                </a:lnTo>
                <a:lnTo>
                  <a:pt x="119407" y="24384"/>
                </a:lnTo>
                <a:close/>
              </a:path>
              <a:path w="135394" h="202056">
                <a:moveTo>
                  <a:pt x="93599" y="2921"/>
                </a:moveTo>
                <a:lnTo>
                  <a:pt x="42291" y="2921"/>
                </a:lnTo>
                <a:lnTo>
                  <a:pt x="30226" y="11938"/>
                </a:lnTo>
                <a:lnTo>
                  <a:pt x="21209" y="20955"/>
                </a:lnTo>
                <a:lnTo>
                  <a:pt x="18288" y="26924"/>
                </a:lnTo>
                <a:lnTo>
                  <a:pt x="12319" y="32893"/>
                </a:lnTo>
                <a:lnTo>
                  <a:pt x="9398" y="41910"/>
                </a:lnTo>
                <a:lnTo>
                  <a:pt x="6477" y="53975"/>
                </a:lnTo>
                <a:lnTo>
                  <a:pt x="3556" y="75184"/>
                </a:lnTo>
                <a:lnTo>
                  <a:pt x="635" y="102616"/>
                </a:lnTo>
                <a:lnTo>
                  <a:pt x="27927" y="102616"/>
                </a:lnTo>
                <a:lnTo>
                  <a:pt x="30861" y="78359"/>
                </a:lnTo>
                <a:lnTo>
                  <a:pt x="30985" y="62992"/>
                </a:lnTo>
                <a:lnTo>
                  <a:pt x="33782" y="57277"/>
                </a:lnTo>
                <a:lnTo>
                  <a:pt x="39624" y="39243"/>
                </a:lnTo>
                <a:lnTo>
                  <a:pt x="45593" y="30213"/>
                </a:lnTo>
                <a:lnTo>
                  <a:pt x="51562" y="27305"/>
                </a:lnTo>
                <a:lnTo>
                  <a:pt x="60579" y="24384"/>
                </a:lnTo>
                <a:lnTo>
                  <a:pt x="119407" y="24384"/>
                </a:lnTo>
                <a:lnTo>
                  <a:pt x="117729" y="20955"/>
                </a:lnTo>
                <a:lnTo>
                  <a:pt x="93599" y="2921"/>
                </a:lnTo>
                <a:close/>
              </a:path>
              <a:path w="135394" h="202056">
                <a:moveTo>
                  <a:pt x="81661" y="0"/>
                </a:moveTo>
                <a:lnTo>
                  <a:pt x="54229"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9" name="bk object 80"/>
          <p:cNvSpPr/>
          <p:nvPr/>
        </p:nvSpPr>
        <p:spPr>
          <a:xfrm>
            <a:off x="770004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65" h="33401">
                <a:moveTo>
                  <a:pt x="0" y="16700"/>
                </a:moveTo>
                <a:lnTo>
                  <a:pt x="30365"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0" name="bk object 81"/>
          <p:cNvSpPr/>
          <p:nvPr/>
        </p:nvSpPr>
        <p:spPr>
          <a:xfrm>
            <a:off x="7761240" y="6293520"/>
            <a:ext cx="137880" cy="201240"/>
          </a:xfrm>
          <a:custGeom>
            <a:avLst/>
            <a:gdLst>
              <a:gd name="textAreaLeft" fmla="*/ 0 w 137880"/>
              <a:gd name="textAreaRight" fmla="*/ 138600 w 137880"/>
              <a:gd name="textAreaTop" fmla="*/ 0 h 201240"/>
              <a:gd name="textAreaBottom" fmla="*/ 201960 h 201240"/>
            </a:gdLst>
            <a:ahLst/>
            <a:cxnLst/>
            <a:rect l="textAreaLeft" t="textAreaTop" r="textAreaRight" b="textAreaBottom"/>
            <a:pathLst>
              <a:path w="138429" h="202056">
                <a:moveTo>
                  <a:pt x="27558" y="147954"/>
                </a:moveTo>
                <a:lnTo>
                  <a:pt x="126" y="147954"/>
                </a:lnTo>
                <a:lnTo>
                  <a:pt x="0" y="157225"/>
                </a:lnTo>
                <a:lnTo>
                  <a:pt x="2802" y="162940"/>
                </a:lnTo>
                <a:lnTo>
                  <a:pt x="2921" y="166115"/>
                </a:lnTo>
                <a:lnTo>
                  <a:pt x="32893" y="199135"/>
                </a:lnTo>
                <a:lnTo>
                  <a:pt x="44957" y="202056"/>
                </a:lnTo>
                <a:lnTo>
                  <a:pt x="78358" y="202056"/>
                </a:lnTo>
                <a:lnTo>
                  <a:pt x="90436" y="199135"/>
                </a:lnTo>
                <a:lnTo>
                  <a:pt x="114553" y="181101"/>
                </a:lnTo>
                <a:lnTo>
                  <a:pt x="114781" y="180720"/>
                </a:lnTo>
                <a:lnTo>
                  <a:pt x="54355" y="180720"/>
                </a:lnTo>
                <a:lnTo>
                  <a:pt x="48386" y="177799"/>
                </a:lnTo>
                <a:lnTo>
                  <a:pt x="39370" y="174878"/>
                </a:lnTo>
                <a:lnTo>
                  <a:pt x="33400" y="168909"/>
                </a:lnTo>
                <a:lnTo>
                  <a:pt x="30479" y="162940"/>
                </a:lnTo>
                <a:lnTo>
                  <a:pt x="27558" y="160007"/>
                </a:lnTo>
                <a:lnTo>
                  <a:pt x="27558" y="147954"/>
                </a:lnTo>
                <a:close/>
              </a:path>
              <a:path w="138429" h="202056">
                <a:moveTo>
                  <a:pt x="136073" y="108584"/>
                </a:moveTo>
                <a:lnTo>
                  <a:pt x="108203" y="108584"/>
                </a:lnTo>
                <a:lnTo>
                  <a:pt x="108203" y="126745"/>
                </a:lnTo>
                <a:lnTo>
                  <a:pt x="105282" y="138810"/>
                </a:lnTo>
                <a:lnTo>
                  <a:pt x="102361" y="147827"/>
                </a:lnTo>
                <a:lnTo>
                  <a:pt x="96393" y="159892"/>
                </a:lnTo>
                <a:lnTo>
                  <a:pt x="93472" y="168909"/>
                </a:lnTo>
                <a:lnTo>
                  <a:pt x="84454" y="174878"/>
                </a:lnTo>
                <a:lnTo>
                  <a:pt x="72516" y="180720"/>
                </a:lnTo>
                <a:lnTo>
                  <a:pt x="114781" y="180720"/>
                </a:lnTo>
                <a:lnTo>
                  <a:pt x="123571" y="165988"/>
                </a:lnTo>
                <a:lnTo>
                  <a:pt x="135508" y="123570"/>
                </a:lnTo>
                <a:lnTo>
                  <a:pt x="135533" y="111378"/>
                </a:lnTo>
                <a:lnTo>
                  <a:pt x="136073" y="108584"/>
                </a:lnTo>
                <a:close/>
              </a:path>
              <a:path w="138429" h="202056">
                <a:moveTo>
                  <a:pt x="81533" y="0"/>
                </a:moveTo>
                <a:lnTo>
                  <a:pt x="51180" y="0"/>
                </a:lnTo>
                <a:lnTo>
                  <a:pt x="39115" y="2920"/>
                </a:lnTo>
                <a:lnTo>
                  <a:pt x="27050" y="8889"/>
                </a:lnTo>
                <a:lnTo>
                  <a:pt x="9144" y="26796"/>
                </a:lnTo>
                <a:lnTo>
                  <a:pt x="3175" y="38861"/>
                </a:lnTo>
                <a:lnTo>
                  <a:pt x="253" y="50926"/>
                </a:lnTo>
                <a:lnTo>
                  <a:pt x="253" y="78358"/>
                </a:lnTo>
                <a:lnTo>
                  <a:pt x="27050" y="120395"/>
                </a:lnTo>
                <a:lnTo>
                  <a:pt x="45084" y="129285"/>
                </a:lnTo>
                <a:lnTo>
                  <a:pt x="78485" y="129285"/>
                </a:lnTo>
                <a:lnTo>
                  <a:pt x="87502" y="126364"/>
                </a:lnTo>
                <a:lnTo>
                  <a:pt x="96520" y="120395"/>
                </a:lnTo>
                <a:lnTo>
                  <a:pt x="99440" y="117474"/>
                </a:lnTo>
                <a:lnTo>
                  <a:pt x="102361" y="117474"/>
                </a:lnTo>
                <a:lnTo>
                  <a:pt x="105282" y="114553"/>
                </a:lnTo>
                <a:lnTo>
                  <a:pt x="108203" y="108584"/>
                </a:lnTo>
                <a:lnTo>
                  <a:pt x="136073" y="108584"/>
                </a:lnTo>
                <a:lnTo>
                  <a:pt x="136196" y="107949"/>
                </a:lnTo>
                <a:lnTo>
                  <a:pt x="66166" y="107949"/>
                </a:lnTo>
                <a:lnTo>
                  <a:pt x="48132" y="102107"/>
                </a:lnTo>
                <a:lnTo>
                  <a:pt x="36195" y="96265"/>
                </a:lnTo>
                <a:lnTo>
                  <a:pt x="33286" y="90296"/>
                </a:lnTo>
                <a:lnTo>
                  <a:pt x="30352" y="81279"/>
                </a:lnTo>
                <a:lnTo>
                  <a:pt x="27419" y="75310"/>
                </a:lnTo>
                <a:lnTo>
                  <a:pt x="27419" y="56768"/>
                </a:lnTo>
                <a:lnTo>
                  <a:pt x="30352" y="47751"/>
                </a:lnTo>
                <a:lnTo>
                  <a:pt x="33161" y="42036"/>
                </a:lnTo>
                <a:lnTo>
                  <a:pt x="33286" y="38861"/>
                </a:lnTo>
                <a:lnTo>
                  <a:pt x="48005" y="24129"/>
                </a:lnTo>
                <a:lnTo>
                  <a:pt x="57023" y="24129"/>
                </a:lnTo>
                <a:lnTo>
                  <a:pt x="66039" y="21208"/>
                </a:lnTo>
                <a:lnTo>
                  <a:pt x="117982" y="21208"/>
                </a:lnTo>
                <a:lnTo>
                  <a:pt x="105663" y="8889"/>
                </a:lnTo>
                <a:lnTo>
                  <a:pt x="93611" y="2920"/>
                </a:lnTo>
                <a:lnTo>
                  <a:pt x="81533" y="0"/>
                </a:lnTo>
                <a:close/>
              </a:path>
              <a:path w="138429" h="202056">
                <a:moveTo>
                  <a:pt x="117982" y="21208"/>
                </a:moveTo>
                <a:lnTo>
                  <a:pt x="66039" y="21208"/>
                </a:lnTo>
                <a:lnTo>
                  <a:pt x="75044" y="24129"/>
                </a:lnTo>
                <a:lnTo>
                  <a:pt x="84086" y="24129"/>
                </a:lnTo>
                <a:lnTo>
                  <a:pt x="101980" y="42036"/>
                </a:lnTo>
                <a:lnTo>
                  <a:pt x="104777" y="47751"/>
                </a:lnTo>
                <a:lnTo>
                  <a:pt x="104901" y="78358"/>
                </a:lnTo>
                <a:lnTo>
                  <a:pt x="101980" y="81279"/>
                </a:lnTo>
                <a:lnTo>
                  <a:pt x="99059" y="90296"/>
                </a:lnTo>
                <a:lnTo>
                  <a:pt x="99059" y="93217"/>
                </a:lnTo>
                <a:lnTo>
                  <a:pt x="96138" y="96138"/>
                </a:lnTo>
                <a:lnTo>
                  <a:pt x="90170" y="99059"/>
                </a:lnTo>
                <a:lnTo>
                  <a:pt x="81152" y="105028"/>
                </a:lnTo>
                <a:lnTo>
                  <a:pt x="75183" y="105028"/>
                </a:lnTo>
                <a:lnTo>
                  <a:pt x="66166" y="107949"/>
                </a:lnTo>
                <a:lnTo>
                  <a:pt x="136196" y="107949"/>
                </a:lnTo>
                <a:lnTo>
                  <a:pt x="138429" y="96392"/>
                </a:lnTo>
                <a:lnTo>
                  <a:pt x="135508" y="72135"/>
                </a:lnTo>
                <a:lnTo>
                  <a:pt x="132587" y="50926"/>
                </a:lnTo>
                <a:lnTo>
                  <a:pt x="123571" y="32765"/>
                </a:lnTo>
                <a:lnTo>
                  <a:pt x="123571" y="29832"/>
                </a:lnTo>
                <a:lnTo>
                  <a:pt x="120650" y="23875"/>
                </a:lnTo>
                <a:lnTo>
                  <a:pt x="117982" y="21208"/>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1" name="bk object 82"/>
          <p:cNvSpPr/>
          <p:nvPr/>
        </p:nvSpPr>
        <p:spPr>
          <a:xfrm>
            <a:off x="8142480" y="629352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2135" h="201041">
                <a:moveTo>
                  <a:pt x="72135" y="0"/>
                </a:moveTo>
                <a:lnTo>
                  <a:pt x="53975" y="0"/>
                </a:lnTo>
                <a:lnTo>
                  <a:pt x="51053" y="2920"/>
                </a:lnTo>
                <a:lnTo>
                  <a:pt x="51053" y="8889"/>
                </a:lnTo>
                <a:lnTo>
                  <a:pt x="45211" y="20827"/>
                </a:lnTo>
                <a:lnTo>
                  <a:pt x="36207" y="26784"/>
                </a:lnTo>
                <a:lnTo>
                  <a:pt x="30225" y="32765"/>
                </a:lnTo>
                <a:lnTo>
                  <a:pt x="21208" y="35686"/>
                </a:lnTo>
                <a:lnTo>
                  <a:pt x="0" y="35686"/>
                </a:lnTo>
                <a:lnTo>
                  <a:pt x="0" y="56895"/>
                </a:lnTo>
                <a:lnTo>
                  <a:pt x="45593" y="56895"/>
                </a:lnTo>
                <a:lnTo>
                  <a:pt x="45593" y="200024"/>
                </a:lnTo>
                <a:lnTo>
                  <a:pt x="44703" y="201040"/>
                </a:lnTo>
                <a:lnTo>
                  <a:pt x="72135" y="201040"/>
                </a:lnTo>
                <a:lnTo>
                  <a:pt x="7213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2" name="bk object 83"/>
          <p:cNvSpPr/>
          <p:nvPr/>
        </p:nvSpPr>
        <p:spPr>
          <a:xfrm>
            <a:off x="827028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3" name="bk object 84"/>
          <p:cNvSpPr/>
          <p:nvPr/>
        </p:nvSpPr>
        <p:spPr>
          <a:xfrm>
            <a:off x="8330760" y="629352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8" h="202564">
                <a:moveTo>
                  <a:pt x="93598" y="2920"/>
                </a:moveTo>
                <a:lnTo>
                  <a:pt x="42290" y="2920"/>
                </a:lnTo>
                <a:lnTo>
                  <a:pt x="30225" y="11937"/>
                </a:lnTo>
                <a:lnTo>
                  <a:pt x="18287" y="23875"/>
                </a:lnTo>
                <a:lnTo>
                  <a:pt x="18287" y="26784"/>
                </a:lnTo>
                <a:lnTo>
                  <a:pt x="12318" y="32765"/>
                </a:lnTo>
                <a:lnTo>
                  <a:pt x="12318" y="38734"/>
                </a:lnTo>
                <a:lnTo>
                  <a:pt x="9397" y="41655"/>
                </a:lnTo>
                <a:lnTo>
                  <a:pt x="6476" y="53720"/>
                </a:lnTo>
                <a:lnTo>
                  <a:pt x="3527" y="75310"/>
                </a:lnTo>
                <a:lnTo>
                  <a:pt x="634" y="102361"/>
                </a:lnTo>
                <a:lnTo>
                  <a:pt x="0" y="102742"/>
                </a:lnTo>
                <a:lnTo>
                  <a:pt x="5841" y="148335"/>
                </a:lnTo>
                <a:lnTo>
                  <a:pt x="29844" y="193674"/>
                </a:lnTo>
                <a:lnTo>
                  <a:pt x="53975" y="202564"/>
                </a:lnTo>
                <a:lnTo>
                  <a:pt x="81406" y="202564"/>
                </a:lnTo>
                <a:lnTo>
                  <a:pt x="93471" y="199643"/>
                </a:lnTo>
                <a:lnTo>
                  <a:pt x="105536" y="193674"/>
                </a:lnTo>
                <a:lnTo>
                  <a:pt x="117601" y="181609"/>
                </a:lnTo>
                <a:lnTo>
                  <a:pt x="117727" y="181355"/>
                </a:lnTo>
                <a:lnTo>
                  <a:pt x="69722" y="181355"/>
                </a:lnTo>
                <a:lnTo>
                  <a:pt x="60718" y="178434"/>
                </a:lnTo>
                <a:lnTo>
                  <a:pt x="54736" y="178434"/>
                </a:lnTo>
                <a:lnTo>
                  <a:pt x="45719" y="172465"/>
                </a:lnTo>
                <a:lnTo>
                  <a:pt x="39750" y="166484"/>
                </a:lnTo>
                <a:lnTo>
                  <a:pt x="36829" y="154431"/>
                </a:lnTo>
                <a:lnTo>
                  <a:pt x="33908" y="148462"/>
                </a:lnTo>
                <a:lnTo>
                  <a:pt x="30987" y="139445"/>
                </a:lnTo>
                <a:lnTo>
                  <a:pt x="30987" y="124332"/>
                </a:lnTo>
                <a:lnTo>
                  <a:pt x="28066" y="103123"/>
                </a:lnTo>
                <a:lnTo>
                  <a:pt x="27939" y="102361"/>
                </a:lnTo>
                <a:lnTo>
                  <a:pt x="30860" y="78104"/>
                </a:lnTo>
                <a:lnTo>
                  <a:pt x="30860" y="62991"/>
                </a:lnTo>
                <a:lnTo>
                  <a:pt x="33781" y="57022"/>
                </a:lnTo>
                <a:lnTo>
                  <a:pt x="39623" y="38988"/>
                </a:lnTo>
                <a:lnTo>
                  <a:pt x="45592" y="29959"/>
                </a:lnTo>
                <a:lnTo>
                  <a:pt x="54609" y="27050"/>
                </a:lnTo>
                <a:lnTo>
                  <a:pt x="60578" y="24129"/>
                </a:lnTo>
                <a:lnTo>
                  <a:pt x="119282" y="24129"/>
                </a:lnTo>
                <a:lnTo>
                  <a:pt x="117728" y="20954"/>
                </a:lnTo>
                <a:lnTo>
                  <a:pt x="93598" y="2920"/>
                </a:lnTo>
                <a:close/>
              </a:path>
              <a:path w="135508" h="202564">
                <a:moveTo>
                  <a:pt x="119282" y="24129"/>
                </a:moveTo>
                <a:lnTo>
                  <a:pt x="78739" y="24129"/>
                </a:lnTo>
                <a:lnTo>
                  <a:pt x="90677" y="29959"/>
                </a:lnTo>
                <a:lnTo>
                  <a:pt x="102615" y="48005"/>
                </a:lnTo>
                <a:lnTo>
                  <a:pt x="108534" y="62991"/>
                </a:lnTo>
                <a:lnTo>
                  <a:pt x="108534" y="139445"/>
                </a:lnTo>
                <a:lnTo>
                  <a:pt x="102615" y="154431"/>
                </a:lnTo>
                <a:lnTo>
                  <a:pt x="96646" y="166484"/>
                </a:lnTo>
                <a:lnTo>
                  <a:pt x="84708" y="178434"/>
                </a:lnTo>
                <a:lnTo>
                  <a:pt x="78739" y="178434"/>
                </a:lnTo>
                <a:lnTo>
                  <a:pt x="69722" y="181355"/>
                </a:lnTo>
                <a:lnTo>
                  <a:pt x="117727" y="181355"/>
                </a:lnTo>
                <a:lnTo>
                  <a:pt x="123570" y="169544"/>
                </a:lnTo>
                <a:lnTo>
                  <a:pt x="132587" y="148335"/>
                </a:lnTo>
                <a:lnTo>
                  <a:pt x="135508" y="130174"/>
                </a:lnTo>
                <a:lnTo>
                  <a:pt x="135456" y="74929"/>
                </a:lnTo>
                <a:lnTo>
                  <a:pt x="132587" y="54101"/>
                </a:lnTo>
                <a:lnTo>
                  <a:pt x="123508" y="32765"/>
                </a:lnTo>
                <a:lnTo>
                  <a:pt x="119282" y="24129"/>
                </a:lnTo>
                <a:close/>
              </a:path>
              <a:path w="135508" h="202564">
                <a:moveTo>
                  <a:pt x="81660" y="0"/>
                </a:moveTo>
                <a:lnTo>
                  <a:pt x="54228" y="0"/>
                </a:lnTo>
                <a:lnTo>
                  <a:pt x="48259" y="2920"/>
                </a:lnTo>
                <a:lnTo>
                  <a:pt x="87629" y="2920"/>
                </a:lnTo>
                <a:lnTo>
                  <a:pt x="8166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4" name="bk object 85"/>
          <p:cNvSpPr/>
          <p:nvPr/>
        </p:nvSpPr>
        <p:spPr>
          <a:xfrm>
            <a:off x="2387520" y="5539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5" name="bk object 86"/>
          <p:cNvSpPr/>
          <p:nvPr/>
        </p:nvSpPr>
        <p:spPr>
          <a:xfrm>
            <a:off x="2448360" y="5533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6" name="bk object 87"/>
          <p:cNvSpPr/>
          <p:nvPr/>
        </p:nvSpPr>
        <p:spPr>
          <a:xfrm>
            <a:off x="2506320" y="5527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7" name="bk object 88"/>
          <p:cNvSpPr/>
          <p:nvPr/>
        </p:nvSpPr>
        <p:spPr>
          <a:xfrm>
            <a:off x="2567520" y="5524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8" name="bk object 89"/>
          <p:cNvSpPr/>
          <p:nvPr/>
        </p:nvSpPr>
        <p:spPr>
          <a:xfrm>
            <a:off x="2625120" y="5518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9" name="bk object 90"/>
          <p:cNvSpPr/>
          <p:nvPr/>
        </p:nvSpPr>
        <p:spPr>
          <a:xfrm>
            <a:off x="2683440" y="5511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0" name="bk object 91"/>
          <p:cNvSpPr/>
          <p:nvPr/>
        </p:nvSpPr>
        <p:spPr>
          <a:xfrm>
            <a:off x="2744280" y="5505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1" name="bk object 92"/>
          <p:cNvSpPr/>
          <p:nvPr/>
        </p:nvSpPr>
        <p:spPr>
          <a:xfrm>
            <a:off x="2802240" y="5502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2" name="bk object 93"/>
          <p:cNvSpPr/>
          <p:nvPr/>
        </p:nvSpPr>
        <p:spPr>
          <a:xfrm>
            <a:off x="2863080" y="5496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3" name="bk object 94"/>
          <p:cNvSpPr/>
          <p:nvPr/>
        </p:nvSpPr>
        <p:spPr>
          <a:xfrm>
            <a:off x="2921040" y="5490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4" name="bk object 95"/>
          <p:cNvSpPr/>
          <p:nvPr/>
        </p:nvSpPr>
        <p:spPr>
          <a:xfrm>
            <a:off x="2981880" y="5484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5" name="bk object 96"/>
          <p:cNvSpPr/>
          <p:nvPr/>
        </p:nvSpPr>
        <p:spPr>
          <a:xfrm>
            <a:off x="3039840" y="5478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6" name="bk object 97"/>
          <p:cNvSpPr/>
          <p:nvPr/>
        </p:nvSpPr>
        <p:spPr>
          <a:xfrm>
            <a:off x="3097800" y="5472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7" name="bk object 98"/>
          <p:cNvSpPr/>
          <p:nvPr/>
        </p:nvSpPr>
        <p:spPr>
          <a:xfrm>
            <a:off x="3158640" y="5466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8" name="bk object 99"/>
          <p:cNvSpPr/>
          <p:nvPr/>
        </p:nvSpPr>
        <p:spPr>
          <a:xfrm>
            <a:off x="3216600" y="5460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9" name="bk object 100"/>
          <p:cNvSpPr/>
          <p:nvPr/>
        </p:nvSpPr>
        <p:spPr>
          <a:xfrm>
            <a:off x="3277440" y="5454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0" name="bk object 101"/>
          <p:cNvSpPr/>
          <p:nvPr/>
        </p:nvSpPr>
        <p:spPr>
          <a:xfrm>
            <a:off x="3335400" y="5448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1" name="bk object 102"/>
          <p:cNvSpPr/>
          <p:nvPr/>
        </p:nvSpPr>
        <p:spPr>
          <a:xfrm>
            <a:off x="3393360" y="5441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2" name="bk object 103"/>
          <p:cNvSpPr/>
          <p:nvPr/>
        </p:nvSpPr>
        <p:spPr>
          <a:xfrm>
            <a:off x="3454560" y="5432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3" name="bk object 104"/>
          <p:cNvSpPr/>
          <p:nvPr/>
        </p:nvSpPr>
        <p:spPr>
          <a:xfrm>
            <a:off x="3512520" y="5426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4" name="bk object 105"/>
          <p:cNvSpPr/>
          <p:nvPr/>
        </p:nvSpPr>
        <p:spPr>
          <a:xfrm>
            <a:off x="3573360" y="5420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5" name="bk object 106"/>
          <p:cNvSpPr/>
          <p:nvPr/>
        </p:nvSpPr>
        <p:spPr>
          <a:xfrm>
            <a:off x="3630960" y="5411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6" name="bk object 107"/>
          <p:cNvSpPr/>
          <p:nvPr/>
        </p:nvSpPr>
        <p:spPr>
          <a:xfrm>
            <a:off x="3692160" y="54054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7" name="bk object 108"/>
          <p:cNvSpPr/>
          <p:nvPr/>
        </p:nvSpPr>
        <p:spPr>
          <a:xfrm>
            <a:off x="3750120" y="5396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8" name="bk object 109"/>
          <p:cNvSpPr/>
          <p:nvPr/>
        </p:nvSpPr>
        <p:spPr>
          <a:xfrm>
            <a:off x="3808080" y="5390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9" name="bk object 110"/>
          <p:cNvSpPr/>
          <p:nvPr/>
        </p:nvSpPr>
        <p:spPr>
          <a:xfrm>
            <a:off x="3868920" y="5380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0" name="bk object 111"/>
          <p:cNvSpPr/>
          <p:nvPr/>
        </p:nvSpPr>
        <p:spPr>
          <a:xfrm>
            <a:off x="3926880" y="5374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1" name="bk object 112"/>
          <p:cNvSpPr/>
          <p:nvPr/>
        </p:nvSpPr>
        <p:spPr>
          <a:xfrm>
            <a:off x="3987720" y="5365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2" name="bk object 113"/>
          <p:cNvSpPr/>
          <p:nvPr/>
        </p:nvSpPr>
        <p:spPr>
          <a:xfrm>
            <a:off x="4045680" y="5356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3" name="bk object 114"/>
          <p:cNvSpPr/>
          <p:nvPr/>
        </p:nvSpPr>
        <p:spPr>
          <a:xfrm>
            <a:off x="4103640" y="5347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4" name="bk object 115"/>
          <p:cNvSpPr/>
          <p:nvPr/>
        </p:nvSpPr>
        <p:spPr>
          <a:xfrm>
            <a:off x="4164480" y="5338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5" name="bk object 116"/>
          <p:cNvSpPr/>
          <p:nvPr/>
        </p:nvSpPr>
        <p:spPr>
          <a:xfrm>
            <a:off x="4222440" y="5329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6" name="bk object 117"/>
          <p:cNvSpPr/>
          <p:nvPr/>
        </p:nvSpPr>
        <p:spPr>
          <a:xfrm>
            <a:off x="4283640" y="5320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7" name="bk object 118"/>
          <p:cNvSpPr/>
          <p:nvPr/>
        </p:nvSpPr>
        <p:spPr>
          <a:xfrm>
            <a:off x="4341600" y="5311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8" name="bk object 119"/>
          <p:cNvSpPr/>
          <p:nvPr/>
        </p:nvSpPr>
        <p:spPr>
          <a:xfrm>
            <a:off x="4402080" y="5301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9" name="bk object 120"/>
          <p:cNvSpPr/>
          <p:nvPr/>
        </p:nvSpPr>
        <p:spPr>
          <a:xfrm>
            <a:off x="4460040" y="5289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0" name="bk object 121"/>
          <p:cNvSpPr/>
          <p:nvPr/>
        </p:nvSpPr>
        <p:spPr>
          <a:xfrm>
            <a:off x="4518000" y="5280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1" name="bk object 122"/>
          <p:cNvSpPr/>
          <p:nvPr/>
        </p:nvSpPr>
        <p:spPr>
          <a:xfrm>
            <a:off x="4579200" y="5268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2" name="bk object 123"/>
          <p:cNvSpPr/>
          <p:nvPr/>
        </p:nvSpPr>
        <p:spPr>
          <a:xfrm>
            <a:off x="4637160" y="5259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3" name="bk object 124"/>
          <p:cNvSpPr/>
          <p:nvPr/>
        </p:nvSpPr>
        <p:spPr>
          <a:xfrm>
            <a:off x="4698000" y="5247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4" name="bk object 125"/>
          <p:cNvSpPr/>
          <p:nvPr/>
        </p:nvSpPr>
        <p:spPr>
          <a:xfrm>
            <a:off x="4755960" y="5234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5" name="bk object 126"/>
          <p:cNvSpPr/>
          <p:nvPr/>
        </p:nvSpPr>
        <p:spPr>
          <a:xfrm>
            <a:off x="4816800" y="5222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6" name="bk object 127"/>
          <p:cNvSpPr/>
          <p:nvPr/>
        </p:nvSpPr>
        <p:spPr>
          <a:xfrm>
            <a:off x="4874760" y="5210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7" name="bk object 128"/>
          <p:cNvSpPr/>
          <p:nvPr/>
        </p:nvSpPr>
        <p:spPr>
          <a:xfrm>
            <a:off x="4932720" y="5198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8" name="bk object 129"/>
          <p:cNvSpPr/>
          <p:nvPr/>
        </p:nvSpPr>
        <p:spPr>
          <a:xfrm>
            <a:off x="4993560" y="5185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9" name="bk object 130"/>
          <p:cNvSpPr/>
          <p:nvPr/>
        </p:nvSpPr>
        <p:spPr>
          <a:xfrm>
            <a:off x="5051520" y="5170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0" name="bk object 131"/>
          <p:cNvSpPr/>
          <p:nvPr/>
        </p:nvSpPr>
        <p:spPr>
          <a:xfrm>
            <a:off x="5112720" y="5158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1" name="bk object 132"/>
          <p:cNvSpPr/>
          <p:nvPr/>
        </p:nvSpPr>
        <p:spPr>
          <a:xfrm>
            <a:off x="5170320" y="51433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2" name="bk object 133"/>
          <p:cNvSpPr/>
          <p:nvPr/>
        </p:nvSpPr>
        <p:spPr>
          <a:xfrm>
            <a:off x="5228280" y="5127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3" name="bk object 134"/>
          <p:cNvSpPr/>
          <p:nvPr/>
        </p:nvSpPr>
        <p:spPr>
          <a:xfrm>
            <a:off x="5289120" y="5112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4" name="bk object 135"/>
          <p:cNvSpPr/>
          <p:nvPr/>
        </p:nvSpPr>
        <p:spPr>
          <a:xfrm>
            <a:off x="5347080" y="5097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5" name="bk object 136"/>
          <p:cNvSpPr/>
          <p:nvPr/>
        </p:nvSpPr>
        <p:spPr>
          <a:xfrm>
            <a:off x="5407920" y="5079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6" name="bk object 137"/>
          <p:cNvSpPr/>
          <p:nvPr/>
        </p:nvSpPr>
        <p:spPr>
          <a:xfrm>
            <a:off x="5465880" y="5064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7" name="bk object 138"/>
          <p:cNvSpPr/>
          <p:nvPr/>
        </p:nvSpPr>
        <p:spPr>
          <a:xfrm>
            <a:off x="5527080" y="5045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8" name="bk object 139"/>
          <p:cNvSpPr/>
          <p:nvPr/>
        </p:nvSpPr>
        <p:spPr>
          <a:xfrm>
            <a:off x="5585040" y="50274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9" name="bk object 140"/>
          <p:cNvSpPr/>
          <p:nvPr/>
        </p:nvSpPr>
        <p:spPr>
          <a:xfrm>
            <a:off x="5642640" y="5009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0" name="bk object 141"/>
          <p:cNvSpPr/>
          <p:nvPr/>
        </p:nvSpPr>
        <p:spPr>
          <a:xfrm>
            <a:off x="5703840" y="4991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1" name="bk object 142"/>
          <p:cNvSpPr/>
          <p:nvPr/>
        </p:nvSpPr>
        <p:spPr>
          <a:xfrm>
            <a:off x="5761800" y="4969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2" name="bk object 143"/>
          <p:cNvSpPr/>
          <p:nvPr/>
        </p:nvSpPr>
        <p:spPr>
          <a:xfrm>
            <a:off x="5822640" y="4948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3" name="bk object 144"/>
          <p:cNvSpPr/>
          <p:nvPr/>
        </p:nvSpPr>
        <p:spPr>
          <a:xfrm>
            <a:off x="5880600" y="4926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4" name="bk object 145"/>
          <p:cNvSpPr/>
          <p:nvPr/>
        </p:nvSpPr>
        <p:spPr>
          <a:xfrm>
            <a:off x="5938560" y="4905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5" name="bk object 146"/>
          <p:cNvSpPr/>
          <p:nvPr/>
        </p:nvSpPr>
        <p:spPr>
          <a:xfrm>
            <a:off x="5999400" y="48808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6" name="bk object 147"/>
          <p:cNvSpPr/>
          <p:nvPr/>
        </p:nvSpPr>
        <p:spPr>
          <a:xfrm>
            <a:off x="6057360" y="4856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7" name="bk object 148"/>
          <p:cNvSpPr/>
          <p:nvPr/>
        </p:nvSpPr>
        <p:spPr>
          <a:xfrm>
            <a:off x="6118200" y="4832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33">
                <a:moveTo>
                  <a:pt x="0" y="0"/>
                </a:moveTo>
                <a:lnTo>
                  <a:pt x="2933"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8" name="bk object 149"/>
          <p:cNvSpPr/>
          <p:nvPr/>
        </p:nvSpPr>
        <p:spPr>
          <a:xfrm>
            <a:off x="6176160" y="4804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9" name="bk object 150"/>
          <p:cNvSpPr/>
          <p:nvPr/>
        </p:nvSpPr>
        <p:spPr>
          <a:xfrm>
            <a:off x="6237360" y="4777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0" name="bk object 151"/>
          <p:cNvSpPr/>
          <p:nvPr/>
        </p:nvSpPr>
        <p:spPr>
          <a:xfrm>
            <a:off x="6295320" y="4750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1" name="bk object 152"/>
          <p:cNvSpPr/>
          <p:nvPr/>
        </p:nvSpPr>
        <p:spPr>
          <a:xfrm>
            <a:off x="6353280" y="4719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2" name="bk object 153"/>
          <p:cNvSpPr/>
          <p:nvPr/>
        </p:nvSpPr>
        <p:spPr>
          <a:xfrm>
            <a:off x="6413760" y="4686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3" name="bk object 154"/>
          <p:cNvSpPr/>
          <p:nvPr/>
        </p:nvSpPr>
        <p:spPr>
          <a:xfrm>
            <a:off x="6471720" y="4655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4" name="bk object 155"/>
          <p:cNvSpPr/>
          <p:nvPr/>
        </p:nvSpPr>
        <p:spPr>
          <a:xfrm>
            <a:off x="6532920" y="4619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5" name="bk object 156"/>
          <p:cNvSpPr/>
          <p:nvPr/>
        </p:nvSpPr>
        <p:spPr>
          <a:xfrm>
            <a:off x="6590880" y="4582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6" name="bk object 157"/>
          <p:cNvSpPr/>
          <p:nvPr/>
        </p:nvSpPr>
        <p:spPr>
          <a:xfrm>
            <a:off x="6651720" y="4545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33">
                <a:moveTo>
                  <a:pt x="0" y="0"/>
                </a:moveTo>
                <a:lnTo>
                  <a:pt x="2933"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7" name="bk object 158"/>
          <p:cNvSpPr/>
          <p:nvPr/>
        </p:nvSpPr>
        <p:spPr>
          <a:xfrm>
            <a:off x="6709680" y="4506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8" name="bk object 159"/>
          <p:cNvSpPr/>
          <p:nvPr/>
        </p:nvSpPr>
        <p:spPr>
          <a:xfrm>
            <a:off x="6767640" y="4463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9" name="bk object 160"/>
          <p:cNvSpPr/>
          <p:nvPr/>
        </p:nvSpPr>
        <p:spPr>
          <a:xfrm>
            <a:off x="6828480" y="4417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0" name="bk object 161"/>
          <p:cNvSpPr/>
          <p:nvPr/>
        </p:nvSpPr>
        <p:spPr>
          <a:xfrm>
            <a:off x="6886440" y="4372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1" name="bk object 162"/>
          <p:cNvSpPr/>
          <p:nvPr/>
        </p:nvSpPr>
        <p:spPr>
          <a:xfrm>
            <a:off x="6947280" y="4320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2" name="bk object 163"/>
          <p:cNvSpPr/>
          <p:nvPr/>
        </p:nvSpPr>
        <p:spPr>
          <a:xfrm>
            <a:off x="7005240" y="4268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3" name="bk object 164"/>
          <p:cNvSpPr/>
          <p:nvPr/>
        </p:nvSpPr>
        <p:spPr>
          <a:xfrm>
            <a:off x="7063200" y="4210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4" name="bk object 165"/>
          <p:cNvSpPr/>
          <p:nvPr/>
        </p:nvSpPr>
        <p:spPr>
          <a:xfrm>
            <a:off x="7124040" y="4152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5" name="bk object 166"/>
          <p:cNvSpPr/>
          <p:nvPr/>
        </p:nvSpPr>
        <p:spPr>
          <a:xfrm>
            <a:off x="7182000" y="4088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6" name="bk object 167"/>
          <p:cNvSpPr/>
          <p:nvPr/>
        </p:nvSpPr>
        <p:spPr>
          <a:xfrm>
            <a:off x="7242840" y="4018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7" name="bk object 168"/>
          <p:cNvSpPr/>
          <p:nvPr/>
        </p:nvSpPr>
        <p:spPr>
          <a:xfrm>
            <a:off x="7300800" y="3945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8" name="bk object 169"/>
          <p:cNvSpPr/>
          <p:nvPr/>
        </p:nvSpPr>
        <p:spPr>
          <a:xfrm>
            <a:off x="7362000" y="3866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9" name="bk object 170"/>
          <p:cNvSpPr/>
          <p:nvPr/>
        </p:nvSpPr>
        <p:spPr>
          <a:xfrm>
            <a:off x="7419960" y="3783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0" name="bk object 171"/>
          <p:cNvSpPr/>
          <p:nvPr/>
        </p:nvSpPr>
        <p:spPr>
          <a:xfrm>
            <a:off x="7477560" y="3692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1" name="bk object 172"/>
          <p:cNvSpPr/>
          <p:nvPr/>
        </p:nvSpPr>
        <p:spPr>
          <a:xfrm>
            <a:off x="7538760" y="3591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2" name="bk object 173"/>
          <p:cNvSpPr/>
          <p:nvPr/>
        </p:nvSpPr>
        <p:spPr>
          <a:xfrm>
            <a:off x="7596720" y="3485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3" name="bk object 174"/>
          <p:cNvSpPr/>
          <p:nvPr/>
        </p:nvSpPr>
        <p:spPr>
          <a:xfrm>
            <a:off x="7657560" y="3366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4" name="bk object 175"/>
          <p:cNvSpPr/>
          <p:nvPr/>
        </p:nvSpPr>
        <p:spPr>
          <a:xfrm>
            <a:off x="7715520" y="3238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5" name="bk object 176"/>
          <p:cNvSpPr/>
          <p:nvPr/>
        </p:nvSpPr>
        <p:spPr>
          <a:xfrm>
            <a:off x="7773480" y="3098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6" name="bk object 177"/>
          <p:cNvSpPr/>
          <p:nvPr/>
        </p:nvSpPr>
        <p:spPr>
          <a:xfrm>
            <a:off x="7834320" y="2942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7" name="bk object 178"/>
          <p:cNvSpPr/>
          <p:nvPr/>
        </p:nvSpPr>
        <p:spPr>
          <a:xfrm>
            <a:off x="7892280" y="2768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8" name="bk object 179"/>
          <p:cNvSpPr/>
          <p:nvPr/>
        </p:nvSpPr>
        <p:spPr>
          <a:xfrm>
            <a:off x="7953480" y="25768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9" name="bk object 180"/>
          <p:cNvSpPr/>
          <p:nvPr/>
        </p:nvSpPr>
        <p:spPr>
          <a:xfrm>
            <a:off x="8011080" y="2357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08">
                <a:moveTo>
                  <a:pt x="0" y="0"/>
                </a:moveTo>
                <a:lnTo>
                  <a:pt x="2908"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0" name="bk object 181"/>
          <p:cNvSpPr/>
          <p:nvPr/>
        </p:nvSpPr>
        <p:spPr>
          <a:xfrm>
            <a:off x="8071920" y="2110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1" name="bk object 182"/>
          <p:cNvSpPr/>
          <p:nvPr/>
        </p:nvSpPr>
        <p:spPr>
          <a:xfrm>
            <a:off x="8129880" y="1830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2" name="bk object 183"/>
          <p:cNvSpPr/>
          <p:nvPr/>
        </p:nvSpPr>
        <p:spPr>
          <a:xfrm>
            <a:off x="8187840" y="1506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3" name="bk object 184"/>
          <p:cNvSpPr/>
          <p:nvPr/>
        </p:nvSpPr>
        <p:spPr>
          <a:xfrm>
            <a:off x="8248680" y="1128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4" name="bk object 185"/>
          <p:cNvSpPr/>
          <p:nvPr/>
        </p:nvSpPr>
        <p:spPr>
          <a:xfrm>
            <a:off x="8306640" y="684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5" name="bk object 186"/>
          <p:cNvSpPr/>
          <p:nvPr/>
        </p:nvSpPr>
        <p:spPr>
          <a:xfrm>
            <a:off x="2387520" y="695160"/>
            <a:ext cx="5905800" cy="4843440"/>
          </a:xfrm>
          <a:custGeom>
            <a:avLst/>
            <a:gdLst>
              <a:gd name="textAreaLeft" fmla="*/ 0 w 5905800"/>
              <a:gd name="textAreaRight" fmla="*/ 5906520 w 5905800"/>
              <a:gd name="textAreaTop" fmla="*/ 0 h 4843440"/>
              <a:gd name="textAreaBottom" fmla="*/ 4844160 h 4843440"/>
            </a:gdLst>
            <a:ahLst/>
            <a:cxnLst/>
            <a:rect l="textAreaLeft" t="textAreaTop" r="textAreaRight" b="textAreaBottom"/>
            <a:pathLst>
              <a:path w="5906515" h="4844288">
                <a:moveTo>
                  <a:pt x="0" y="4844288"/>
                </a:moveTo>
                <a:lnTo>
                  <a:pt x="60832" y="4838319"/>
                </a:lnTo>
                <a:lnTo>
                  <a:pt x="118617" y="4832350"/>
                </a:lnTo>
                <a:lnTo>
                  <a:pt x="179450" y="4829429"/>
                </a:lnTo>
                <a:lnTo>
                  <a:pt x="237235" y="4823459"/>
                </a:lnTo>
                <a:lnTo>
                  <a:pt x="295020" y="4817491"/>
                </a:lnTo>
                <a:lnTo>
                  <a:pt x="355853" y="4811521"/>
                </a:lnTo>
                <a:lnTo>
                  <a:pt x="413638" y="4808601"/>
                </a:lnTo>
                <a:lnTo>
                  <a:pt x="474471" y="4802632"/>
                </a:lnTo>
                <a:lnTo>
                  <a:pt x="532256" y="4796663"/>
                </a:lnTo>
                <a:lnTo>
                  <a:pt x="593089" y="4790694"/>
                </a:lnTo>
                <a:lnTo>
                  <a:pt x="650874" y="4784725"/>
                </a:lnTo>
                <a:lnTo>
                  <a:pt x="708659" y="4778756"/>
                </a:lnTo>
                <a:lnTo>
                  <a:pt x="769492" y="4772786"/>
                </a:lnTo>
                <a:lnTo>
                  <a:pt x="827277" y="4766818"/>
                </a:lnTo>
                <a:lnTo>
                  <a:pt x="888110" y="4760849"/>
                </a:lnTo>
                <a:lnTo>
                  <a:pt x="1003680" y="4748910"/>
                </a:lnTo>
                <a:lnTo>
                  <a:pt x="1064513" y="4739894"/>
                </a:lnTo>
                <a:lnTo>
                  <a:pt x="1122298" y="4733925"/>
                </a:lnTo>
                <a:lnTo>
                  <a:pt x="1183131" y="4727956"/>
                </a:lnTo>
                <a:lnTo>
                  <a:pt x="1240916" y="4718938"/>
                </a:lnTo>
                <a:lnTo>
                  <a:pt x="1301749" y="4712970"/>
                </a:lnTo>
                <a:lnTo>
                  <a:pt x="1359534" y="4703953"/>
                </a:lnTo>
                <a:lnTo>
                  <a:pt x="1417319" y="4697983"/>
                </a:lnTo>
                <a:lnTo>
                  <a:pt x="1478152" y="4688967"/>
                </a:lnTo>
                <a:lnTo>
                  <a:pt x="1535937" y="4682998"/>
                </a:lnTo>
                <a:lnTo>
                  <a:pt x="1596770" y="4673981"/>
                </a:lnTo>
                <a:lnTo>
                  <a:pt x="1654555" y="4664963"/>
                </a:lnTo>
                <a:lnTo>
                  <a:pt x="1712340" y="4655947"/>
                </a:lnTo>
                <a:lnTo>
                  <a:pt x="1773173" y="4646930"/>
                </a:lnTo>
                <a:lnTo>
                  <a:pt x="1830958" y="4637912"/>
                </a:lnTo>
                <a:lnTo>
                  <a:pt x="1891791" y="4628896"/>
                </a:lnTo>
                <a:lnTo>
                  <a:pt x="1949576" y="4619879"/>
                </a:lnTo>
                <a:lnTo>
                  <a:pt x="2010409" y="4610861"/>
                </a:lnTo>
                <a:lnTo>
                  <a:pt x="2068194" y="4598797"/>
                </a:lnTo>
                <a:lnTo>
                  <a:pt x="2125979" y="4589780"/>
                </a:lnTo>
                <a:lnTo>
                  <a:pt x="2186812" y="4577715"/>
                </a:lnTo>
                <a:lnTo>
                  <a:pt x="2244597" y="4568698"/>
                </a:lnTo>
                <a:lnTo>
                  <a:pt x="2305430" y="4556633"/>
                </a:lnTo>
                <a:lnTo>
                  <a:pt x="2363215" y="4544568"/>
                </a:lnTo>
                <a:lnTo>
                  <a:pt x="2424048" y="4532503"/>
                </a:lnTo>
                <a:lnTo>
                  <a:pt x="2481833" y="4520437"/>
                </a:lnTo>
                <a:lnTo>
                  <a:pt x="2539618" y="4508373"/>
                </a:lnTo>
                <a:lnTo>
                  <a:pt x="2600451" y="4496308"/>
                </a:lnTo>
                <a:lnTo>
                  <a:pt x="2658236" y="4481195"/>
                </a:lnTo>
                <a:lnTo>
                  <a:pt x="2719069" y="4469130"/>
                </a:lnTo>
                <a:lnTo>
                  <a:pt x="2776854" y="4454017"/>
                </a:lnTo>
                <a:lnTo>
                  <a:pt x="2834639" y="4438904"/>
                </a:lnTo>
                <a:lnTo>
                  <a:pt x="2895472" y="4423791"/>
                </a:lnTo>
                <a:lnTo>
                  <a:pt x="2953257" y="4408678"/>
                </a:lnTo>
                <a:lnTo>
                  <a:pt x="3014090" y="4390517"/>
                </a:lnTo>
                <a:lnTo>
                  <a:pt x="3071875" y="4375404"/>
                </a:lnTo>
                <a:lnTo>
                  <a:pt x="3132708" y="4357243"/>
                </a:lnTo>
                <a:lnTo>
                  <a:pt x="3190493" y="4339082"/>
                </a:lnTo>
                <a:lnTo>
                  <a:pt x="3248278" y="4320921"/>
                </a:lnTo>
                <a:lnTo>
                  <a:pt x="3309111" y="4302759"/>
                </a:lnTo>
                <a:lnTo>
                  <a:pt x="3366896" y="4281551"/>
                </a:lnTo>
                <a:lnTo>
                  <a:pt x="3427729" y="4260342"/>
                </a:lnTo>
                <a:lnTo>
                  <a:pt x="3543299" y="4217924"/>
                </a:lnTo>
                <a:lnTo>
                  <a:pt x="3604132" y="4193666"/>
                </a:lnTo>
                <a:lnTo>
                  <a:pt x="3661917" y="4169409"/>
                </a:lnTo>
                <a:lnTo>
                  <a:pt x="3722750" y="4145153"/>
                </a:lnTo>
                <a:lnTo>
                  <a:pt x="3780535" y="4117721"/>
                </a:lnTo>
                <a:lnTo>
                  <a:pt x="3841368" y="4090288"/>
                </a:lnTo>
                <a:lnTo>
                  <a:pt x="3899153" y="4062856"/>
                </a:lnTo>
                <a:lnTo>
                  <a:pt x="3956938" y="4032504"/>
                </a:lnTo>
                <a:lnTo>
                  <a:pt x="4017771" y="3999103"/>
                </a:lnTo>
                <a:lnTo>
                  <a:pt x="4075556" y="3968750"/>
                </a:lnTo>
                <a:lnTo>
                  <a:pt x="4136389" y="3932301"/>
                </a:lnTo>
                <a:lnTo>
                  <a:pt x="4194174" y="3895852"/>
                </a:lnTo>
                <a:lnTo>
                  <a:pt x="4255007" y="3859403"/>
                </a:lnTo>
                <a:lnTo>
                  <a:pt x="4312792" y="3819779"/>
                </a:lnTo>
                <a:lnTo>
                  <a:pt x="4370577" y="3777221"/>
                </a:lnTo>
                <a:lnTo>
                  <a:pt x="4431410" y="3731641"/>
                </a:lnTo>
                <a:lnTo>
                  <a:pt x="4489195" y="3686048"/>
                </a:lnTo>
                <a:lnTo>
                  <a:pt x="4550028" y="3634231"/>
                </a:lnTo>
                <a:lnTo>
                  <a:pt x="4607812" y="3582416"/>
                </a:lnTo>
                <a:lnTo>
                  <a:pt x="4665598" y="3524630"/>
                </a:lnTo>
                <a:lnTo>
                  <a:pt x="4726431" y="3466846"/>
                </a:lnTo>
                <a:lnTo>
                  <a:pt x="4784216" y="3402837"/>
                </a:lnTo>
                <a:lnTo>
                  <a:pt x="4845049" y="3332860"/>
                </a:lnTo>
                <a:lnTo>
                  <a:pt x="4902834" y="3259835"/>
                </a:lnTo>
                <a:lnTo>
                  <a:pt x="4963667" y="3180587"/>
                </a:lnTo>
                <a:lnTo>
                  <a:pt x="5021452" y="3098418"/>
                </a:lnTo>
                <a:lnTo>
                  <a:pt x="5079237" y="3007105"/>
                </a:lnTo>
                <a:lnTo>
                  <a:pt x="5140070" y="2906649"/>
                </a:lnTo>
                <a:lnTo>
                  <a:pt x="5197855" y="2799968"/>
                </a:lnTo>
                <a:lnTo>
                  <a:pt x="5258687" y="2681224"/>
                </a:lnTo>
                <a:lnTo>
                  <a:pt x="5316473" y="2553207"/>
                </a:lnTo>
                <a:lnTo>
                  <a:pt x="5374258" y="2413127"/>
                </a:lnTo>
                <a:lnTo>
                  <a:pt x="5435091" y="2257679"/>
                </a:lnTo>
                <a:lnTo>
                  <a:pt x="5492875" y="2084069"/>
                </a:lnTo>
                <a:lnTo>
                  <a:pt x="5553709" y="1892172"/>
                </a:lnTo>
                <a:lnTo>
                  <a:pt x="5611494" y="1672716"/>
                </a:lnTo>
                <a:lnTo>
                  <a:pt x="5672327" y="1425955"/>
                </a:lnTo>
                <a:lnTo>
                  <a:pt x="5730112" y="1145666"/>
                </a:lnTo>
                <a:lnTo>
                  <a:pt x="5787897" y="822705"/>
                </a:lnTo>
                <a:lnTo>
                  <a:pt x="5848730" y="444880"/>
                </a:lnTo>
                <a:lnTo>
                  <a:pt x="5906515" y="0"/>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6" name="bk object 187"/>
          <p:cNvSpPr/>
          <p:nvPr/>
        </p:nvSpPr>
        <p:spPr>
          <a:xfrm>
            <a:off x="3711600" y="1895040"/>
            <a:ext cx="2564640" cy="659520"/>
          </a:xfrm>
          <a:custGeom>
            <a:avLst/>
            <a:gdLst>
              <a:gd name="textAreaLeft" fmla="*/ 0 w 2564640"/>
              <a:gd name="textAreaRight" fmla="*/ 2565360 w 2564640"/>
              <a:gd name="textAreaTop" fmla="*/ 0 h 659520"/>
              <a:gd name="textAreaBottom" fmla="*/ 660240 h 659520"/>
            </a:gdLst>
            <a:ahLst/>
            <a:cxnLst/>
            <a:rect l="textAreaLeft" t="textAreaTop" r="textAreaRight" b="textAreaBottom"/>
            <a:pathLst>
              <a:path w="2565400" h="660400">
                <a:moveTo>
                  <a:pt x="0" y="660400"/>
                </a:moveTo>
                <a:lnTo>
                  <a:pt x="2565400" y="660400"/>
                </a:lnTo>
                <a:lnTo>
                  <a:pt x="2565400" y="0"/>
                </a:lnTo>
                <a:lnTo>
                  <a:pt x="0" y="0"/>
                </a:lnTo>
                <a:lnTo>
                  <a:pt x="0" y="6604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7"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188" name="PlaceHolder 2"/>
          <p:cNvSpPr>
            <a:spLocks noGrp="1"/>
          </p:cNvSpPr>
          <p:nvPr>
            <p:ph type="ftr" idx="10"/>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89" name="PlaceHolder 3"/>
          <p:cNvSpPr>
            <a:spLocks noGrp="1"/>
          </p:cNvSpPr>
          <p:nvPr>
            <p:ph type="dt" idx="11"/>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90" name="PlaceHolder 4"/>
          <p:cNvSpPr>
            <a:spLocks noGrp="1"/>
          </p:cNvSpPr>
          <p:nvPr>
            <p:ph type="sldNum" idx="12"/>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061F9705-5889-4F40-9C66-F2C11886F55A}"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bg>
      <p:bgPr>
        <a:solidFill>
          <a:schemeClr val="lt1"/>
        </a:solidFill>
        <a:effectLst/>
      </p:bgPr>
    </p:bg>
    <p:spTree>
      <p:nvGrpSpPr>
        <p:cNvPr id="1" name=""/>
        <p:cNvGrpSpPr/>
        <p:nvPr/>
      </p:nvGrpSpPr>
      <p:grpSpPr>
        <a:xfrm>
          <a:off x="0" y="0"/>
          <a:ext cx="0" cy="0"/>
          <a:chOff x="0" y="0"/>
          <a:chExt cx="0" cy="0"/>
        </a:xfrm>
      </p:grpSpPr>
      <p:sp>
        <p:nvSpPr>
          <p:cNvPr id="191" name="PlaceHolder 1"/>
          <p:cNvSpPr>
            <a:spLocks noGrp="1"/>
          </p:cNvSpPr>
          <p:nvPr>
            <p:ph type="ftr" idx="13"/>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92" name="PlaceHolder 2"/>
          <p:cNvSpPr>
            <a:spLocks noGrp="1"/>
          </p:cNvSpPr>
          <p:nvPr>
            <p:ph type="dt" idx="14"/>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93" name="PlaceHolder 3"/>
          <p:cNvSpPr>
            <a:spLocks noGrp="1"/>
          </p:cNvSpPr>
          <p:nvPr>
            <p:ph type="sldNum" idx="15"/>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0EBD7EAC-8FD1-4434-9C95-79BE485A3A12}"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
        <p:nvSpPr>
          <p:cNvPr id="194" name="PlaceHolder 4"/>
          <p:cNvSpPr>
            <a:spLocks noGrp="1"/>
          </p:cNvSpPr>
          <p:nvPr>
            <p:ph type="title"/>
          </p:nvPr>
        </p:nvSpPr>
        <p:spPr>
          <a:xfrm>
            <a:off x="502920" y="309960"/>
            <a:ext cx="9051840" cy="1297080"/>
          </a:xfrm>
          <a:prstGeom prst="rect">
            <a:avLst/>
          </a:prstGeom>
          <a:noFill/>
          <a:ln w="0">
            <a:noFill/>
          </a:ln>
        </p:spPr>
        <p:txBody>
          <a:bodyPr lIns="0" tIns="0" rIns="0" bIns="0" anchor="ctr">
            <a:noAutofit/>
          </a:bodyPr>
          <a:lstStyle/>
          <a:p>
            <a:pPr indent="0">
              <a:lnSpc>
                <a:spcPct val="100000"/>
              </a:lnSpc>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rgbClr val="000000"/>
              </a:solidFill>
              <a:effectLst/>
              <a:uFillTx/>
              <a:latin typeface="Arial"/>
            </a:endParaRPr>
          </a:p>
        </p:txBody>
      </p:sp>
      <p:sp>
        <p:nvSpPr>
          <p:cNvPr id="195" name="PlaceHolder 5"/>
          <p:cNvSpPr>
            <a:spLocks noGrp="1"/>
          </p:cNvSpPr>
          <p:nvPr>
            <p:ph type="body"/>
          </p:nvPr>
        </p:nvSpPr>
        <p:spPr>
          <a:xfrm>
            <a:off x="502920" y="1818720"/>
            <a:ext cx="9051840" cy="450720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endParaRPr lang="en-US" sz="20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endParaRPr lang="en-US" sz="1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endParaRPr lang="en-US" sz="1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rgbClr val="000000"/>
              </a:solidFill>
              <a:effectLst/>
              <a:uFillTx/>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6C9D30"/>
        </a:solidFill>
        <a:effectLst/>
      </p:bgPr>
    </p:bg>
    <p:spTree>
      <p:nvGrpSpPr>
        <p:cNvPr id="1" name=""/>
        <p:cNvGrpSpPr/>
        <p:nvPr/>
      </p:nvGrpSpPr>
      <p:grpSpPr>
        <a:xfrm>
          <a:off x="0" y="0"/>
          <a:ext cx="0" cy="0"/>
          <a:chOff x="0" y="0"/>
          <a:chExt cx="0" cy="0"/>
        </a:xfrm>
      </p:grpSpPr>
      <p:sp>
        <p:nvSpPr>
          <p:cNvPr id="196"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197"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198" name="Picture 24" descr="utdlogo"/>
          <p:cNvPicPr/>
          <p:nvPr/>
        </p:nvPicPr>
        <p:blipFill>
          <a:blip r:embed="rId2"/>
          <a:stretch/>
        </p:blipFill>
        <p:spPr>
          <a:xfrm>
            <a:off x="9304200" y="7254360"/>
            <a:ext cx="619200" cy="272880"/>
          </a:xfrm>
          <a:prstGeom prst="rect">
            <a:avLst/>
          </a:prstGeom>
          <a:noFill/>
          <a:ln w="9525">
            <a:noFill/>
          </a:ln>
        </p:spPr>
      </p:pic>
      <p:sp>
        <p:nvSpPr>
          <p:cNvPr id="199"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0" name="PlaceHolder 1"/>
          <p:cNvSpPr>
            <a:spLocks noGrp="1"/>
          </p:cNvSpPr>
          <p:nvPr>
            <p:ph type="title"/>
          </p:nvPr>
        </p:nvSpPr>
        <p:spPr>
          <a:xfrm>
            <a:off x="502920" y="311400"/>
            <a:ext cx="9051840" cy="129456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01" name="PlaceHolder 2"/>
          <p:cNvSpPr>
            <a:spLocks noGrp="1"/>
          </p:cNvSpPr>
          <p:nvPr>
            <p:ph type="body"/>
          </p:nvPr>
        </p:nvSpPr>
        <p:spPr>
          <a:xfrm>
            <a:off x="502920" y="1739880"/>
            <a:ext cx="44434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02" name="PlaceHolder 3"/>
          <p:cNvSpPr>
            <a:spLocks noGrp="1"/>
          </p:cNvSpPr>
          <p:nvPr>
            <p:ph type="body"/>
          </p:nvPr>
        </p:nvSpPr>
        <p:spPr>
          <a:xfrm>
            <a:off x="502920" y="2464920"/>
            <a:ext cx="44434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03" name="PlaceHolder 4"/>
          <p:cNvSpPr>
            <a:spLocks noGrp="1"/>
          </p:cNvSpPr>
          <p:nvPr>
            <p:ph type="body"/>
          </p:nvPr>
        </p:nvSpPr>
        <p:spPr>
          <a:xfrm>
            <a:off x="5109480" y="1739880"/>
            <a:ext cx="44452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04" name="PlaceHolder 5"/>
          <p:cNvSpPr>
            <a:spLocks noGrp="1"/>
          </p:cNvSpPr>
          <p:nvPr>
            <p:ph type="body"/>
          </p:nvPr>
        </p:nvSpPr>
        <p:spPr>
          <a:xfrm>
            <a:off x="5109480" y="2464920"/>
            <a:ext cx="44452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Default 3">
    <p:bg>
      <p:bgPr>
        <a:solidFill>
          <a:srgbClr val="6C9D30"/>
        </a:solidFill>
        <a:effectLst/>
      </p:bgPr>
    </p:bg>
    <p:spTree>
      <p:nvGrpSpPr>
        <p:cNvPr id="1" name=""/>
        <p:cNvGrpSpPr/>
        <p:nvPr/>
      </p:nvGrpSpPr>
      <p:grpSpPr>
        <a:xfrm>
          <a:off x="0" y="0"/>
          <a:ext cx="0" cy="0"/>
          <a:chOff x="0" y="0"/>
          <a:chExt cx="0" cy="0"/>
        </a:xfrm>
      </p:grpSpPr>
      <p:sp>
        <p:nvSpPr>
          <p:cNvPr id="20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07" name="Picture 24" descr="utdlogo"/>
          <p:cNvPicPr/>
          <p:nvPr/>
        </p:nvPicPr>
        <p:blipFill>
          <a:blip r:embed="rId2"/>
          <a:stretch/>
        </p:blipFill>
        <p:spPr>
          <a:xfrm>
            <a:off x="9304200" y="7254360"/>
            <a:ext cx="619200" cy="272880"/>
          </a:xfrm>
          <a:prstGeom prst="rect">
            <a:avLst/>
          </a:prstGeom>
          <a:noFill/>
          <a:ln w="9525">
            <a:noFill/>
          </a:ln>
        </p:spPr>
      </p:pic>
      <p:sp>
        <p:nvSpPr>
          <p:cNvPr id="20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Default 4">
    <p:bg>
      <p:bgPr>
        <a:solidFill>
          <a:srgbClr val="6C9D30"/>
        </a:solidFill>
        <a:effectLst/>
      </p:bgPr>
    </p:bg>
    <p:spTree>
      <p:nvGrpSpPr>
        <p:cNvPr id="1" name=""/>
        <p:cNvGrpSpPr/>
        <p:nvPr/>
      </p:nvGrpSpPr>
      <p:grpSpPr>
        <a:xfrm>
          <a:off x="0" y="0"/>
          <a:ext cx="0" cy="0"/>
          <a:chOff x="0" y="0"/>
          <a:chExt cx="0" cy="0"/>
        </a:xfrm>
      </p:grpSpPr>
      <p:sp>
        <p:nvSpPr>
          <p:cNvPr id="210"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1"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12" name="Picture 24" descr="utdlogo"/>
          <p:cNvPicPr/>
          <p:nvPr/>
        </p:nvPicPr>
        <p:blipFill>
          <a:blip r:embed="rId2"/>
          <a:stretch/>
        </p:blipFill>
        <p:spPr>
          <a:xfrm>
            <a:off x="9304200" y="7254360"/>
            <a:ext cx="619200" cy="272880"/>
          </a:xfrm>
          <a:prstGeom prst="rect">
            <a:avLst/>
          </a:prstGeom>
          <a:noFill/>
          <a:ln w="9525">
            <a:noFill/>
          </a:ln>
        </p:spPr>
      </p:pic>
      <p:sp>
        <p:nvSpPr>
          <p:cNvPr id="213"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6C9D30"/>
        </a:solidFill>
        <a:effectLst/>
      </p:bgPr>
    </p:bg>
    <p:spTree>
      <p:nvGrpSpPr>
        <p:cNvPr id="1" name=""/>
        <p:cNvGrpSpPr/>
        <p:nvPr/>
      </p:nvGrpSpPr>
      <p:grpSpPr>
        <a:xfrm>
          <a:off x="0" y="0"/>
          <a:ext cx="0" cy="0"/>
          <a:chOff x="0" y="0"/>
          <a:chExt cx="0" cy="0"/>
        </a:xfrm>
      </p:grpSpPr>
      <p:sp>
        <p:nvSpPr>
          <p:cNvPr id="214"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5"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16" name="Picture 24" descr="utdlogo"/>
          <p:cNvPicPr/>
          <p:nvPr/>
        </p:nvPicPr>
        <p:blipFill>
          <a:blip r:embed="rId2"/>
          <a:stretch/>
        </p:blipFill>
        <p:spPr>
          <a:xfrm>
            <a:off x="9304200" y="7254360"/>
            <a:ext cx="619200" cy="272880"/>
          </a:xfrm>
          <a:prstGeom prst="rect">
            <a:avLst/>
          </a:prstGeom>
          <a:noFill/>
          <a:ln w="9525">
            <a:noFill/>
          </a:ln>
        </p:spPr>
      </p:pic>
      <p:sp>
        <p:nvSpPr>
          <p:cNvPr id="217"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8" name="PlaceHolder 1"/>
          <p:cNvSpPr>
            <a:spLocks noGrp="1"/>
          </p:cNvSpPr>
          <p:nvPr>
            <p:ph type="title"/>
          </p:nvPr>
        </p:nvSpPr>
        <p:spPr>
          <a:xfrm>
            <a:off x="502920" y="309600"/>
            <a:ext cx="3308400" cy="131616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219" name="PlaceHolder 2"/>
          <p:cNvSpPr>
            <a:spLocks noGrp="1"/>
          </p:cNvSpPr>
          <p:nvPr>
            <p:ph type="body"/>
          </p:nvPr>
        </p:nvSpPr>
        <p:spPr>
          <a:xfrm>
            <a:off x="3932640" y="309600"/>
            <a:ext cx="5622120" cy="6632640"/>
          </a:xfrm>
          <a:prstGeom prst="rect">
            <a:avLst/>
          </a:prstGeom>
          <a:noFill/>
          <a:ln w="9360">
            <a:noFill/>
          </a:ln>
        </p:spPr>
        <p:txBody>
          <a:bodyPr lIns="91440" tIns="45720" rIns="91440" bIns="45720" numCol="1" spcCol="0" anchor="t">
            <a:noAutofit/>
          </a:bodyPr>
          <a:lstStyle/>
          <a:p>
            <a:pPr marL="377280" indent="-377280">
              <a:lnSpc>
                <a:spcPct val="100000"/>
              </a:lnSpc>
              <a:spcBef>
                <a:spcPts val="703"/>
              </a:spcBef>
              <a:buClr>
                <a:srgbClr val="000000"/>
              </a:buClr>
              <a:buFont typeface="Symbol" charset="2"/>
              <a:buChar char=""/>
            </a:pPr>
            <a:r>
              <a:rPr lang="en-US" sz="3520" b="0" u="none" strike="noStrike">
                <a:solidFill>
                  <a:schemeClr val="dk1"/>
                </a:solidFill>
                <a:effectLst/>
                <a:uFillTx/>
                <a:latin typeface="Arial"/>
                <a:ea typeface="Osaka"/>
              </a:rPr>
              <a:t>Click to edit Master text styles</a:t>
            </a:r>
            <a:endParaRPr lang="en-US" sz="3520" b="0" u="none" strike="noStrike">
              <a:solidFill>
                <a:srgbClr val="FFFFFF"/>
              </a:solidFill>
              <a:effectLst/>
              <a:uFillTx/>
              <a:latin typeface="Arial"/>
            </a:endParaRPr>
          </a:p>
          <a:p>
            <a:pPr marL="817200" lvl="1" indent="-314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Second level</a:t>
            </a:r>
            <a:endParaRPr lang="en-US" sz="3080" b="0" u="none" strike="noStrike">
              <a:solidFill>
                <a:srgbClr val="FFFFFF"/>
              </a:solidFill>
              <a:effectLst/>
              <a:uFillTx/>
              <a:latin typeface="Arial"/>
            </a:endParaRPr>
          </a:p>
          <a:p>
            <a:pPr marL="1257480" lvl="2" indent="-25164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Third level</a:t>
            </a:r>
            <a:endParaRPr lang="en-US" sz="2640" b="0" u="none" strike="noStrike">
              <a:solidFill>
                <a:srgbClr val="FFFFFF"/>
              </a:solidFill>
              <a:effectLst/>
              <a:uFillTx/>
              <a:latin typeface="Arial"/>
            </a:endParaRPr>
          </a:p>
          <a:p>
            <a:pPr marL="1760400" lvl="3"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Fourth level</a:t>
            </a:r>
            <a:endParaRPr lang="en-US" sz="2200" b="0" u="none" strike="noStrike">
              <a:solidFill>
                <a:srgbClr val="FFFFFF"/>
              </a:solidFill>
              <a:effectLst/>
              <a:uFillTx/>
              <a:latin typeface="Arial"/>
            </a:endParaRPr>
          </a:p>
          <a:p>
            <a:pPr marL="2263320" lvl="4" indent="-251640">
              <a:lnSpc>
                <a:spcPct val="100000"/>
              </a:lnSpc>
              <a:spcBef>
                <a:spcPts val="439"/>
              </a:spcBef>
              <a:buClr>
                <a:srgbClr val="000000"/>
              </a:buClr>
              <a:buFont typeface="OpenSymbol"/>
              <a:buChar char="»"/>
            </a:pPr>
            <a:r>
              <a:rPr lang="en-US" sz="2200" b="0" u="none" strike="noStrike">
                <a:solidFill>
                  <a:schemeClr val="dk1"/>
                </a:solidFill>
                <a:effectLst/>
                <a:uFillTx/>
                <a:latin typeface="Arial"/>
                <a:ea typeface="Osaka"/>
              </a:rPr>
              <a:t>Fifth level</a:t>
            </a:r>
            <a:endParaRPr lang="en-US" sz="2200" b="0" u="none" strike="noStrike">
              <a:solidFill>
                <a:srgbClr val="FFFFFF"/>
              </a:solidFill>
              <a:effectLst/>
              <a:uFillTx/>
              <a:latin typeface="Arial"/>
            </a:endParaRPr>
          </a:p>
        </p:txBody>
      </p:sp>
      <p:sp>
        <p:nvSpPr>
          <p:cNvPr id="220" name="PlaceHolder 3"/>
          <p:cNvSpPr>
            <a:spLocks noGrp="1"/>
          </p:cNvSpPr>
          <p:nvPr>
            <p:ph type="body"/>
          </p:nvPr>
        </p:nvSpPr>
        <p:spPr>
          <a:xfrm>
            <a:off x="502920" y="1626480"/>
            <a:ext cx="3308400" cy="531576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6C9D30"/>
        </a:solidFill>
        <a:effectLst/>
      </p:bgPr>
    </p:bg>
    <p:spTree>
      <p:nvGrpSpPr>
        <p:cNvPr id="1" name=""/>
        <p:cNvGrpSpPr/>
        <p:nvPr/>
      </p:nvGrpSpPr>
      <p:grpSpPr>
        <a:xfrm>
          <a:off x="0" y="0"/>
          <a:ext cx="0" cy="0"/>
          <a:chOff x="0" y="0"/>
          <a:chExt cx="0" cy="0"/>
        </a:xfrm>
      </p:grpSpPr>
      <p:sp>
        <p:nvSpPr>
          <p:cNvPr id="22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23" name="Picture 24" descr="utdlogo"/>
          <p:cNvPicPr/>
          <p:nvPr/>
        </p:nvPicPr>
        <p:blipFill>
          <a:blip r:embed="rId2"/>
          <a:stretch/>
        </p:blipFill>
        <p:spPr>
          <a:xfrm>
            <a:off x="9304200" y="7254360"/>
            <a:ext cx="619200" cy="272880"/>
          </a:xfrm>
          <a:prstGeom prst="rect">
            <a:avLst/>
          </a:prstGeom>
          <a:noFill/>
          <a:ln w="9525">
            <a:noFill/>
          </a:ln>
        </p:spPr>
      </p:pic>
      <p:sp>
        <p:nvSpPr>
          <p:cNvPr id="22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5" name="PlaceHolder 1"/>
          <p:cNvSpPr>
            <a:spLocks noGrp="1"/>
          </p:cNvSpPr>
          <p:nvPr>
            <p:ph type="title"/>
          </p:nvPr>
        </p:nvSpPr>
        <p:spPr>
          <a:xfrm>
            <a:off x="1971360" y="5440680"/>
            <a:ext cx="6034320" cy="64152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226" name="PlaceHolder 2"/>
          <p:cNvSpPr>
            <a:spLocks noGrp="1"/>
          </p:cNvSpPr>
          <p:nvPr>
            <p:ph type="body"/>
          </p:nvPr>
        </p:nvSpPr>
        <p:spPr>
          <a:xfrm>
            <a:off x="1971360" y="694440"/>
            <a:ext cx="6034320" cy="46627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3520" b="0" u="none" strike="noStrike">
                <a:solidFill>
                  <a:schemeClr val="dk1"/>
                </a:solidFill>
                <a:effectLst/>
                <a:uFillTx/>
                <a:latin typeface="Arial"/>
                <a:ea typeface="Osaka"/>
              </a:rPr>
              <a:t>Click icon to add picture</a:t>
            </a:r>
            <a:endParaRPr lang="en-US" sz="3520" b="0" u="none" strike="noStrike">
              <a:solidFill>
                <a:srgbClr val="FFFFFF"/>
              </a:solidFill>
              <a:effectLst/>
              <a:uFillTx/>
              <a:latin typeface="Arial"/>
            </a:endParaRPr>
          </a:p>
        </p:txBody>
      </p:sp>
      <p:sp>
        <p:nvSpPr>
          <p:cNvPr id="227" name="PlaceHolder 3"/>
          <p:cNvSpPr>
            <a:spLocks noGrp="1"/>
          </p:cNvSpPr>
          <p:nvPr>
            <p:ph type="body"/>
          </p:nvPr>
        </p:nvSpPr>
        <p:spPr>
          <a:xfrm>
            <a:off x="1971360" y="6082920"/>
            <a:ext cx="6034320" cy="91152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Default">
    <p:bg>
      <p:bgPr>
        <a:solidFill>
          <a:schemeClr val="lt1"/>
        </a:solidFill>
        <a:effectLst/>
      </p:bgPr>
    </p:bg>
    <p:spTree>
      <p:nvGrpSpPr>
        <p:cNvPr id="1" name=""/>
        <p:cNvGrpSpPr/>
        <p:nvPr/>
      </p:nvGrpSpPr>
      <p:grpSpPr>
        <a:xfrm>
          <a:off x="0" y="0"/>
          <a:ext cx="0" cy="0"/>
          <a:chOff x="0" y="0"/>
          <a:chExt cx="0" cy="0"/>
        </a:xfrm>
      </p:grpSpPr>
      <p:sp>
        <p:nvSpPr>
          <p:cNvPr id="228" name="Rectangle 21" hidden="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9" name="Text Box 22" hidden="1"/>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230" name="Picture 24" descr="utdlogo"/>
          <p:cNvPicPr/>
          <p:nvPr/>
        </p:nvPicPr>
        <p:blipFill>
          <a:blip r:embed="rId2"/>
          <a:stretch/>
        </p:blipFill>
        <p:spPr>
          <a:xfrm>
            <a:off x="9304200" y="7254360"/>
            <a:ext cx="619200" cy="272880"/>
          </a:xfrm>
          <a:prstGeom prst="rect">
            <a:avLst/>
          </a:prstGeom>
          <a:noFill/>
          <a:ln w="9525">
            <a:noFill/>
          </a:ln>
        </p:spPr>
      </p:pic>
      <p:sp>
        <p:nvSpPr>
          <p:cNvPr id="231" name="Rectangle 29" hidden="1"/>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2" name="Rectangle 3"/>
          <p:cNvSpPr/>
          <p:nvPr/>
        </p:nvSpPr>
        <p:spPr>
          <a:xfrm>
            <a:off x="2514600" y="0"/>
            <a:ext cx="7543080" cy="603720"/>
          </a:xfrm>
          <a:prstGeom prst="rect">
            <a:avLst/>
          </a:prstGeom>
          <a:solidFill>
            <a:srgbClr val="6C9D30"/>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3" name="Rectangle 4"/>
          <p:cNvSpPr/>
          <p:nvPr/>
        </p:nvSpPr>
        <p:spPr>
          <a:xfrm>
            <a:off x="0" y="0"/>
            <a:ext cx="2513880" cy="603720"/>
          </a:xfrm>
          <a:prstGeom prst="rect">
            <a:avLst/>
          </a:prstGeom>
          <a:solidFill>
            <a:srgbClr val="E4701D"/>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4" name="Line 9"/>
          <p:cNvSpPr/>
          <p:nvPr/>
        </p:nvSpPr>
        <p:spPr>
          <a:xfrm>
            <a:off x="0" y="60444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235" name="Line 10"/>
          <p:cNvSpPr/>
          <p:nvPr/>
        </p:nvSpPr>
        <p:spPr>
          <a:xfrm>
            <a:off x="2514600" y="0"/>
            <a:ext cx="360" cy="60444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3080" b="0" u="none" strike="noStrike">
              <a:solidFill>
                <a:srgbClr val="000000"/>
              </a:solidFill>
              <a:effectLst/>
              <a:uFillTx/>
              <a:latin typeface="Arial"/>
              <a:ea typeface="ＭＳ Ｐゴシック"/>
            </a:endParaRPr>
          </a:p>
        </p:txBody>
      </p:sp>
      <p:sp>
        <p:nvSpPr>
          <p:cNvPr id="236" name="Text Box 11"/>
          <p:cNvSpPr/>
          <p:nvPr/>
        </p:nvSpPr>
        <p:spPr>
          <a:xfrm>
            <a:off x="381600" y="102600"/>
            <a:ext cx="1625400" cy="396360"/>
          </a:xfrm>
          <a:prstGeom prst="rect">
            <a:avLst/>
          </a:prstGeom>
          <a:noFill/>
          <a:ln w="9525">
            <a:noFill/>
          </a:ln>
          <a:effectLst>
            <a:outerShdw dist="25455" dir="2700000" algn="ctr" rotWithShape="0">
              <a:srgbClr val="808080"/>
            </a:outerShdw>
          </a:effectLst>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979" b="1" u="none" strike="noStrike">
                <a:solidFill>
                  <a:srgbClr val="FFFFFF"/>
                </a:solidFill>
                <a:effectLst/>
                <a:uFillTx/>
                <a:latin typeface="Times New Roman"/>
                <a:ea typeface="ＭＳ Ｐゴシック"/>
              </a:rPr>
              <a:t>UT DALLAS</a:t>
            </a:r>
            <a:endParaRPr lang="en-US" sz="1979" b="0" u="none" strike="noStrike">
              <a:solidFill>
                <a:srgbClr val="000000"/>
              </a:solidFill>
              <a:effectLst/>
              <a:uFillTx/>
              <a:latin typeface="Arial"/>
            </a:endParaRPr>
          </a:p>
        </p:txBody>
      </p:sp>
      <p:sp>
        <p:nvSpPr>
          <p:cNvPr id="237" name="Text Box 12"/>
          <p:cNvSpPr/>
          <p:nvPr/>
        </p:nvSpPr>
        <p:spPr>
          <a:xfrm>
            <a:off x="2682360" y="136800"/>
            <a:ext cx="6788880" cy="3286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771"/>
              </a:spcBef>
            </a:pPr>
            <a:r>
              <a:rPr lang="en-US" sz="1540" b="0" u="none" strike="noStrike">
                <a:solidFill>
                  <a:srgbClr val="FFFFFF"/>
                </a:solidFill>
                <a:effectLst/>
                <a:uFillTx/>
                <a:latin typeface="Arial"/>
                <a:ea typeface="ＭＳ Ｐゴシック"/>
              </a:rPr>
              <a:t>Erik Jonsson School of Engineering &amp; Computer Science</a:t>
            </a:r>
            <a:endParaRPr lang="en-US" sz="1540" b="0" u="none" strike="noStrike">
              <a:solidFill>
                <a:srgbClr val="000000"/>
              </a:solidFill>
              <a:effectLst/>
              <a:uFillTx/>
              <a:latin typeface="Arial"/>
            </a:endParaRPr>
          </a:p>
        </p:txBody>
      </p:sp>
      <p:sp>
        <p:nvSpPr>
          <p:cNvPr id="238" name="Rectangle 9"/>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9" name="Text Box 14"/>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240" name="Picture 16" descr="utdlogo"/>
          <p:cNvPicPr/>
          <p:nvPr/>
        </p:nvPicPr>
        <p:blipFill>
          <a:blip r:embed="rId2"/>
          <a:stretch/>
        </p:blipFill>
        <p:spPr>
          <a:xfrm>
            <a:off x="9304200" y="7254360"/>
            <a:ext cx="619200" cy="272880"/>
          </a:xfrm>
          <a:prstGeom prst="rect">
            <a:avLst/>
          </a:prstGeom>
          <a:noFill/>
          <a:ln w="9525">
            <a:noFill/>
          </a:ln>
        </p:spPr>
      </p:pic>
      <p:sp>
        <p:nvSpPr>
          <p:cNvPr id="241" name="Line 17"/>
          <p:cNvSpPr/>
          <p:nvPr/>
        </p:nvSpPr>
        <p:spPr>
          <a:xfrm>
            <a:off x="0" y="708120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242" name="PlaceHolder 1"/>
          <p:cNvSpPr>
            <a:spLocks noGrp="1"/>
          </p:cNvSpPr>
          <p:nvPr>
            <p:ph type="title"/>
          </p:nvPr>
        </p:nvSpPr>
        <p:spPr>
          <a:xfrm>
            <a:off x="754560" y="1986120"/>
            <a:ext cx="8548920" cy="1294560"/>
          </a:xfrm>
          <a:prstGeom prst="rect">
            <a:avLst/>
          </a:prstGeom>
          <a:noFill/>
          <a:ln w="9360">
            <a:noFill/>
          </a:ln>
        </p:spPr>
        <p:txBody>
          <a:bodyPr lIns="91440" tIns="45720" rIns="91440" bIns="45720" numCol="1" spcCol="0" anchor="ctr">
            <a:noAutofit/>
          </a:bodyPr>
          <a:lstStyle/>
          <a:p>
            <a:pPr indent="0" algn="ctr">
              <a:lnSpc>
                <a:spcPct val="100000"/>
              </a:lnSpc>
              <a:buNone/>
              <a:tabLst>
                <a:tab pos="0" algn="l"/>
              </a:tabLst>
            </a:pPr>
            <a:r>
              <a:rPr lang="en-US" sz="3959" b="1" u="none" strike="noStrike">
                <a:solidFill>
                  <a:schemeClr val="dk1"/>
                </a:solidFill>
                <a:effectLst/>
                <a:uFillTx/>
                <a:latin typeface="Arial"/>
                <a:ea typeface="Osaka"/>
              </a:rPr>
              <a:t>Click to edit Master title style</a:t>
            </a:r>
            <a:endParaRPr lang="en-US" sz="3959" b="0" u="none" strike="noStrike">
              <a:solidFill>
                <a:srgbClr val="000000"/>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6C9D30"/>
        </a:solidFill>
        <a:effectLst/>
      </p:bgPr>
    </p:bg>
    <p:spTree>
      <p:nvGrpSpPr>
        <p:cNvPr id="1" name=""/>
        <p:cNvGrpSpPr/>
        <p:nvPr/>
      </p:nvGrpSpPr>
      <p:grpSpPr>
        <a:xfrm>
          <a:off x="0" y="0"/>
          <a:ext cx="0" cy="0"/>
          <a:chOff x="0" y="0"/>
          <a:chExt cx="0" cy="0"/>
        </a:xfrm>
      </p:grpSpPr>
      <p:sp>
        <p:nvSpPr>
          <p:cNvPr id="24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4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45" name="Picture 24" descr="utdlogo"/>
          <p:cNvPicPr/>
          <p:nvPr/>
        </p:nvPicPr>
        <p:blipFill>
          <a:blip r:embed="rId2"/>
          <a:stretch/>
        </p:blipFill>
        <p:spPr>
          <a:xfrm>
            <a:off x="9304200" y="7254360"/>
            <a:ext cx="619200" cy="272880"/>
          </a:xfrm>
          <a:prstGeom prst="rect">
            <a:avLst/>
          </a:prstGeom>
          <a:noFill/>
          <a:ln w="9525">
            <a:noFill/>
          </a:ln>
        </p:spPr>
      </p:pic>
      <p:sp>
        <p:nvSpPr>
          <p:cNvPr id="24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4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48" name="PlaceHolder 2"/>
          <p:cNvSpPr>
            <a:spLocks noGrp="1"/>
          </p:cNvSpPr>
          <p:nvPr>
            <p:ph type="body"/>
          </p:nvPr>
        </p:nvSpPr>
        <p:spPr>
          <a:xfrm>
            <a:off x="754560" y="1813680"/>
            <a:ext cx="8548920" cy="353988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6C9D30"/>
        </a:solidFill>
        <a:effectLst/>
      </p:bgPr>
    </p:bg>
    <p:spTree>
      <p:nvGrpSpPr>
        <p:cNvPr id="1" name=""/>
        <p:cNvGrpSpPr/>
        <p:nvPr/>
      </p:nvGrpSpPr>
      <p:grpSpPr>
        <a:xfrm>
          <a:off x="0" y="0"/>
          <a:ext cx="0" cy="0"/>
          <a:chOff x="0" y="0"/>
          <a:chExt cx="0" cy="0"/>
        </a:xfrm>
      </p:grpSpPr>
      <p:sp>
        <p:nvSpPr>
          <p:cNvPr id="249"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0"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51" name="Picture 24" descr="utdlogo"/>
          <p:cNvPicPr/>
          <p:nvPr/>
        </p:nvPicPr>
        <p:blipFill>
          <a:blip r:embed="rId2"/>
          <a:stretch/>
        </p:blipFill>
        <p:spPr>
          <a:xfrm>
            <a:off x="9304200" y="7254360"/>
            <a:ext cx="619200" cy="272880"/>
          </a:xfrm>
          <a:prstGeom prst="rect">
            <a:avLst/>
          </a:prstGeom>
          <a:noFill/>
          <a:ln w="9525">
            <a:noFill/>
          </a:ln>
        </p:spPr>
      </p:pic>
      <p:sp>
        <p:nvSpPr>
          <p:cNvPr id="252"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3" name="PlaceHolder 1"/>
          <p:cNvSpPr>
            <a:spLocks noGrp="1"/>
          </p:cNvSpPr>
          <p:nvPr>
            <p:ph type="title"/>
          </p:nvPr>
        </p:nvSpPr>
        <p:spPr>
          <a:xfrm>
            <a:off x="7166520" y="172800"/>
            <a:ext cx="2136600" cy="5180760"/>
          </a:xfrm>
          <a:prstGeom prst="rect">
            <a:avLst/>
          </a:prstGeom>
          <a:noFill/>
          <a:ln w="9360">
            <a:noFill/>
          </a:ln>
        </p:spPr>
        <p:txBody>
          <a:bodyPr vert="eaVert"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54" name="PlaceHolder 2"/>
          <p:cNvSpPr>
            <a:spLocks noGrp="1"/>
          </p:cNvSpPr>
          <p:nvPr>
            <p:ph type="body"/>
          </p:nvPr>
        </p:nvSpPr>
        <p:spPr>
          <a:xfrm>
            <a:off x="754560" y="172800"/>
            <a:ext cx="6243840" cy="518076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bg>
      <p:bgPr>
        <a:solidFill>
          <a:srgbClr val="6C9D30"/>
        </a:solidFill>
        <a:effectLst/>
      </p:bgPr>
    </p:bg>
    <p:spTree>
      <p:nvGrpSpPr>
        <p:cNvPr id="1" name=""/>
        <p:cNvGrpSpPr/>
        <p:nvPr/>
      </p:nvGrpSpPr>
      <p:grpSpPr>
        <a:xfrm>
          <a:off x="0" y="0"/>
          <a:ext cx="0" cy="0"/>
          <a:chOff x="0" y="0"/>
          <a:chExt cx="0" cy="0"/>
        </a:xfrm>
      </p:grpSpPr>
      <p:sp>
        <p:nvSpPr>
          <p:cNvPr id="25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57" name="Picture 24" descr="utdlogo"/>
          <p:cNvPicPr/>
          <p:nvPr/>
        </p:nvPicPr>
        <p:blipFill>
          <a:blip r:embed="rId2"/>
          <a:stretch/>
        </p:blipFill>
        <p:spPr>
          <a:xfrm>
            <a:off x="9304200" y="7254360"/>
            <a:ext cx="619200" cy="272880"/>
          </a:xfrm>
          <a:prstGeom prst="rect">
            <a:avLst/>
          </a:prstGeom>
          <a:noFill/>
          <a:ln w="9525">
            <a:noFill/>
          </a:ln>
        </p:spPr>
      </p:pic>
      <p:sp>
        <p:nvSpPr>
          <p:cNvPr id="25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60"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61" name="PlaceHolder 3"/>
          <p:cNvSpPr>
            <a:spLocks noGrp="1"/>
          </p:cNvSpPr>
          <p:nvPr>
            <p:ph type="body"/>
          </p:nvPr>
        </p:nvSpPr>
        <p:spPr>
          <a:xfrm>
            <a:off x="5113080" y="181368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62" name="PlaceHolder 4"/>
          <p:cNvSpPr>
            <a:spLocks noGrp="1"/>
          </p:cNvSpPr>
          <p:nvPr>
            <p:ph type="body"/>
          </p:nvPr>
        </p:nvSpPr>
        <p:spPr>
          <a:xfrm>
            <a:off x="5113080" y="367020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itle and Table">
    <p:bg>
      <p:bgPr>
        <a:solidFill>
          <a:srgbClr val="6C9D30"/>
        </a:solidFill>
        <a:effectLst/>
      </p:bgPr>
    </p:bg>
    <p:spTree>
      <p:nvGrpSpPr>
        <p:cNvPr id="1" name=""/>
        <p:cNvGrpSpPr/>
        <p:nvPr/>
      </p:nvGrpSpPr>
      <p:grpSpPr>
        <a:xfrm>
          <a:off x="0" y="0"/>
          <a:ext cx="0" cy="0"/>
          <a:chOff x="0" y="0"/>
          <a:chExt cx="0" cy="0"/>
        </a:xfrm>
      </p:grpSpPr>
      <p:sp>
        <p:nvSpPr>
          <p:cNvPr id="26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6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65" name="Picture 24" descr="utdlogo"/>
          <p:cNvPicPr/>
          <p:nvPr/>
        </p:nvPicPr>
        <p:blipFill>
          <a:blip r:embed="rId2"/>
          <a:stretch/>
        </p:blipFill>
        <p:spPr>
          <a:xfrm>
            <a:off x="9304200" y="7254360"/>
            <a:ext cx="619200" cy="272880"/>
          </a:xfrm>
          <a:prstGeom prst="rect">
            <a:avLst/>
          </a:prstGeom>
          <a:noFill/>
          <a:ln w="9525">
            <a:noFill/>
          </a:ln>
        </p:spPr>
      </p:pic>
      <p:sp>
        <p:nvSpPr>
          <p:cNvPr id="26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6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68" name="PlaceHolder 2"/>
          <p:cNvSpPr>
            <a:spLocks noGrp="1"/>
          </p:cNvSpPr>
          <p:nvPr>
            <p:ph type="body"/>
          </p:nvPr>
        </p:nvSpPr>
        <p:spPr>
          <a:xfrm>
            <a:off x="754560" y="1813680"/>
            <a:ext cx="8548920" cy="353988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1800" b="0" u="none" strike="noStrike">
                <a:solidFill>
                  <a:schemeClr val="dk1"/>
                </a:solidFill>
                <a:effectLst/>
                <a:uFillTx/>
                <a:latin typeface="Arial"/>
                <a:ea typeface="Osaka"/>
              </a:rPr>
              <a:t>Click icon to add table</a:t>
            </a:r>
            <a:endParaRPr lang="en-US" sz="1800" b="0" u="none" strike="noStrike">
              <a:solidFill>
                <a:srgbClr val="FFFFFF"/>
              </a:solidFill>
              <a:effectLst/>
              <a:uFillTx/>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Default 1">
    <p:bg>
      <p:bgPr>
        <a:solidFill>
          <a:srgbClr val="6C9D30"/>
        </a:solidFill>
        <a:effectLst/>
      </p:bgPr>
    </p:bg>
    <p:spTree>
      <p:nvGrpSpPr>
        <p:cNvPr id="1" name=""/>
        <p:cNvGrpSpPr/>
        <p:nvPr/>
      </p:nvGrpSpPr>
      <p:grpSpPr>
        <a:xfrm>
          <a:off x="0" y="0"/>
          <a:ext cx="0" cy="0"/>
          <a:chOff x="0" y="0"/>
          <a:chExt cx="0" cy="0"/>
        </a:xfrm>
      </p:grpSpPr>
      <p:sp>
        <p:nvSpPr>
          <p:cNvPr id="269"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0"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71" name="Picture 24" descr="utdlogo"/>
          <p:cNvPicPr/>
          <p:nvPr/>
        </p:nvPicPr>
        <p:blipFill>
          <a:blip r:embed="rId2"/>
          <a:stretch/>
        </p:blipFill>
        <p:spPr>
          <a:xfrm>
            <a:off x="9304200" y="7254360"/>
            <a:ext cx="619200" cy="272880"/>
          </a:xfrm>
          <a:prstGeom prst="rect">
            <a:avLst/>
          </a:prstGeom>
          <a:noFill/>
          <a:ln w="9525">
            <a:noFill/>
          </a:ln>
        </p:spPr>
      </p:pic>
      <p:sp>
        <p:nvSpPr>
          <p:cNvPr id="272"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3"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74" name="PlaceHolder 2"/>
          <p:cNvSpPr>
            <a:spLocks noGrp="1"/>
          </p:cNvSpPr>
          <p:nvPr>
            <p:ph type="body"/>
          </p:nvPr>
        </p:nvSpPr>
        <p:spPr>
          <a:xfrm>
            <a:off x="754560" y="1813680"/>
            <a:ext cx="854892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6C9D30"/>
        </a:solidFill>
        <a:effectLst/>
      </p:bgPr>
    </p:bg>
    <p:spTree>
      <p:nvGrpSpPr>
        <p:cNvPr id="1" name=""/>
        <p:cNvGrpSpPr/>
        <p:nvPr/>
      </p:nvGrpSpPr>
      <p:grpSpPr>
        <a:xfrm>
          <a:off x="0" y="0"/>
          <a:ext cx="0" cy="0"/>
          <a:chOff x="0" y="0"/>
          <a:chExt cx="0" cy="0"/>
        </a:xfrm>
      </p:grpSpPr>
      <p:sp>
        <p:nvSpPr>
          <p:cNvPr id="27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77" name="Picture 24" descr="utdlogo"/>
          <p:cNvPicPr/>
          <p:nvPr/>
        </p:nvPicPr>
        <p:blipFill>
          <a:blip r:embed="rId2"/>
          <a:stretch/>
        </p:blipFill>
        <p:spPr>
          <a:xfrm>
            <a:off x="9304200" y="7254360"/>
            <a:ext cx="619200" cy="272880"/>
          </a:xfrm>
          <a:prstGeom prst="rect">
            <a:avLst/>
          </a:prstGeom>
          <a:noFill/>
          <a:ln w="9525">
            <a:noFill/>
          </a:ln>
        </p:spPr>
      </p:pic>
      <p:sp>
        <p:nvSpPr>
          <p:cNvPr id="27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9" name="PlaceHolder 1"/>
          <p:cNvSpPr>
            <a:spLocks noGrp="1"/>
          </p:cNvSpPr>
          <p:nvPr>
            <p:ph type="title"/>
          </p:nvPr>
        </p:nvSpPr>
        <p:spPr>
          <a:xfrm>
            <a:off x="794520" y="4994640"/>
            <a:ext cx="8548920" cy="1542960"/>
          </a:xfrm>
          <a:prstGeom prst="rect">
            <a:avLst/>
          </a:prstGeom>
          <a:noFill/>
          <a:ln w="9360">
            <a:noFill/>
          </a:ln>
        </p:spPr>
        <p:txBody>
          <a:bodyPr lIns="91440" tIns="45720" rIns="91440" bIns="45720" numCol="1" spcCol="0" anchor="t">
            <a:noAutofit/>
          </a:bodyPr>
          <a:lstStyle/>
          <a:p>
            <a:pPr indent="0">
              <a:lnSpc>
                <a:spcPct val="100000"/>
              </a:lnSpc>
              <a:buNone/>
              <a:tabLst>
                <a:tab pos="0" algn="l"/>
              </a:tabLst>
            </a:pPr>
            <a:r>
              <a:rPr lang="en-US" sz="4400" b="1" u="none" strike="noStrike" cap="all">
                <a:solidFill>
                  <a:schemeClr val="lt1"/>
                </a:solidFill>
                <a:effectLst/>
                <a:uFillTx/>
                <a:latin typeface="Arial"/>
                <a:ea typeface="Osaka"/>
              </a:rPr>
              <a:t>Click to edit Master title style</a:t>
            </a:r>
            <a:endParaRPr lang="en-US" sz="4400" b="0" u="none" strike="noStrike">
              <a:solidFill>
                <a:srgbClr val="FFFFFF"/>
              </a:solidFill>
              <a:effectLst/>
              <a:uFillTx/>
              <a:latin typeface="Arial"/>
            </a:endParaRPr>
          </a:p>
        </p:txBody>
      </p:sp>
      <p:sp>
        <p:nvSpPr>
          <p:cNvPr id="280" name="PlaceHolder 2"/>
          <p:cNvSpPr>
            <a:spLocks noGrp="1"/>
          </p:cNvSpPr>
          <p:nvPr>
            <p:ph type="body"/>
          </p:nvPr>
        </p:nvSpPr>
        <p:spPr>
          <a:xfrm>
            <a:off x="794520" y="3294360"/>
            <a:ext cx="8548920" cy="1699560"/>
          </a:xfrm>
          <a:prstGeom prst="rect">
            <a:avLst/>
          </a:prstGeom>
          <a:noFill/>
          <a:ln w="9360">
            <a:noFill/>
          </a:ln>
        </p:spPr>
        <p:txBody>
          <a:bodyPr lIns="91440" tIns="45720" rIns="91440" bIns="45720" numCol="1" spcCol="0" anchor="b">
            <a:noAutofit/>
          </a:bodyPr>
          <a:lstStyle/>
          <a:p>
            <a:pPr indent="0">
              <a:lnSpc>
                <a:spcPct val="100000"/>
              </a:lnSpc>
              <a:spcBef>
                <a:spcPts val="439"/>
              </a:spcBef>
              <a:buNone/>
              <a:tabLst>
                <a:tab pos="0" algn="l"/>
              </a:tabLst>
            </a:pPr>
            <a:r>
              <a:rPr lang="en-US" sz="2200" b="0" u="none" strike="noStrike">
                <a:solidFill>
                  <a:schemeClr val="dk1"/>
                </a:solidFill>
                <a:effectLst/>
                <a:uFillTx/>
                <a:latin typeface="Arial"/>
                <a:ea typeface="Osaka"/>
              </a:rPr>
              <a:t>Click to edit Master text styles</a:t>
            </a:r>
            <a:endParaRPr lang="en-US" sz="2200" b="0" u="none" strike="noStrike">
              <a:solidFill>
                <a:srgbClr val="FFFFFF"/>
              </a:solidFill>
              <a:effectLst/>
              <a:uFillTx/>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Default 2">
    <p:bg>
      <p:bgPr>
        <a:solidFill>
          <a:srgbClr val="6C9D30"/>
        </a:solidFill>
        <a:effectLst/>
      </p:bgPr>
    </p:bg>
    <p:spTree>
      <p:nvGrpSpPr>
        <p:cNvPr id="1" name=""/>
        <p:cNvGrpSpPr/>
        <p:nvPr/>
      </p:nvGrpSpPr>
      <p:grpSpPr>
        <a:xfrm>
          <a:off x="0" y="0"/>
          <a:ext cx="0" cy="0"/>
          <a:chOff x="0" y="0"/>
          <a:chExt cx="0" cy="0"/>
        </a:xfrm>
      </p:grpSpPr>
      <p:sp>
        <p:nvSpPr>
          <p:cNvPr id="28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83" name="Picture 24" descr="utdlogo"/>
          <p:cNvPicPr/>
          <p:nvPr/>
        </p:nvPicPr>
        <p:blipFill>
          <a:blip r:embed="rId2"/>
          <a:stretch/>
        </p:blipFill>
        <p:spPr>
          <a:xfrm>
            <a:off x="9304200" y="7254360"/>
            <a:ext cx="619200" cy="272880"/>
          </a:xfrm>
          <a:prstGeom prst="rect">
            <a:avLst/>
          </a:prstGeom>
          <a:noFill/>
          <a:ln w="9525">
            <a:noFill/>
          </a:ln>
        </p:spPr>
      </p:pic>
      <p:sp>
        <p:nvSpPr>
          <p:cNvPr id="28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5"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86"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
        <p:nvSpPr>
          <p:cNvPr id="287" name="PlaceHolder 3"/>
          <p:cNvSpPr>
            <a:spLocks noGrp="1"/>
          </p:cNvSpPr>
          <p:nvPr>
            <p:ph type="body"/>
          </p:nvPr>
        </p:nvSpPr>
        <p:spPr>
          <a:xfrm>
            <a:off x="511308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Default 13">
    <p:bg>
      <p:bgPr>
        <a:solidFill>
          <a:srgbClr val="6C9D30"/>
        </a:solidFill>
        <a:effectLst/>
      </p:bgPr>
    </p:bg>
    <p:spTree>
      <p:nvGrpSpPr>
        <p:cNvPr id="1" name=""/>
        <p:cNvGrpSpPr/>
        <p:nvPr/>
      </p:nvGrpSpPr>
      <p:grpSpPr>
        <a:xfrm>
          <a:off x="0" y="0"/>
          <a:ext cx="0" cy="0"/>
          <a:chOff x="0" y="0"/>
          <a:chExt cx="0" cy="0"/>
        </a:xfrm>
      </p:grpSpPr>
      <p:sp>
        <p:nvSpPr>
          <p:cNvPr id="288"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9"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90" name="Picture 24" descr="utdlogo"/>
          <p:cNvPicPr/>
          <p:nvPr/>
        </p:nvPicPr>
        <p:blipFill>
          <a:blip r:embed="rId2"/>
          <a:stretch/>
        </p:blipFill>
        <p:spPr>
          <a:xfrm>
            <a:off x="9304200" y="7254360"/>
            <a:ext cx="619200" cy="272880"/>
          </a:xfrm>
          <a:prstGeom prst="rect">
            <a:avLst/>
          </a:prstGeom>
          <a:noFill/>
          <a:ln w="9525">
            <a:noFill/>
          </a:ln>
        </p:spPr>
      </p:pic>
      <p:sp>
        <p:nvSpPr>
          <p:cNvPr id="291"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92" name="PlaceHolder 1"/>
          <p:cNvSpPr>
            <a:spLocks noGrp="1"/>
          </p:cNvSpPr>
          <p:nvPr>
            <p:ph type="title"/>
          </p:nvPr>
        </p:nvSpPr>
        <p:spPr>
          <a:xfrm>
            <a:off x="502920" y="311400"/>
            <a:ext cx="9051840" cy="129456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93" name="PlaceHolder 2"/>
          <p:cNvSpPr>
            <a:spLocks noGrp="1"/>
          </p:cNvSpPr>
          <p:nvPr>
            <p:ph type="body"/>
          </p:nvPr>
        </p:nvSpPr>
        <p:spPr>
          <a:xfrm>
            <a:off x="502920" y="1739880"/>
            <a:ext cx="44434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94" name="PlaceHolder 3"/>
          <p:cNvSpPr>
            <a:spLocks noGrp="1"/>
          </p:cNvSpPr>
          <p:nvPr>
            <p:ph type="body"/>
          </p:nvPr>
        </p:nvSpPr>
        <p:spPr>
          <a:xfrm>
            <a:off x="502920" y="2464920"/>
            <a:ext cx="44434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95" name="PlaceHolder 4"/>
          <p:cNvSpPr>
            <a:spLocks noGrp="1"/>
          </p:cNvSpPr>
          <p:nvPr>
            <p:ph type="body"/>
          </p:nvPr>
        </p:nvSpPr>
        <p:spPr>
          <a:xfrm>
            <a:off x="5109480" y="1739880"/>
            <a:ext cx="44452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96" name="PlaceHolder 5"/>
          <p:cNvSpPr>
            <a:spLocks noGrp="1"/>
          </p:cNvSpPr>
          <p:nvPr>
            <p:ph type="body"/>
          </p:nvPr>
        </p:nvSpPr>
        <p:spPr>
          <a:xfrm>
            <a:off x="5109480" y="2464920"/>
            <a:ext cx="44452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Default 14">
    <p:bg>
      <p:bgPr>
        <a:solidFill>
          <a:srgbClr val="6C9D30"/>
        </a:solidFill>
        <a:effectLst/>
      </p:bgPr>
    </p:bg>
    <p:spTree>
      <p:nvGrpSpPr>
        <p:cNvPr id="1" name=""/>
        <p:cNvGrpSpPr/>
        <p:nvPr/>
      </p:nvGrpSpPr>
      <p:grpSpPr>
        <a:xfrm>
          <a:off x="0" y="0"/>
          <a:ext cx="0" cy="0"/>
          <a:chOff x="0" y="0"/>
          <a:chExt cx="0" cy="0"/>
        </a:xfrm>
      </p:grpSpPr>
      <p:sp>
        <p:nvSpPr>
          <p:cNvPr id="29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9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99" name="Picture 24" descr="utdlogo"/>
          <p:cNvPicPr/>
          <p:nvPr/>
        </p:nvPicPr>
        <p:blipFill>
          <a:blip r:embed="rId2"/>
          <a:stretch/>
        </p:blipFill>
        <p:spPr>
          <a:xfrm>
            <a:off x="9304200" y="7254360"/>
            <a:ext cx="619200" cy="272880"/>
          </a:xfrm>
          <a:prstGeom prst="rect">
            <a:avLst/>
          </a:prstGeom>
          <a:noFill/>
          <a:ln w="9525">
            <a:noFill/>
          </a:ln>
        </p:spPr>
      </p:pic>
      <p:sp>
        <p:nvSpPr>
          <p:cNvPr id="30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1"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Default 15">
    <p:bg>
      <p:bgPr>
        <a:solidFill>
          <a:srgbClr val="6C9D30"/>
        </a:solidFill>
        <a:effectLst/>
      </p:bgPr>
    </p:bg>
    <p:spTree>
      <p:nvGrpSpPr>
        <p:cNvPr id="1" name=""/>
        <p:cNvGrpSpPr/>
        <p:nvPr/>
      </p:nvGrpSpPr>
      <p:grpSpPr>
        <a:xfrm>
          <a:off x="0" y="0"/>
          <a:ext cx="0" cy="0"/>
          <a:chOff x="0" y="0"/>
          <a:chExt cx="0" cy="0"/>
        </a:xfrm>
      </p:grpSpPr>
      <p:sp>
        <p:nvSpPr>
          <p:cNvPr id="302"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3"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04" name="Picture 24" descr="utdlogo"/>
          <p:cNvPicPr/>
          <p:nvPr/>
        </p:nvPicPr>
        <p:blipFill>
          <a:blip r:embed="rId2"/>
          <a:stretch/>
        </p:blipFill>
        <p:spPr>
          <a:xfrm>
            <a:off x="9304200" y="7254360"/>
            <a:ext cx="619200" cy="272880"/>
          </a:xfrm>
          <a:prstGeom prst="rect">
            <a:avLst/>
          </a:prstGeom>
          <a:noFill/>
          <a:ln w="9525">
            <a:noFill/>
          </a:ln>
        </p:spPr>
      </p:pic>
      <p:sp>
        <p:nvSpPr>
          <p:cNvPr id="305"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Default 16">
    <p:bg>
      <p:bgPr>
        <a:solidFill>
          <a:srgbClr val="6C9D30"/>
        </a:solidFill>
        <a:effectLst/>
      </p:bgPr>
    </p:bg>
    <p:spTree>
      <p:nvGrpSpPr>
        <p:cNvPr id="1" name=""/>
        <p:cNvGrpSpPr/>
        <p:nvPr/>
      </p:nvGrpSpPr>
      <p:grpSpPr>
        <a:xfrm>
          <a:off x="0" y="0"/>
          <a:ext cx="0" cy="0"/>
          <a:chOff x="0" y="0"/>
          <a:chExt cx="0" cy="0"/>
        </a:xfrm>
      </p:grpSpPr>
      <p:sp>
        <p:nvSpPr>
          <p:cNvPr id="306"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7"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08" name="Picture 24" descr="utdlogo"/>
          <p:cNvPicPr/>
          <p:nvPr/>
        </p:nvPicPr>
        <p:blipFill>
          <a:blip r:embed="rId2"/>
          <a:stretch/>
        </p:blipFill>
        <p:spPr>
          <a:xfrm>
            <a:off x="9304200" y="7254360"/>
            <a:ext cx="619200" cy="272880"/>
          </a:xfrm>
          <a:prstGeom prst="rect">
            <a:avLst/>
          </a:prstGeom>
          <a:noFill/>
          <a:ln w="9525">
            <a:noFill/>
          </a:ln>
        </p:spPr>
      </p:pic>
      <p:sp>
        <p:nvSpPr>
          <p:cNvPr id="309"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0" name="PlaceHolder 1"/>
          <p:cNvSpPr>
            <a:spLocks noGrp="1"/>
          </p:cNvSpPr>
          <p:nvPr>
            <p:ph type="title"/>
          </p:nvPr>
        </p:nvSpPr>
        <p:spPr>
          <a:xfrm>
            <a:off x="502920" y="309600"/>
            <a:ext cx="3308400" cy="131616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311" name="PlaceHolder 2"/>
          <p:cNvSpPr>
            <a:spLocks noGrp="1"/>
          </p:cNvSpPr>
          <p:nvPr>
            <p:ph type="body"/>
          </p:nvPr>
        </p:nvSpPr>
        <p:spPr>
          <a:xfrm>
            <a:off x="3932640" y="309600"/>
            <a:ext cx="5622120" cy="6632640"/>
          </a:xfrm>
          <a:prstGeom prst="rect">
            <a:avLst/>
          </a:prstGeom>
          <a:noFill/>
          <a:ln w="9360">
            <a:noFill/>
          </a:ln>
        </p:spPr>
        <p:txBody>
          <a:bodyPr lIns="91440" tIns="45720" rIns="91440" bIns="45720" numCol="1" spcCol="0" anchor="t">
            <a:noAutofit/>
          </a:bodyPr>
          <a:lstStyle/>
          <a:p>
            <a:pPr marL="377280" indent="-377280">
              <a:lnSpc>
                <a:spcPct val="100000"/>
              </a:lnSpc>
              <a:spcBef>
                <a:spcPts val="703"/>
              </a:spcBef>
              <a:buClr>
                <a:srgbClr val="000000"/>
              </a:buClr>
              <a:buFont typeface="Symbol" charset="2"/>
              <a:buChar char=""/>
            </a:pPr>
            <a:r>
              <a:rPr lang="en-US" sz="3520" b="0" u="none" strike="noStrike">
                <a:solidFill>
                  <a:schemeClr val="dk1"/>
                </a:solidFill>
                <a:effectLst/>
                <a:uFillTx/>
                <a:latin typeface="Arial"/>
                <a:ea typeface="Osaka"/>
              </a:rPr>
              <a:t>Click to edit Master text styles</a:t>
            </a:r>
            <a:endParaRPr lang="en-US" sz="3520" b="0" u="none" strike="noStrike">
              <a:solidFill>
                <a:srgbClr val="FFFFFF"/>
              </a:solidFill>
              <a:effectLst/>
              <a:uFillTx/>
              <a:latin typeface="Arial"/>
            </a:endParaRPr>
          </a:p>
          <a:p>
            <a:pPr marL="817200" lvl="1" indent="-314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Second level</a:t>
            </a:r>
            <a:endParaRPr lang="en-US" sz="3080" b="0" u="none" strike="noStrike">
              <a:solidFill>
                <a:srgbClr val="FFFFFF"/>
              </a:solidFill>
              <a:effectLst/>
              <a:uFillTx/>
              <a:latin typeface="Arial"/>
            </a:endParaRPr>
          </a:p>
          <a:p>
            <a:pPr marL="1257480" lvl="2" indent="-25164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Third level</a:t>
            </a:r>
            <a:endParaRPr lang="en-US" sz="2640" b="0" u="none" strike="noStrike">
              <a:solidFill>
                <a:srgbClr val="FFFFFF"/>
              </a:solidFill>
              <a:effectLst/>
              <a:uFillTx/>
              <a:latin typeface="Arial"/>
            </a:endParaRPr>
          </a:p>
          <a:p>
            <a:pPr marL="1760400" lvl="3"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Fourth level</a:t>
            </a:r>
            <a:endParaRPr lang="en-US" sz="2200" b="0" u="none" strike="noStrike">
              <a:solidFill>
                <a:srgbClr val="FFFFFF"/>
              </a:solidFill>
              <a:effectLst/>
              <a:uFillTx/>
              <a:latin typeface="Arial"/>
            </a:endParaRPr>
          </a:p>
          <a:p>
            <a:pPr marL="2263320" lvl="4" indent="-251640">
              <a:lnSpc>
                <a:spcPct val="100000"/>
              </a:lnSpc>
              <a:spcBef>
                <a:spcPts val="439"/>
              </a:spcBef>
              <a:buClr>
                <a:srgbClr val="000000"/>
              </a:buClr>
              <a:buFont typeface="OpenSymbol"/>
              <a:buChar char="»"/>
            </a:pPr>
            <a:r>
              <a:rPr lang="en-US" sz="2200" b="0" u="none" strike="noStrike">
                <a:solidFill>
                  <a:schemeClr val="dk1"/>
                </a:solidFill>
                <a:effectLst/>
                <a:uFillTx/>
                <a:latin typeface="Arial"/>
                <a:ea typeface="Osaka"/>
              </a:rPr>
              <a:t>Fifth level</a:t>
            </a:r>
            <a:endParaRPr lang="en-US" sz="2200" b="0" u="none" strike="noStrike">
              <a:solidFill>
                <a:srgbClr val="FFFFFF"/>
              </a:solidFill>
              <a:effectLst/>
              <a:uFillTx/>
              <a:latin typeface="Arial"/>
            </a:endParaRPr>
          </a:p>
        </p:txBody>
      </p:sp>
      <p:sp>
        <p:nvSpPr>
          <p:cNvPr id="312" name="PlaceHolder 3"/>
          <p:cNvSpPr>
            <a:spLocks noGrp="1"/>
          </p:cNvSpPr>
          <p:nvPr>
            <p:ph type="body"/>
          </p:nvPr>
        </p:nvSpPr>
        <p:spPr>
          <a:xfrm>
            <a:off x="502920" y="1626480"/>
            <a:ext cx="3308400" cy="531576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Default 17">
    <p:bg>
      <p:bgPr>
        <a:solidFill>
          <a:srgbClr val="6C9D30"/>
        </a:solidFill>
        <a:effectLst/>
      </p:bgPr>
    </p:bg>
    <p:spTree>
      <p:nvGrpSpPr>
        <p:cNvPr id="1" name=""/>
        <p:cNvGrpSpPr/>
        <p:nvPr/>
      </p:nvGrpSpPr>
      <p:grpSpPr>
        <a:xfrm>
          <a:off x="0" y="0"/>
          <a:ext cx="0" cy="0"/>
          <a:chOff x="0" y="0"/>
          <a:chExt cx="0" cy="0"/>
        </a:xfrm>
      </p:grpSpPr>
      <p:sp>
        <p:nvSpPr>
          <p:cNvPr id="31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15" name="Picture 24" descr="utdlogo"/>
          <p:cNvPicPr/>
          <p:nvPr/>
        </p:nvPicPr>
        <p:blipFill>
          <a:blip r:embed="rId2"/>
          <a:stretch/>
        </p:blipFill>
        <p:spPr>
          <a:xfrm>
            <a:off x="9304200" y="7254360"/>
            <a:ext cx="619200" cy="272880"/>
          </a:xfrm>
          <a:prstGeom prst="rect">
            <a:avLst/>
          </a:prstGeom>
          <a:noFill/>
          <a:ln w="9525">
            <a:noFill/>
          </a:ln>
        </p:spPr>
      </p:pic>
      <p:sp>
        <p:nvSpPr>
          <p:cNvPr id="31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7" name="PlaceHolder 1"/>
          <p:cNvSpPr>
            <a:spLocks noGrp="1"/>
          </p:cNvSpPr>
          <p:nvPr>
            <p:ph type="title"/>
          </p:nvPr>
        </p:nvSpPr>
        <p:spPr>
          <a:xfrm>
            <a:off x="1971360" y="5440680"/>
            <a:ext cx="6034320" cy="64152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318" name="PlaceHolder 2"/>
          <p:cNvSpPr>
            <a:spLocks noGrp="1"/>
          </p:cNvSpPr>
          <p:nvPr>
            <p:ph type="body"/>
          </p:nvPr>
        </p:nvSpPr>
        <p:spPr>
          <a:xfrm>
            <a:off x="1971360" y="694440"/>
            <a:ext cx="6034320" cy="46627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3520" b="0" u="none" strike="noStrike">
                <a:solidFill>
                  <a:schemeClr val="dk1"/>
                </a:solidFill>
                <a:effectLst/>
                <a:uFillTx/>
                <a:latin typeface="Arial"/>
                <a:ea typeface="Osaka"/>
              </a:rPr>
              <a:t>Click icon to add picture</a:t>
            </a:r>
            <a:endParaRPr lang="en-US" sz="3520" b="0" u="none" strike="noStrike">
              <a:solidFill>
                <a:srgbClr val="FFFFFF"/>
              </a:solidFill>
              <a:effectLst/>
              <a:uFillTx/>
              <a:latin typeface="Arial"/>
            </a:endParaRPr>
          </a:p>
        </p:txBody>
      </p:sp>
      <p:sp>
        <p:nvSpPr>
          <p:cNvPr id="319" name="PlaceHolder 3"/>
          <p:cNvSpPr>
            <a:spLocks noGrp="1"/>
          </p:cNvSpPr>
          <p:nvPr>
            <p:ph type="body"/>
          </p:nvPr>
        </p:nvSpPr>
        <p:spPr>
          <a:xfrm>
            <a:off x="1971360" y="6082920"/>
            <a:ext cx="6034320" cy="91152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Default 5">
    <p:bg>
      <p:bgPr>
        <a:solidFill>
          <a:schemeClr val="lt1"/>
        </a:solidFill>
        <a:effectLst/>
      </p:bgPr>
    </p:bg>
    <p:spTree>
      <p:nvGrpSpPr>
        <p:cNvPr id="1" name=""/>
        <p:cNvGrpSpPr/>
        <p:nvPr/>
      </p:nvGrpSpPr>
      <p:grpSpPr>
        <a:xfrm>
          <a:off x="0" y="0"/>
          <a:ext cx="0" cy="0"/>
          <a:chOff x="0" y="0"/>
          <a:chExt cx="0" cy="0"/>
        </a:xfrm>
      </p:grpSpPr>
      <p:sp>
        <p:nvSpPr>
          <p:cNvPr id="320" name="Rectangle 21" hidden="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1" name="Text Box 22" hidden="1"/>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322" name="Picture 24" descr="utdlogo"/>
          <p:cNvPicPr/>
          <p:nvPr/>
        </p:nvPicPr>
        <p:blipFill>
          <a:blip r:embed="rId2"/>
          <a:stretch/>
        </p:blipFill>
        <p:spPr>
          <a:xfrm>
            <a:off x="9304200" y="7254360"/>
            <a:ext cx="619200" cy="272880"/>
          </a:xfrm>
          <a:prstGeom prst="rect">
            <a:avLst/>
          </a:prstGeom>
          <a:noFill/>
          <a:ln w="9525">
            <a:noFill/>
          </a:ln>
        </p:spPr>
      </p:pic>
      <p:sp>
        <p:nvSpPr>
          <p:cNvPr id="323" name="Rectangle 29" hidden="1"/>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4" name="Rectangle 3"/>
          <p:cNvSpPr/>
          <p:nvPr/>
        </p:nvSpPr>
        <p:spPr>
          <a:xfrm>
            <a:off x="2514600" y="0"/>
            <a:ext cx="7543080" cy="603720"/>
          </a:xfrm>
          <a:prstGeom prst="rect">
            <a:avLst/>
          </a:prstGeom>
          <a:solidFill>
            <a:srgbClr val="6C9D30"/>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5" name="Rectangle 4"/>
          <p:cNvSpPr/>
          <p:nvPr/>
        </p:nvSpPr>
        <p:spPr>
          <a:xfrm>
            <a:off x="0" y="0"/>
            <a:ext cx="2513880" cy="603720"/>
          </a:xfrm>
          <a:prstGeom prst="rect">
            <a:avLst/>
          </a:prstGeom>
          <a:solidFill>
            <a:srgbClr val="E4701D"/>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6" name="Line 9"/>
          <p:cNvSpPr/>
          <p:nvPr/>
        </p:nvSpPr>
        <p:spPr>
          <a:xfrm>
            <a:off x="0" y="60444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327" name="Line 10"/>
          <p:cNvSpPr/>
          <p:nvPr/>
        </p:nvSpPr>
        <p:spPr>
          <a:xfrm>
            <a:off x="2514600" y="0"/>
            <a:ext cx="360" cy="60444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3080" b="0" u="none" strike="noStrike">
              <a:solidFill>
                <a:srgbClr val="000000"/>
              </a:solidFill>
              <a:effectLst/>
              <a:uFillTx/>
              <a:latin typeface="Arial"/>
              <a:ea typeface="ＭＳ Ｐゴシック"/>
            </a:endParaRPr>
          </a:p>
        </p:txBody>
      </p:sp>
      <p:sp>
        <p:nvSpPr>
          <p:cNvPr id="328" name="Text Box 11"/>
          <p:cNvSpPr/>
          <p:nvPr/>
        </p:nvSpPr>
        <p:spPr>
          <a:xfrm>
            <a:off x="381600" y="102600"/>
            <a:ext cx="1625400" cy="396360"/>
          </a:xfrm>
          <a:prstGeom prst="rect">
            <a:avLst/>
          </a:prstGeom>
          <a:noFill/>
          <a:ln w="9525">
            <a:noFill/>
          </a:ln>
          <a:effectLst>
            <a:outerShdw dist="25455" dir="2700000" algn="ctr" rotWithShape="0">
              <a:srgbClr val="808080"/>
            </a:outerShdw>
          </a:effectLst>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979" b="1" u="none" strike="noStrike">
                <a:solidFill>
                  <a:srgbClr val="FFFFFF"/>
                </a:solidFill>
                <a:effectLst/>
                <a:uFillTx/>
                <a:latin typeface="Times New Roman"/>
                <a:ea typeface="ＭＳ Ｐゴシック"/>
              </a:rPr>
              <a:t>UT DALLAS</a:t>
            </a:r>
            <a:endParaRPr lang="en-US" sz="1979" b="0" u="none" strike="noStrike">
              <a:solidFill>
                <a:srgbClr val="000000"/>
              </a:solidFill>
              <a:effectLst/>
              <a:uFillTx/>
              <a:latin typeface="Arial"/>
            </a:endParaRPr>
          </a:p>
        </p:txBody>
      </p:sp>
      <p:sp>
        <p:nvSpPr>
          <p:cNvPr id="329" name="Text Box 12"/>
          <p:cNvSpPr/>
          <p:nvPr/>
        </p:nvSpPr>
        <p:spPr>
          <a:xfrm>
            <a:off x="2682360" y="136800"/>
            <a:ext cx="6788880" cy="3286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771"/>
              </a:spcBef>
            </a:pPr>
            <a:r>
              <a:rPr lang="en-US" sz="1540" b="0" u="none" strike="noStrike">
                <a:solidFill>
                  <a:srgbClr val="FFFFFF"/>
                </a:solidFill>
                <a:effectLst/>
                <a:uFillTx/>
                <a:latin typeface="Arial"/>
                <a:ea typeface="ＭＳ Ｐゴシック"/>
              </a:rPr>
              <a:t>Erik Jonsson School of Engineering &amp; Computer Science</a:t>
            </a:r>
            <a:endParaRPr lang="en-US" sz="1540" b="0" u="none" strike="noStrike">
              <a:solidFill>
                <a:srgbClr val="000000"/>
              </a:solidFill>
              <a:effectLst/>
              <a:uFillTx/>
              <a:latin typeface="Arial"/>
            </a:endParaRPr>
          </a:p>
        </p:txBody>
      </p:sp>
      <p:sp>
        <p:nvSpPr>
          <p:cNvPr id="330" name="Rectangle 9"/>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1" name="Text Box 14"/>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332" name="Picture 16" descr="utdlogo"/>
          <p:cNvPicPr/>
          <p:nvPr/>
        </p:nvPicPr>
        <p:blipFill>
          <a:blip r:embed="rId2"/>
          <a:stretch/>
        </p:blipFill>
        <p:spPr>
          <a:xfrm>
            <a:off x="9304200" y="7254360"/>
            <a:ext cx="619200" cy="272880"/>
          </a:xfrm>
          <a:prstGeom prst="rect">
            <a:avLst/>
          </a:prstGeom>
          <a:noFill/>
          <a:ln w="9525">
            <a:noFill/>
          </a:ln>
        </p:spPr>
      </p:pic>
      <p:sp>
        <p:nvSpPr>
          <p:cNvPr id="333" name="Line 17"/>
          <p:cNvSpPr/>
          <p:nvPr/>
        </p:nvSpPr>
        <p:spPr>
          <a:xfrm>
            <a:off x="0" y="708120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334" name="PlaceHolder 1"/>
          <p:cNvSpPr>
            <a:spLocks noGrp="1"/>
          </p:cNvSpPr>
          <p:nvPr>
            <p:ph type="title"/>
          </p:nvPr>
        </p:nvSpPr>
        <p:spPr>
          <a:xfrm>
            <a:off x="754560" y="1986120"/>
            <a:ext cx="8548920" cy="1294560"/>
          </a:xfrm>
          <a:prstGeom prst="rect">
            <a:avLst/>
          </a:prstGeom>
          <a:noFill/>
          <a:ln w="9360">
            <a:noFill/>
          </a:ln>
        </p:spPr>
        <p:txBody>
          <a:bodyPr lIns="91440" tIns="45720" rIns="91440" bIns="45720" numCol="1" spcCol="0" anchor="ctr">
            <a:noAutofit/>
          </a:bodyPr>
          <a:lstStyle/>
          <a:p>
            <a:pPr indent="0" algn="ctr">
              <a:lnSpc>
                <a:spcPct val="100000"/>
              </a:lnSpc>
              <a:buNone/>
              <a:tabLst>
                <a:tab pos="0" algn="l"/>
              </a:tabLst>
            </a:pPr>
            <a:r>
              <a:rPr lang="en-US" sz="3959" b="1" u="none" strike="noStrike">
                <a:solidFill>
                  <a:schemeClr val="dk1"/>
                </a:solidFill>
                <a:effectLst/>
                <a:uFillTx/>
                <a:latin typeface="Arial"/>
                <a:ea typeface="Osaka"/>
              </a:rPr>
              <a:t>Click to edit Master title style</a:t>
            </a:r>
            <a:endParaRPr lang="en-US" sz="3959" b="0" u="none" strike="noStrike">
              <a:solidFill>
                <a:srgbClr val="000000"/>
              </a:solidFill>
              <a:effectLst/>
              <a:uFillTx/>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Default 6">
    <p:bg>
      <p:bgPr>
        <a:solidFill>
          <a:srgbClr val="6C9D30"/>
        </a:solidFill>
        <a:effectLst/>
      </p:bgPr>
    </p:bg>
    <p:spTree>
      <p:nvGrpSpPr>
        <p:cNvPr id="1" name=""/>
        <p:cNvGrpSpPr/>
        <p:nvPr/>
      </p:nvGrpSpPr>
      <p:grpSpPr>
        <a:xfrm>
          <a:off x="0" y="0"/>
          <a:ext cx="0" cy="0"/>
          <a:chOff x="0" y="0"/>
          <a:chExt cx="0" cy="0"/>
        </a:xfrm>
      </p:grpSpPr>
      <p:sp>
        <p:nvSpPr>
          <p:cNvPr id="33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37" name="Picture 24" descr="utdlogo"/>
          <p:cNvPicPr/>
          <p:nvPr/>
        </p:nvPicPr>
        <p:blipFill>
          <a:blip r:embed="rId2"/>
          <a:stretch/>
        </p:blipFill>
        <p:spPr>
          <a:xfrm>
            <a:off x="9304200" y="7254360"/>
            <a:ext cx="619200" cy="272880"/>
          </a:xfrm>
          <a:prstGeom prst="rect">
            <a:avLst/>
          </a:prstGeom>
          <a:noFill/>
          <a:ln w="9525">
            <a:noFill/>
          </a:ln>
        </p:spPr>
      </p:pic>
      <p:sp>
        <p:nvSpPr>
          <p:cNvPr id="33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40" name="PlaceHolder 2"/>
          <p:cNvSpPr>
            <a:spLocks noGrp="1"/>
          </p:cNvSpPr>
          <p:nvPr>
            <p:ph type="body"/>
          </p:nvPr>
        </p:nvSpPr>
        <p:spPr>
          <a:xfrm>
            <a:off x="754560" y="1813680"/>
            <a:ext cx="8548920" cy="353988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Default 7">
    <p:bg>
      <p:bgPr>
        <a:solidFill>
          <a:srgbClr val="6C9D30"/>
        </a:solidFill>
        <a:effectLst/>
      </p:bgPr>
    </p:bg>
    <p:spTree>
      <p:nvGrpSpPr>
        <p:cNvPr id="1" name=""/>
        <p:cNvGrpSpPr/>
        <p:nvPr/>
      </p:nvGrpSpPr>
      <p:grpSpPr>
        <a:xfrm>
          <a:off x="0" y="0"/>
          <a:ext cx="0" cy="0"/>
          <a:chOff x="0" y="0"/>
          <a:chExt cx="0" cy="0"/>
        </a:xfrm>
      </p:grpSpPr>
      <p:sp>
        <p:nvSpPr>
          <p:cNvPr id="34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43" name="Picture 24" descr="utdlogo"/>
          <p:cNvPicPr/>
          <p:nvPr/>
        </p:nvPicPr>
        <p:blipFill>
          <a:blip r:embed="rId2"/>
          <a:stretch/>
        </p:blipFill>
        <p:spPr>
          <a:xfrm>
            <a:off x="9304200" y="7254360"/>
            <a:ext cx="619200" cy="272880"/>
          </a:xfrm>
          <a:prstGeom prst="rect">
            <a:avLst/>
          </a:prstGeom>
          <a:noFill/>
          <a:ln w="9525">
            <a:noFill/>
          </a:ln>
        </p:spPr>
      </p:pic>
      <p:sp>
        <p:nvSpPr>
          <p:cNvPr id="34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5" name="PlaceHolder 1"/>
          <p:cNvSpPr>
            <a:spLocks noGrp="1"/>
          </p:cNvSpPr>
          <p:nvPr>
            <p:ph type="title"/>
          </p:nvPr>
        </p:nvSpPr>
        <p:spPr>
          <a:xfrm>
            <a:off x="7166520" y="172800"/>
            <a:ext cx="2136600" cy="5180760"/>
          </a:xfrm>
          <a:prstGeom prst="rect">
            <a:avLst/>
          </a:prstGeom>
          <a:noFill/>
          <a:ln w="9360">
            <a:noFill/>
          </a:ln>
        </p:spPr>
        <p:txBody>
          <a:bodyPr vert="eaVert"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46" name="PlaceHolder 2"/>
          <p:cNvSpPr>
            <a:spLocks noGrp="1"/>
          </p:cNvSpPr>
          <p:nvPr>
            <p:ph type="body"/>
          </p:nvPr>
        </p:nvSpPr>
        <p:spPr>
          <a:xfrm>
            <a:off x="754560" y="172800"/>
            <a:ext cx="6243840" cy="518076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TwoObj" preserve="1">
  <p:cSld name="Default 8">
    <p:bg>
      <p:bgPr>
        <a:solidFill>
          <a:srgbClr val="6C9D30"/>
        </a:solidFill>
        <a:effectLst/>
      </p:bgPr>
    </p:bg>
    <p:spTree>
      <p:nvGrpSpPr>
        <p:cNvPr id="1" name=""/>
        <p:cNvGrpSpPr/>
        <p:nvPr/>
      </p:nvGrpSpPr>
      <p:grpSpPr>
        <a:xfrm>
          <a:off x="0" y="0"/>
          <a:ext cx="0" cy="0"/>
          <a:chOff x="0" y="0"/>
          <a:chExt cx="0" cy="0"/>
        </a:xfrm>
      </p:grpSpPr>
      <p:sp>
        <p:nvSpPr>
          <p:cNvPr id="34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49" name="Picture 24" descr="utdlogo"/>
          <p:cNvPicPr/>
          <p:nvPr/>
        </p:nvPicPr>
        <p:blipFill>
          <a:blip r:embed="rId2"/>
          <a:stretch/>
        </p:blipFill>
        <p:spPr>
          <a:xfrm>
            <a:off x="9304200" y="7254360"/>
            <a:ext cx="619200" cy="272880"/>
          </a:xfrm>
          <a:prstGeom prst="rect">
            <a:avLst/>
          </a:prstGeom>
          <a:noFill/>
          <a:ln w="9525">
            <a:noFill/>
          </a:ln>
        </p:spPr>
      </p:pic>
      <p:sp>
        <p:nvSpPr>
          <p:cNvPr id="35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1"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52"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353" name="PlaceHolder 3"/>
          <p:cNvSpPr>
            <a:spLocks noGrp="1"/>
          </p:cNvSpPr>
          <p:nvPr>
            <p:ph type="body"/>
          </p:nvPr>
        </p:nvSpPr>
        <p:spPr>
          <a:xfrm>
            <a:off x="5113080" y="181368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354" name="PlaceHolder 4"/>
          <p:cNvSpPr>
            <a:spLocks noGrp="1"/>
          </p:cNvSpPr>
          <p:nvPr>
            <p:ph type="body"/>
          </p:nvPr>
        </p:nvSpPr>
        <p:spPr>
          <a:xfrm>
            <a:off x="5113080" y="367020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bl" preserve="1">
  <p:cSld name="Default 9">
    <p:bg>
      <p:bgPr>
        <a:solidFill>
          <a:srgbClr val="6C9D30"/>
        </a:solidFill>
        <a:effectLst/>
      </p:bgPr>
    </p:bg>
    <p:spTree>
      <p:nvGrpSpPr>
        <p:cNvPr id="1" name=""/>
        <p:cNvGrpSpPr/>
        <p:nvPr/>
      </p:nvGrpSpPr>
      <p:grpSpPr>
        <a:xfrm>
          <a:off x="0" y="0"/>
          <a:ext cx="0" cy="0"/>
          <a:chOff x="0" y="0"/>
          <a:chExt cx="0" cy="0"/>
        </a:xfrm>
      </p:grpSpPr>
      <p:sp>
        <p:nvSpPr>
          <p:cNvPr id="35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57" name="Picture 24" descr="utdlogo"/>
          <p:cNvPicPr/>
          <p:nvPr/>
        </p:nvPicPr>
        <p:blipFill>
          <a:blip r:embed="rId2"/>
          <a:stretch/>
        </p:blipFill>
        <p:spPr>
          <a:xfrm>
            <a:off x="9304200" y="7254360"/>
            <a:ext cx="619200" cy="272880"/>
          </a:xfrm>
          <a:prstGeom prst="rect">
            <a:avLst/>
          </a:prstGeom>
          <a:noFill/>
          <a:ln w="9525">
            <a:noFill/>
          </a:ln>
        </p:spPr>
      </p:pic>
      <p:sp>
        <p:nvSpPr>
          <p:cNvPr id="35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60" name="PlaceHolder 2"/>
          <p:cNvSpPr>
            <a:spLocks noGrp="1"/>
          </p:cNvSpPr>
          <p:nvPr>
            <p:ph type="body"/>
          </p:nvPr>
        </p:nvSpPr>
        <p:spPr>
          <a:xfrm>
            <a:off x="754560" y="1813680"/>
            <a:ext cx="8548920" cy="353988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1800" b="0" u="none" strike="noStrike">
                <a:solidFill>
                  <a:schemeClr val="dk1"/>
                </a:solidFill>
                <a:effectLst/>
                <a:uFillTx/>
                <a:latin typeface="Arial"/>
                <a:ea typeface="Osaka"/>
              </a:rPr>
              <a:t>Click icon to add table</a:t>
            </a:r>
            <a:endParaRPr lang="en-US" sz="1800" b="0" u="none" strike="noStrike">
              <a:solidFill>
                <a:srgbClr val="FFFFFF"/>
              </a:solidFill>
              <a:effectLst/>
              <a:uFillTx/>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Default 10">
    <p:bg>
      <p:bgPr>
        <a:solidFill>
          <a:srgbClr val="6C9D30"/>
        </a:solidFill>
        <a:effectLst/>
      </p:bgPr>
    </p:bg>
    <p:spTree>
      <p:nvGrpSpPr>
        <p:cNvPr id="1" name=""/>
        <p:cNvGrpSpPr/>
        <p:nvPr/>
      </p:nvGrpSpPr>
      <p:grpSpPr>
        <a:xfrm>
          <a:off x="0" y="0"/>
          <a:ext cx="0" cy="0"/>
          <a:chOff x="0" y="0"/>
          <a:chExt cx="0" cy="0"/>
        </a:xfrm>
      </p:grpSpPr>
      <p:sp>
        <p:nvSpPr>
          <p:cNvPr id="36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63" name="Picture 24" descr="utdlogo"/>
          <p:cNvPicPr/>
          <p:nvPr/>
        </p:nvPicPr>
        <p:blipFill>
          <a:blip r:embed="rId2"/>
          <a:stretch/>
        </p:blipFill>
        <p:spPr>
          <a:xfrm>
            <a:off x="9304200" y="7254360"/>
            <a:ext cx="619200" cy="272880"/>
          </a:xfrm>
          <a:prstGeom prst="rect">
            <a:avLst/>
          </a:prstGeom>
          <a:noFill/>
          <a:ln w="9525">
            <a:noFill/>
          </a:ln>
        </p:spPr>
      </p:pic>
      <p:sp>
        <p:nvSpPr>
          <p:cNvPr id="36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5"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66" name="PlaceHolder 2"/>
          <p:cNvSpPr>
            <a:spLocks noGrp="1"/>
          </p:cNvSpPr>
          <p:nvPr>
            <p:ph type="body"/>
          </p:nvPr>
        </p:nvSpPr>
        <p:spPr>
          <a:xfrm>
            <a:off x="754560" y="1813680"/>
            <a:ext cx="854892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Default 11">
    <p:bg>
      <p:bgPr>
        <a:solidFill>
          <a:srgbClr val="6C9D30"/>
        </a:solidFill>
        <a:effectLst/>
      </p:bgPr>
    </p:bg>
    <p:spTree>
      <p:nvGrpSpPr>
        <p:cNvPr id="1" name=""/>
        <p:cNvGrpSpPr/>
        <p:nvPr/>
      </p:nvGrpSpPr>
      <p:grpSpPr>
        <a:xfrm>
          <a:off x="0" y="0"/>
          <a:ext cx="0" cy="0"/>
          <a:chOff x="0" y="0"/>
          <a:chExt cx="0" cy="0"/>
        </a:xfrm>
      </p:grpSpPr>
      <p:sp>
        <p:nvSpPr>
          <p:cNvPr id="36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69" name="Picture 24" descr="utdlogo"/>
          <p:cNvPicPr/>
          <p:nvPr/>
        </p:nvPicPr>
        <p:blipFill>
          <a:blip r:embed="rId2"/>
          <a:stretch/>
        </p:blipFill>
        <p:spPr>
          <a:xfrm>
            <a:off x="9304200" y="7254360"/>
            <a:ext cx="619200" cy="272880"/>
          </a:xfrm>
          <a:prstGeom prst="rect">
            <a:avLst/>
          </a:prstGeom>
          <a:noFill/>
          <a:ln w="9525">
            <a:noFill/>
          </a:ln>
        </p:spPr>
      </p:pic>
      <p:sp>
        <p:nvSpPr>
          <p:cNvPr id="37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1" name="PlaceHolder 1"/>
          <p:cNvSpPr>
            <a:spLocks noGrp="1"/>
          </p:cNvSpPr>
          <p:nvPr>
            <p:ph type="title"/>
          </p:nvPr>
        </p:nvSpPr>
        <p:spPr>
          <a:xfrm>
            <a:off x="794520" y="4994640"/>
            <a:ext cx="8548920" cy="1542960"/>
          </a:xfrm>
          <a:prstGeom prst="rect">
            <a:avLst/>
          </a:prstGeom>
          <a:noFill/>
          <a:ln w="9360">
            <a:noFill/>
          </a:ln>
        </p:spPr>
        <p:txBody>
          <a:bodyPr lIns="91440" tIns="45720" rIns="91440" bIns="45720" numCol="1" spcCol="0" anchor="t">
            <a:noAutofit/>
          </a:bodyPr>
          <a:lstStyle/>
          <a:p>
            <a:pPr indent="0">
              <a:lnSpc>
                <a:spcPct val="100000"/>
              </a:lnSpc>
              <a:buNone/>
              <a:tabLst>
                <a:tab pos="0" algn="l"/>
              </a:tabLst>
            </a:pPr>
            <a:r>
              <a:rPr lang="en-US" sz="4400" b="1" u="none" strike="noStrike" cap="all">
                <a:solidFill>
                  <a:schemeClr val="lt1"/>
                </a:solidFill>
                <a:effectLst/>
                <a:uFillTx/>
                <a:latin typeface="Arial"/>
                <a:ea typeface="Osaka"/>
              </a:rPr>
              <a:t>Click to edit Master title style</a:t>
            </a:r>
            <a:endParaRPr lang="en-US" sz="4400" b="0" u="none" strike="noStrike">
              <a:solidFill>
                <a:srgbClr val="FFFFFF"/>
              </a:solidFill>
              <a:effectLst/>
              <a:uFillTx/>
              <a:latin typeface="Arial"/>
            </a:endParaRPr>
          </a:p>
        </p:txBody>
      </p:sp>
      <p:sp>
        <p:nvSpPr>
          <p:cNvPr id="372" name="PlaceHolder 2"/>
          <p:cNvSpPr>
            <a:spLocks noGrp="1"/>
          </p:cNvSpPr>
          <p:nvPr>
            <p:ph type="body"/>
          </p:nvPr>
        </p:nvSpPr>
        <p:spPr>
          <a:xfrm>
            <a:off x="794520" y="3294360"/>
            <a:ext cx="8548920" cy="1699560"/>
          </a:xfrm>
          <a:prstGeom prst="rect">
            <a:avLst/>
          </a:prstGeom>
          <a:noFill/>
          <a:ln w="9360">
            <a:noFill/>
          </a:ln>
        </p:spPr>
        <p:txBody>
          <a:bodyPr lIns="91440" tIns="45720" rIns="91440" bIns="45720" numCol="1" spcCol="0" anchor="b">
            <a:noAutofit/>
          </a:bodyPr>
          <a:lstStyle/>
          <a:p>
            <a:pPr indent="0">
              <a:lnSpc>
                <a:spcPct val="100000"/>
              </a:lnSpc>
              <a:spcBef>
                <a:spcPts val="439"/>
              </a:spcBef>
              <a:buNone/>
              <a:tabLst>
                <a:tab pos="0" algn="l"/>
              </a:tabLst>
            </a:pPr>
            <a:r>
              <a:rPr lang="en-US" sz="2200" b="0" u="none" strike="noStrike">
                <a:solidFill>
                  <a:schemeClr val="dk1"/>
                </a:solidFill>
                <a:effectLst/>
                <a:uFillTx/>
                <a:latin typeface="Arial"/>
                <a:ea typeface="Osaka"/>
              </a:rPr>
              <a:t>Click to edit Master text styles</a:t>
            </a:r>
            <a:endParaRPr lang="en-US" sz="2200" b="0" u="none" strike="noStrike">
              <a:solidFill>
                <a:srgbClr val="FFFFFF"/>
              </a:solidFill>
              <a:effectLst/>
              <a:uFillTx/>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Default 12">
    <p:bg>
      <p:bgPr>
        <a:solidFill>
          <a:srgbClr val="6C9D30"/>
        </a:solidFill>
        <a:effectLst/>
      </p:bgPr>
    </p:bg>
    <p:spTree>
      <p:nvGrpSpPr>
        <p:cNvPr id="1" name=""/>
        <p:cNvGrpSpPr/>
        <p:nvPr/>
      </p:nvGrpSpPr>
      <p:grpSpPr>
        <a:xfrm>
          <a:off x="0" y="0"/>
          <a:ext cx="0" cy="0"/>
          <a:chOff x="0" y="0"/>
          <a:chExt cx="0" cy="0"/>
        </a:xfrm>
      </p:grpSpPr>
      <p:sp>
        <p:nvSpPr>
          <p:cNvPr id="37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75" name="Picture 24" descr="utdlogo"/>
          <p:cNvPicPr/>
          <p:nvPr/>
        </p:nvPicPr>
        <p:blipFill>
          <a:blip r:embed="rId2"/>
          <a:stretch/>
        </p:blipFill>
        <p:spPr>
          <a:xfrm>
            <a:off x="9304200" y="7254360"/>
            <a:ext cx="619200" cy="272880"/>
          </a:xfrm>
          <a:prstGeom prst="rect">
            <a:avLst/>
          </a:prstGeom>
          <a:noFill/>
          <a:ln w="9525">
            <a:noFill/>
          </a:ln>
        </p:spPr>
      </p:pic>
      <p:sp>
        <p:nvSpPr>
          <p:cNvPr id="37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78"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
        <p:nvSpPr>
          <p:cNvPr id="379" name="PlaceHolder 3"/>
          <p:cNvSpPr>
            <a:spLocks noGrp="1"/>
          </p:cNvSpPr>
          <p:nvPr>
            <p:ph type="body"/>
          </p:nvPr>
        </p:nvSpPr>
        <p:spPr>
          <a:xfrm>
            <a:off x="511308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1828800"/>
            <a:ext cx="9052560" cy="146304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GPUs: From Graphics to AI</a:t>
            </a:r>
          </a:p>
        </p:txBody>
      </p:sp>
      <p:sp>
        <p:nvSpPr>
          <p:cNvPr id="901" name="TextBox 900"/>
          <p:cNvSpPr txBox="1"/>
          <p:nvPr/>
        </p:nvSpPr>
        <p:spPr>
          <a:xfrm>
            <a:off x="502920" y="3749039"/>
            <a:ext cx="9052560" cy="1856919"/>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2800" b="0" i="0" dirty="0">
                <a:solidFill>
                  <a:srgbClr val="000000"/>
                </a:solidFill>
                <a:latin typeface="Cambria"/>
              </a:rPr>
              <a:t>Part 4:  </a:t>
            </a:r>
            <a:r>
              <a:rPr sz="2800" b="0" i="0" dirty="0" err="1">
                <a:solidFill>
                  <a:srgbClr val="000000"/>
                </a:solidFill>
                <a:latin typeface="Cambria"/>
              </a:rPr>
              <a:t>Backpropagation</a:t>
            </a:r>
            <a:endParaRPr sz="2800" b="0" i="0" dirty="0">
              <a:solidFill>
                <a:srgbClr val="000000"/>
              </a:solidFill>
              <a:latin typeface="Cambria"/>
            </a:endParaRPr>
          </a:p>
          <a:p>
            <a:pPr algn="ctr">
              <a:spcBef>
                <a:spcPts val="1000"/>
              </a:spcBef>
              <a:tabLst>
                <a:tab pos="548640" algn="l"/>
                <a:tab pos="1097280" algn="l"/>
                <a:tab pos="1645919" algn="l"/>
                <a:tab pos="2194560" algn="l"/>
                <a:tab pos="2743200" algn="l"/>
                <a:tab pos="3291839" algn="l"/>
                <a:tab pos="3840480" algn="l"/>
                <a:tab pos="4389120" algn="l"/>
              </a:tabLst>
            </a:pPr>
            <a:r>
              <a:rPr lang="en-US" sz="2800" b="0" i="0" dirty="0" smtClean="0">
                <a:solidFill>
                  <a:srgbClr val="000000"/>
                </a:solidFill>
                <a:latin typeface="Cambria"/>
              </a:rPr>
              <a:t>H</a:t>
            </a:r>
            <a:r>
              <a:rPr sz="2800" b="0" i="0" dirty="0" smtClean="0">
                <a:solidFill>
                  <a:srgbClr val="000000"/>
                </a:solidFill>
                <a:latin typeface="Cambria"/>
              </a:rPr>
              <a:t>ow </a:t>
            </a:r>
            <a:r>
              <a:rPr sz="2800" b="0" i="0" dirty="0">
                <a:solidFill>
                  <a:srgbClr val="000000"/>
                </a:solidFill>
                <a:latin typeface="Cambria"/>
              </a:rPr>
              <a:t>a neural network learns</a:t>
            </a:r>
          </a:p>
          <a:p>
            <a:pPr algn="ctr">
              <a:tabLst>
                <a:tab pos="548640" algn="l"/>
                <a:tab pos="1097280" algn="l"/>
                <a:tab pos="1645919" algn="l"/>
                <a:tab pos="2194560" algn="l"/>
                <a:tab pos="2743200" algn="l"/>
                <a:tab pos="3291839" algn="l"/>
                <a:tab pos="3840480" algn="l"/>
                <a:tab pos="4389120" algn="l"/>
              </a:tabLst>
            </a:pPr>
            <a:r>
              <a:rPr sz="1400" dirty="0">
                <a:latin typeface="Cambria"/>
              </a:rPr>
              <a:t> </a:t>
            </a:r>
          </a:p>
          <a:p>
            <a:pPr algn="ctr">
              <a:spcBef>
                <a:spcPts val="1000"/>
              </a:spcBef>
              <a:tabLst>
                <a:tab pos="548640" algn="l"/>
                <a:tab pos="1097280" algn="l"/>
                <a:tab pos="1645919" algn="l"/>
                <a:tab pos="2194560" algn="l"/>
                <a:tab pos="2743200" algn="l"/>
                <a:tab pos="3291839" algn="l"/>
                <a:tab pos="3840480" algn="l"/>
                <a:tab pos="4389120" algn="l"/>
              </a:tabLst>
            </a:pPr>
            <a:r>
              <a:rPr sz="2800" b="0" i="0" dirty="0">
                <a:solidFill>
                  <a:srgbClr val="000000"/>
                </a:solidFill>
                <a:latin typeface="Cambria"/>
              </a:rPr>
              <a:t>Hardware Description Languages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Where We Are</a:t>
            </a:r>
          </a:p>
        </p:txBody>
      </p:sp>
      <p:sp>
        <p:nvSpPr>
          <p:cNvPr id="901" name="TextBox 900"/>
          <p:cNvSpPr txBox="1"/>
          <p:nvPr/>
        </p:nvSpPr>
        <p:spPr>
          <a:xfrm>
            <a:off x="731520" y="1783080"/>
            <a:ext cx="8778240" cy="2677656"/>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1" i="0" dirty="0">
                <a:solidFill>
                  <a:srgbClr val="000000"/>
                </a:solidFill>
                <a:latin typeface="Cambria"/>
              </a:rPr>
              <a:t>Parts 1 - 3</a:t>
            </a:r>
            <a:r>
              <a:rPr sz="2600" b="0" i="0" dirty="0">
                <a:solidFill>
                  <a:srgbClr val="000000"/>
                </a:solidFill>
                <a:latin typeface="Cambria"/>
              </a:rPr>
              <a:t>   </a:t>
            </a:r>
            <a:r>
              <a:rPr lang="en-US" sz="2600" b="0" i="0" dirty="0" smtClean="0">
                <a:solidFill>
                  <a:srgbClr val="000000"/>
                </a:solidFill>
                <a:latin typeface="Cambria"/>
              </a:rPr>
              <a:t>T</a:t>
            </a:r>
            <a:r>
              <a:rPr sz="2600" b="0" i="0" dirty="0" smtClean="0">
                <a:solidFill>
                  <a:srgbClr val="000000"/>
                </a:solidFill>
                <a:latin typeface="Cambria"/>
              </a:rPr>
              <a:t>he </a:t>
            </a:r>
            <a:r>
              <a:rPr sz="2600" b="0" i="0" dirty="0">
                <a:solidFill>
                  <a:srgbClr val="000000"/>
                </a:solidFill>
                <a:latin typeface="Cambria"/>
              </a:rPr>
              <a:t>GPU:  a sea of MACs fed by wide memory</a:t>
            </a:r>
          </a:p>
          <a:p>
            <a:pPr algn="l">
              <a:tabLst>
                <a:tab pos="548640" algn="l"/>
                <a:tab pos="1097280" algn="l"/>
                <a:tab pos="1645919" algn="l"/>
                <a:tab pos="2194560" algn="l"/>
                <a:tab pos="2743200" algn="l"/>
                <a:tab pos="3291839" algn="l"/>
                <a:tab pos="3840480" algn="l"/>
                <a:tab pos="4389120" algn="l"/>
              </a:tabLst>
            </a:pPr>
            <a:r>
              <a:rPr sz="1300" dirty="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1" i="0" dirty="0">
                <a:solidFill>
                  <a:srgbClr val="000000"/>
                </a:solidFill>
                <a:latin typeface="Cambria"/>
              </a:rPr>
              <a:t>Part 4</a:t>
            </a:r>
            <a:r>
              <a:rPr sz="2600" b="0" i="0" dirty="0">
                <a:solidFill>
                  <a:srgbClr val="000000"/>
                </a:solidFill>
                <a:latin typeface="Cambria"/>
              </a:rPr>
              <a:t>   </a:t>
            </a:r>
            <a:r>
              <a:rPr lang="en-US" sz="2600" dirty="0" err="1">
                <a:solidFill>
                  <a:srgbClr val="000000"/>
                </a:solidFill>
                <a:latin typeface="Cambria"/>
              </a:rPr>
              <a:t>B</a:t>
            </a:r>
            <a:r>
              <a:rPr sz="2600" b="0" i="0" dirty="0" err="1" smtClean="0">
                <a:solidFill>
                  <a:srgbClr val="000000"/>
                </a:solidFill>
                <a:latin typeface="Cambria"/>
              </a:rPr>
              <a:t>ackpropagation</a:t>
            </a:r>
            <a:r>
              <a:rPr sz="2600" b="0" i="0" dirty="0">
                <a:solidFill>
                  <a:srgbClr val="000000"/>
                </a:solidFill>
                <a:latin typeface="Cambria"/>
              </a:rPr>
              <a:t>:  the learning algorithm</a:t>
            </a:r>
          </a:p>
          <a:p>
            <a:pPr algn="l">
              <a:tabLst>
                <a:tab pos="548640" algn="l"/>
                <a:tab pos="1097280" algn="l"/>
                <a:tab pos="1645919" algn="l"/>
                <a:tab pos="2194560" algn="l"/>
                <a:tab pos="2743200" algn="l"/>
                <a:tab pos="3291839" algn="l"/>
                <a:tab pos="3840480" algn="l"/>
                <a:tab pos="4389120" algn="l"/>
              </a:tabLst>
            </a:pPr>
            <a:r>
              <a:rPr sz="1300" dirty="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1" i="0" dirty="0">
                <a:solidFill>
                  <a:srgbClr val="000000"/>
                </a:solidFill>
                <a:latin typeface="Cambria"/>
              </a:rPr>
              <a:t>Part 5</a:t>
            </a:r>
            <a:r>
              <a:rPr sz="2600" b="0" i="0" dirty="0">
                <a:solidFill>
                  <a:srgbClr val="000000"/>
                </a:solidFill>
                <a:latin typeface="Cambria"/>
              </a:rPr>
              <a:t>   </a:t>
            </a:r>
            <a:r>
              <a:rPr lang="en-US" sz="2600" b="0" i="0" dirty="0" err="1" smtClean="0">
                <a:solidFill>
                  <a:srgbClr val="000000"/>
                </a:solidFill>
                <a:latin typeface="Cambria"/>
              </a:rPr>
              <a:t>B</a:t>
            </a:r>
            <a:r>
              <a:rPr sz="2600" b="0" i="0" dirty="0" err="1" smtClean="0">
                <a:solidFill>
                  <a:srgbClr val="000000"/>
                </a:solidFill>
                <a:latin typeface="Cambria"/>
              </a:rPr>
              <a:t>ackpropagation</a:t>
            </a:r>
            <a:r>
              <a:rPr sz="2600" b="0" i="0" dirty="0" smtClean="0">
                <a:solidFill>
                  <a:srgbClr val="000000"/>
                </a:solidFill>
                <a:latin typeface="Cambria"/>
              </a:rPr>
              <a:t> </a:t>
            </a:r>
            <a:r>
              <a:rPr sz="2600" b="0" i="0" dirty="0">
                <a:solidFill>
                  <a:srgbClr val="000000"/>
                </a:solidFill>
                <a:latin typeface="Cambria"/>
              </a:rPr>
              <a:t>on GPU </a:t>
            </a:r>
            <a:r>
              <a:rPr sz="2600" b="0" i="0" dirty="0" smtClean="0">
                <a:solidFill>
                  <a:srgbClr val="000000"/>
                </a:solidFill>
                <a:latin typeface="Cambria"/>
              </a:rPr>
              <a:t>hardware</a:t>
            </a:r>
            <a:endParaRPr sz="2600" b="0" i="0" dirty="0">
              <a:solidFill>
                <a:srgbClr val="000000"/>
              </a:solidFill>
              <a:latin typeface="Cambria"/>
            </a:endParaRPr>
          </a:p>
          <a:p>
            <a:pPr algn="l">
              <a:tabLst>
                <a:tab pos="548640" algn="l"/>
                <a:tab pos="1097280" algn="l"/>
                <a:tab pos="1645919" algn="l"/>
                <a:tab pos="2194560" algn="l"/>
                <a:tab pos="2743200" algn="l"/>
                <a:tab pos="3291839" algn="l"/>
                <a:tab pos="3840480" algn="l"/>
                <a:tab pos="4389120" algn="l"/>
              </a:tabLst>
            </a:pPr>
            <a:r>
              <a:rPr sz="1300" dirty="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1" i="0" dirty="0">
                <a:solidFill>
                  <a:srgbClr val="000000"/>
                </a:solidFill>
                <a:latin typeface="Cambria"/>
              </a:rPr>
              <a:t>Part 6</a:t>
            </a:r>
            <a:r>
              <a:rPr sz="2600" b="0" i="0" dirty="0">
                <a:solidFill>
                  <a:srgbClr val="000000"/>
                </a:solidFill>
                <a:latin typeface="Cambria"/>
              </a:rPr>
              <a:t>   Dust:  learning </a:t>
            </a:r>
            <a:r>
              <a:rPr sz="2600" b="1" i="0" dirty="0">
                <a:solidFill>
                  <a:srgbClr val="000000"/>
                </a:solidFill>
                <a:latin typeface="Cambria"/>
              </a:rPr>
              <a:t>without</a:t>
            </a:r>
            <a:r>
              <a:rPr sz="2600" b="0" i="0" dirty="0">
                <a:solidFill>
                  <a:srgbClr val="000000"/>
                </a:solidFill>
                <a:latin typeface="Cambria"/>
              </a:rPr>
              <a:t> </a:t>
            </a:r>
            <a:r>
              <a:rPr sz="2600" b="0" i="0" dirty="0" err="1">
                <a:solidFill>
                  <a:srgbClr val="000000"/>
                </a:solidFill>
                <a:latin typeface="Cambria"/>
              </a:rPr>
              <a:t>backpropagation</a:t>
            </a:r>
            <a:endParaRPr sz="2600" b="0" i="0" dirty="0">
              <a:solidFill>
                <a:srgbClr val="000000"/>
              </a:solidFill>
              <a:latin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What Is a Neural Network?</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A </a:t>
            </a:r>
            <a:r>
              <a:rPr lang="en-US" sz="2600" b="1" i="0" dirty="0">
                <a:solidFill>
                  <a:srgbClr val="000000"/>
                </a:solidFill>
                <a:latin typeface="Cambria"/>
                <a:cs typeface="Cambria"/>
              </a:rPr>
              <a:t>neural network</a:t>
            </a:r>
            <a:r>
              <a:rPr lang="en-US" sz="2600" b="0" i="0" dirty="0">
                <a:solidFill>
                  <a:srgbClr val="000000"/>
                </a:solidFill>
                <a:latin typeface="Cambria"/>
                <a:cs typeface="Cambria"/>
              </a:rPr>
              <a:t> is a function:</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numbers in  →  numbers out</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Built from many simple units called </a:t>
            </a:r>
            <a:r>
              <a:rPr lang="en-US" sz="2600" b="1" i="0" dirty="0">
                <a:solidFill>
                  <a:srgbClr val="000000"/>
                </a:solidFill>
                <a:latin typeface="Cambria"/>
                <a:cs typeface="Cambria"/>
              </a:rPr>
              <a:t>neurons</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Each neuron has adjustable numbers called </a:t>
            </a:r>
            <a:r>
              <a:rPr lang="en-US" sz="2600" b="1" i="0" dirty="0">
                <a:solidFill>
                  <a:srgbClr val="000000"/>
                </a:solidFill>
                <a:latin typeface="Cambria"/>
                <a:cs typeface="Cambria"/>
              </a:rPr>
              <a:t>weights</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Example:  photo pixels in,   "cat" or "dog" out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One Neuron</a:t>
            </a:r>
          </a:p>
        </p:txBody>
      </p:sp>
      <p:sp>
        <p:nvSpPr>
          <p:cNvPr id="951" name="Oval 951"/>
          <p:cNvSpPr/>
          <p:nvPr/>
        </p:nvSpPr>
        <p:spPr>
          <a:xfrm>
            <a:off x="822960" y="1874520"/>
            <a:ext cx="731520" cy="731520"/>
          </a:xfrm>
          <a:prstGeom prst="ellipse">
            <a:avLst/>
          </a:prstGeom>
          <a:solidFill>
            <a:srgbClr val="FFD966"/>
          </a:solidFill>
          <a:ln w="9525">
            <a:solidFill>
              <a:srgbClr val="000000"/>
            </a:solidFill>
          </a:ln>
        </p:spPr>
        <p:txBody>
          <a:bodyPr wrap="square" lIns="0" tIns="0" rIns="0" bIns="0" rtlCol="0" anchor="ctr"/>
          <a:lstStyle/>
          <a:p>
            <a:pPr algn="ctr"/>
            <a:r>
              <a:rPr lang="en-US" sz="2200" b="0" i="0" dirty="0">
                <a:solidFill>
                  <a:srgbClr val="000000"/>
                </a:solidFill>
                <a:latin typeface="Cambria"/>
                <a:cs typeface="Cambria"/>
              </a:rPr>
              <a:t>x1</a:t>
            </a:r>
          </a:p>
        </p:txBody>
      </p:sp>
      <p:cxnSp>
        <p:nvCxnSpPr>
          <p:cNvPr id="952" name="Connector 952"/>
          <p:cNvCxnSpPr/>
          <p:nvPr/>
        </p:nvCxnSpPr>
        <p:spPr>
          <a:xfrm>
            <a:off x="1554480" y="2240280"/>
            <a:ext cx="2103120" cy="1097280"/>
          </a:xfrm>
          <a:prstGeom prst="line">
            <a:avLst/>
          </a:prstGeom>
          <a:ln w="25400">
            <a:solidFill>
              <a:srgbClr val="000000"/>
            </a:solidFill>
            <a:tailEnd type="triangle"/>
          </a:ln>
        </p:spPr>
      </p:cxnSp>
      <p:sp>
        <p:nvSpPr>
          <p:cNvPr id="953" name="TextBox 953"/>
          <p:cNvSpPr txBox="1"/>
          <p:nvPr/>
        </p:nvSpPr>
        <p:spPr>
          <a:xfrm>
            <a:off x="1828800" y="1737360"/>
            <a:ext cx="914400" cy="320040"/>
          </a:xfrm>
          <a:prstGeom prst="rect">
            <a:avLst/>
          </a:prstGeom>
          <a:noFill/>
        </p:spPr>
        <p:txBody>
          <a:bodyPr wrap="square" lIns="0" tIns="0" rIns="0" bIns="0" anchor="ctr"/>
          <a:lstStyle/>
          <a:p>
            <a:pPr algn="ctr"/>
            <a:r>
              <a:rPr lang="en-US" sz="1800" b="0" i="0" dirty="0">
                <a:solidFill>
                  <a:srgbClr val="000000"/>
                </a:solidFill>
                <a:latin typeface="Courier New"/>
                <a:cs typeface="Courier New"/>
              </a:rPr>
              <a:t>× w1</a:t>
            </a:r>
          </a:p>
        </p:txBody>
      </p:sp>
      <p:sp>
        <p:nvSpPr>
          <p:cNvPr id="954" name="Oval 954"/>
          <p:cNvSpPr/>
          <p:nvPr/>
        </p:nvSpPr>
        <p:spPr>
          <a:xfrm>
            <a:off x="822960" y="2971800"/>
            <a:ext cx="731520" cy="731520"/>
          </a:xfrm>
          <a:prstGeom prst="ellipse">
            <a:avLst/>
          </a:prstGeom>
          <a:solidFill>
            <a:srgbClr val="FFD966"/>
          </a:solidFill>
          <a:ln w="9525">
            <a:solidFill>
              <a:srgbClr val="000000"/>
            </a:solidFill>
          </a:ln>
        </p:spPr>
        <p:txBody>
          <a:bodyPr wrap="square" lIns="0" tIns="0" rIns="0" bIns="0" rtlCol="0" anchor="ctr"/>
          <a:lstStyle/>
          <a:p>
            <a:pPr algn="ctr"/>
            <a:r>
              <a:rPr lang="en-US" sz="2200" b="0" i="0" dirty="0">
                <a:solidFill>
                  <a:srgbClr val="000000"/>
                </a:solidFill>
                <a:latin typeface="Cambria"/>
                <a:cs typeface="Cambria"/>
              </a:rPr>
              <a:t>x2</a:t>
            </a:r>
          </a:p>
        </p:txBody>
      </p:sp>
      <p:cxnSp>
        <p:nvCxnSpPr>
          <p:cNvPr id="955" name="Connector 955"/>
          <p:cNvCxnSpPr/>
          <p:nvPr/>
        </p:nvCxnSpPr>
        <p:spPr>
          <a:xfrm>
            <a:off x="1554480" y="3337560"/>
            <a:ext cx="2103120" cy="0"/>
          </a:xfrm>
          <a:prstGeom prst="line">
            <a:avLst/>
          </a:prstGeom>
          <a:ln w="25400">
            <a:solidFill>
              <a:srgbClr val="000000"/>
            </a:solidFill>
            <a:tailEnd type="triangle"/>
          </a:ln>
        </p:spPr>
      </p:cxnSp>
      <p:sp>
        <p:nvSpPr>
          <p:cNvPr id="956" name="TextBox 956"/>
          <p:cNvSpPr txBox="1"/>
          <p:nvPr/>
        </p:nvSpPr>
        <p:spPr>
          <a:xfrm>
            <a:off x="1828800" y="2926080"/>
            <a:ext cx="914400" cy="320040"/>
          </a:xfrm>
          <a:prstGeom prst="rect">
            <a:avLst/>
          </a:prstGeom>
          <a:noFill/>
        </p:spPr>
        <p:txBody>
          <a:bodyPr wrap="square" lIns="0" tIns="0" rIns="0" bIns="0" anchor="ctr"/>
          <a:lstStyle/>
          <a:p>
            <a:pPr algn="ctr"/>
            <a:r>
              <a:rPr lang="en-US" sz="1800" b="0" i="0" dirty="0">
                <a:solidFill>
                  <a:srgbClr val="000000"/>
                </a:solidFill>
                <a:latin typeface="Courier New"/>
                <a:cs typeface="Courier New"/>
              </a:rPr>
              <a:t>× w2</a:t>
            </a:r>
          </a:p>
        </p:txBody>
      </p:sp>
      <p:sp>
        <p:nvSpPr>
          <p:cNvPr id="957" name="Oval 957"/>
          <p:cNvSpPr/>
          <p:nvPr/>
        </p:nvSpPr>
        <p:spPr>
          <a:xfrm>
            <a:off x="822960" y="4069080"/>
            <a:ext cx="731520" cy="731520"/>
          </a:xfrm>
          <a:prstGeom prst="ellipse">
            <a:avLst/>
          </a:prstGeom>
          <a:solidFill>
            <a:srgbClr val="FFD966"/>
          </a:solidFill>
          <a:ln w="9525">
            <a:solidFill>
              <a:srgbClr val="000000"/>
            </a:solidFill>
          </a:ln>
        </p:spPr>
        <p:txBody>
          <a:bodyPr wrap="square" lIns="0" tIns="0" rIns="0" bIns="0" rtlCol="0" anchor="ctr"/>
          <a:lstStyle/>
          <a:p>
            <a:pPr algn="ctr"/>
            <a:r>
              <a:rPr lang="en-US" sz="2200" b="0" i="0" dirty="0">
                <a:solidFill>
                  <a:srgbClr val="000000"/>
                </a:solidFill>
                <a:latin typeface="Cambria"/>
                <a:cs typeface="Cambria"/>
              </a:rPr>
              <a:t>x3</a:t>
            </a:r>
          </a:p>
        </p:txBody>
      </p:sp>
      <p:cxnSp>
        <p:nvCxnSpPr>
          <p:cNvPr id="958" name="Connector 958"/>
          <p:cNvCxnSpPr/>
          <p:nvPr/>
        </p:nvCxnSpPr>
        <p:spPr>
          <a:xfrm flipV="1">
            <a:off x="1554480" y="3337560"/>
            <a:ext cx="2103120" cy="1097280"/>
          </a:xfrm>
          <a:prstGeom prst="line">
            <a:avLst/>
          </a:prstGeom>
          <a:ln w="25400">
            <a:solidFill>
              <a:srgbClr val="000000"/>
            </a:solidFill>
            <a:tailEnd type="triangle"/>
          </a:ln>
        </p:spPr>
      </p:cxnSp>
      <p:sp>
        <p:nvSpPr>
          <p:cNvPr id="959" name="TextBox 959"/>
          <p:cNvSpPr txBox="1"/>
          <p:nvPr/>
        </p:nvSpPr>
        <p:spPr>
          <a:xfrm>
            <a:off x="1828800" y="4206240"/>
            <a:ext cx="914400" cy="320040"/>
          </a:xfrm>
          <a:prstGeom prst="rect">
            <a:avLst/>
          </a:prstGeom>
          <a:noFill/>
        </p:spPr>
        <p:txBody>
          <a:bodyPr wrap="square" lIns="0" tIns="0" rIns="0" bIns="0" anchor="ctr"/>
          <a:lstStyle/>
          <a:p>
            <a:pPr algn="ctr"/>
            <a:r>
              <a:rPr lang="en-US" sz="1800" b="0" i="0" dirty="0">
                <a:solidFill>
                  <a:srgbClr val="000000"/>
                </a:solidFill>
                <a:latin typeface="Courier New"/>
                <a:cs typeface="Courier New"/>
              </a:rPr>
              <a:t>× w3</a:t>
            </a:r>
          </a:p>
        </p:txBody>
      </p:sp>
      <p:sp>
        <p:nvSpPr>
          <p:cNvPr id="960" name="Oval 960"/>
          <p:cNvSpPr/>
          <p:nvPr/>
        </p:nvSpPr>
        <p:spPr>
          <a:xfrm>
            <a:off x="3657600" y="2788920"/>
            <a:ext cx="1097280" cy="1097280"/>
          </a:xfrm>
          <a:prstGeom prst="ellipse">
            <a:avLst/>
          </a:prstGeom>
          <a:solidFill>
            <a:srgbClr val="F4B183"/>
          </a:solidFill>
          <a:ln w="9525">
            <a:solidFill>
              <a:srgbClr val="000000"/>
            </a:solidFill>
          </a:ln>
        </p:spPr>
        <p:txBody>
          <a:bodyPr wrap="square" lIns="0" tIns="0" rIns="0" bIns="0" rtlCol="0" anchor="ctr"/>
          <a:lstStyle/>
          <a:p>
            <a:pPr algn="ctr"/>
            <a:r>
              <a:rPr lang="en-US" sz="2800" b="0" i="0" dirty="0">
                <a:solidFill>
                  <a:srgbClr val="000000"/>
                </a:solidFill>
                <a:latin typeface="Cambria"/>
                <a:cs typeface="Cambria"/>
              </a:rPr>
              <a:t>Σ</a:t>
            </a:r>
          </a:p>
        </p:txBody>
      </p:sp>
      <p:sp>
        <p:nvSpPr>
          <p:cNvPr id="961" name="TextBox 961"/>
          <p:cNvSpPr txBox="1"/>
          <p:nvPr/>
        </p:nvSpPr>
        <p:spPr>
          <a:xfrm>
            <a:off x="3200400" y="2103120"/>
            <a:ext cx="2011680" cy="365760"/>
          </a:xfrm>
          <a:prstGeom prst="rect">
            <a:avLst/>
          </a:prstGeom>
          <a:noFill/>
        </p:spPr>
        <p:txBody>
          <a:bodyPr wrap="square" lIns="0" tIns="0" rIns="0" bIns="0" anchor="ctr"/>
          <a:lstStyle/>
          <a:p>
            <a:pPr algn="ctr"/>
            <a:r>
              <a:rPr lang="en-US" sz="2000" b="0" i="0" dirty="0">
                <a:solidFill>
                  <a:srgbClr val="000000"/>
                </a:solidFill>
                <a:latin typeface="Cambria"/>
                <a:cs typeface="Cambria"/>
              </a:rPr>
              <a:t>+ b</a:t>
            </a:r>
          </a:p>
        </p:txBody>
      </p:sp>
      <p:cxnSp>
        <p:nvCxnSpPr>
          <p:cNvPr id="962" name="Connector 962"/>
          <p:cNvCxnSpPr/>
          <p:nvPr/>
        </p:nvCxnSpPr>
        <p:spPr>
          <a:xfrm>
            <a:off x="4206240" y="2468880"/>
            <a:ext cx="0" cy="320040"/>
          </a:xfrm>
          <a:prstGeom prst="line">
            <a:avLst/>
          </a:prstGeom>
          <a:ln w="25400">
            <a:solidFill>
              <a:srgbClr val="000000"/>
            </a:solidFill>
            <a:tailEnd type="triangle"/>
          </a:ln>
        </p:spPr>
      </p:cxnSp>
      <p:cxnSp>
        <p:nvCxnSpPr>
          <p:cNvPr id="963" name="Connector 963"/>
          <p:cNvCxnSpPr/>
          <p:nvPr/>
        </p:nvCxnSpPr>
        <p:spPr>
          <a:xfrm>
            <a:off x="4754880" y="3337560"/>
            <a:ext cx="1005840" cy="0"/>
          </a:xfrm>
          <a:prstGeom prst="line">
            <a:avLst/>
          </a:prstGeom>
          <a:ln w="25400">
            <a:solidFill>
              <a:srgbClr val="000000"/>
            </a:solidFill>
            <a:tailEnd type="triangle"/>
          </a:ln>
        </p:spPr>
      </p:cxnSp>
      <p:sp>
        <p:nvSpPr>
          <p:cNvPr id="964" name="TextBox 964"/>
          <p:cNvSpPr txBox="1"/>
          <p:nvPr/>
        </p:nvSpPr>
        <p:spPr>
          <a:xfrm>
            <a:off x="4754880" y="2926080"/>
            <a:ext cx="1005840" cy="320040"/>
          </a:xfrm>
          <a:prstGeom prst="rect">
            <a:avLst/>
          </a:prstGeom>
          <a:noFill/>
        </p:spPr>
        <p:txBody>
          <a:bodyPr wrap="square" lIns="0" tIns="0" rIns="0" bIns="0" anchor="ctr"/>
          <a:lstStyle/>
          <a:p>
            <a:pPr algn="ctr"/>
            <a:r>
              <a:rPr lang="en-US" sz="2000" b="0" i="0" dirty="0">
                <a:solidFill>
                  <a:srgbClr val="000000"/>
                </a:solidFill>
                <a:latin typeface="Cambria"/>
                <a:cs typeface="Cambria"/>
              </a:rPr>
              <a:t>z</a:t>
            </a:r>
          </a:p>
        </p:txBody>
      </p:sp>
      <p:sp>
        <p:nvSpPr>
          <p:cNvPr id="965" name="Rect 965"/>
          <p:cNvSpPr/>
          <p:nvPr/>
        </p:nvSpPr>
        <p:spPr>
          <a:xfrm>
            <a:off x="5760720" y="2971800"/>
            <a:ext cx="731520" cy="731520"/>
          </a:xfrm>
          <a:prstGeom prst="rect">
            <a:avLst/>
          </a:prstGeom>
          <a:solidFill>
            <a:srgbClr val="A9D18E"/>
          </a:solidFill>
          <a:ln w="9525">
            <a:solidFill>
              <a:srgbClr val="000000"/>
            </a:solidFill>
          </a:ln>
        </p:spPr>
        <p:txBody>
          <a:bodyPr wrap="square" lIns="0" tIns="0" rIns="0" bIns="0" rtlCol="0" anchor="ctr"/>
          <a:lstStyle/>
          <a:p>
            <a:pPr algn="ctr"/>
            <a:r>
              <a:rPr lang="en-US" sz="2200" b="0" i="0" dirty="0">
                <a:solidFill>
                  <a:srgbClr val="000000"/>
                </a:solidFill>
                <a:latin typeface="Cambria"/>
                <a:cs typeface="Cambria"/>
              </a:rPr>
              <a:t>f</a:t>
            </a:r>
          </a:p>
        </p:txBody>
      </p:sp>
      <p:cxnSp>
        <p:nvCxnSpPr>
          <p:cNvPr id="966" name="Connector 966"/>
          <p:cNvCxnSpPr/>
          <p:nvPr/>
        </p:nvCxnSpPr>
        <p:spPr>
          <a:xfrm>
            <a:off x="6492240" y="3337560"/>
            <a:ext cx="822960" cy="0"/>
          </a:xfrm>
          <a:prstGeom prst="line">
            <a:avLst/>
          </a:prstGeom>
          <a:ln w="25400">
            <a:solidFill>
              <a:srgbClr val="000000"/>
            </a:solidFill>
            <a:tailEnd type="triangle"/>
          </a:ln>
        </p:spPr>
      </p:cxnSp>
      <p:sp>
        <p:nvSpPr>
          <p:cNvPr id="967" name="Oval 967"/>
          <p:cNvSpPr/>
          <p:nvPr/>
        </p:nvSpPr>
        <p:spPr>
          <a:xfrm>
            <a:off x="7315200" y="2971800"/>
            <a:ext cx="731520" cy="731520"/>
          </a:xfrm>
          <a:prstGeom prst="ellipse">
            <a:avLst/>
          </a:prstGeom>
          <a:solidFill>
            <a:srgbClr val="FFD966"/>
          </a:solidFill>
          <a:ln w="9525">
            <a:solidFill>
              <a:srgbClr val="000000"/>
            </a:solidFill>
          </a:ln>
        </p:spPr>
        <p:txBody>
          <a:bodyPr wrap="square" lIns="0" tIns="0" rIns="0" bIns="0" rtlCol="0" anchor="ctr"/>
          <a:lstStyle/>
          <a:p>
            <a:pPr algn="ctr"/>
            <a:r>
              <a:rPr lang="en-US" sz="2200" b="0" i="0" dirty="0">
                <a:solidFill>
                  <a:srgbClr val="000000"/>
                </a:solidFill>
                <a:latin typeface="Cambria"/>
                <a:cs typeface="Cambria"/>
              </a:rPr>
              <a:t>h</a:t>
            </a:r>
          </a:p>
        </p:txBody>
      </p:sp>
      <p:sp>
        <p:nvSpPr>
          <p:cNvPr id="968" name="TextBox 968"/>
          <p:cNvSpPr txBox="1"/>
          <p:nvPr/>
        </p:nvSpPr>
        <p:spPr>
          <a:xfrm>
            <a:off x="548640" y="5120640"/>
            <a:ext cx="8229600" cy="457200"/>
          </a:xfrm>
          <a:prstGeom prst="rect">
            <a:avLst/>
          </a:prstGeom>
          <a:noFill/>
        </p:spPr>
        <p:txBody>
          <a:bodyPr wrap="square" lIns="0" tIns="0" rIns="0" bIns="0" anchor="ctr"/>
          <a:lstStyle/>
          <a:p>
            <a:pPr algn="ctr"/>
            <a:r>
              <a:rPr lang="en-US" sz="2600" b="0" i="0" dirty="0">
                <a:solidFill>
                  <a:srgbClr val="000000"/>
                </a:solidFill>
                <a:latin typeface="Cambria"/>
                <a:cs typeface="Cambria"/>
              </a:rPr>
              <a:t>z  =  w1·x1  +  w2·x2  +  w3·x3  +  b</a:t>
            </a:r>
          </a:p>
        </p:txBody>
      </p:sp>
      <p:sp>
        <p:nvSpPr>
          <p:cNvPr id="969" name="TextBox 969"/>
          <p:cNvSpPr txBox="1"/>
          <p:nvPr/>
        </p:nvSpPr>
        <p:spPr>
          <a:xfrm>
            <a:off x="548640" y="5760720"/>
            <a:ext cx="8229600" cy="457200"/>
          </a:xfrm>
          <a:prstGeom prst="rect">
            <a:avLst/>
          </a:prstGeom>
          <a:noFill/>
        </p:spPr>
        <p:txBody>
          <a:bodyPr wrap="square" lIns="0" tIns="0" rIns="0" bIns="0" anchor="ctr"/>
          <a:lstStyle/>
          <a:p>
            <a:pPr algn="ctr"/>
            <a:r>
              <a:rPr lang="en-US" sz="2600" b="0" i="0" dirty="0">
                <a:solidFill>
                  <a:srgbClr val="000000"/>
                </a:solidFill>
                <a:latin typeface="Cambria"/>
                <a:cs typeface="Cambria"/>
              </a:rPr>
              <a:t>h  =  f( z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Neuron Vocabulary</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Inputs</a:t>
            </a:r>
            <a:r>
              <a:rPr lang="en-US" sz="2600" b="0" i="0" dirty="0">
                <a:solidFill>
                  <a:srgbClr val="000000"/>
                </a:solidFill>
                <a:latin typeface="Cambria"/>
                <a:cs typeface="Cambria"/>
              </a:rPr>
              <a:t>  x1,  x2,  x3:   the numbers coming in</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Weights</a:t>
            </a:r>
            <a:r>
              <a:rPr lang="en-US" sz="2600" b="0" i="0" dirty="0">
                <a:solidFill>
                  <a:srgbClr val="000000"/>
                </a:solidFill>
                <a:latin typeface="Cambria"/>
                <a:cs typeface="Cambria"/>
              </a:rPr>
              <a:t>  w1,  w2,  w3:   how much each input counts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Bias</a:t>
            </a:r>
            <a:r>
              <a:rPr lang="en-US" sz="2600" b="0" i="0" dirty="0">
                <a:solidFill>
                  <a:srgbClr val="000000"/>
                </a:solidFill>
                <a:latin typeface="Cambria"/>
                <a:cs typeface="Cambria"/>
              </a:rPr>
              <a:t>  b:   a constant added to the sum</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Weighted sum</a:t>
            </a:r>
            <a:r>
              <a:rPr lang="en-US" sz="2600" b="0" i="0" dirty="0">
                <a:solidFill>
                  <a:srgbClr val="000000"/>
                </a:solidFill>
                <a:latin typeface="Cambria"/>
                <a:cs typeface="Cambria"/>
              </a:rPr>
              <a: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z  =  w1·x1  +  w2·x2  +  w3·x3  +  b</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Activation function</a:t>
            </a:r>
            <a:r>
              <a:rPr lang="en-US" sz="2600" b="0" i="0" dirty="0">
                <a:solidFill>
                  <a:srgbClr val="000000"/>
                </a:solidFill>
                <a:latin typeface="Cambria"/>
                <a:cs typeface="Cambria"/>
              </a:rPr>
              <a:t>  f:   a simple curve applied to z</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output   h  =  f( z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Layers of Neurons</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A </a:t>
            </a:r>
            <a:r>
              <a:rPr lang="en-US" sz="2600" b="1" i="0" dirty="0">
                <a:solidFill>
                  <a:srgbClr val="000000"/>
                </a:solidFill>
                <a:latin typeface="Cambria"/>
                <a:cs typeface="Cambria"/>
              </a:rPr>
              <a:t>layer</a:t>
            </a:r>
            <a:r>
              <a:rPr lang="en-US" sz="2600" b="0" i="0" dirty="0">
                <a:solidFill>
                  <a:srgbClr val="000000"/>
                </a:solidFill>
                <a:latin typeface="Cambria"/>
                <a:cs typeface="Cambria"/>
              </a:rPr>
              <a:t>:  many neurons side by side,</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all seeing the same inputs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A network:  layers in a chain</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the output of one layer is the input of the next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Input</a:t>
            </a:r>
            <a:r>
              <a:rPr lang="en-US" sz="2600" b="0" i="0" dirty="0">
                <a:solidFill>
                  <a:srgbClr val="000000"/>
                </a:solidFill>
                <a:latin typeface="Cambria"/>
                <a:cs typeface="Cambria"/>
              </a:rPr>
              <a:t>  x:   what we feed in</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Hidden</a:t>
            </a:r>
            <a:r>
              <a:rPr lang="en-US" sz="2600" b="0" i="0" dirty="0">
                <a:solidFill>
                  <a:srgbClr val="000000"/>
                </a:solidFill>
                <a:latin typeface="Cambria"/>
                <a:cs typeface="Cambria"/>
              </a:rPr>
              <a:t> layers:   in the middle,  values called  h</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Output</a:t>
            </a:r>
            <a:r>
              <a:rPr lang="en-US" sz="2600" b="0" i="0" dirty="0">
                <a:solidFill>
                  <a:srgbClr val="000000"/>
                </a:solidFill>
                <a:latin typeface="Cambria"/>
                <a:cs typeface="Cambria"/>
              </a:rPr>
              <a:t>  y:   the network's answer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Learning from Examples</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We learn from </a:t>
            </a:r>
            <a:r>
              <a:rPr lang="en-US" sz="2600" b="1" i="0" dirty="0">
                <a:solidFill>
                  <a:srgbClr val="000000"/>
                </a:solidFill>
                <a:latin typeface="Cambria"/>
                <a:cs typeface="Cambria"/>
              </a:rPr>
              <a:t>training examples</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Each example is a pair   ( x ,  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x  =  an input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t  =  the </a:t>
            </a:r>
            <a:r>
              <a:rPr lang="en-US" sz="2600" b="1" i="0" dirty="0">
                <a:solidFill>
                  <a:srgbClr val="000000"/>
                </a:solidFill>
                <a:latin typeface="Cambria"/>
                <a:cs typeface="Cambria"/>
              </a:rPr>
              <a:t>target</a:t>
            </a:r>
            <a:r>
              <a:rPr lang="en-US" sz="2600" b="0" i="0" dirty="0">
                <a:solidFill>
                  <a:srgbClr val="000000"/>
                </a:solidFill>
                <a:latin typeface="Cambria"/>
                <a:cs typeface="Cambria"/>
              </a:rPr>
              <a:t>:  the correct answer</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Example:   x = a photo,    t = "cat"</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Goal:  make the output  y  close to the target  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What Does  "Learning"  Mean?</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A network is a function with adjustable </a:t>
            </a:r>
            <a:r>
              <a:rPr sz="2600" b="1" i="0">
                <a:solidFill>
                  <a:srgbClr val="000000"/>
                </a:solidFill>
                <a:latin typeface="Cambria"/>
              </a:rPr>
              <a:t>weights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Learning  =  choosing weights so the outputs</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match the examples we show it</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Modern networks have </a:t>
            </a:r>
            <a:r>
              <a:rPr sz="2600" b="1" i="0">
                <a:solidFill>
                  <a:srgbClr val="000000"/>
                </a:solidFill>
                <a:latin typeface="Cambria"/>
              </a:rPr>
              <a:t>billions</a:t>
            </a:r>
            <a:r>
              <a:rPr sz="2600" b="0" i="0">
                <a:solidFill>
                  <a:srgbClr val="000000"/>
                </a:solidFill>
                <a:latin typeface="Cambria"/>
              </a:rPr>
              <a:t> of weights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We need a rule that says which way to turn</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a:t>
            </a:r>
            <a:r>
              <a:rPr sz="2600" b="1" i="0">
                <a:solidFill>
                  <a:srgbClr val="000000"/>
                </a:solidFill>
                <a:latin typeface="Cambria"/>
              </a:rPr>
              <a:t>every</a:t>
            </a:r>
            <a:r>
              <a:rPr sz="2600" b="0" i="0">
                <a:solidFill>
                  <a:srgbClr val="000000"/>
                </a:solidFill>
                <a:latin typeface="Cambria"/>
              </a:rPr>
              <a:t> knob,  all at once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Symbols Used Today</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x	an input to the network</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t	the target:  the correct answer</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w	a weight   ( w1,  w2,  …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y	the network's output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L	the loss:  how wrong  y  is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η	the learning rate:  a step size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The Loss Function</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The </a:t>
            </a:r>
            <a:r>
              <a:rPr lang="en-US" sz="2600" b="1" i="0" dirty="0">
                <a:solidFill>
                  <a:srgbClr val="000000"/>
                </a:solidFill>
                <a:latin typeface="Cambria"/>
                <a:cs typeface="Cambria"/>
              </a:rPr>
              <a:t>loss</a:t>
            </a:r>
            <a:r>
              <a:rPr lang="en-US" sz="2600" b="0" i="0" dirty="0">
                <a:solidFill>
                  <a:srgbClr val="000000"/>
                </a:solidFill>
                <a:latin typeface="Cambria"/>
                <a:cs typeface="Cambria"/>
              </a:rPr>
              <a:t>  L:   one number that says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a:t>
            </a:r>
            <a:r>
              <a:rPr lang="en-US" sz="2600" b="1" i="0" dirty="0">
                <a:solidFill>
                  <a:srgbClr val="000000"/>
                </a:solidFill>
                <a:latin typeface="Cambria"/>
                <a:cs typeface="Cambria"/>
              </a:rPr>
              <a:t>how wrong</a:t>
            </a:r>
            <a:r>
              <a:rPr lang="en-US" sz="2600" b="0" i="0" dirty="0">
                <a:solidFill>
                  <a:srgbClr val="000000"/>
                </a:solidFill>
                <a:latin typeface="Cambria"/>
                <a:cs typeface="Cambria"/>
              </a:rPr>
              <a:t> the network is</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L = 0:    a perfect answer</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L large:    a bad answer</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Training  =  change the weights to make  L  small</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Two common choices on the next slides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Mean Squared Error</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For predicting a </a:t>
            </a:r>
            <a:r>
              <a:rPr lang="en-US" sz="2600" b="1" i="0" dirty="0">
                <a:solidFill>
                  <a:srgbClr val="000000"/>
                </a:solidFill>
                <a:latin typeface="Cambria"/>
                <a:cs typeface="Cambria"/>
              </a:rPr>
              <a:t>number</a:t>
            </a:r>
            <a:r>
              <a:rPr lang="en-US" sz="2600" b="0" i="0" dirty="0">
                <a:solidFill>
                  <a:srgbClr val="000000"/>
                </a:solidFill>
                <a:latin typeface="Cambria"/>
                <a:cs typeface="Cambria"/>
              </a:rPr>
              <a:t>   ( called </a:t>
            </a:r>
            <a:r>
              <a:rPr lang="en-US" sz="2600" b="1" i="0" dirty="0">
                <a:solidFill>
                  <a:srgbClr val="000000"/>
                </a:solidFill>
                <a:latin typeface="Cambria"/>
                <a:cs typeface="Cambria"/>
              </a:rPr>
              <a:t>regression</a:t>
            </a:r>
            <a:r>
              <a:rPr lang="en-US" sz="2600" b="0" i="0" dirty="0">
                <a:solidFill>
                  <a:srgbClr val="000000"/>
                </a:solidFill>
                <a:latin typeface="Cambria"/>
                <a:cs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e.g.  tomorrow's temperature</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L  =  ½ ( y − t )²</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y = the network's output,    t = the target</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Example:   y = 3,   t = 5</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L  =  ½ ( 3 − 5 )²  =  ½ · 4  =  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Why Square?   Why  ½ ?</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Squaring makes  L  positive</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too high and too low are both wrong</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Squaring punishes big errors more</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error 1  →  L = 0.5          error 10  →  L = 50</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The  ½  cancels the 2 from the derivative:</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derivative of   ½ ( y − t )²   is   y − 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Cross-Entropy:  Categories</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For choosing a </a:t>
            </a:r>
            <a:r>
              <a:rPr lang="en-US" sz="2600" b="1" i="0" dirty="0">
                <a:solidFill>
                  <a:srgbClr val="000000"/>
                </a:solidFill>
                <a:latin typeface="Cambria"/>
                <a:cs typeface="Cambria"/>
              </a:rPr>
              <a:t>category</a:t>
            </a:r>
            <a:r>
              <a:rPr lang="en-US" sz="2600" b="0" i="0" dirty="0">
                <a:solidFill>
                  <a:srgbClr val="000000"/>
                </a:solidFill>
                <a:latin typeface="Cambria"/>
                <a:cs typeface="Cambria"/>
              </a:rPr>
              <a:t>   ( </a:t>
            </a:r>
            <a:r>
              <a:rPr lang="en-US" sz="2600" b="1" i="0" dirty="0">
                <a:solidFill>
                  <a:srgbClr val="000000"/>
                </a:solidFill>
                <a:latin typeface="Cambria"/>
                <a:cs typeface="Cambria"/>
              </a:rPr>
              <a:t>classification</a:t>
            </a:r>
            <a:r>
              <a:rPr lang="en-US" sz="2600" b="0" i="0" dirty="0">
                <a:solidFill>
                  <a:srgbClr val="000000"/>
                </a:solidFill>
                <a:latin typeface="Cambria"/>
                <a:cs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e.g.  cat,  dog,  or bird?</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The output is a </a:t>
            </a:r>
            <a:r>
              <a:rPr lang="en-US" sz="2600" b="1" i="0" dirty="0">
                <a:solidFill>
                  <a:srgbClr val="000000"/>
                </a:solidFill>
                <a:latin typeface="Cambria"/>
                <a:cs typeface="Cambria"/>
              </a:rPr>
              <a:t>probability</a:t>
            </a:r>
            <a:r>
              <a:rPr lang="en-US" sz="2600" b="0" i="0" dirty="0">
                <a:solidFill>
                  <a:srgbClr val="000000"/>
                </a:solidFill>
                <a:latin typeface="Cambria"/>
                <a:cs typeface="Cambria"/>
              </a:rPr>
              <a:t> for each category:</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numbers from 0 to 1 that add up to 1</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cat  0.7        dog  0.2        bird  0.1</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p( correct answer ):   the probability given to the target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Cross-Entropy Loss</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L  =  − log  p( correct answer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log  is the natural logarithm   ( ln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p = 1.0     →   L = 0             certain and right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p = 0.5     →   L = 0.69</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p = 0.01   →   L = 4.6           confident and wrong</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Language models:  the categories are the</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possible </a:t>
            </a:r>
            <a:r>
              <a:rPr lang="en-US" sz="2600" b="1" i="0" dirty="0">
                <a:solidFill>
                  <a:srgbClr val="000000"/>
                </a:solidFill>
                <a:latin typeface="Cambria"/>
                <a:cs typeface="Cambria"/>
              </a:rPr>
              <a:t>next words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Derivative Review</a:t>
            </a:r>
          </a:p>
        </p:txBody>
      </p:sp>
      <p:sp>
        <p:nvSpPr>
          <p:cNvPr id="901" name="TextBox 901"/>
          <p:cNvSpPr txBox="1"/>
          <p:nvPr/>
        </p:nvSpPr>
        <p:spPr>
          <a:xfrm>
            <a:off x="731520" y="1783080"/>
            <a:ext cx="8778240" cy="3534301"/>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The </a:t>
            </a:r>
            <a:r>
              <a:rPr lang="en-US" sz="2600" b="1" i="0" dirty="0">
                <a:solidFill>
                  <a:srgbClr val="000000"/>
                </a:solidFill>
                <a:latin typeface="Cambria"/>
                <a:cs typeface="Cambria"/>
              </a:rPr>
              <a:t>derivative</a:t>
            </a:r>
            <a:r>
              <a:rPr lang="en-US" sz="2600" b="0" i="0" dirty="0">
                <a:solidFill>
                  <a:srgbClr val="000000"/>
                </a:solidFill>
                <a:latin typeface="Cambria"/>
                <a:cs typeface="Cambria"/>
              </a:rPr>
              <a:t>  dL/dw  is the </a:t>
            </a:r>
            <a:r>
              <a:rPr lang="en-US" sz="2600" b="1" i="0" dirty="0">
                <a:solidFill>
                  <a:srgbClr val="000000"/>
                </a:solidFill>
                <a:latin typeface="Cambria"/>
                <a:cs typeface="Cambria"/>
              </a:rPr>
              <a:t>slope</a:t>
            </a:r>
            <a:r>
              <a:rPr lang="en-US" sz="2600" b="0" i="0" dirty="0">
                <a:solidFill>
                  <a:srgbClr val="000000"/>
                </a:solidFill>
                <a:latin typeface="Cambria"/>
                <a:cs typeface="Cambria"/>
              </a:rPr>
              <a:t> of  L  versus  </a:t>
            </a:r>
            <a:r>
              <a:rPr lang="en-US" sz="2600" b="0" i="0" dirty="0" smtClean="0">
                <a:solidFill>
                  <a:srgbClr val="000000"/>
                </a:solidFill>
                <a:latin typeface="Cambria"/>
                <a:cs typeface="Cambria"/>
              </a:rPr>
              <a:t>weight w</a:t>
            </a:r>
            <a:endParaRPr lang="en-US" sz="2600" b="0" i="0" dirty="0">
              <a:solidFill>
                <a:srgbClr val="000000"/>
              </a:solidFill>
              <a:latin typeface="Cambria"/>
              <a:cs typeface="Cambria"/>
            </a:endParaRP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dirty="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It answers:   if I nudge  w  up a little,</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how much does  L  change?</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dirty="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dL/dw &gt; 0:    increasing  w  makes  L  worse</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dL/dw &lt; 0:    increasing  w  makes  L  better</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dL/dw = 0:    flat:  at a minimum  ( or maximum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Partial Derivatives</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A network has </a:t>
            </a:r>
            <a:r>
              <a:rPr lang="en-US" sz="2600" b="1" i="0" dirty="0">
                <a:solidFill>
                  <a:srgbClr val="000000"/>
                </a:solidFill>
                <a:latin typeface="Cambria"/>
                <a:cs typeface="Cambria"/>
              </a:rPr>
              <a:t>many</a:t>
            </a:r>
            <a:r>
              <a:rPr lang="en-US" sz="2600" b="0" i="0" dirty="0">
                <a:solidFill>
                  <a:srgbClr val="000000"/>
                </a:solidFill>
                <a:latin typeface="Cambria"/>
                <a:cs typeface="Cambria"/>
              </a:rPr>
              <a:t> weights:   w1,  w2,  …</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Partial derivative</a:t>
            </a:r>
            <a:r>
              <a:rPr lang="en-US" sz="2600" b="0" i="0" dirty="0">
                <a:solidFill>
                  <a:srgbClr val="000000"/>
                </a:solidFill>
                <a:latin typeface="Cambria"/>
                <a:cs typeface="Cambria"/>
              </a:rPr>
              <a:t>   ∂L/∂w1:</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the slope with respect to  w1  alone,</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holding every other weight fixed</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 a curly  d )  means  "partial"</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The </a:t>
            </a:r>
            <a:r>
              <a:rPr lang="en-US" sz="2600" b="1" i="0" dirty="0">
                <a:solidFill>
                  <a:srgbClr val="000000"/>
                </a:solidFill>
                <a:latin typeface="Cambria"/>
                <a:cs typeface="Cambria"/>
              </a:rPr>
              <a:t>gradient</a:t>
            </a:r>
            <a:r>
              <a:rPr lang="en-US" sz="2600" b="0" i="0" dirty="0">
                <a:solidFill>
                  <a:srgbClr val="000000"/>
                </a:solidFill>
                <a:latin typeface="Cambria"/>
                <a:cs typeface="Cambria"/>
              </a:rPr>
              <a:t>:  the list of all the partials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 ∂L/∂w1,   ∂L/∂w2,   …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Rolling Downhill</a:t>
            </a:r>
          </a:p>
        </p:txBody>
      </p:sp>
      <p:sp>
        <p:nvSpPr>
          <p:cNvPr id="2" name="Freeform 1"/>
          <p:cNvSpPr/>
          <p:nvPr/>
        </p:nvSpPr>
        <p:spPr>
          <a:xfrm>
            <a:off x="1097280" y="2194560"/>
            <a:ext cx="7315200" cy="3291840"/>
          </a:xfrm>
          <a:custGeom>
            <a:avLst/>
            <a:gdLst/>
            <a:ahLst/>
            <a:cxnLst/>
            <a:rect l="l" t="t" r="r" b="b"/>
            <a:pathLst>
              <a:path w="7315200" h="3291840">
                <a:moveTo>
                  <a:pt x="0" y="0"/>
                </a:moveTo>
                <a:lnTo>
                  <a:pt x="91440" y="162534"/>
                </a:lnTo>
                <a:lnTo>
                  <a:pt x="182880" y="320954"/>
                </a:lnTo>
                <a:lnTo>
                  <a:pt x="274320" y="475259"/>
                </a:lnTo>
                <a:lnTo>
                  <a:pt x="365760" y="625449"/>
                </a:lnTo>
                <a:lnTo>
                  <a:pt x="457200" y="771525"/>
                </a:lnTo>
                <a:lnTo>
                  <a:pt x="548640" y="913485"/>
                </a:lnTo>
                <a:lnTo>
                  <a:pt x="640080" y="1051331"/>
                </a:lnTo>
                <a:lnTo>
                  <a:pt x="731520" y="1185062"/>
                </a:lnTo>
                <a:lnTo>
                  <a:pt x="822960" y="1314678"/>
                </a:lnTo>
                <a:lnTo>
                  <a:pt x="914400" y="1440179"/>
                </a:lnTo>
                <a:lnTo>
                  <a:pt x="1005840" y="1561566"/>
                </a:lnTo>
                <a:lnTo>
                  <a:pt x="1097280" y="1678838"/>
                </a:lnTo>
                <a:lnTo>
                  <a:pt x="1188720" y="1791995"/>
                </a:lnTo>
                <a:lnTo>
                  <a:pt x="1280160" y="1901037"/>
                </a:lnTo>
                <a:lnTo>
                  <a:pt x="1371600" y="2005965"/>
                </a:lnTo>
                <a:lnTo>
                  <a:pt x="1463040" y="2106777"/>
                </a:lnTo>
                <a:lnTo>
                  <a:pt x="1554480" y="2203475"/>
                </a:lnTo>
                <a:lnTo>
                  <a:pt x="1645920" y="2296058"/>
                </a:lnTo>
                <a:lnTo>
                  <a:pt x="1737360" y="2384526"/>
                </a:lnTo>
                <a:lnTo>
                  <a:pt x="1828800" y="2468880"/>
                </a:lnTo>
                <a:lnTo>
                  <a:pt x="1920240" y="2549118"/>
                </a:lnTo>
                <a:lnTo>
                  <a:pt x="2011680" y="2625242"/>
                </a:lnTo>
                <a:lnTo>
                  <a:pt x="2103120" y="2697251"/>
                </a:lnTo>
                <a:lnTo>
                  <a:pt x="2194560" y="2765145"/>
                </a:lnTo>
                <a:lnTo>
                  <a:pt x="2286000" y="2828925"/>
                </a:lnTo>
                <a:lnTo>
                  <a:pt x="2377440" y="2888589"/>
                </a:lnTo>
                <a:lnTo>
                  <a:pt x="2468880" y="2944139"/>
                </a:lnTo>
                <a:lnTo>
                  <a:pt x="2560320" y="2995574"/>
                </a:lnTo>
                <a:lnTo>
                  <a:pt x="2651760" y="3042894"/>
                </a:lnTo>
                <a:lnTo>
                  <a:pt x="2743200" y="3086100"/>
                </a:lnTo>
                <a:lnTo>
                  <a:pt x="2834640" y="3125190"/>
                </a:lnTo>
                <a:lnTo>
                  <a:pt x="2926080" y="3160166"/>
                </a:lnTo>
                <a:lnTo>
                  <a:pt x="3017520" y="3191027"/>
                </a:lnTo>
                <a:lnTo>
                  <a:pt x="3108960" y="3217773"/>
                </a:lnTo>
                <a:lnTo>
                  <a:pt x="3200400" y="3240405"/>
                </a:lnTo>
                <a:lnTo>
                  <a:pt x="3291840" y="3258921"/>
                </a:lnTo>
                <a:lnTo>
                  <a:pt x="3383280" y="3273323"/>
                </a:lnTo>
                <a:lnTo>
                  <a:pt x="3474720" y="3283610"/>
                </a:lnTo>
                <a:lnTo>
                  <a:pt x="3566160" y="3289782"/>
                </a:lnTo>
                <a:lnTo>
                  <a:pt x="3657600" y="3291840"/>
                </a:lnTo>
                <a:lnTo>
                  <a:pt x="3749040" y="3289782"/>
                </a:lnTo>
                <a:lnTo>
                  <a:pt x="3840480" y="3283610"/>
                </a:lnTo>
                <a:lnTo>
                  <a:pt x="3931920" y="3273323"/>
                </a:lnTo>
                <a:lnTo>
                  <a:pt x="4023360" y="3258921"/>
                </a:lnTo>
                <a:lnTo>
                  <a:pt x="4114800" y="3240405"/>
                </a:lnTo>
                <a:lnTo>
                  <a:pt x="4206240" y="3217773"/>
                </a:lnTo>
                <a:lnTo>
                  <a:pt x="4297680" y="3191027"/>
                </a:lnTo>
                <a:lnTo>
                  <a:pt x="4389120" y="3160166"/>
                </a:lnTo>
                <a:lnTo>
                  <a:pt x="4480560" y="3125190"/>
                </a:lnTo>
                <a:lnTo>
                  <a:pt x="4572000" y="3086100"/>
                </a:lnTo>
                <a:lnTo>
                  <a:pt x="4663440" y="3042894"/>
                </a:lnTo>
                <a:lnTo>
                  <a:pt x="4754880" y="2995574"/>
                </a:lnTo>
                <a:lnTo>
                  <a:pt x="4846320" y="2944139"/>
                </a:lnTo>
                <a:lnTo>
                  <a:pt x="4937760" y="2888589"/>
                </a:lnTo>
                <a:lnTo>
                  <a:pt x="5029200" y="2828925"/>
                </a:lnTo>
                <a:lnTo>
                  <a:pt x="5120640" y="2765145"/>
                </a:lnTo>
                <a:lnTo>
                  <a:pt x="5212080" y="2697251"/>
                </a:lnTo>
                <a:lnTo>
                  <a:pt x="5303520" y="2625242"/>
                </a:lnTo>
                <a:lnTo>
                  <a:pt x="5394960" y="2549118"/>
                </a:lnTo>
                <a:lnTo>
                  <a:pt x="5486400" y="2468880"/>
                </a:lnTo>
                <a:lnTo>
                  <a:pt x="5577840" y="2384526"/>
                </a:lnTo>
                <a:lnTo>
                  <a:pt x="5669280" y="2296058"/>
                </a:lnTo>
                <a:lnTo>
                  <a:pt x="5760720" y="2203475"/>
                </a:lnTo>
                <a:lnTo>
                  <a:pt x="5852160" y="2106777"/>
                </a:lnTo>
                <a:lnTo>
                  <a:pt x="5943600" y="2005965"/>
                </a:lnTo>
                <a:lnTo>
                  <a:pt x="6035040" y="1901037"/>
                </a:lnTo>
                <a:lnTo>
                  <a:pt x="6126480" y="1791995"/>
                </a:lnTo>
                <a:lnTo>
                  <a:pt x="6217920" y="1678838"/>
                </a:lnTo>
                <a:lnTo>
                  <a:pt x="6309360" y="1561566"/>
                </a:lnTo>
                <a:lnTo>
                  <a:pt x="6400799" y="1440179"/>
                </a:lnTo>
                <a:lnTo>
                  <a:pt x="6492240" y="1314678"/>
                </a:lnTo>
                <a:lnTo>
                  <a:pt x="6583680" y="1185062"/>
                </a:lnTo>
                <a:lnTo>
                  <a:pt x="6675120" y="1051331"/>
                </a:lnTo>
                <a:lnTo>
                  <a:pt x="6766560" y="913485"/>
                </a:lnTo>
                <a:lnTo>
                  <a:pt x="6857999" y="771525"/>
                </a:lnTo>
                <a:lnTo>
                  <a:pt x="6949440" y="625449"/>
                </a:lnTo>
                <a:lnTo>
                  <a:pt x="7040880" y="475259"/>
                </a:lnTo>
                <a:lnTo>
                  <a:pt x="7132320" y="320954"/>
                </a:lnTo>
                <a:lnTo>
                  <a:pt x="7223760" y="162534"/>
                </a:lnTo>
                <a:lnTo>
                  <a:pt x="7315200" y="0"/>
                </a:lnTo>
              </a:path>
            </a:pathLst>
          </a:custGeom>
          <a:noFill/>
          <a:ln w="38100">
            <a:solidFill>
              <a:srgbClr val="004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1" name="Oval 900"/>
          <p:cNvSpPr/>
          <p:nvPr/>
        </p:nvSpPr>
        <p:spPr>
          <a:xfrm>
            <a:off x="2212848" y="3729837"/>
            <a:ext cx="329184" cy="329184"/>
          </a:xfrm>
          <a:prstGeom prst="ellipse">
            <a:avLst/>
          </a:prstGeom>
          <a:solidFill>
            <a:srgbClr val="C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cxnSp>
        <p:nvCxnSpPr>
          <p:cNvPr id="902" name="Connector 901"/>
          <p:cNvCxnSpPr/>
          <p:nvPr/>
        </p:nvCxnSpPr>
        <p:spPr>
          <a:xfrm>
            <a:off x="2560320" y="4004157"/>
            <a:ext cx="822960" cy="914400"/>
          </a:xfrm>
          <a:prstGeom prst="line">
            <a:avLst/>
          </a:prstGeom>
          <a:ln w="3175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903" name="TextBox 902"/>
          <p:cNvSpPr txBox="1"/>
          <p:nvPr/>
        </p:nvSpPr>
        <p:spPr>
          <a:xfrm>
            <a:off x="3474720" y="4278477"/>
            <a:ext cx="2377440" cy="457200"/>
          </a:xfrm>
          <a:prstGeom prst="rect">
            <a:avLst/>
          </a:prstGeom>
          <a:noFill/>
        </p:spPr>
        <p:txBody>
          <a:bodyPr wrap="square" lIns="0" tIns="0" rIns="0" bIns="0" anchor="ctr">
            <a:spAutoFit/>
          </a:bodyPr>
          <a:lstStyle/>
          <a:p>
            <a:pPr algn="ctr"/>
            <a:r>
              <a:rPr sz="1800" b="1" i="0">
                <a:solidFill>
                  <a:srgbClr val="C00000"/>
                </a:solidFill>
                <a:latin typeface="Cambria"/>
              </a:rPr>
              <a:t>step  =  − η · slope</a:t>
            </a:r>
          </a:p>
          <a:p>
            <a:pPr algn="ctr"/>
            <a:r>
              <a:rPr lang="en-US" sz="1600" b="0" i="0" dirty="0">
                <a:solidFill>
                  <a:srgbClr val="C00000"/>
                </a:solidFill>
                <a:latin typeface="Cambria"/>
                <a:cs typeface="Cambria"/>
              </a:rPr>
              <a:t>η = step size</a:t>
            </a:r>
          </a:p>
        </p:txBody>
      </p:sp>
      <p:sp>
        <p:nvSpPr>
          <p:cNvPr id="904" name="TextBox 903"/>
          <p:cNvSpPr txBox="1"/>
          <p:nvPr/>
        </p:nvSpPr>
        <p:spPr>
          <a:xfrm>
            <a:off x="4023360" y="4983480"/>
            <a:ext cx="1463040" cy="365760"/>
          </a:xfrm>
          <a:prstGeom prst="rect">
            <a:avLst/>
          </a:prstGeom>
          <a:noFill/>
        </p:spPr>
        <p:txBody>
          <a:bodyPr wrap="square" lIns="0" tIns="0" rIns="0" bIns="0" anchor="ctr">
            <a:spAutoFit/>
          </a:bodyPr>
          <a:lstStyle/>
          <a:p>
            <a:pPr algn="ctr"/>
            <a:r>
              <a:rPr sz="1600" b="0" i="1">
                <a:solidFill>
                  <a:srgbClr val="595959"/>
                </a:solidFill>
                <a:latin typeface="Cambria"/>
              </a:rPr>
              <a:t>minimum</a:t>
            </a:r>
          </a:p>
        </p:txBody>
      </p:sp>
      <p:cxnSp>
        <p:nvCxnSpPr>
          <p:cNvPr id="905" name="Connector 904"/>
          <p:cNvCxnSpPr/>
          <p:nvPr/>
        </p:nvCxnSpPr>
        <p:spPr>
          <a:xfrm>
            <a:off x="914400" y="5852160"/>
            <a:ext cx="7863840"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6" name="TextBox 905"/>
          <p:cNvSpPr txBox="1"/>
          <p:nvPr/>
        </p:nvSpPr>
        <p:spPr>
          <a:xfrm>
            <a:off x="8229600" y="5897880"/>
            <a:ext cx="1097280" cy="365760"/>
          </a:xfrm>
          <a:prstGeom prst="rect">
            <a:avLst/>
          </a:prstGeom>
          <a:noFill/>
        </p:spPr>
        <p:txBody>
          <a:bodyPr wrap="square" lIns="0" tIns="0" rIns="0" bIns="0" anchor="ctr">
            <a:spAutoFit/>
          </a:bodyPr>
          <a:lstStyle/>
          <a:p>
            <a:pPr algn="ctr"/>
            <a:r>
              <a:rPr sz="1600" b="0" i="0">
                <a:solidFill>
                  <a:srgbClr val="000000"/>
                </a:solidFill>
                <a:latin typeface="Cambria"/>
              </a:rPr>
              <a:t>weight  w</a:t>
            </a:r>
          </a:p>
        </p:txBody>
      </p:sp>
      <p:cxnSp>
        <p:nvCxnSpPr>
          <p:cNvPr id="907" name="Connector 906"/>
          <p:cNvCxnSpPr/>
          <p:nvPr/>
        </p:nvCxnSpPr>
        <p:spPr>
          <a:xfrm flipV="1">
            <a:off x="914400" y="1737360"/>
            <a:ext cx="0" cy="411480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8" name="TextBox 907"/>
          <p:cNvSpPr txBox="1"/>
          <p:nvPr/>
        </p:nvSpPr>
        <p:spPr>
          <a:xfrm>
            <a:off x="274320" y="1645920"/>
            <a:ext cx="640080" cy="365760"/>
          </a:xfrm>
          <a:prstGeom prst="rect">
            <a:avLst/>
          </a:prstGeom>
          <a:noFill/>
        </p:spPr>
        <p:txBody>
          <a:bodyPr wrap="square" lIns="0" tIns="0" rIns="0" bIns="0" anchor="ctr">
            <a:spAutoFit/>
          </a:bodyPr>
          <a:lstStyle/>
          <a:p>
            <a:pPr algn="ctr"/>
            <a:r>
              <a:rPr sz="2000" b="1" i="0">
                <a:solidFill>
                  <a:srgbClr val="000000"/>
                </a:solidFill>
                <a:latin typeface="Cambria"/>
              </a:rPr>
              <a:t>L</a:t>
            </a:r>
          </a:p>
        </p:txBody>
      </p:sp>
      <p:sp>
        <p:nvSpPr>
          <p:cNvPr id="909" name="TextBox 908"/>
          <p:cNvSpPr txBox="1"/>
          <p:nvPr/>
        </p:nvSpPr>
        <p:spPr>
          <a:xfrm>
            <a:off x="6400800" y="1828800"/>
            <a:ext cx="3108960" cy="219456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The </a:t>
            </a:r>
            <a:r>
              <a:rPr sz="2200" b="1" i="0">
                <a:solidFill>
                  <a:srgbClr val="000000"/>
                </a:solidFill>
                <a:latin typeface="Cambria"/>
              </a:rPr>
              <a:t>gradient</a:t>
            </a:r>
            <a:r>
              <a:rPr sz="2200" b="0" i="0">
                <a:solidFill>
                  <a:srgbClr val="000000"/>
                </a:solidFill>
                <a:latin typeface="Cambria"/>
              </a:rPr>
              <a:t>  ∂L/∂w  is the slope</a:t>
            </a:r>
          </a:p>
          <a:p>
            <a:pPr algn="l">
              <a:tabLst>
                <a:tab pos="548640" algn="l"/>
                <a:tab pos="1097280" algn="l"/>
                <a:tab pos="1645919" algn="l"/>
                <a:tab pos="2194560" algn="l"/>
                <a:tab pos="2743200" algn="l"/>
                <a:tab pos="3291839" algn="l"/>
                <a:tab pos="3840480" algn="l"/>
                <a:tab pos="4389120" algn="l"/>
              </a:tabLst>
            </a:pPr>
            <a:r>
              <a:rPr sz="11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Go the </a:t>
            </a:r>
            <a:r>
              <a:rPr sz="2200" b="1" i="0">
                <a:solidFill>
                  <a:srgbClr val="000000"/>
                </a:solidFill>
                <a:latin typeface="Cambria"/>
              </a:rPr>
              <a:t>other</a:t>
            </a:r>
            <a:r>
              <a:rPr sz="2200" b="0" i="0">
                <a:solidFill>
                  <a:srgbClr val="000000"/>
                </a:solidFill>
                <a:latin typeface="Cambria"/>
              </a:rPr>
              <a:t> way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Gradient Descent</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Repeat: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w  &lt;=  w  −  η · ∂L/∂w</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&lt;=   means  "replace with",  as in Verilog</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Minus sign:  move </a:t>
            </a:r>
            <a:r>
              <a:rPr lang="en-US" sz="2600" b="1" i="0" dirty="0">
                <a:solidFill>
                  <a:srgbClr val="000000"/>
                </a:solidFill>
                <a:latin typeface="Cambria"/>
                <a:cs typeface="Cambria"/>
              </a:rPr>
              <a:t>against</a:t>
            </a:r>
            <a:r>
              <a:rPr lang="en-US" sz="2600" b="0" i="0" dirty="0">
                <a:solidFill>
                  <a:srgbClr val="000000"/>
                </a:solidFill>
                <a:latin typeface="Cambria"/>
                <a:cs typeface="Cambria"/>
              </a:rPr>
              <a:t> the slope   ( downhill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η   ( Greek  "eta" )  is the </a:t>
            </a:r>
            <a:r>
              <a:rPr lang="en-US" sz="2600" b="1" i="0" dirty="0">
                <a:solidFill>
                  <a:srgbClr val="000000"/>
                </a:solidFill>
                <a:latin typeface="Cambria"/>
                <a:cs typeface="Cambria"/>
              </a:rPr>
              <a:t>learning rate</a:t>
            </a:r>
            <a:r>
              <a:rPr lang="en-US" sz="2600" b="0" i="0" dirty="0">
                <a:solidFill>
                  <a:srgbClr val="000000"/>
                </a:solidFill>
                <a:latin typeface="Cambria"/>
                <a:cs typeface="Cambria"/>
              </a:rPr>
              <a: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how big a step to take</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Needs  ∂L/∂w  for </a:t>
            </a:r>
            <a:r>
              <a:rPr lang="en-US" sz="2600" b="1" i="0" dirty="0">
                <a:solidFill>
                  <a:srgbClr val="000000"/>
                </a:solidFill>
                <a:latin typeface="Cambria"/>
                <a:cs typeface="Cambria"/>
              </a:rPr>
              <a:t>every</a:t>
            </a:r>
            <a:r>
              <a:rPr lang="en-US" sz="2600" b="0" i="0" dirty="0">
                <a:solidFill>
                  <a:srgbClr val="000000"/>
                </a:solidFill>
                <a:latin typeface="Cambria"/>
                <a:cs typeface="Cambria"/>
              </a:rPr>
              <a:t> weight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Learning Rate:  An Example</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Loss   L = w²,    slope   dL/dw = 2w,    start at  w = 1</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Each step:    w  &lt;=  w  −  η · 2w</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η = 0.1:     1  →  0.8  →  0.64  →  0.51</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crawls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η = 0.4:     1  →  0.2  →  0.04  →  0.008</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fast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η = 1.1:     1  →  −1.2  →  1.44  →  −1.73</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overshoots and diverges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The Forward Pass</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Forward pass</a:t>
            </a:r>
            <a:r>
              <a:rPr lang="en-US" sz="2600" b="0" i="0" dirty="0">
                <a:solidFill>
                  <a:srgbClr val="000000"/>
                </a:solidFill>
                <a:latin typeface="Cambria"/>
                <a:cs typeface="Cambria"/>
              </a:rPr>
              <a:t>:   run an input through the network</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left to right,  layer by layer</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ending with the output  y  and the loss  L</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Gives us  L  for the current weights</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It does </a:t>
            </a:r>
            <a:r>
              <a:rPr lang="en-US" sz="2600" b="1" i="0" dirty="0">
                <a:solidFill>
                  <a:srgbClr val="000000"/>
                </a:solidFill>
                <a:latin typeface="Cambria"/>
                <a:cs typeface="Cambria"/>
              </a:rPr>
              <a:t>not</a:t>
            </a:r>
            <a:r>
              <a:rPr lang="en-US" sz="2600" b="0" i="0" dirty="0">
                <a:solidFill>
                  <a:srgbClr val="000000"/>
                </a:solidFill>
                <a:latin typeface="Cambria"/>
                <a:cs typeface="Cambria"/>
              </a:rPr>
              <a:t> tell us the slopes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Finding a Slope by Nudging</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Nudge one weight by a tiny amount  ε   ( epsilon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e.g.   ε = 0.0001</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Forward pass with  w + ε,   another with  w − ε</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Slope  ≈  rise / run:</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∂L/∂w  ≈  ( L(w + ε)  −  L(w − ε) )  /  2ε</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This is called the </a:t>
            </a:r>
            <a:r>
              <a:rPr lang="en-US" sz="2600" b="1" i="0" dirty="0">
                <a:solidFill>
                  <a:srgbClr val="000000"/>
                </a:solidFill>
                <a:latin typeface="Cambria"/>
                <a:cs typeface="Cambria"/>
              </a:rPr>
              <a:t>finite difference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The Obvious Way Is Hopeless</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Two</a:t>
            </a:r>
            <a:r>
              <a:rPr lang="en-US" sz="2600" b="0" i="0" dirty="0">
                <a:solidFill>
                  <a:srgbClr val="000000"/>
                </a:solidFill>
                <a:latin typeface="Cambria"/>
                <a:cs typeface="Cambria"/>
              </a:rPr>
              <a:t> forward passes  per weight</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One billion weights: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a:t>
            </a:r>
            <a:r>
              <a:rPr lang="en-US" sz="2600" b="1" i="0" dirty="0">
                <a:solidFill>
                  <a:srgbClr val="000000"/>
                </a:solidFill>
                <a:latin typeface="Cambria"/>
                <a:cs typeface="Cambria"/>
              </a:rPr>
              <a:t>two billion</a:t>
            </a:r>
            <a:r>
              <a:rPr lang="en-US" sz="2600" b="0" i="0" dirty="0">
                <a:solidFill>
                  <a:srgbClr val="000000"/>
                </a:solidFill>
                <a:latin typeface="Cambria"/>
                <a:cs typeface="Cambria"/>
              </a:rPr>
              <a:t> forward passes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for </a:t>
            </a:r>
            <a:r>
              <a:rPr lang="en-US" sz="2600" b="1" i="0" dirty="0">
                <a:solidFill>
                  <a:srgbClr val="000000"/>
                </a:solidFill>
                <a:latin typeface="Cambria"/>
                <a:cs typeface="Cambria"/>
              </a:rPr>
              <a:t>one step</a:t>
            </a:r>
            <a:r>
              <a:rPr lang="en-US" sz="2600" b="0" i="0" dirty="0">
                <a:solidFill>
                  <a:srgbClr val="000000"/>
                </a:solidFill>
                <a:latin typeface="Cambria"/>
                <a:cs typeface="Cambria"/>
              </a:rPr>
              <a:t>   ( one update of the weights )</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Training takes millions of steps</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We need </a:t>
            </a:r>
            <a:r>
              <a:rPr lang="en-US" sz="2600" b="1" i="0" dirty="0">
                <a:solidFill>
                  <a:srgbClr val="000000"/>
                </a:solidFill>
                <a:latin typeface="Cambria"/>
                <a:cs typeface="Cambria"/>
              </a:rPr>
              <a:t>all</a:t>
            </a:r>
            <a:r>
              <a:rPr lang="en-US" sz="2600" b="0" i="0" dirty="0">
                <a:solidFill>
                  <a:srgbClr val="000000"/>
                </a:solidFill>
                <a:latin typeface="Cambria"/>
                <a:cs typeface="Cambria"/>
              </a:rPr>
              <a:t> the derivatives at once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The Chain Rule</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If   y = f(z)   and   z = g(w)   then</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∂y/∂w  =  ∂y/∂z  ·  ∂z/∂w</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In words:  rates of change </a:t>
            </a:r>
            <a:r>
              <a:rPr lang="en-US" sz="2600" b="1" i="0" dirty="0">
                <a:solidFill>
                  <a:srgbClr val="000000"/>
                </a:solidFill>
                <a:latin typeface="Cambria"/>
                <a:cs typeface="Cambria"/>
              </a:rPr>
              <a:t>multiply</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w  moves  z,   and  z  moves  y</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f  and  g  can be any two functions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Chain Rule Example</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z = 3w          y = z²</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Local derivatives: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∂z/∂w = 3              ∂y/∂z = 2z</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Chain rule:</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∂y/∂w  =  2z · 3  =  6z  =  18w</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Check directly:    y = 9w²,    so   dy/dw = 18w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Networks Are Chains</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A network is a long chain of simple functions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multiply,  add,  activation,  multiply, …</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Each piece has an easy </a:t>
            </a:r>
            <a:r>
              <a:rPr lang="en-US" sz="2600" b="1" i="0" dirty="0">
                <a:solidFill>
                  <a:srgbClr val="000000"/>
                </a:solidFill>
                <a:latin typeface="Cambria"/>
                <a:cs typeface="Cambria"/>
              </a:rPr>
              <a:t>local derivative</a:t>
            </a:r>
            <a:r>
              <a:rPr lang="en-US" sz="2600" b="0" i="0" dirty="0">
                <a:solidFill>
                  <a:srgbClr val="000000"/>
                </a:solidFill>
                <a:latin typeface="Cambria"/>
                <a:cs typeface="Cambria"/>
              </a:rPr>
              <a: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its own slope,  ignoring the rest</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The derivative of the whole network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a long product of local derivatives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The Sigmoid Function</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σ(z)  =  1 / ( 1 + e^−z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σ:   the Greek letter sigma</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e ≈ 2.718,  the base of the natural logarithm</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Squashes any number into the range  0 … 1:</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σ(−5) ≈ 0.007      σ(0) = 0.5      σ(5) ≈ 0.993</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A classic activation function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A Tiny Network</a:t>
            </a:r>
          </a:p>
        </p:txBody>
      </p:sp>
      <p:sp>
        <p:nvSpPr>
          <p:cNvPr id="901" name="Oval 900"/>
          <p:cNvSpPr/>
          <p:nvPr/>
        </p:nvSpPr>
        <p:spPr>
          <a:xfrm>
            <a:off x="640080" y="2606039"/>
            <a:ext cx="822960" cy="82296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x</a:t>
            </a:r>
          </a:p>
        </p:txBody>
      </p:sp>
      <p:cxnSp>
        <p:nvCxnSpPr>
          <p:cNvPr id="902" name="Connector 901"/>
          <p:cNvCxnSpPr/>
          <p:nvPr/>
        </p:nvCxnSpPr>
        <p:spPr>
          <a:xfrm>
            <a:off x="1463040" y="3017520"/>
            <a:ext cx="960120"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3" name="TextBox 902"/>
          <p:cNvSpPr txBox="1"/>
          <p:nvPr/>
        </p:nvSpPr>
        <p:spPr>
          <a:xfrm>
            <a:off x="1463040" y="2240279"/>
            <a:ext cx="960120" cy="365760"/>
          </a:xfrm>
          <a:prstGeom prst="rect">
            <a:avLst/>
          </a:prstGeom>
          <a:noFill/>
        </p:spPr>
        <p:txBody>
          <a:bodyPr wrap="square" lIns="0" tIns="0" rIns="0" bIns="0" anchor="ctr">
            <a:spAutoFit/>
          </a:bodyPr>
          <a:lstStyle/>
          <a:p>
            <a:pPr algn="ctr"/>
            <a:r>
              <a:rPr sz="1600" b="0" i="0">
                <a:solidFill>
                  <a:srgbClr val="000000"/>
                </a:solidFill>
                <a:latin typeface="Courier New"/>
              </a:rPr>
              <a:t>× w1</a:t>
            </a:r>
          </a:p>
        </p:txBody>
      </p:sp>
      <p:sp>
        <p:nvSpPr>
          <p:cNvPr id="904" name="Oval 903"/>
          <p:cNvSpPr/>
          <p:nvPr/>
        </p:nvSpPr>
        <p:spPr>
          <a:xfrm>
            <a:off x="2423160" y="2606039"/>
            <a:ext cx="822960" cy="82296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z</a:t>
            </a:r>
          </a:p>
        </p:txBody>
      </p:sp>
      <p:cxnSp>
        <p:nvCxnSpPr>
          <p:cNvPr id="905" name="Connector 904"/>
          <p:cNvCxnSpPr/>
          <p:nvPr/>
        </p:nvCxnSpPr>
        <p:spPr>
          <a:xfrm>
            <a:off x="3246120" y="3017520"/>
            <a:ext cx="960120"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6" name="TextBox 905"/>
          <p:cNvSpPr txBox="1"/>
          <p:nvPr/>
        </p:nvSpPr>
        <p:spPr>
          <a:xfrm>
            <a:off x="3246120" y="2240279"/>
            <a:ext cx="960120" cy="365760"/>
          </a:xfrm>
          <a:prstGeom prst="rect">
            <a:avLst/>
          </a:prstGeom>
          <a:noFill/>
        </p:spPr>
        <p:txBody>
          <a:bodyPr wrap="square" lIns="0" tIns="0" rIns="0" bIns="0" anchor="ctr">
            <a:spAutoFit/>
          </a:bodyPr>
          <a:lstStyle/>
          <a:p>
            <a:pPr algn="ctr"/>
            <a:r>
              <a:rPr sz="1600" b="0" i="0">
                <a:solidFill>
                  <a:srgbClr val="000000"/>
                </a:solidFill>
                <a:latin typeface="Cambria"/>
              </a:rPr>
              <a:t>σ</a:t>
            </a:r>
          </a:p>
        </p:txBody>
      </p:sp>
      <p:sp>
        <p:nvSpPr>
          <p:cNvPr id="907" name="Oval 906"/>
          <p:cNvSpPr/>
          <p:nvPr/>
        </p:nvSpPr>
        <p:spPr>
          <a:xfrm>
            <a:off x="4206240" y="2606039"/>
            <a:ext cx="822960" cy="82296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h</a:t>
            </a:r>
          </a:p>
        </p:txBody>
      </p:sp>
      <p:cxnSp>
        <p:nvCxnSpPr>
          <p:cNvPr id="908" name="Connector 907"/>
          <p:cNvCxnSpPr/>
          <p:nvPr/>
        </p:nvCxnSpPr>
        <p:spPr>
          <a:xfrm>
            <a:off x="5029200" y="3017520"/>
            <a:ext cx="960120"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9" name="TextBox 908"/>
          <p:cNvSpPr txBox="1"/>
          <p:nvPr/>
        </p:nvSpPr>
        <p:spPr>
          <a:xfrm>
            <a:off x="5029200" y="2240279"/>
            <a:ext cx="960120" cy="365760"/>
          </a:xfrm>
          <a:prstGeom prst="rect">
            <a:avLst/>
          </a:prstGeom>
          <a:noFill/>
        </p:spPr>
        <p:txBody>
          <a:bodyPr wrap="square" lIns="0" tIns="0" rIns="0" bIns="0" anchor="ctr">
            <a:spAutoFit/>
          </a:bodyPr>
          <a:lstStyle/>
          <a:p>
            <a:pPr algn="ctr"/>
            <a:r>
              <a:rPr sz="1600" b="0" i="0">
                <a:solidFill>
                  <a:srgbClr val="000000"/>
                </a:solidFill>
                <a:latin typeface="Courier New"/>
              </a:rPr>
              <a:t>× w2</a:t>
            </a:r>
          </a:p>
        </p:txBody>
      </p:sp>
      <p:sp>
        <p:nvSpPr>
          <p:cNvPr id="910" name="Oval 909"/>
          <p:cNvSpPr/>
          <p:nvPr/>
        </p:nvSpPr>
        <p:spPr>
          <a:xfrm>
            <a:off x="5989320" y="2606039"/>
            <a:ext cx="822960" cy="82296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y</a:t>
            </a:r>
          </a:p>
        </p:txBody>
      </p:sp>
      <p:cxnSp>
        <p:nvCxnSpPr>
          <p:cNvPr id="911" name="Connector 910"/>
          <p:cNvCxnSpPr/>
          <p:nvPr/>
        </p:nvCxnSpPr>
        <p:spPr>
          <a:xfrm>
            <a:off x="6812280" y="3017520"/>
            <a:ext cx="960120"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12" name="TextBox 911"/>
          <p:cNvSpPr txBox="1"/>
          <p:nvPr/>
        </p:nvSpPr>
        <p:spPr>
          <a:xfrm>
            <a:off x="6812280" y="2240279"/>
            <a:ext cx="960120" cy="365760"/>
          </a:xfrm>
          <a:prstGeom prst="rect">
            <a:avLst/>
          </a:prstGeom>
          <a:noFill/>
        </p:spPr>
        <p:txBody>
          <a:bodyPr wrap="square" lIns="0" tIns="0" rIns="0" bIns="0" anchor="ctr">
            <a:spAutoFit/>
          </a:bodyPr>
          <a:lstStyle/>
          <a:p>
            <a:pPr algn="ctr"/>
            <a:r>
              <a:rPr sz="1600" b="0" i="0">
                <a:solidFill>
                  <a:srgbClr val="000000"/>
                </a:solidFill>
                <a:latin typeface="Courier New"/>
              </a:rPr>
              <a:t>½(y−t)²</a:t>
            </a:r>
          </a:p>
        </p:txBody>
      </p:sp>
      <p:sp>
        <p:nvSpPr>
          <p:cNvPr id="913" name="Oval 912"/>
          <p:cNvSpPr/>
          <p:nvPr/>
        </p:nvSpPr>
        <p:spPr>
          <a:xfrm>
            <a:off x="7772400" y="2606039"/>
            <a:ext cx="822960" cy="822960"/>
          </a:xfrm>
          <a:prstGeom prst="ellipse">
            <a:avLst/>
          </a:prstGeom>
          <a:solidFill>
            <a:srgbClr val="F4B183"/>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L</a:t>
            </a:r>
          </a:p>
        </p:txBody>
      </p:sp>
      <p:sp>
        <p:nvSpPr>
          <p:cNvPr id="914" name="TextBox 913"/>
          <p:cNvSpPr txBox="1"/>
          <p:nvPr/>
        </p:nvSpPr>
        <p:spPr>
          <a:xfrm>
            <a:off x="731520" y="4754880"/>
            <a:ext cx="8595360" cy="201168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100" b="1" i="0">
                <a:solidFill>
                  <a:srgbClr val="000000"/>
                </a:solidFill>
                <a:latin typeface="Cambria"/>
              </a:rPr>
              <a:t>x</a:t>
            </a:r>
            <a:r>
              <a:rPr sz="2100" b="0" i="0">
                <a:solidFill>
                  <a:srgbClr val="000000"/>
                </a:solidFill>
                <a:latin typeface="Cambria"/>
              </a:rPr>
              <a:t> = 1.0     </a:t>
            </a:r>
            <a:r>
              <a:rPr sz="2100" b="1" i="0">
                <a:solidFill>
                  <a:srgbClr val="000000"/>
                </a:solidFill>
                <a:latin typeface="Cambria"/>
              </a:rPr>
              <a:t>w1</a:t>
            </a:r>
            <a:r>
              <a:rPr sz="2100" b="0" i="0">
                <a:solidFill>
                  <a:srgbClr val="000000"/>
                </a:solidFill>
                <a:latin typeface="Cambria"/>
              </a:rPr>
              <a:t> = 0.5     </a:t>
            </a:r>
            <a:r>
              <a:rPr sz="2100" b="1" i="0">
                <a:solidFill>
                  <a:srgbClr val="000000"/>
                </a:solidFill>
                <a:latin typeface="Cambria"/>
              </a:rPr>
              <a:t>w2</a:t>
            </a:r>
            <a:r>
              <a:rPr sz="2100" b="0" i="0">
                <a:solidFill>
                  <a:srgbClr val="000000"/>
                </a:solidFill>
                <a:latin typeface="Cambria"/>
              </a:rPr>
              <a:t> = 2.0     target  </a:t>
            </a:r>
            <a:r>
              <a:rPr sz="2100" b="1" i="0">
                <a:solidFill>
                  <a:srgbClr val="000000"/>
                </a:solidFill>
                <a:latin typeface="Cambria"/>
              </a:rPr>
              <a:t>t</a:t>
            </a:r>
            <a:r>
              <a:rPr sz="2100" b="0" i="0">
                <a:solidFill>
                  <a:srgbClr val="000000"/>
                </a:solidFill>
                <a:latin typeface="Cambria"/>
              </a:rPr>
              <a:t> = 1.0</a:t>
            </a:r>
          </a:p>
          <a:p>
            <a:pPr algn="l">
              <a:spcBef>
                <a:spcPts val="1000"/>
              </a:spcBef>
              <a:tabLst>
                <a:tab pos="548640" algn="l"/>
                <a:tab pos="1097280" algn="l"/>
                <a:tab pos="1645919" algn="l"/>
                <a:tab pos="2194560" algn="l"/>
                <a:tab pos="2743200" algn="l"/>
                <a:tab pos="3291839" algn="l"/>
                <a:tab pos="3840480" algn="l"/>
                <a:tab pos="4389120" algn="l"/>
              </a:tabLst>
            </a:pPr>
            <a:r>
              <a:rPr sz="2100" b="0" i="0">
                <a:solidFill>
                  <a:srgbClr val="000000"/>
                </a:solidFill>
                <a:latin typeface="Cambria"/>
              </a:rPr>
              <a:t>σ  is the sigmoid:   σ(z)  =  1 / ( 1 + e^−z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Reading the Tiny Network</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Circles hold </a:t>
            </a:r>
            <a:r>
              <a:rPr lang="en-US" sz="2600" b="1" i="0" dirty="0">
                <a:solidFill>
                  <a:srgbClr val="000000"/>
                </a:solidFill>
                <a:latin typeface="Cambria"/>
                <a:cs typeface="Cambria"/>
              </a:rPr>
              <a:t>values</a:t>
            </a:r>
            <a:r>
              <a:rPr lang="en-US" sz="2600" b="0" i="0" dirty="0">
                <a:solidFill>
                  <a:srgbClr val="000000"/>
                </a:solidFill>
                <a:latin typeface="Cambria"/>
                <a:cs typeface="Cambria"/>
              </a:rPr>
              <a:t>;   arrows apply </a:t>
            </a:r>
            <a:r>
              <a:rPr lang="en-US" sz="2600" b="1" i="0" dirty="0">
                <a:solidFill>
                  <a:srgbClr val="000000"/>
                </a:solidFill>
                <a:latin typeface="Cambria"/>
                <a:cs typeface="Cambria"/>
              </a:rPr>
              <a:t>operations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z  =  w1 · x		multiply by weight 1</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h  =  σ( z )		sigmoid   ( h:  "hidden"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y  =  w2 · h		multiply by weight 2</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L  =  ½ ( y − t )²	the loss</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Two weights to learn:   w1  and  w2</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x  and  t  are fixed data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Forward Pass</a:t>
            </a:r>
          </a:p>
        </p:txBody>
      </p:sp>
      <p:sp>
        <p:nvSpPr>
          <p:cNvPr id="901" name="Oval 900"/>
          <p:cNvSpPr/>
          <p:nvPr/>
        </p:nvSpPr>
        <p:spPr>
          <a:xfrm>
            <a:off x="640080" y="2606039"/>
            <a:ext cx="822960" cy="82296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x</a:t>
            </a:r>
          </a:p>
        </p:txBody>
      </p:sp>
      <p:cxnSp>
        <p:nvCxnSpPr>
          <p:cNvPr id="902" name="Connector 901"/>
          <p:cNvCxnSpPr/>
          <p:nvPr/>
        </p:nvCxnSpPr>
        <p:spPr>
          <a:xfrm>
            <a:off x="1463040" y="3017520"/>
            <a:ext cx="960120"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3" name="TextBox 902"/>
          <p:cNvSpPr txBox="1"/>
          <p:nvPr/>
        </p:nvSpPr>
        <p:spPr>
          <a:xfrm>
            <a:off x="1463040" y="2240279"/>
            <a:ext cx="960120" cy="365760"/>
          </a:xfrm>
          <a:prstGeom prst="rect">
            <a:avLst/>
          </a:prstGeom>
          <a:noFill/>
        </p:spPr>
        <p:txBody>
          <a:bodyPr wrap="square" lIns="0" tIns="0" rIns="0" bIns="0" anchor="ctr">
            <a:spAutoFit/>
          </a:bodyPr>
          <a:lstStyle/>
          <a:p>
            <a:pPr algn="ctr"/>
            <a:r>
              <a:rPr sz="1600" b="0" i="0">
                <a:solidFill>
                  <a:srgbClr val="000000"/>
                </a:solidFill>
                <a:latin typeface="Courier New"/>
              </a:rPr>
              <a:t>× w1</a:t>
            </a:r>
          </a:p>
        </p:txBody>
      </p:sp>
      <p:sp>
        <p:nvSpPr>
          <p:cNvPr id="904" name="TextBox 903"/>
          <p:cNvSpPr txBox="1"/>
          <p:nvPr/>
        </p:nvSpPr>
        <p:spPr>
          <a:xfrm>
            <a:off x="365759"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1.0</a:t>
            </a:r>
          </a:p>
        </p:txBody>
      </p:sp>
      <p:sp>
        <p:nvSpPr>
          <p:cNvPr id="905" name="Oval 904"/>
          <p:cNvSpPr/>
          <p:nvPr/>
        </p:nvSpPr>
        <p:spPr>
          <a:xfrm>
            <a:off x="2423160" y="2606039"/>
            <a:ext cx="822960" cy="82296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z</a:t>
            </a:r>
          </a:p>
        </p:txBody>
      </p:sp>
      <p:cxnSp>
        <p:nvCxnSpPr>
          <p:cNvPr id="906" name="Connector 905"/>
          <p:cNvCxnSpPr/>
          <p:nvPr/>
        </p:nvCxnSpPr>
        <p:spPr>
          <a:xfrm>
            <a:off x="3246120" y="3017520"/>
            <a:ext cx="960120"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7" name="TextBox 906"/>
          <p:cNvSpPr txBox="1"/>
          <p:nvPr/>
        </p:nvSpPr>
        <p:spPr>
          <a:xfrm>
            <a:off x="3246120" y="2240279"/>
            <a:ext cx="960120" cy="365760"/>
          </a:xfrm>
          <a:prstGeom prst="rect">
            <a:avLst/>
          </a:prstGeom>
          <a:noFill/>
        </p:spPr>
        <p:txBody>
          <a:bodyPr wrap="square" lIns="0" tIns="0" rIns="0" bIns="0" anchor="ctr">
            <a:spAutoFit/>
          </a:bodyPr>
          <a:lstStyle/>
          <a:p>
            <a:pPr algn="ctr"/>
            <a:r>
              <a:rPr sz="1600" b="0" i="0">
                <a:solidFill>
                  <a:srgbClr val="000000"/>
                </a:solidFill>
                <a:latin typeface="Cambria"/>
              </a:rPr>
              <a:t>σ</a:t>
            </a:r>
          </a:p>
        </p:txBody>
      </p:sp>
      <p:sp>
        <p:nvSpPr>
          <p:cNvPr id="908" name="TextBox 907"/>
          <p:cNvSpPr txBox="1"/>
          <p:nvPr/>
        </p:nvSpPr>
        <p:spPr>
          <a:xfrm>
            <a:off x="2148840"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0.5</a:t>
            </a:r>
          </a:p>
        </p:txBody>
      </p:sp>
      <p:sp>
        <p:nvSpPr>
          <p:cNvPr id="909" name="Oval 908"/>
          <p:cNvSpPr/>
          <p:nvPr/>
        </p:nvSpPr>
        <p:spPr>
          <a:xfrm>
            <a:off x="4206240" y="2606039"/>
            <a:ext cx="822960" cy="82296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h</a:t>
            </a:r>
          </a:p>
        </p:txBody>
      </p:sp>
      <p:cxnSp>
        <p:nvCxnSpPr>
          <p:cNvPr id="910" name="Connector 909"/>
          <p:cNvCxnSpPr/>
          <p:nvPr/>
        </p:nvCxnSpPr>
        <p:spPr>
          <a:xfrm>
            <a:off x="5029200" y="3017520"/>
            <a:ext cx="960120"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11" name="TextBox 910"/>
          <p:cNvSpPr txBox="1"/>
          <p:nvPr/>
        </p:nvSpPr>
        <p:spPr>
          <a:xfrm>
            <a:off x="5029200" y="2240279"/>
            <a:ext cx="960120" cy="365760"/>
          </a:xfrm>
          <a:prstGeom prst="rect">
            <a:avLst/>
          </a:prstGeom>
          <a:noFill/>
        </p:spPr>
        <p:txBody>
          <a:bodyPr wrap="square" lIns="0" tIns="0" rIns="0" bIns="0" anchor="ctr">
            <a:spAutoFit/>
          </a:bodyPr>
          <a:lstStyle/>
          <a:p>
            <a:pPr algn="ctr"/>
            <a:r>
              <a:rPr sz="1600" b="0" i="0">
                <a:solidFill>
                  <a:srgbClr val="000000"/>
                </a:solidFill>
                <a:latin typeface="Courier New"/>
              </a:rPr>
              <a:t>× w2</a:t>
            </a:r>
          </a:p>
        </p:txBody>
      </p:sp>
      <p:sp>
        <p:nvSpPr>
          <p:cNvPr id="912" name="TextBox 911"/>
          <p:cNvSpPr txBox="1"/>
          <p:nvPr/>
        </p:nvSpPr>
        <p:spPr>
          <a:xfrm>
            <a:off x="3931920"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0.6225</a:t>
            </a:r>
          </a:p>
        </p:txBody>
      </p:sp>
      <p:sp>
        <p:nvSpPr>
          <p:cNvPr id="913" name="Oval 912"/>
          <p:cNvSpPr/>
          <p:nvPr/>
        </p:nvSpPr>
        <p:spPr>
          <a:xfrm>
            <a:off x="5989320" y="2606039"/>
            <a:ext cx="822960" cy="82296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y</a:t>
            </a:r>
          </a:p>
        </p:txBody>
      </p:sp>
      <p:cxnSp>
        <p:nvCxnSpPr>
          <p:cNvPr id="914" name="Connector 913"/>
          <p:cNvCxnSpPr/>
          <p:nvPr/>
        </p:nvCxnSpPr>
        <p:spPr>
          <a:xfrm>
            <a:off x="6812280" y="3017520"/>
            <a:ext cx="960120"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15" name="TextBox 914"/>
          <p:cNvSpPr txBox="1"/>
          <p:nvPr/>
        </p:nvSpPr>
        <p:spPr>
          <a:xfrm>
            <a:off x="6812280" y="2240279"/>
            <a:ext cx="960120" cy="365760"/>
          </a:xfrm>
          <a:prstGeom prst="rect">
            <a:avLst/>
          </a:prstGeom>
          <a:noFill/>
        </p:spPr>
        <p:txBody>
          <a:bodyPr wrap="square" lIns="0" tIns="0" rIns="0" bIns="0" anchor="ctr">
            <a:spAutoFit/>
          </a:bodyPr>
          <a:lstStyle/>
          <a:p>
            <a:pPr algn="ctr"/>
            <a:r>
              <a:rPr sz="1600" b="0" i="0">
                <a:solidFill>
                  <a:srgbClr val="000000"/>
                </a:solidFill>
                <a:latin typeface="Courier New"/>
              </a:rPr>
              <a:t>½(y−t)²</a:t>
            </a:r>
          </a:p>
        </p:txBody>
      </p:sp>
      <p:sp>
        <p:nvSpPr>
          <p:cNvPr id="916" name="TextBox 915"/>
          <p:cNvSpPr txBox="1"/>
          <p:nvPr/>
        </p:nvSpPr>
        <p:spPr>
          <a:xfrm>
            <a:off x="5715000"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1.2449</a:t>
            </a:r>
          </a:p>
        </p:txBody>
      </p:sp>
      <p:sp>
        <p:nvSpPr>
          <p:cNvPr id="917" name="Oval 916"/>
          <p:cNvSpPr/>
          <p:nvPr/>
        </p:nvSpPr>
        <p:spPr>
          <a:xfrm>
            <a:off x="7772400" y="2606039"/>
            <a:ext cx="822960" cy="822960"/>
          </a:xfrm>
          <a:prstGeom prst="ellipse">
            <a:avLst/>
          </a:prstGeom>
          <a:solidFill>
            <a:srgbClr val="F4B183"/>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L</a:t>
            </a:r>
          </a:p>
        </p:txBody>
      </p:sp>
      <p:sp>
        <p:nvSpPr>
          <p:cNvPr id="918" name="TextBox 917"/>
          <p:cNvSpPr txBox="1"/>
          <p:nvPr/>
        </p:nvSpPr>
        <p:spPr>
          <a:xfrm>
            <a:off x="7498079"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0.0300</a:t>
            </a:r>
          </a:p>
        </p:txBody>
      </p:sp>
      <p:sp>
        <p:nvSpPr>
          <p:cNvPr id="919" name="TextBox 918"/>
          <p:cNvSpPr txBox="1"/>
          <p:nvPr/>
        </p:nvSpPr>
        <p:spPr>
          <a:xfrm>
            <a:off x="731520" y="4754880"/>
            <a:ext cx="8595360" cy="201168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100" b="0" i="0">
                <a:solidFill>
                  <a:srgbClr val="000000"/>
                </a:solidFill>
                <a:latin typeface="Cambria"/>
              </a:rPr>
              <a:t>z = w1 · x = 0.5        h = σ(0.5) = 0.6225</a:t>
            </a:r>
          </a:p>
          <a:p>
            <a:pPr algn="l">
              <a:spcBef>
                <a:spcPts val="1000"/>
              </a:spcBef>
              <a:tabLst>
                <a:tab pos="548640" algn="l"/>
                <a:tab pos="1097280" algn="l"/>
                <a:tab pos="1645919" algn="l"/>
                <a:tab pos="2194560" algn="l"/>
                <a:tab pos="2743200" algn="l"/>
                <a:tab pos="3291839" algn="l"/>
                <a:tab pos="3840480" algn="l"/>
                <a:tab pos="4389120" algn="l"/>
              </a:tabLst>
            </a:pPr>
            <a:r>
              <a:rPr sz="2100" b="0" i="0">
                <a:solidFill>
                  <a:srgbClr val="000000"/>
                </a:solidFill>
                <a:latin typeface="Cambria"/>
              </a:rPr>
              <a:t>y = w2 · h = 1.2449    L = ½ (1.2449 − 1)² = </a:t>
            </a:r>
            <a:r>
              <a:rPr sz="2100" b="1" i="0">
                <a:solidFill>
                  <a:srgbClr val="000000"/>
                </a:solidFill>
                <a:latin typeface="Cambria"/>
              </a:rPr>
              <a:t>0.0300</a:t>
            </a:r>
          </a:p>
          <a:p>
            <a:pPr algn="l">
              <a:spcBef>
                <a:spcPts val="1000"/>
              </a:spcBef>
              <a:tabLst>
                <a:tab pos="548640" algn="l"/>
                <a:tab pos="1097280" algn="l"/>
                <a:tab pos="1645919" algn="l"/>
                <a:tab pos="2194560" algn="l"/>
                <a:tab pos="2743200" algn="l"/>
                <a:tab pos="3291839" algn="l"/>
                <a:tab pos="3840480" algn="l"/>
                <a:tab pos="4389120" algn="l"/>
              </a:tabLst>
            </a:pPr>
            <a:r>
              <a:rPr sz="2100" b="0" i="0">
                <a:solidFill>
                  <a:srgbClr val="000000"/>
                </a:solidFill>
                <a:latin typeface="Cambria"/>
              </a:rPr>
              <a:t>Keep every value:  the backward pass needs them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Backward Pass Notation</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Backward pass</a:t>
            </a:r>
            <a:r>
              <a:rPr lang="en-US" sz="2600" b="0" i="0" dirty="0">
                <a:solidFill>
                  <a:srgbClr val="000000"/>
                </a:solidFill>
                <a:latin typeface="Cambria"/>
                <a:cs typeface="Cambria"/>
              </a:rPr>
              <a:t>:   go right to left,  computing</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∂L/∂( each value )</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The </a:t>
            </a:r>
            <a:r>
              <a:rPr lang="en-US" sz="2600" b="1" i="0" dirty="0">
                <a:solidFill>
                  <a:srgbClr val="000000"/>
                </a:solidFill>
                <a:latin typeface="Cambria"/>
                <a:cs typeface="Cambria"/>
              </a:rPr>
              <a:t>red</a:t>
            </a:r>
            <a:r>
              <a:rPr lang="en-US" sz="2600" b="0" i="0" dirty="0">
                <a:solidFill>
                  <a:srgbClr val="000000"/>
                </a:solidFill>
                <a:latin typeface="Cambria"/>
                <a:cs typeface="Cambria"/>
              </a:rPr>
              <a:t> numbers on the diagram are these gradients: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how much  L  changes when that value is nudged</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At  L  itself:    ∂L/∂L = 1</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nudge  L  by 1,  and  L  changes by 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Backward:  Start at the Loss</a:t>
            </a:r>
          </a:p>
        </p:txBody>
      </p:sp>
      <p:sp>
        <p:nvSpPr>
          <p:cNvPr id="901" name="Oval 900"/>
          <p:cNvSpPr/>
          <p:nvPr/>
        </p:nvSpPr>
        <p:spPr>
          <a:xfrm>
            <a:off x="640080" y="2606039"/>
            <a:ext cx="822960" cy="82296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x</a:t>
            </a:r>
          </a:p>
        </p:txBody>
      </p:sp>
      <p:cxnSp>
        <p:nvCxnSpPr>
          <p:cNvPr id="902" name="Connector 901"/>
          <p:cNvCxnSpPr/>
          <p:nvPr/>
        </p:nvCxnSpPr>
        <p:spPr>
          <a:xfrm>
            <a:off x="1463040" y="3017520"/>
            <a:ext cx="960120"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3" name="TextBox 902"/>
          <p:cNvSpPr txBox="1"/>
          <p:nvPr/>
        </p:nvSpPr>
        <p:spPr>
          <a:xfrm>
            <a:off x="1463040" y="2240279"/>
            <a:ext cx="960120" cy="365760"/>
          </a:xfrm>
          <a:prstGeom prst="rect">
            <a:avLst/>
          </a:prstGeom>
          <a:noFill/>
        </p:spPr>
        <p:txBody>
          <a:bodyPr wrap="square" lIns="0" tIns="0" rIns="0" bIns="0" anchor="ctr">
            <a:spAutoFit/>
          </a:bodyPr>
          <a:lstStyle/>
          <a:p>
            <a:pPr algn="ctr"/>
            <a:r>
              <a:rPr sz="1600" b="0" i="0">
                <a:solidFill>
                  <a:srgbClr val="000000"/>
                </a:solidFill>
                <a:latin typeface="Courier New"/>
              </a:rPr>
              <a:t>× w1</a:t>
            </a:r>
          </a:p>
        </p:txBody>
      </p:sp>
      <p:sp>
        <p:nvSpPr>
          <p:cNvPr id="904" name="TextBox 903"/>
          <p:cNvSpPr txBox="1"/>
          <p:nvPr/>
        </p:nvSpPr>
        <p:spPr>
          <a:xfrm>
            <a:off x="365759"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1.0</a:t>
            </a:r>
          </a:p>
        </p:txBody>
      </p:sp>
      <p:sp>
        <p:nvSpPr>
          <p:cNvPr id="905" name="Oval 904"/>
          <p:cNvSpPr/>
          <p:nvPr/>
        </p:nvSpPr>
        <p:spPr>
          <a:xfrm>
            <a:off x="2423160" y="2606039"/>
            <a:ext cx="822960" cy="82296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z</a:t>
            </a:r>
          </a:p>
        </p:txBody>
      </p:sp>
      <p:cxnSp>
        <p:nvCxnSpPr>
          <p:cNvPr id="906" name="Connector 905"/>
          <p:cNvCxnSpPr/>
          <p:nvPr/>
        </p:nvCxnSpPr>
        <p:spPr>
          <a:xfrm>
            <a:off x="3246120" y="3017520"/>
            <a:ext cx="960120"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7" name="TextBox 906"/>
          <p:cNvSpPr txBox="1"/>
          <p:nvPr/>
        </p:nvSpPr>
        <p:spPr>
          <a:xfrm>
            <a:off x="3246120" y="2240279"/>
            <a:ext cx="960120" cy="365760"/>
          </a:xfrm>
          <a:prstGeom prst="rect">
            <a:avLst/>
          </a:prstGeom>
          <a:noFill/>
        </p:spPr>
        <p:txBody>
          <a:bodyPr wrap="square" lIns="0" tIns="0" rIns="0" bIns="0" anchor="ctr">
            <a:spAutoFit/>
          </a:bodyPr>
          <a:lstStyle/>
          <a:p>
            <a:pPr algn="ctr"/>
            <a:r>
              <a:rPr sz="1600" b="0" i="0">
                <a:solidFill>
                  <a:srgbClr val="000000"/>
                </a:solidFill>
                <a:latin typeface="Cambria"/>
              </a:rPr>
              <a:t>σ</a:t>
            </a:r>
          </a:p>
        </p:txBody>
      </p:sp>
      <p:sp>
        <p:nvSpPr>
          <p:cNvPr id="908" name="TextBox 907"/>
          <p:cNvSpPr txBox="1"/>
          <p:nvPr/>
        </p:nvSpPr>
        <p:spPr>
          <a:xfrm>
            <a:off x="2148840"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0.5</a:t>
            </a:r>
          </a:p>
        </p:txBody>
      </p:sp>
      <p:sp>
        <p:nvSpPr>
          <p:cNvPr id="909" name="Oval 908"/>
          <p:cNvSpPr/>
          <p:nvPr/>
        </p:nvSpPr>
        <p:spPr>
          <a:xfrm>
            <a:off x="4206240" y="2606039"/>
            <a:ext cx="822960" cy="82296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h</a:t>
            </a:r>
          </a:p>
        </p:txBody>
      </p:sp>
      <p:cxnSp>
        <p:nvCxnSpPr>
          <p:cNvPr id="910" name="Connector 909"/>
          <p:cNvCxnSpPr/>
          <p:nvPr/>
        </p:nvCxnSpPr>
        <p:spPr>
          <a:xfrm>
            <a:off x="5029200" y="3017520"/>
            <a:ext cx="960120"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11" name="TextBox 910"/>
          <p:cNvSpPr txBox="1"/>
          <p:nvPr/>
        </p:nvSpPr>
        <p:spPr>
          <a:xfrm>
            <a:off x="5029200" y="2240279"/>
            <a:ext cx="960120" cy="365760"/>
          </a:xfrm>
          <a:prstGeom prst="rect">
            <a:avLst/>
          </a:prstGeom>
          <a:noFill/>
        </p:spPr>
        <p:txBody>
          <a:bodyPr wrap="square" lIns="0" tIns="0" rIns="0" bIns="0" anchor="ctr">
            <a:spAutoFit/>
          </a:bodyPr>
          <a:lstStyle/>
          <a:p>
            <a:pPr algn="ctr"/>
            <a:r>
              <a:rPr sz="1600" b="0" i="0">
                <a:solidFill>
                  <a:srgbClr val="000000"/>
                </a:solidFill>
                <a:latin typeface="Courier New"/>
              </a:rPr>
              <a:t>× w2</a:t>
            </a:r>
          </a:p>
        </p:txBody>
      </p:sp>
      <p:sp>
        <p:nvSpPr>
          <p:cNvPr id="912" name="TextBox 911"/>
          <p:cNvSpPr txBox="1"/>
          <p:nvPr/>
        </p:nvSpPr>
        <p:spPr>
          <a:xfrm>
            <a:off x="3931920"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0.6225</a:t>
            </a:r>
          </a:p>
        </p:txBody>
      </p:sp>
      <p:sp>
        <p:nvSpPr>
          <p:cNvPr id="913" name="Oval 912"/>
          <p:cNvSpPr/>
          <p:nvPr/>
        </p:nvSpPr>
        <p:spPr>
          <a:xfrm>
            <a:off x="5989320" y="2606039"/>
            <a:ext cx="822960" cy="82296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y</a:t>
            </a:r>
          </a:p>
        </p:txBody>
      </p:sp>
      <p:cxnSp>
        <p:nvCxnSpPr>
          <p:cNvPr id="914" name="Connector 913"/>
          <p:cNvCxnSpPr/>
          <p:nvPr/>
        </p:nvCxnSpPr>
        <p:spPr>
          <a:xfrm>
            <a:off x="6812280" y="3017520"/>
            <a:ext cx="960120"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15" name="TextBox 914"/>
          <p:cNvSpPr txBox="1"/>
          <p:nvPr/>
        </p:nvSpPr>
        <p:spPr>
          <a:xfrm>
            <a:off x="6812280" y="2240279"/>
            <a:ext cx="960120" cy="365760"/>
          </a:xfrm>
          <a:prstGeom prst="rect">
            <a:avLst/>
          </a:prstGeom>
          <a:noFill/>
        </p:spPr>
        <p:txBody>
          <a:bodyPr wrap="square" lIns="0" tIns="0" rIns="0" bIns="0" anchor="ctr">
            <a:spAutoFit/>
          </a:bodyPr>
          <a:lstStyle/>
          <a:p>
            <a:pPr algn="ctr"/>
            <a:r>
              <a:rPr sz="1600" b="0" i="0">
                <a:solidFill>
                  <a:srgbClr val="000000"/>
                </a:solidFill>
                <a:latin typeface="Courier New"/>
              </a:rPr>
              <a:t>½(y−t)²</a:t>
            </a:r>
          </a:p>
        </p:txBody>
      </p:sp>
      <p:sp>
        <p:nvSpPr>
          <p:cNvPr id="916" name="TextBox 915"/>
          <p:cNvSpPr txBox="1"/>
          <p:nvPr/>
        </p:nvSpPr>
        <p:spPr>
          <a:xfrm>
            <a:off x="5715000"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1.2449</a:t>
            </a:r>
          </a:p>
        </p:txBody>
      </p:sp>
      <p:sp>
        <p:nvSpPr>
          <p:cNvPr id="917" name="TextBox 916"/>
          <p:cNvSpPr txBox="1"/>
          <p:nvPr/>
        </p:nvSpPr>
        <p:spPr>
          <a:xfrm>
            <a:off x="5577840" y="3977639"/>
            <a:ext cx="1645920" cy="411480"/>
          </a:xfrm>
          <a:prstGeom prst="rect">
            <a:avLst/>
          </a:prstGeom>
          <a:noFill/>
        </p:spPr>
        <p:txBody>
          <a:bodyPr wrap="square" lIns="0" tIns="0" rIns="0" bIns="0" anchor="ctr">
            <a:spAutoFit/>
          </a:bodyPr>
          <a:lstStyle/>
          <a:p>
            <a:pPr algn="ctr"/>
            <a:r>
              <a:rPr sz="1700" b="1" i="0">
                <a:solidFill>
                  <a:srgbClr val="C00000"/>
                </a:solidFill>
                <a:latin typeface="Cambria"/>
              </a:rPr>
              <a:t>∂L/∂y = 0.2449</a:t>
            </a:r>
          </a:p>
        </p:txBody>
      </p:sp>
      <p:sp>
        <p:nvSpPr>
          <p:cNvPr id="918" name="Oval 917"/>
          <p:cNvSpPr/>
          <p:nvPr/>
        </p:nvSpPr>
        <p:spPr>
          <a:xfrm>
            <a:off x="7772400" y="2606039"/>
            <a:ext cx="822960" cy="822960"/>
          </a:xfrm>
          <a:prstGeom prst="ellipse">
            <a:avLst/>
          </a:prstGeom>
          <a:solidFill>
            <a:srgbClr val="F4B183"/>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L</a:t>
            </a:r>
          </a:p>
        </p:txBody>
      </p:sp>
      <p:sp>
        <p:nvSpPr>
          <p:cNvPr id="919" name="TextBox 918"/>
          <p:cNvSpPr txBox="1"/>
          <p:nvPr/>
        </p:nvSpPr>
        <p:spPr>
          <a:xfrm>
            <a:off x="7498079"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0.0300</a:t>
            </a:r>
          </a:p>
        </p:txBody>
      </p:sp>
      <p:sp>
        <p:nvSpPr>
          <p:cNvPr id="920" name="TextBox 919"/>
          <p:cNvSpPr txBox="1"/>
          <p:nvPr/>
        </p:nvSpPr>
        <p:spPr>
          <a:xfrm>
            <a:off x="7360920" y="3977639"/>
            <a:ext cx="1645920" cy="411480"/>
          </a:xfrm>
          <a:prstGeom prst="rect">
            <a:avLst/>
          </a:prstGeom>
          <a:noFill/>
        </p:spPr>
        <p:txBody>
          <a:bodyPr wrap="square" lIns="0" tIns="0" rIns="0" bIns="0" anchor="ctr">
            <a:spAutoFit/>
          </a:bodyPr>
          <a:lstStyle/>
          <a:p>
            <a:pPr algn="ctr"/>
            <a:r>
              <a:rPr sz="1700" b="1" i="0">
                <a:solidFill>
                  <a:srgbClr val="C00000"/>
                </a:solidFill>
                <a:latin typeface="Cambria"/>
              </a:rPr>
              <a:t>1</a:t>
            </a:r>
          </a:p>
        </p:txBody>
      </p:sp>
      <p:sp>
        <p:nvSpPr>
          <p:cNvPr id="921" name="TextBox 920"/>
          <p:cNvSpPr txBox="1"/>
          <p:nvPr/>
        </p:nvSpPr>
        <p:spPr>
          <a:xfrm>
            <a:off x="731520" y="4754880"/>
            <a:ext cx="8595360" cy="201168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100" b="0" i="0">
                <a:solidFill>
                  <a:srgbClr val="000000"/>
                </a:solidFill>
                <a:latin typeface="Cambria"/>
              </a:rPr>
              <a:t>∂L/∂y  =  y − t  =  1.2449 − 1  =  </a:t>
            </a:r>
            <a:r>
              <a:rPr sz="2100" b="1" i="0">
                <a:solidFill>
                  <a:srgbClr val="000000"/>
                </a:solidFill>
                <a:latin typeface="Cambria"/>
              </a:rPr>
              <a:t>0.2449</a:t>
            </a:r>
          </a:p>
          <a:p>
            <a:pPr algn="l">
              <a:spcBef>
                <a:spcPts val="1000"/>
              </a:spcBef>
              <a:tabLst>
                <a:tab pos="548640" algn="l"/>
                <a:tab pos="1097280" algn="l"/>
                <a:tab pos="1645919" algn="l"/>
                <a:tab pos="2194560" algn="l"/>
                <a:tab pos="2743200" algn="l"/>
                <a:tab pos="3291839" algn="l"/>
                <a:tab pos="3840480" algn="l"/>
                <a:tab pos="4389120" algn="l"/>
              </a:tabLst>
            </a:pPr>
            <a:r>
              <a:rPr sz="2100" b="0" i="0">
                <a:solidFill>
                  <a:srgbClr val="000000"/>
                </a:solidFill>
                <a:latin typeface="Cambria"/>
              </a:rPr>
              <a:t>Now walk </a:t>
            </a:r>
            <a:r>
              <a:rPr sz="2100" b="1" i="0">
                <a:solidFill>
                  <a:srgbClr val="000000"/>
                </a:solidFill>
                <a:latin typeface="Cambria"/>
              </a:rPr>
              <a:t>right to left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Rule for a Multiply</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If   y = w · h   then</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∂y/∂w = h		the slope in  w  is the other input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∂y/∂h = w</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Chain rule with the gradient from above:</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∂L/∂w  =  ∂L/∂y · h</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∂L/∂h  =  ∂L/∂y · w</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Backward:  Through  w2</a:t>
            </a:r>
          </a:p>
        </p:txBody>
      </p:sp>
      <p:sp>
        <p:nvSpPr>
          <p:cNvPr id="901" name="Oval 900"/>
          <p:cNvSpPr/>
          <p:nvPr/>
        </p:nvSpPr>
        <p:spPr>
          <a:xfrm>
            <a:off x="640080" y="2606039"/>
            <a:ext cx="822960" cy="82296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x</a:t>
            </a:r>
          </a:p>
        </p:txBody>
      </p:sp>
      <p:cxnSp>
        <p:nvCxnSpPr>
          <p:cNvPr id="902" name="Connector 901"/>
          <p:cNvCxnSpPr/>
          <p:nvPr/>
        </p:nvCxnSpPr>
        <p:spPr>
          <a:xfrm>
            <a:off x="1463040" y="3017520"/>
            <a:ext cx="960120"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3" name="TextBox 902"/>
          <p:cNvSpPr txBox="1"/>
          <p:nvPr/>
        </p:nvSpPr>
        <p:spPr>
          <a:xfrm>
            <a:off x="1463040" y="2240279"/>
            <a:ext cx="960120" cy="365760"/>
          </a:xfrm>
          <a:prstGeom prst="rect">
            <a:avLst/>
          </a:prstGeom>
          <a:noFill/>
        </p:spPr>
        <p:txBody>
          <a:bodyPr wrap="square" lIns="0" tIns="0" rIns="0" bIns="0" anchor="ctr">
            <a:spAutoFit/>
          </a:bodyPr>
          <a:lstStyle/>
          <a:p>
            <a:pPr algn="ctr"/>
            <a:r>
              <a:rPr sz="1600" b="0" i="0">
                <a:solidFill>
                  <a:srgbClr val="000000"/>
                </a:solidFill>
                <a:latin typeface="Courier New"/>
              </a:rPr>
              <a:t>× w1</a:t>
            </a:r>
          </a:p>
        </p:txBody>
      </p:sp>
      <p:sp>
        <p:nvSpPr>
          <p:cNvPr id="904" name="TextBox 903"/>
          <p:cNvSpPr txBox="1"/>
          <p:nvPr/>
        </p:nvSpPr>
        <p:spPr>
          <a:xfrm>
            <a:off x="365759"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1.0</a:t>
            </a:r>
          </a:p>
        </p:txBody>
      </p:sp>
      <p:sp>
        <p:nvSpPr>
          <p:cNvPr id="905" name="Oval 904"/>
          <p:cNvSpPr/>
          <p:nvPr/>
        </p:nvSpPr>
        <p:spPr>
          <a:xfrm>
            <a:off x="2423160" y="2606039"/>
            <a:ext cx="822960" cy="82296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z</a:t>
            </a:r>
          </a:p>
        </p:txBody>
      </p:sp>
      <p:cxnSp>
        <p:nvCxnSpPr>
          <p:cNvPr id="906" name="Connector 905"/>
          <p:cNvCxnSpPr/>
          <p:nvPr/>
        </p:nvCxnSpPr>
        <p:spPr>
          <a:xfrm>
            <a:off x="3246120" y="3017520"/>
            <a:ext cx="960120"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7" name="TextBox 906"/>
          <p:cNvSpPr txBox="1"/>
          <p:nvPr/>
        </p:nvSpPr>
        <p:spPr>
          <a:xfrm>
            <a:off x="3246120" y="2240279"/>
            <a:ext cx="960120" cy="365760"/>
          </a:xfrm>
          <a:prstGeom prst="rect">
            <a:avLst/>
          </a:prstGeom>
          <a:noFill/>
        </p:spPr>
        <p:txBody>
          <a:bodyPr wrap="square" lIns="0" tIns="0" rIns="0" bIns="0" anchor="ctr">
            <a:spAutoFit/>
          </a:bodyPr>
          <a:lstStyle/>
          <a:p>
            <a:pPr algn="ctr"/>
            <a:r>
              <a:rPr sz="1600" b="0" i="0">
                <a:solidFill>
                  <a:srgbClr val="000000"/>
                </a:solidFill>
                <a:latin typeface="Cambria"/>
              </a:rPr>
              <a:t>σ</a:t>
            </a:r>
          </a:p>
        </p:txBody>
      </p:sp>
      <p:sp>
        <p:nvSpPr>
          <p:cNvPr id="908" name="TextBox 907"/>
          <p:cNvSpPr txBox="1"/>
          <p:nvPr/>
        </p:nvSpPr>
        <p:spPr>
          <a:xfrm>
            <a:off x="2148840"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0.5</a:t>
            </a:r>
          </a:p>
        </p:txBody>
      </p:sp>
      <p:sp>
        <p:nvSpPr>
          <p:cNvPr id="909" name="Oval 908"/>
          <p:cNvSpPr/>
          <p:nvPr/>
        </p:nvSpPr>
        <p:spPr>
          <a:xfrm>
            <a:off x="4206240" y="2606039"/>
            <a:ext cx="822960" cy="82296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h</a:t>
            </a:r>
          </a:p>
        </p:txBody>
      </p:sp>
      <p:cxnSp>
        <p:nvCxnSpPr>
          <p:cNvPr id="910" name="Connector 909"/>
          <p:cNvCxnSpPr/>
          <p:nvPr/>
        </p:nvCxnSpPr>
        <p:spPr>
          <a:xfrm>
            <a:off x="5029200" y="3017520"/>
            <a:ext cx="960120"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11" name="TextBox 910"/>
          <p:cNvSpPr txBox="1"/>
          <p:nvPr/>
        </p:nvSpPr>
        <p:spPr>
          <a:xfrm>
            <a:off x="5029200" y="2240279"/>
            <a:ext cx="960120" cy="365760"/>
          </a:xfrm>
          <a:prstGeom prst="rect">
            <a:avLst/>
          </a:prstGeom>
          <a:noFill/>
        </p:spPr>
        <p:txBody>
          <a:bodyPr wrap="square" lIns="0" tIns="0" rIns="0" bIns="0" anchor="ctr">
            <a:spAutoFit/>
          </a:bodyPr>
          <a:lstStyle/>
          <a:p>
            <a:pPr algn="ctr"/>
            <a:r>
              <a:rPr sz="1600" b="0" i="0">
                <a:solidFill>
                  <a:srgbClr val="000000"/>
                </a:solidFill>
                <a:latin typeface="Courier New"/>
              </a:rPr>
              <a:t>× w2</a:t>
            </a:r>
          </a:p>
        </p:txBody>
      </p:sp>
      <p:sp>
        <p:nvSpPr>
          <p:cNvPr id="912" name="TextBox 911"/>
          <p:cNvSpPr txBox="1"/>
          <p:nvPr/>
        </p:nvSpPr>
        <p:spPr>
          <a:xfrm>
            <a:off x="3931920"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0.6225</a:t>
            </a:r>
          </a:p>
        </p:txBody>
      </p:sp>
      <p:sp>
        <p:nvSpPr>
          <p:cNvPr id="913" name="TextBox 912"/>
          <p:cNvSpPr txBox="1"/>
          <p:nvPr/>
        </p:nvSpPr>
        <p:spPr>
          <a:xfrm>
            <a:off x="3794759" y="3977639"/>
            <a:ext cx="1645920" cy="411480"/>
          </a:xfrm>
          <a:prstGeom prst="rect">
            <a:avLst/>
          </a:prstGeom>
          <a:noFill/>
        </p:spPr>
        <p:txBody>
          <a:bodyPr wrap="square" lIns="0" tIns="0" rIns="0" bIns="0" anchor="ctr">
            <a:spAutoFit/>
          </a:bodyPr>
          <a:lstStyle/>
          <a:p>
            <a:pPr algn="ctr"/>
            <a:r>
              <a:rPr sz="1700" b="1" i="0">
                <a:solidFill>
                  <a:srgbClr val="C00000"/>
                </a:solidFill>
                <a:latin typeface="Cambria"/>
              </a:rPr>
              <a:t>∂L/∂h = 0.4898</a:t>
            </a:r>
          </a:p>
        </p:txBody>
      </p:sp>
      <p:sp>
        <p:nvSpPr>
          <p:cNvPr id="914" name="Oval 913"/>
          <p:cNvSpPr/>
          <p:nvPr/>
        </p:nvSpPr>
        <p:spPr>
          <a:xfrm>
            <a:off x="5989320" y="2606039"/>
            <a:ext cx="822960" cy="82296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y</a:t>
            </a:r>
          </a:p>
        </p:txBody>
      </p:sp>
      <p:cxnSp>
        <p:nvCxnSpPr>
          <p:cNvPr id="915" name="Connector 914"/>
          <p:cNvCxnSpPr/>
          <p:nvPr/>
        </p:nvCxnSpPr>
        <p:spPr>
          <a:xfrm>
            <a:off x="6812280" y="3017520"/>
            <a:ext cx="960120"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16" name="TextBox 915"/>
          <p:cNvSpPr txBox="1"/>
          <p:nvPr/>
        </p:nvSpPr>
        <p:spPr>
          <a:xfrm>
            <a:off x="6812280" y="2240279"/>
            <a:ext cx="960120" cy="365760"/>
          </a:xfrm>
          <a:prstGeom prst="rect">
            <a:avLst/>
          </a:prstGeom>
          <a:noFill/>
        </p:spPr>
        <p:txBody>
          <a:bodyPr wrap="square" lIns="0" tIns="0" rIns="0" bIns="0" anchor="ctr">
            <a:spAutoFit/>
          </a:bodyPr>
          <a:lstStyle/>
          <a:p>
            <a:pPr algn="ctr"/>
            <a:r>
              <a:rPr sz="1600" b="0" i="0">
                <a:solidFill>
                  <a:srgbClr val="000000"/>
                </a:solidFill>
                <a:latin typeface="Courier New"/>
              </a:rPr>
              <a:t>½(y−t)²</a:t>
            </a:r>
          </a:p>
        </p:txBody>
      </p:sp>
      <p:sp>
        <p:nvSpPr>
          <p:cNvPr id="917" name="TextBox 916"/>
          <p:cNvSpPr txBox="1"/>
          <p:nvPr/>
        </p:nvSpPr>
        <p:spPr>
          <a:xfrm>
            <a:off x="5715000"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1.2449</a:t>
            </a:r>
          </a:p>
        </p:txBody>
      </p:sp>
      <p:sp>
        <p:nvSpPr>
          <p:cNvPr id="918" name="TextBox 917"/>
          <p:cNvSpPr txBox="1"/>
          <p:nvPr/>
        </p:nvSpPr>
        <p:spPr>
          <a:xfrm>
            <a:off x="5577840" y="3977639"/>
            <a:ext cx="1645920" cy="411480"/>
          </a:xfrm>
          <a:prstGeom prst="rect">
            <a:avLst/>
          </a:prstGeom>
          <a:noFill/>
        </p:spPr>
        <p:txBody>
          <a:bodyPr wrap="square" lIns="0" tIns="0" rIns="0" bIns="0" anchor="ctr">
            <a:spAutoFit/>
          </a:bodyPr>
          <a:lstStyle/>
          <a:p>
            <a:pPr algn="ctr"/>
            <a:r>
              <a:rPr sz="1700" b="1" i="0">
                <a:solidFill>
                  <a:srgbClr val="C00000"/>
                </a:solidFill>
                <a:latin typeface="Cambria"/>
              </a:rPr>
              <a:t>0.2449</a:t>
            </a:r>
          </a:p>
        </p:txBody>
      </p:sp>
      <p:sp>
        <p:nvSpPr>
          <p:cNvPr id="919" name="Oval 918"/>
          <p:cNvSpPr/>
          <p:nvPr/>
        </p:nvSpPr>
        <p:spPr>
          <a:xfrm>
            <a:off x="7772400" y="2606039"/>
            <a:ext cx="822960" cy="822960"/>
          </a:xfrm>
          <a:prstGeom prst="ellipse">
            <a:avLst/>
          </a:prstGeom>
          <a:solidFill>
            <a:srgbClr val="F4B183"/>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L</a:t>
            </a:r>
          </a:p>
        </p:txBody>
      </p:sp>
      <p:sp>
        <p:nvSpPr>
          <p:cNvPr id="920" name="TextBox 919"/>
          <p:cNvSpPr txBox="1"/>
          <p:nvPr/>
        </p:nvSpPr>
        <p:spPr>
          <a:xfrm>
            <a:off x="7498079"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0.0300</a:t>
            </a:r>
          </a:p>
        </p:txBody>
      </p:sp>
      <p:sp>
        <p:nvSpPr>
          <p:cNvPr id="921" name="TextBox 920"/>
          <p:cNvSpPr txBox="1"/>
          <p:nvPr/>
        </p:nvSpPr>
        <p:spPr>
          <a:xfrm>
            <a:off x="7360920" y="3977639"/>
            <a:ext cx="1645920" cy="411480"/>
          </a:xfrm>
          <a:prstGeom prst="rect">
            <a:avLst/>
          </a:prstGeom>
          <a:noFill/>
        </p:spPr>
        <p:txBody>
          <a:bodyPr wrap="square" lIns="0" tIns="0" rIns="0" bIns="0" anchor="ctr">
            <a:spAutoFit/>
          </a:bodyPr>
          <a:lstStyle/>
          <a:p>
            <a:pPr algn="ctr"/>
            <a:r>
              <a:rPr sz="1700" b="1" i="0">
                <a:solidFill>
                  <a:srgbClr val="C00000"/>
                </a:solidFill>
                <a:latin typeface="Cambria"/>
              </a:rPr>
              <a:t>1</a:t>
            </a:r>
          </a:p>
        </p:txBody>
      </p:sp>
      <p:sp>
        <p:nvSpPr>
          <p:cNvPr id="922" name="TextBox 921"/>
          <p:cNvSpPr txBox="1"/>
          <p:nvPr/>
        </p:nvSpPr>
        <p:spPr>
          <a:xfrm>
            <a:off x="731520" y="4754880"/>
            <a:ext cx="8595360" cy="201168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100" b="0" i="0">
                <a:solidFill>
                  <a:srgbClr val="000000"/>
                </a:solidFill>
                <a:latin typeface="Cambria"/>
              </a:rPr>
              <a:t>∂L/∂w2  =  ∂L/∂y · h   =  0.2449 × 0.6225  =  </a:t>
            </a:r>
            <a:r>
              <a:rPr sz="2100" b="1" i="0">
                <a:solidFill>
                  <a:srgbClr val="000000"/>
                </a:solidFill>
                <a:latin typeface="Cambria"/>
              </a:rPr>
              <a:t>0.1525</a:t>
            </a:r>
          </a:p>
          <a:p>
            <a:pPr algn="l">
              <a:spcBef>
                <a:spcPts val="1000"/>
              </a:spcBef>
              <a:tabLst>
                <a:tab pos="548640" algn="l"/>
                <a:tab pos="1097280" algn="l"/>
                <a:tab pos="1645919" algn="l"/>
                <a:tab pos="2194560" algn="l"/>
                <a:tab pos="2743200" algn="l"/>
                <a:tab pos="3291839" algn="l"/>
                <a:tab pos="3840480" algn="l"/>
                <a:tab pos="4389120" algn="l"/>
              </a:tabLst>
            </a:pPr>
            <a:r>
              <a:rPr sz="2100" b="0" i="0">
                <a:solidFill>
                  <a:srgbClr val="000000"/>
                </a:solidFill>
                <a:latin typeface="Cambria"/>
              </a:rPr>
              <a:t>∂L/∂h   =  ∂L/∂y · w2  =  0.2449 × 2.0     =  </a:t>
            </a:r>
            <a:r>
              <a:rPr sz="2100" b="1" i="0">
                <a:solidFill>
                  <a:srgbClr val="000000"/>
                </a:solidFill>
                <a:latin typeface="Cambria"/>
              </a:rPr>
              <a:t>0.4898</a:t>
            </a:r>
          </a:p>
          <a:p>
            <a:pPr algn="l">
              <a:spcBef>
                <a:spcPts val="1000"/>
              </a:spcBef>
              <a:tabLst>
                <a:tab pos="548640" algn="l"/>
                <a:tab pos="1097280" algn="l"/>
                <a:tab pos="1645919" algn="l"/>
                <a:tab pos="2194560" algn="l"/>
                <a:tab pos="2743200" algn="l"/>
                <a:tab pos="3291839" algn="l"/>
                <a:tab pos="3840480" algn="l"/>
                <a:tab pos="4389120" algn="l"/>
              </a:tabLst>
            </a:pPr>
            <a:r>
              <a:rPr sz="2100" b="0" i="0">
                <a:solidFill>
                  <a:srgbClr val="000000"/>
                </a:solidFill>
                <a:latin typeface="Cambria"/>
              </a:rPr>
              <a:t>Two results:  one for the weight,  one to pass back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Derivative of the Sigmoid</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A known result: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σ′(z)  =  σ(z) ( 1 − σ(z)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σ′   ( "sigma prime" )  =  dσ/dz,  the slope of  σ</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Since  h = σ(z):      σ′(z)  =  h ( 1 − h )</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Largest at  z = 0:     0.5 × 0.5  =  0.25</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Needs only  h,  which we stored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Backward:  Through the Sigmoid</a:t>
            </a:r>
          </a:p>
        </p:txBody>
      </p:sp>
      <p:sp>
        <p:nvSpPr>
          <p:cNvPr id="901" name="Oval 900"/>
          <p:cNvSpPr/>
          <p:nvPr/>
        </p:nvSpPr>
        <p:spPr>
          <a:xfrm>
            <a:off x="640080" y="2606039"/>
            <a:ext cx="822960" cy="82296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x</a:t>
            </a:r>
          </a:p>
        </p:txBody>
      </p:sp>
      <p:cxnSp>
        <p:nvCxnSpPr>
          <p:cNvPr id="902" name="Connector 901"/>
          <p:cNvCxnSpPr/>
          <p:nvPr/>
        </p:nvCxnSpPr>
        <p:spPr>
          <a:xfrm>
            <a:off x="1463040" y="3017520"/>
            <a:ext cx="960120"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3" name="TextBox 902"/>
          <p:cNvSpPr txBox="1"/>
          <p:nvPr/>
        </p:nvSpPr>
        <p:spPr>
          <a:xfrm>
            <a:off x="1463040" y="2240279"/>
            <a:ext cx="960120" cy="365760"/>
          </a:xfrm>
          <a:prstGeom prst="rect">
            <a:avLst/>
          </a:prstGeom>
          <a:noFill/>
        </p:spPr>
        <p:txBody>
          <a:bodyPr wrap="square" lIns="0" tIns="0" rIns="0" bIns="0" anchor="ctr">
            <a:spAutoFit/>
          </a:bodyPr>
          <a:lstStyle/>
          <a:p>
            <a:pPr algn="ctr"/>
            <a:r>
              <a:rPr sz="1600" b="0" i="0">
                <a:solidFill>
                  <a:srgbClr val="000000"/>
                </a:solidFill>
                <a:latin typeface="Courier New"/>
              </a:rPr>
              <a:t>× w1</a:t>
            </a:r>
          </a:p>
        </p:txBody>
      </p:sp>
      <p:sp>
        <p:nvSpPr>
          <p:cNvPr id="904" name="TextBox 903"/>
          <p:cNvSpPr txBox="1"/>
          <p:nvPr/>
        </p:nvSpPr>
        <p:spPr>
          <a:xfrm>
            <a:off x="365759"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1.0</a:t>
            </a:r>
          </a:p>
        </p:txBody>
      </p:sp>
      <p:sp>
        <p:nvSpPr>
          <p:cNvPr id="905" name="Oval 904"/>
          <p:cNvSpPr/>
          <p:nvPr/>
        </p:nvSpPr>
        <p:spPr>
          <a:xfrm>
            <a:off x="2423160" y="2606039"/>
            <a:ext cx="822960" cy="82296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z</a:t>
            </a:r>
          </a:p>
        </p:txBody>
      </p:sp>
      <p:cxnSp>
        <p:nvCxnSpPr>
          <p:cNvPr id="906" name="Connector 905"/>
          <p:cNvCxnSpPr/>
          <p:nvPr/>
        </p:nvCxnSpPr>
        <p:spPr>
          <a:xfrm>
            <a:off x="3246120" y="3017520"/>
            <a:ext cx="960120"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7" name="TextBox 906"/>
          <p:cNvSpPr txBox="1"/>
          <p:nvPr/>
        </p:nvSpPr>
        <p:spPr>
          <a:xfrm>
            <a:off x="3246120" y="2240279"/>
            <a:ext cx="960120" cy="365760"/>
          </a:xfrm>
          <a:prstGeom prst="rect">
            <a:avLst/>
          </a:prstGeom>
          <a:noFill/>
        </p:spPr>
        <p:txBody>
          <a:bodyPr wrap="square" lIns="0" tIns="0" rIns="0" bIns="0" anchor="ctr">
            <a:spAutoFit/>
          </a:bodyPr>
          <a:lstStyle/>
          <a:p>
            <a:pPr algn="ctr"/>
            <a:r>
              <a:rPr sz="1600" b="0" i="0">
                <a:solidFill>
                  <a:srgbClr val="000000"/>
                </a:solidFill>
                <a:latin typeface="Cambria"/>
              </a:rPr>
              <a:t>σ</a:t>
            </a:r>
          </a:p>
        </p:txBody>
      </p:sp>
      <p:sp>
        <p:nvSpPr>
          <p:cNvPr id="908" name="TextBox 907"/>
          <p:cNvSpPr txBox="1"/>
          <p:nvPr/>
        </p:nvSpPr>
        <p:spPr>
          <a:xfrm>
            <a:off x="2148840"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0.5</a:t>
            </a:r>
          </a:p>
        </p:txBody>
      </p:sp>
      <p:sp>
        <p:nvSpPr>
          <p:cNvPr id="909" name="TextBox 908"/>
          <p:cNvSpPr txBox="1"/>
          <p:nvPr/>
        </p:nvSpPr>
        <p:spPr>
          <a:xfrm>
            <a:off x="2011679" y="3977639"/>
            <a:ext cx="1645920" cy="411480"/>
          </a:xfrm>
          <a:prstGeom prst="rect">
            <a:avLst/>
          </a:prstGeom>
          <a:noFill/>
        </p:spPr>
        <p:txBody>
          <a:bodyPr wrap="square" lIns="0" tIns="0" rIns="0" bIns="0" anchor="ctr">
            <a:spAutoFit/>
          </a:bodyPr>
          <a:lstStyle/>
          <a:p>
            <a:pPr algn="ctr"/>
            <a:r>
              <a:rPr sz="1700" b="1" i="0">
                <a:solidFill>
                  <a:srgbClr val="C00000"/>
                </a:solidFill>
                <a:latin typeface="Cambria"/>
              </a:rPr>
              <a:t>∂L/∂z = 0.1151</a:t>
            </a:r>
          </a:p>
        </p:txBody>
      </p:sp>
      <p:sp>
        <p:nvSpPr>
          <p:cNvPr id="910" name="Oval 909"/>
          <p:cNvSpPr/>
          <p:nvPr/>
        </p:nvSpPr>
        <p:spPr>
          <a:xfrm>
            <a:off x="4206240" y="2606039"/>
            <a:ext cx="822960" cy="82296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h</a:t>
            </a:r>
          </a:p>
        </p:txBody>
      </p:sp>
      <p:cxnSp>
        <p:nvCxnSpPr>
          <p:cNvPr id="911" name="Connector 910"/>
          <p:cNvCxnSpPr/>
          <p:nvPr/>
        </p:nvCxnSpPr>
        <p:spPr>
          <a:xfrm>
            <a:off x="5029200" y="3017520"/>
            <a:ext cx="960120"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12" name="TextBox 911"/>
          <p:cNvSpPr txBox="1"/>
          <p:nvPr/>
        </p:nvSpPr>
        <p:spPr>
          <a:xfrm>
            <a:off x="5029200" y="2240279"/>
            <a:ext cx="960120" cy="365760"/>
          </a:xfrm>
          <a:prstGeom prst="rect">
            <a:avLst/>
          </a:prstGeom>
          <a:noFill/>
        </p:spPr>
        <p:txBody>
          <a:bodyPr wrap="square" lIns="0" tIns="0" rIns="0" bIns="0" anchor="ctr">
            <a:spAutoFit/>
          </a:bodyPr>
          <a:lstStyle/>
          <a:p>
            <a:pPr algn="ctr"/>
            <a:r>
              <a:rPr sz="1600" b="0" i="0">
                <a:solidFill>
                  <a:srgbClr val="000000"/>
                </a:solidFill>
                <a:latin typeface="Courier New"/>
              </a:rPr>
              <a:t>× w2</a:t>
            </a:r>
          </a:p>
        </p:txBody>
      </p:sp>
      <p:sp>
        <p:nvSpPr>
          <p:cNvPr id="913" name="TextBox 912"/>
          <p:cNvSpPr txBox="1"/>
          <p:nvPr/>
        </p:nvSpPr>
        <p:spPr>
          <a:xfrm>
            <a:off x="3931920"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0.6225</a:t>
            </a:r>
          </a:p>
        </p:txBody>
      </p:sp>
      <p:sp>
        <p:nvSpPr>
          <p:cNvPr id="914" name="TextBox 913"/>
          <p:cNvSpPr txBox="1"/>
          <p:nvPr/>
        </p:nvSpPr>
        <p:spPr>
          <a:xfrm>
            <a:off x="3794759" y="3977639"/>
            <a:ext cx="1645920" cy="411480"/>
          </a:xfrm>
          <a:prstGeom prst="rect">
            <a:avLst/>
          </a:prstGeom>
          <a:noFill/>
        </p:spPr>
        <p:txBody>
          <a:bodyPr wrap="square" lIns="0" tIns="0" rIns="0" bIns="0" anchor="ctr">
            <a:spAutoFit/>
          </a:bodyPr>
          <a:lstStyle/>
          <a:p>
            <a:pPr algn="ctr"/>
            <a:r>
              <a:rPr sz="1700" b="1" i="0">
                <a:solidFill>
                  <a:srgbClr val="C00000"/>
                </a:solidFill>
                <a:latin typeface="Cambria"/>
              </a:rPr>
              <a:t>0.4898</a:t>
            </a:r>
          </a:p>
        </p:txBody>
      </p:sp>
      <p:sp>
        <p:nvSpPr>
          <p:cNvPr id="915" name="Oval 914"/>
          <p:cNvSpPr/>
          <p:nvPr/>
        </p:nvSpPr>
        <p:spPr>
          <a:xfrm>
            <a:off x="5989320" y="2606039"/>
            <a:ext cx="822960" cy="82296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y</a:t>
            </a:r>
          </a:p>
        </p:txBody>
      </p:sp>
      <p:cxnSp>
        <p:nvCxnSpPr>
          <p:cNvPr id="916" name="Connector 915"/>
          <p:cNvCxnSpPr/>
          <p:nvPr/>
        </p:nvCxnSpPr>
        <p:spPr>
          <a:xfrm>
            <a:off x="6812280" y="3017520"/>
            <a:ext cx="960120"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17" name="TextBox 916"/>
          <p:cNvSpPr txBox="1"/>
          <p:nvPr/>
        </p:nvSpPr>
        <p:spPr>
          <a:xfrm>
            <a:off x="6812280" y="2240279"/>
            <a:ext cx="960120" cy="365760"/>
          </a:xfrm>
          <a:prstGeom prst="rect">
            <a:avLst/>
          </a:prstGeom>
          <a:noFill/>
        </p:spPr>
        <p:txBody>
          <a:bodyPr wrap="square" lIns="0" tIns="0" rIns="0" bIns="0" anchor="ctr">
            <a:spAutoFit/>
          </a:bodyPr>
          <a:lstStyle/>
          <a:p>
            <a:pPr algn="ctr"/>
            <a:r>
              <a:rPr sz="1600" b="0" i="0">
                <a:solidFill>
                  <a:srgbClr val="000000"/>
                </a:solidFill>
                <a:latin typeface="Courier New"/>
              </a:rPr>
              <a:t>½(y−t)²</a:t>
            </a:r>
          </a:p>
        </p:txBody>
      </p:sp>
      <p:sp>
        <p:nvSpPr>
          <p:cNvPr id="918" name="TextBox 917"/>
          <p:cNvSpPr txBox="1"/>
          <p:nvPr/>
        </p:nvSpPr>
        <p:spPr>
          <a:xfrm>
            <a:off x="5715000"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1.2449</a:t>
            </a:r>
          </a:p>
        </p:txBody>
      </p:sp>
      <p:sp>
        <p:nvSpPr>
          <p:cNvPr id="919" name="TextBox 918"/>
          <p:cNvSpPr txBox="1"/>
          <p:nvPr/>
        </p:nvSpPr>
        <p:spPr>
          <a:xfrm>
            <a:off x="5577840" y="3977639"/>
            <a:ext cx="1645920" cy="411480"/>
          </a:xfrm>
          <a:prstGeom prst="rect">
            <a:avLst/>
          </a:prstGeom>
          <a:noFill/>
        </p:spPr>
        <p:txBody>
          <a:bodyPr wrap="square" lIns="0" tIns="0" rIns="0" bIns="0" anchor="ctr">
            <a:spAutoFit/>
          </a:bodyPr>
          <a:lstStyle/>
          <a:p>
            <a:pPr algn="ctr"/>
            <a:r>
              <a:rPr sz="1700" b="1" i="0">
                <a:solidFill>
                  <a:srgbClr val="C00000"/>
                </a:solidFill>
                <a:latin typeface="Cambria"/>
              </a:rPr>
              <a:t>0.2449</a:t>
            </a:r>
          </a:p>
        </p:txBody>
      </p:sp>
      <p:sp>
        <p:nvSpPr>
          <p:cNvPr id="920" name="Oval 919"/>
          <p:cNvSpPr/>
          <p:nvPr/>
        </p:nvSpPr>
        <p:spPr>
          <a:xfrm>
            <a:off x="7772400" y="2606039"/>
            <a:ext cx="822960" cy="822960"/>
          </a:xfrm>
          <a:prstGeom prst="ellipse">
            <a:avLst/>
          </a:prstGeom>
          <a:solidFill>
            <a:srgbClr val="F4B183"/>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L</a:t>
            </a:r>
          </a:p>
        </p:txBody>
      </p:sp>
      <p:sp>
        <p:nvSpPr>
          <p:cNvPr id="921" name="TextBox 920"/>
          <p:cNvSpPr txBox="1"/>
          <p:nvPr/>
        </p:nvSpPr>
        <p:spPr>
          <a:xfrm>
            <a:off x="7498079"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0.0300</a:t>
            </a:r>
          </a:p>
        </p:txBody>
      </p:sp>
      <p:sp>
        <p:nvSpPr>
          <p:cNvPr id="922" name="TextBox 921"/>
          <p:cNvSpPr txBox="1"/>
          <p:nvPr/>
        </p:nvSpPr>
        <p:spPr>
          <a:xfrm>
            <a:off x="7360920" y="3977639"/>
            <a:ext cx="1645920" cy="411480"/>
          </a:xfrm>
          <a:prstGeom prst="rect">
            <a:avLst/>
          </a:prstGeom>
          <a:noFill/>
        </p:spPr>
        <p:txBody>
          <a:bodyPr wrap="square" lIns="0" tIns="0" rIns="0" bIns="0" anchor="ctr">
            <a:spAutoFit/>
          </a:bodyPr>
          <a:lstStyle/>
          <a:p>
            <a:pPr algn="ctr"/>
            <a:r>
              <a:rPr sz="1700" b="1" i="0">
                <a:solidFill>
                  <a:srgbClr val="C00000"/>
                </a:solidFill>
                <a:latin typeface="Cambria"/>
              </a:rPr>
              <a:t>1</a:t>
            </a:r>
          </a:p>
        </p:txBody>
      </p:sp>
      <p:sp>
        <p:nvSpPr>
          <p:cNvPr id="923" name="TextBox 922"/>
          <p:cNvSpPr txBox="1"/>
          <p:nvPr/>
        </p:nvSpPr>
        <p:spPr>
          <a:xfrm>
            <a:off x="731520" y="4754880"/>
            <a:ext cx="8595360" cy="201168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100" b="0" i="0">
                <a:solidFill>
                  <a:srgbClr val="000000"/>
                </a:solidFill>
                <a:latin typeface="Cambria"/>
              </a:rPr>
              <a:t>σ'(z)  =  h ( 1 − h )  =  0.6225 × 0.3775  =  0.2350</a:t>
            </a:r>
          </a:p>
          <a:p>
            <a:pPr algn="l">
              <a:spcBef>
                <a:spcPts val="1000"/>
              </a:spcBef>
              <a:tabLst>
                <a:tab pos="548640" algn="l"/>
                <a:tab pos="1097280" algn="l"/>
                <a:tab pos="1645919" algn="l"/>
                <a:tab pos="2194560" algn="l"/>
                <a:tab pos="2743200" algn="l"/>
                <a:tab pos="3291839" algn="l"/>
                <a:tab pos="3840480" algn="l"/>
                <a:tab pos="4389120" algn="l"/>
              </a:tabLst>
            </a:pPr>
            <a:r>
              <a:rPr sz="2100" b="0" i="0">
                <a:solidFill>
                  <a:srgbClr val="000000"/>
                </a:solidFill>
                <a:latin typeface="Cambria"/>
              </a:rPr>
              <a:t>∂L/∂z  =  0.4898 × 0.2350  =  </a:t>
            </a:r>
            <a:r>
              <a:rPr sz="2100" b="1" i="0">
                <a:solidFill>
                  <a:srgbClr val="000000"/>
                </a:solidFill>
                <a:latin typeface="Cambria"/>
              </a:rPr>
              <a:t>0.1151</a:t>
            </a:r>
          </a:p>
          <a:p>
            <a:pPr algn="l">
              <a:spcBef>
                <a:spcPts val="1000"/>
              </a:spcBef>
              <a:tabLst>
                <a:tab pos="548640" algn="l"/>
                <a:tab pos="1097280" algn="l"/>
                <a:tab pos="1645919" algn="l"/>
                <a:tab pos="2194560" algn="l"/>
                <a:tab pos="2743200" algn="l"/>
                <a:tab pos="3291839" algn="l"/>
                <a:tab pos="3840480" algn="l"/>
                <a:tab pos="4389120" algn="l"/>
              </a:tabLst>
            </a:pPr>
            <a:r>
              <a:rPr sz="2100" b="0" i="0">
                <a:solidFill>
                  <a:srgbClr val="000000"/>
                </a:solidFill>
                <a:latin typeface="Cambria"/>
              </a:rPr>
              <a:t>Uses the stored forward value  h</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Backward:  Through  w1</a:t>
            </a:r>
          </a:p>
        </p:txBody>
      </p:sp>
      <p:sp>
        <p:nvSpPr>
          <p:cNvPr id="901" name="Oval 900"/>
          <p:cNvSpPr/>
          <p:nvPr/>
        </p:nvSpPr>
        <p:spPr>
          <a:xfrm>
            <a:off x="640080" y="2606039"/>
            <a:ext cx="822960" cy="82296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x</a:t>
            </a:r>
          </a:p>
        </p:txBody>
      </p:sp>
      <p:cxnSp>
        <p:nvCxnSpPr>
          <p:cNvPr id="902" name="Connector 901"/>
          <p:cNvCxnSpPr/>
          <p:nvPr/>
        </p:nvCxnSpPr>
        <p:spPr>
          <a:xfrm>
            <a:off x="1463040" y="3017520"/>
            <a:ext cx="960120"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3" name="TextBox 902"/>
          <p:cNvSpPr txBox="1"/>
          <p:nvPr/>
        </p:nvSpPr>
        <p:spPr>
          <a:xfrm>
            <a:off x="1463040" y="2240279"/>
            <a:ext cx="960120" cy="365760"/>
          </a:xfrm>
          <a:prstGeom prst="rect">
            <a:avLst/>
          </a:prstGeom>
          <a:noFill/>
        </p:spPr>
        <p:txBody>
          <a:bodyPr wrap="square" lIns="0" tIns="0" rIns="0" bIns="0" anchor="ctr">
            <a:spAutoFit/>
          </a:bodyPr>
          <a:lstStyle/>
          <a:p>
            <a:pPr algn="ctr"/>
            <a:r>
              <a:rPr sz="1600" b="0" i="0">
                <a:solidFill>
                  <a:srgbClr val="000000"/>
                </a:solidFill>
                <a:latin typeface="Courier New"/>
              </a:rPr>
              <a:t>× w1</a:t>
            </a:r>
          </a:p>
        </p:txBody>
      </p:sp>
      <p:sp>
        <p:nvSpPr>
          <p:cNvPr id="904" name="TextBox 903"/>
          <p:cNvSpPr txBox="1"/>
          <p:nvPr/>
        </p:nvSpPr>
        <p:spPr>
          <a:xfrm>
            <a:off x="365759"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1.0</a:t>
            </a:r>
          </a:p>
        </p:txBody>
      </p:sp>
      <p:sp>
        <p:nvSpPr>
          <p:cNvPr id="905" name="Oval 904"/>
          <p:cNvSpPr/>
          <p:nvPr/>
        </p:nvSpPr>
        <p:spPr>
          <a:xfrm>
            <a:off x="2423160" y="2606039"/>
            <a:ext cx="822960" cy="82296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z</a:t>
            </a:r>
          </a:p>
        </p:txBody>
      </p:sp>
      <p:cxnSp>
        <p:nvCxnSpPr>
          <p:cNvPr id="906" name="Connector 905"/>
          <p:cNvCxnSpPr/>
          <p:nvPr/>
        </p:nvCxnSpPr>
        <p:spPr>
          <a:xfrm>
            <a:off x="3246120" y="3017520"/>
            <a:ext cx="960120"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7" name="TextBox 906"/>
          <p:cNvSpPr txBox="1"/>
          <p:nvPr/>
        </p:nvSpPr>
        <p:spPr>
          <a:xfrm>
            <a:off x="3246120" y="2240279"/>
            <a:ext cx="960120" cy="365760"/>
          </a:xfrm>
          <a:prstGeom prst="rect">
            <a:avLst/>
          </a:prstGeom>
          <a:noFill/>
        </p:spPr>
        <p:txBody>
          <a:bodyPr wrap="square" lIns="0" tIns="0" rIns="0" bIns="0" anchor="ctr">
            <a:spAutoFit/>
          </a:bodyPr>
          <a:lstStyle/>
          <a:p>
            <a:pPr algn="ctr"/>
            <a:r>
              <a:rPr sz="1600" b="0" i="0">
                <a:solidFill>
                  <a:srgbClr val="000000"/>
                </a:solidFill>
                <a:latin typeface="Cambria"/>
              </a:rPr>
              <a:t>σ</a:t>
            </a:r>
          </a:p>
        </p:txBody>
      </p:sp>
      <p:sp>
        <p:nvSpPr>
          <p:cNvPr id="908" name="TextBox 907"/>
          <p:cNvSpPr txBox="1"/>
          <p:nvPr/>
        </p:nvSpPr>
        <p:spPr>
          <a:xfrm>
            <a:off x="2148840"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0.5</a:t>
            </a:r>
          </a:p>
        </p:txBody>
      </p:sp>
      <p:sp>
        <p:nvSpPr>
          <p:cNvPr id="909" name="TextBox 908"/>
          <p:cNvSpPr txBox="1"/>
          <p:nvPr/>
        </p:nvSpPr>
        <p:spPr>
          <a:xfrm>
            <a:off x="2011679" y="3977639"/>
            <a:ext cx="1645920" cy="411480"/>
          </a:xfrm>
          <a:prstGeom prst="rect">
            <a:avLst/>
          </a:prstGeom>
          <a:noFill/>
        </p:spPr>
        <p:txBody>
          <a:bodyPr wrap="square" lIns="0" tIns="0" rIns="0" bIns="0" anchor="ctr">
            <a:spAutoFit/>
          </a:bodyPr>
          <a:lstStyle/>
          <a:p>
            <a:pPr algn="ctr"/>
            <a:r>
              <a:rPr sz="1700" b="1" i="0">
                <a:solidFill>
                  <a:srgbClr val="C00000"/>
                </a:solidFill>
                <a:latin typeface="Cambria"/>
              </a:rPr>
              <a:t>0.1151</a:t>
            </a:r>
          </a:p>
        </p:txBody>
      </p:sp>
      <p:sp>
        <p:nvSpPr>
          <p:cNvPr id="910" name="Oval 909"/>
          <p:cNvSpPr/>
          <p:nvPr/>
        </p:nvSpPr>
        <p:spPr>
          <a:xfrm>
            <a:off x="4206240" y="2606039"/>
            <a:ext cx="822960" cy="82296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h</a:t>
            </a:r>
          </a:p>
        </p:txBody>
      </p:sp>
      <p:cxnSp>
        <p:nvCxnSpPr>
          <p:cNvPr id="911" name="Connector 910"/>
          <p:cNvCxnSpPr/>
          <p:nvPr/>
        </p:nvCxnSpPr>
        <p:spPr>
          <a:xfrm>
            <a:off x="5029200" y="3017520"/>
            <a:ext cx="960120"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12" name="TextBox 911"/>
          <p:cNvSpPr txBox="1"/>
          <p:nvPr/>
        </p:nvSpPr>
        <p:spPr>
          <a:xfrm>
            <a:off x="5029200" y="2240279"/>
            <a:ext cx="960120" cy="365760"/>
          </a:xfrm>
          <a:prstGeom prst="rect">
            <a:avLst/>
          </a:prstGeom>
          <a:noFill/>
        </p:spPr>
        <p:txBody>
          <a:bodyPr wrap="square" lIns="0" tIns="0" rIns="0" bIns="0" anchor="ctr">
            <a:spAutoFit/>
          </a:bodyPr>
          <a:lstStyle/>
          <a:p>
            <a:pPr algn="ctr"/>
            <a:r>
              <a:rPr sz="1600" b="0" i="0">
                <a:solidFill>
                  <a:srgbClr val="000000"/>
                </a:solidFill>
                <a:latin typeface="Courier New"/>
              </a:rPr>
              <a:t>× w2</a:t>
            </a:r>
          </a:p>
        </p:txBody>
      </p:sp>
      <p:sp>
        <p:nvSpPr>
          <p:cNvPr id="913" name="TextBox 912"/>
          <p:cNvSpPr txBox="1"/>
          <p:nvPr/>
        </p:nvSpPr>
        <p:spPr>
          <a:xfrm>
            <a:off x="3931920"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0.6225</a:t>
            </a:r>
          </a:p>
        </p:txBody>
      </p:sp>
      <p:sp>
        <p:nvSpPr>
          <p:cNvPr id="914" name="TextBox 913"/>
          <p:cNvSpPr txBox="1"/>
          <p:nvPr/>
        </p:nvSpPr>
        <p:spPr>
          <a:xfrm>
            <a:off x="3794759" y="3977639"/>
            <a:ext cx="1645920" cy="411480"/>
          </a:xfrm>
          <a:prstGeom prst="rect">
            <a:avLst/>
          </a:prstGeom>
          <a:noFill/>
        </p:spPr>
        <p:txBody>
          <a:bodyPr wrap="square" lIns="0" tIns="0" rIns="0" bIns="0" anchor="ctr">
            <a:spAutoFit/>
          </a:bodyPr>
          <a:lstStyle/>
          <a:p>
            <a:pPr algn="ctr"/>
            <a:r>
              <a:rPr sz="1700" b="1" i="0">
                <a:solidFill>
                  <a:srgbClr val="C00000"/>
                </a:solidFill>
                <a:latin typeface="Cambria"/>
              </a:rPr>
              <a:t>0.4898</a:t>
            </a:r>
          </a:p>
        </p:txBody>
      </p:sp>
      <p:sp>
        <p:nvSpPr>
          <p:cNvPr id="915" name="Oval 914"/>
          <p:cNvSpPr/>
          <p:nvPr/>
        </p:nvSpPr>
        <p:spPr>
          <a:xfrm>
            <a:off x="5989320" y="2606039"/>
            <a:ext cx="822960" cy="822960"/>
          </a:xfrm>
          <a:prstGeom prst="ellipse">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y</a:t>
            </a:r>
          </a:p>
        </p:txBody>
      </p:sp>
      <p:cxnSp>
        <p:nvCxnSpPr>
          <p:cNvPr id="916" name="Connector 915"/>
          <p:cNvCxnSpPr/>
          <p:nvPr/>
        </p:nvCxnSpPr>
        <p:spPr>
          <a:xfrm>
            <a:off x="6812280" y="3017520"/>
            <a:ext cx="960120"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17" name="TextBox 916"/>
          <p:cNvSpPr txBox="1"/>
          <p:nvPr/>
        </p:nvSpPr>
        <p:spPr>
          <a:xfrm>
            <a:off x="6812280" y="2240279"/>
            <a:ext cx="960120" cy="365760"/>
          </a:xfrm>
          <a:prstGeom prst="rect">
            <a:avLst/>
          </a:prstGeom>
          <a:noFill/>
        </p:spPr>
        <p:txBody>
          <a:bodyPr wrap="square" lIns="0" tIns="0" rIns="0" bIns="0" anchor="ctr">
            <a:spAutoFit/>
          </a:bodyPr>
          <a:lstStyle/>
          <a:p>
            <a:pPr algn="ctr"/>
            <a:r>
              <a:rPr sz="1600" b="0" i="0">
                <a:solidFill>
                  <a:srgbClr val="000000"/>
                </a:solidFill>
                <a:latin typeface="Courier New"/>
              </a:rPr>
              <a:t>½(y−t)²</a:t>
            </a:r>
          </a:p>
        </p:txBody>
      </p:sp>
      <p:sp>
        <p:nvSpPr>
          <p:cNvPr id="918" name="TextBox 917"/>
          <p:cNvSpPr txBox="1"/>
          <p:nvPr/>
        </p:nvSpPr>
        <p:spPr>
          <a:xfrm>
            <a:off x="5715000"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1.2449</a:t>
            </a:r>
          </a:p>
        </p:txBody>
      </p:sp>
      <p:sp>
        <p:nvSpPr>
          <p:cNvPr id="919" name="TextBox 918"/>
          <p:cNvSpPr txBox="1"/>
          <p:nvPr/>
        </p:nvSpPr>
        <p:spPr>
          <a:xfrm>
            <a:off x="5577840" y="3977639"/>
            <a:ext cx="1645920" cy="411480"/>
          </a:xfrm>
          <a:prstGeom prst="rect">
            <a:avLst/>
          </a:prstGeom>
          <a:noFill/>
        </p:spPr>
        <p:txBody>
          <a:bodyPr wrap="square" lIns="0" tIns="0" rIns="0" bIns="0" anchor="ctr">
            <a:spAutoFit/>
          </a:bodyPr>
          <a:lstStyle/>
          <a:p>
            <a:pPr algn="ctr"/>
            <a:r>
              <a:rPr sz="1700" b="1" i="0">
                <a:solidFill>
                  <a:srgbClr val="C00000"/>
                </a:solidFill>
                <a:latin typeface="Cambria"/>
              </a:rPr>
              <a:t>0.2449</a:t>
            </a:r>
          </a:p>
        </p:txBody>
      </p:sp>
      <p:sp>
        <p:nvSpPr>
          <p:cNvPr id="920" name="Oval 919"/>
          <p:cNvSpPr/>
          <p:nvPr/>
        </p:nvSpPr>
        <p:spPr>
          <a:xfrm>
            <a:off x="7772400" y="2606039"/>
            <a:ext cx="822960" cy="822960"/>
          </a:xfrm>
          <a:prstGeom prst="ellipse">
            <a:avLst/>
          </a:prstGeom>
          <a:solidFill>
            <a:srgbClr val="F4B183"/>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L</a:t>
            </a:r>
          </a:p>
        </p:txBody>
      </p:sp>
      <p:sp>
        <p:nvSpPr>
          <p:cNvPr id="921" name="TextBox 920"/>
          <p:cNvSpPr txBox="1"/>
          <p:nvPr/>
        </p:nvSpPr>
        <p:spPr>
          <a:xfrm>
            <a:off x="7498079" y="3520439"/>
            <a:ext cx="1371600" cy="365760"/>
          </a:xfrm>
          <a:prstGeom prst="rect">
            <a:avLst/>
          </a:prstGeom>
          <a:noFill/>
        </p:spPr>
        <p:txBody>
          <a:bodyPr wrap="square" lIns="0" tIns="0" rIns="0" bIns="0" anchor="ctr">
            <a:spAutoFit/>
          </a:bodyPr>
          <a:lstStyle/>
          <a:p>
            <a:pPr algn="ctr"/>
            <a:r>
              <a:rPr sz="1800" b="1" i="0">
                <a:solidFill>
                  <a:srgbClr val="004600"/>
                </a:solidFill>
                <a:latin typeface="Cambria"/>
              </a:rPr>
              <a:t>0.0300</a:t>
            </a:r>
          </a:p>
        </p:txBody>
      </p:sp>
      <p:sp>
        <p:nvSpPr>
          <p:cNvPr id="922" name="TextBox 921"/>
          <p:cNvSpPr txBox="1"/>
          <p:nvPr/>
        </p:nvSpPr>
        <p:spPr>
          <a:xfrm>
            <a:off x="7360920" y="3977639"/>
            <a:ext cx="1645920" cy="411480"/>
          </a:xfrm>
          <a:prstGeom prst="rect">
            <a:avLst/>
          </a:prstGeom>
          <a:noFill/>
        </p:spPr>
        <p:txBody>
          <a:bodyPr wrap="square" lIns="0" tIns="0" rIns="0" bIns="0" anchor="ctr">
            <a:spAutoFit/>
          </a:bodyPr>
          <a:lstStyle/>
          <a:p>
            <a:pPr algn="ctr"/>
            <a:r>
              <a:rPr sz="1700" b="1" i="0">
                <a:solidFill>
                  <a:srgbClr val="C00000"/>
                </a:solidFill>
                <a:latin typeface="Cambria"/>
              </a:rPr>
              <a:t>1</a:t>
            </a:r>
          </a:p>
        </p:txBody>
      </p:sp>
      <p:sp>
        <p:nvSpPr>
          <p:cNvPr id="923" name="TextBox 922"/>
          <p:cNvSpPr txBox="1"/>
          <p:nvPr/>
        </p:nvSpPr>
        <p:spPr>
          <a:xfrm>
            <a:off x="731520" y="4754880"/>
            <a:ext cx="8595360" cy="201168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100" b="0" i="0">
                <a:solidFill>
                  <a:srgbClr val="000000"/>
                </a:solidFill>
                <a:latin typeface="Cambria"/>
              </a:rPr>
              <a:t>∂L/∂w1  =  ∂L/∂z · x  =  0.1151 × 1.0  =  </a:t>
            </a:r>
            <a:r>
              <a:rPr sz="2100" b="1" i="0">
                <a:solidFill>
                  <a:srgbClr val="000000"/>
                </a:solidFill>
                <a:latin typeface="Cambria"/>
              </a:rPr>
              <a:t>0.1151</a:t>
            </a:r>
          </a:p>
          <a:p>
            <a:pPr algn="l">
              <a:spcBef>
                <a:spcPts val="1000"/>
              </a:spcBef>
              <a:tabLst>
                <a:tab pos="548640" algn="l"/>
                <a:tab pos="1097280" algn="l"/>
                <a:tab pos="1645919" algn="l"/>
                <a:tab pos="2194560" algn="l"/>
                <a:tab pos="2743200" algn="l"/>
                <a:tab pos="3291839" algn="l"/>
                <a:tab pos="3840480" algn="l"/>
                <a:tab pos="4389120" algn="l"/>
              </a:tabLst>
            </a:pPr>
            <a:r>
              <a:rPr sz="2100" b="0" i="0">
                <a:solidFill>
                  <a:srgbClr val="000000"/>
                </a:solidFill>
                <a:latin typeface="Cambria"/>
              </a:rPr>
              <a:t>One backward sweep gave us </a:t>
            </a:r>
            <a:r>
              <a:rPr sz="2100" b="1" i="0">
                <a:solidFill>
                  <a:srgbClr val="000000"/>
                </a:solidFill>
                <a:latin typeface="Cambria"/>
              </a:rPr>
              <a:t>both</a:t>
            </a:r>
            <a:r>
              <a:rPr sz="2100" b="0" i="0">
                <a:solidFill>
                  <a:srgbClr val="000000"/>
                </a:solidFill>
                <a:latin typeface="Cambria"/>
              </a:rPr>
              <a:t> gradients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Update and Check</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Learning rate  η = 0.5:</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w1  &lt;=  0.5  −  0.5 × 0.1151  =  0.4424</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w2  &lt;=  2.0  −  0.5 × 0.1525  =  1.9238</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New forward pass:   y = 1.1713</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Loss:   0.0300   →   </a:t>
            </a:r>
            <a:r>
              <a:rPr sz="2600" b="1" i="0">
                <a:solidFill>
                  <a:srgbClr val="000000"/>
                </a:solidFill>
                <a:latin typeface="Cambria"/>
              </a:rPr>
              <a:t>0.0147</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halved in one step</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3600" b="1" dirty="0">
                <a:solidFill>
                  <a:srgbClr val="FFFFFF"/>
                </a:solidFill>
                <a:latin typeface="Arial"/>
                <a:cs typeface="Arial"/>
              </a:rPr>
              <a:t>Trust but Verify:  Gradient Check</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Compare with the finite difference,  ε = 10⁻⁴:</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∂L/∂w1:   backprop  0.1151     numeric  0.1151</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∂L/∂w2:   backprop  0.1525     numeric  0.1525</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Slow,  but an excellent </a:t>
            </a:r>
            <a:r>
              <a:rPr sz="2600" b="1" i="0">
                <a:solidFill>
                  <a:srgbClr val="000000"/>
                </a:solidFill>
                <a:latin typeface="Cambria"/>
              </a:rPr>
              <a:t>test bench</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for a hand-written backward pass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The Local Rule</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Each node needs only:</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its stored input from the forward pass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the gradient from above</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its own local derivative</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It does not need to know the rest of the network</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Differentiable</a:t>
            </a:r>
            <a:r>
              <a:rPr lang="en-US" sz="2600" b="0" i="0" dirty="0">
                <a:solidFill>
                  <a:srgbClr val="000000"/>
                </a:solidFill>
                <a:latin typeface="Cambria"/>
                <a:cs typeface="Cambria"/>
              </a:rPr>
              <a:t>:  has a slope we can compute</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So backprop works on any graph of differentiable pieces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From One Neuron to a Layer</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A layer:   </a:t>
            </a:r>
            <a:r>
              <a:rPr lang="en-US" sz="2600" b="1" i="0" dirty="0">
                <a:solidFill>
                  <a:srgbClr val="000000"/>
                </a:solidFill>
                <a:latin typeface="Cambria"/>
                <a:cs typeface="Cambria"/>
              </a:rPr>
              <a:t>in</a:t>
            </a:r>
            <a:r>
              <a:rPr lang="en-US" sz="2600" b="0" i="0" dirty="0">
                <a:solidFill>
                  <a:srgbClr val="000000"/>
                </a:solidFill>
                <a:latin typeface="Cambria"/>
                <a:cs typeface="Cambria"/>
              </a:rPr>
              <a:t>  inputs and  </a:t>
            </a:r>
            <a:r>
              <a:rPr lang="en-US" sz="2600" b="1" i="0" dirty="0">
                <a:solidFill>
                  <a:srgbClr val="000000"/>
                </a:solidFill>
                <a:latin typeface="Cambria"/>
                <a:cs typeface="Cambria"/>
              </a:rPr>
              <a:t>out</a:t>
            </a:r>
            <a:r>
              <a:rPr lang="en-US" sz="2600" b="0" i="0" dirty="0">
                <a:solidFill>
                  <a:srgbClr val="000000"/>
                </a:solidFill>
                <a:latin typeface="Cambria"/>
                <a:cs typeface="Cambria"/>
              </a:rPr>
              <a:t>  neurons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Every neuron sees every input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so there are   in × out   weights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Store them in a </a:t>
            </a:r>
            <a:r>
              <a:rPr lang="en-US" sz="2600" b="1" i="0" dirty="0">
                <a:solidFill>
                  <a:srgbClr val="000000"/>
                </a:solidFill>
                <a:latin typeface="Cambria"/>
                <a:cs typeface="Cambria"/>
              </a:rPr>
              <a:t>matrix</a:t>
            </a:r>
            <a:r>
              <a:rPr lang="en-US" sz="2600" b="0" i="0" dirty="0">
                <a:solidFill>
                  <a:srgbClr val="000000"/>
                </a:solidFill>
                <a:latin typeface="Cambria"/>
                <a:cs typeface="Cambria"/>
              </a:rPr>
              <a:t>  W:</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in  rows,   out  columns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W[i][j]:   weight from input  i  to neuron  j</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One bias per neuron:   a vector  b  of length  out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A Batch of Examples</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A </a:t>
            </a:r>
            <a:r>
              <a:rPr lang="en-US" sz="2600" b="1" i="0" dirty="0">
                <a:solidFill>
                  <a:srgbClr val="000000"/>
                </a:solidFill>
                <a:latin typeface="Cambria"/>
                <a:cs typeface="Cambria"/>
              </a:rPr>
              <a:t>batch</a:t>
            </a:r>
            <a:r>
              <a:rPr lang="en-US" sz="2600" b="0" i="0" dirty="0">
                <a:solidFill>
                  <a:srgbClr val="000000"/>
                </a:solidFill>
                <a:latin typeface="Cambria"/>
                <a:cs typeface="Cambria"/>
              </a:rPr>
              <a:t>:   B  examples processed together</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Stack the inputs as the rows of a matrix  X</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one row per example</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X  is   B × in     ( B rows,  in columns )</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The outputs stack the same way:</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Y  is   B × out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One Layer in Matrix Form</a:t>
            </a:r>
          </a:p>
        </p:txBody>
      </p:sp>
      <p:sp>
        <p:nvSpPr>
          <p:cNvPr id="901" name="Rectangle 900"/>
          <p:cNvSpPr/>
          <p:nvPr/>
        </p:nvSpPr>
        <p:spPr>
          <a:xfrm>
            <a:off x="3017520" y="1737360"/>
            <a:ext cx="4023360" cy="548640"/>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400">
                <a:solidFill>
                  <a:srgbClr val="000000"/>
                </a:solidFill>
                <a:latin typeface="Courier New"/>
              </a:rPr>
              <a:t>Y  =  X W  +  b</a:t>
            </a:r>
          </a:p>
        </p:txBody>
      </p:sp>
      <p:sp>
        <p:nvSpPr>
          <p:cNvPr id="902" name="Rectangle 901"/>
          <p:cNvSpPr/>
          <p:nvPr/>
        </p:nvSpPr>
        <p:spPr>
          <a:xfrm>
            <a:off x="822960" y="2743200"/>
            <a:ext cx="1097280" cy="182880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800" b="1">
                <a:solidFill>
                  <a:srgbClr val="000000"/>
                </a:solidFill>
                <a:latin typeface="Cambria"/>
              </a:rPr>
              <a:t>X</a:t>
            </a:r>
          </a:p>
          <a:p>
            <a:pPr algn="ctr"/>
            <a:r>
              <a:rPr sz="1800" b="1">
                <a:solidFill>
                  <a:srgbClr val="000000"/>
                </a:solidFill>
                <a:latin typeface="Cambria"/>
              </a:rPr>
              <a:t>B × in</a:t>
            </a:r>
          </a:p>
        </p:txBody>
      </p:sp>
      <p:sp>
        <p:nvSpPr>
          <p:cNvPr id="903" name="TextBox 902"/>
          <p:cNvSpPr txBox="1"/>
          <p:nvPr/>
        </p:nvSpPr>
        <p:spPr>
          <a:xfrm>
            <a:off x="1965960" y="3383280"/>
            <a:ext cx="457200" cy="457200"/>
          </a:xfrm>
          <a:prstGeom prst="rect">
            <a:avLst/>
          </a:prstGeom>
          <a:noFill/>
        </p:spPr>
        <p:txBody>
          <a:bodyPr wrap="square" lIns="0" tIns="0" rIns="0" bIns="0" anchor="ctr">
            <a:spAutoFit/>
          </a:bodyPr>
          <a:lstStyle/>
          <a:p>
            <a:pPr algn="ctr"/>
            <a:r>
              <a:rPr sz="2800" b="1" i="0">
                <a:solidFill>
                  <a:srgbClr val="000000"/>
                </a:solidFill>
                <a:latin typeface="Cambria"/>
              </a:rPr>
              <a:t>×</a:t>
            </a:r>
          </a:p>
        </p:txBody>
      </p:sp>
      <p:sp>
        <p:nvSpPr>
          <p:cNvPr id="904" name="Rectangle 903"/>
          <p:cNvSpPr/>
          <p:nvPr/>
        </p:nvSpPr>
        <p:spPr>
          <a:xfrm>
            <a:off x="2468880" y="3017520"/>
            <a:ext cx="1463040" cy="128016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800" b="1">
                <a:solidFill>
                  <a:srgbClr val="000000"/>
                </a:solidFill>
                <a:latin typeface="Cambria"/>
              </a:rPr>
              <a:t>W</a:t>
            </a:r>
          </a:p>
          <a:p>
            <a:pPr algn="ctr"/>
            <a:r>
              <a:rPr sz="1800" b="1">
                <a:solidFill>
                  <a:srgbClr val="000000"/>
                </a:solidFill>
                <a:latin typeface="Cambria"/>
              </a:rPr>
              <a:t>in × out</a:t>
            </a:r>
          </a:p>
        </p:txBody>
      </p:sp>
      <p:sp>
        <p:nvSpPr>
          <p:cNvPr id="905" name="TextBox 904"/>
          <p:cNvSpPr txBox="1"/>
          <p:nvPr/>
        </p:nvSpPr>
        <p:spPr>
          <a:xfrm>
            <a:off x="3977639" y="3383280"/>
            <a:ext cx="457200" cy="457200"/>
          </a:xfrm>
          <a:prstGeom prst="rect">
            <a:avLst/>
          </a:prstGeom>
          <a:noFill/>
        </p:spPr>
        <p:txBody>
          <a:bodyPr wrap="square" lIns="0" tIns="0" rIns="0" bIns="0" anchor="ctr">
            <a:spAutoFit/>
          </a:bodyPr>
          <a:lstStyle/>
          <a:p>
            <a:pPr algn="ctr"/>
            <a:r>
              <a:rPr sz="2800" b="1" i="0">
                <a:solidFill>
                  <a:srgbClr val="000000"/>
                </a:solidFill>
                <a:latin typeface="Cambria"/>
              </a:rPr>
              <a:t>=</a:t>
            </a:r>
          </a:p>
        </p:txBody>
      </p:sp>
      <p:sp>
        <p:nvSpPr>
          <p:cNvPr id="906" name="Rectangle 905"/>
          <p:cNvSpPr/>
          <p:nvPr/>
        </p:nvSpPr>
        <p:spPr>
          <a:xfrm>
            <a:off x="4480560" y="2743200"/>
            <a:ext cx="1463040" cy="18288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800" b="1">
                <a:solidFill>
                  <a:srgbClr val="000000"/>
                </a:solidFill>
                <a:latin typeface="Cambria"/>
              </a:rPr>
              <a:t>Y</a:t>
            </a:r>
          </a:p>
          <a:p>
            <a:pPr algn="ctr"/>
            <a:r>
              <a:rPr sz="1800" b="1">
                <a:solidFill>
                  <a:srgbClr val="000000"/>
                </a:solidFill>
                <a:latin typeface="Cambria"/>
              </a:rPr>
              <a:t>B × out</a:t>
            </a:r>
          </a:p>
        </p:txBody>
      </p:sp>
      <p:sp>
        <p:nvSpPr>
          <p:cNvPr id="907" name="TextBox 906"/>
          <p:cNvSpPr txBox="1"/>
          <p:nvPr/>
        </p:nvSpPr>
        <p:spPr>
          <a:xfrm>
            <a:off x="6400800" y="2743200"/>
            <a:ext cx="3108960" cy="182880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000" b="1" i="0">
                <a:solidFill>
                  <a:srgbClr val="000000"/>
                </a:solidFill>
                <a:latin typeface="Cambria"/>
              </a:rPr>
              <a:t>B</a:t>
            </a:r>
            <a:r>
              <a:rPr sz="2000" b="0" i="0">
                <a:solidFill>
                  <a:srgbClr val="000000"/>
                </a:solidFill>
                <a:latin typeface="Cambria"/>
              </a:rPr>
              <a:t>  examples in a batch</a:t>
            </a:r>
          </a:p>
          <a:p>
            <a:pPr algn="l">
              <a:spcBef>
                <a:spcPts val="1000"/>
              </a:spcBef>
              <a:tabLst>
                <a:tab pos="548640" algn="l"/>
                <a:tab pos="1097280" algn="l"/>
                <a:tab pos="1645919" algn="l"/>
                <a:tab pos="2194560" algn="l"/>
                <a:tab pos="2743200" algn="l"/>
                <a:tab pos="3291839" algn="l"/>
                <a:tab pos="3840480" algn="l"/>
                <a:tab pos="4389120" algn="l"/>
              </a:tabLst>
            </a:pPr>
            <a:r>
              <a:rPr sz="2000" b="1" i="0">
                <a:solidFill>
                  <a:srgbClr val="000000"/>
                </a:solidFill>
                <a:latin typeface="Cambria"/>
              </a:rPr>
              <a:t>in</a:t>
            </a:r>
            <a:r>
              <a:rPr sz="2000" b="0" i="0">
                <a:solidFill>
                  <a:srgbClr val="000000"/>
                </a:solidFill>
                <a:latin typeface="Cambria"/>
              </a:rPr>
              <a:t>  inputs per example</a:t>
            </a:r>
          </a:p>
          <a:p>
            <a:pPr algn="l">
              <a:spcBef>
                <a:spcPts val="1000"/>
              </a:spcBef>
              <a:tabLst>
                <a:tab pos="548640" algn="l"/>
                <a:tab pos="1097280" algn="l"/>
                <a:tab pos="1645919" algn="l"/>
                <a:tab pos="2194560" algn="l"/>
                <a:tab pos="2743200" algn="l"/>
                <a:tab pos="3291839" algn="l"/>
                <a:tab pos="3840480" algn="l"/>
                <a:tab pos="4389120" algn="l"/>
              </a:tabLst>
            </a:pPr>
            <a:r>
              <a:rPr sz="2000" b="1" i="0">
                <a:solidFill>
                  <a:srgbClr val="000000"/>
                </a:solidFill>
                <a:latin typeface="Cambria"/>
              </a:rPr>
              <a:t>out</a:t>
            </a:r>
            <a:r>
              <a:rPr sz="2000" b="0" i="0">
                <a:solidFill>
                  <a:srgbClr val="000000"/>
                </a:solidFill>
                <a:latin typeface="Cambria"/>
              </a:rPr>
              <a:t>  outputs per example</a:t>
            </a:r>
          </a:p>
        </p:txBody>
      </p:sp>
      <p:sp>
        <p:nvSpPr>
          <p:cNvPr id="908" name="TextBox 907"/>
          <p:cNvSpPr txBox="1"/>
          <p:nvPr/>
        </p:nvSpPr>
        <p:spPr>
          <a:xfrm>
            <a:off x="731520" y="5120640"/>
            <a:ext cx="8595360" cy="91440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The forward pass of a layer is a </a:t>
            </a:r>
            <a:r>
              <a:rPr sz="2200" b="1" i="0">
                <a:solidFill>
                  <a:srgbClr val="000000"/>
                </a:solidFill>
                <a:latin typeface="Cambria"/>
              </a:rPr>
              <a:t>matrix multiply</a:t>
            </a:r>
            <a:r>
              <a:rPr sz="2200" b="0" i="0">
                <a:solidFill>
                  <a:srgbClr val="000000"/>
                </a:solidFill>
                <a:latin typeface="Cambria"/>
              </a:rPr>
              <a:t>  -  a GEMM</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fontScale="92500"/>
          </a:bodyPr>
          <a:lstStyle/>
          <a:p>
            <a:pPr algn="ctr"/>
            <a:r>
              <a:rPr lang="en-US" sz="4400" b="1" dirty="0">
                <a:solidFill>
                  <a:srgbClr val="FFFFFF"/>
                </a:solidFill>
                <a:latin typeface="Arial"/>
                <a:cs typeface="Arial"/>
              </a:rPr>
              <a:t>Matrix Multiply  =  Many Neurons</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Y = X W:     Y[k][j]  =  Σᵢ  X[k][i] · W[i][j]</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k:  which example,      j:  which neuron</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Σ   ( capital sigma )  means  "sum over"</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That is exactly the weighted sum of one neuron,</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for every example and every neuron at once</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b  adds the bias vector to every row</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GEMM</a:t>
            </a:r>
            <a:r>
              <a:rPr lang="en-US" sz="2600" b="0" i="0" dirty="0">
                <a:solidFill>
                  <a:srgbClr val="000000"/>
                </a:solidFill>
                <a:latin typeface="Cambria"/>
                <a:cs typeface="Cambria"/>
              </a:rPr>
              <a:t>:  GEneral Matrix Multiply,  the standard name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Notation for the Backward Pass</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dY   is short for   ∂L/∂Y</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the same shape as  Y:   B × out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each entry:  how  L  changes if that output is nudged</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Likewise:</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dX = ∂L/∂X        dW = ∂L/∂W        db = ∂L/∂b</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Transpose</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Transpose</a:t>
            </a:r>
            <a:r>
              <a:rPr lang="en-US" sz="2600" b="0" i="0" dirty="0">
                <a:solidFill>
                  <a:srgbClr val="000000"/>
                </a:solidFill>
                <a:latin typeface="Cambria"/>
                <a:cs typeface="Cambria"/>
              </a:rPr>
              <a:t>   Wᵀ:   swap rows and columns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row  i  of  W  becomes column  i  of  Wᵀ</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if  W  is  2 × 3,   then  Wᵀ  is  3 × 2</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W				Wᵀ</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200" b="0" i="0" dirty="0">
                <a:solidFill>
                  <a:srgbClr val="000000"/>
                </a:solidFill>
                <a:latin typeface="Courier New"/>
                <a:cs typeface="Courier New"/>
              </a:rPr>
              <a:t>	[ 1 2 3 ]		[ 1 4 ]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200" b="0" i="0" dirty="0">
                <a:solidFill>
                  <a:srgbClr val="000000"/>
                </a:solidFill>
                <a:latin typeface="Courier New"/>
                <a:cs typeface="Courier New"/>
              </a:rPr>
              <a:t>	[ 4 5 6 ]		[ 2 5 ]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200" b="0" i="0" dirty="0">
                <a:solidFill>
                  <a:srgbClr val="000000"/>
                </a:solidFill>
                <a:latin typeface="Courier New"/>
                <a:cs typeface="Courier New"/>
              </a:rPr>
              <a:t>					[ 3 6 ]</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The backward pass runs the connections in reverse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Backward for One Layer</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Given  dY  =  ∂L/∂Y  from the layer above:</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a:t>
            </a:r>
            <a:r>
              <a:rPr sz="2600" b="1" i="0">
                <a:solidFill>
                  <a:srgbClr val="000000"/>
                </a:solidFill>
                <a:latin typeface="Cambria"/>
              </a:rPr>
              <a:t>dX</a:t>
            </a:r>
            <a:r>
              <a:rPr sz="2600" b="0" i="0">
                <a:solidFill>
                  <a:srgbClr val="000000"/>
                </a:solidFill>
                <a:latin typeface="Cambria"/>
              </a:rPr>
              <a:t>  =  dY W</a:t>
            </a:r>
            <a:r>
              <a:rPr sz="2600" b="0" i="0" baseline="30000">
                <a:solidFill>
                  <a:srgbClr val="000000"/>
                </a:solidFill>
                <a:latin typeface="Cambria"/>
              </a:rPr>
              <a:t>T</a:t>
            </a:r>
            <a:r>
              <a:rPr sz="2600" b="0" i="0">
                <a:solidFill>
                  <a:srgbClr val="000000"/>
                </a:solidFill>
                <a:latin typeface="Cambria"/>
              </a:rPr>
              <a:t>			pass back to the layer below</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a:t>
            </a:r>
            <a:r>
              <a:rPr sz="2600" b="1" i="0">
                <a:solidFill>
                  <a:srgbClr val="000000"/>
                </a:solidFill>
                <a:latin typeface="Cambria"/>
              </a:rPr>
              <a:t>dW</a:t>
            </a:r>
            <a:r>
              <a:rPr sz="2600" b="0" i="0">
                <a:solidFill>
                  <a:srgbClr val="000000"/>
                </a:solidFill>
                <a:latin typeface="Cambria"/>
              </a:rPr>
              <a:t>  =  X</a:t>
            </a:r>
            <a:r>
              <a:rPr sz="2600" b="0" i="0" baseline="30000">
                <a:solidFill>
                  <a:srgbClr val="000000"/>
                </a:solidFill>
                <a:latin typeface="Cambria"/>
              </a:rPr>
              <a:t>T</a:t>
            </a:r>
            <a:r>
              <a:rPr sz="2600" b="0" i="0">
                <a:solidFill>
                  <a:srgbClr val="000000"/>
                </a:solidFill>
                <a:latin typeface="Cambria"/>
              </a:rPr>
              <a:t> dY			gradient for the weights</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a:t>
            </a:r>
            <a:r>
              <a:rPr sz="2600" b="1" i="0">
                <a:solidFill>
                  <a:srgbClr val="000000"/>
                </a:solidFill>
                <a:latin typeface="Cambria"/>
              </a:rPr>
              <a:t>db</a:t>
            </a:r>
            <a:r>
              <a:rPr sz="2600" b="0" i="0">
                <a:solidFill>
                  <a:srgbClr val="000000"/>
                </a:solidFill>
                <a:latin typeface="Cambria"/>
              </a:rPr>
              <a:t>  =  Σ dY				sum over the batch</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Two more matrix multiplies per layer</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Check the Shapes</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dX  =  dY Wᵀ:</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 B × out ) ( out × in )  =  B × in         like  X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dW  =  Xᵀ dY:</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 in × B ) ( B × out )  =  in × out         like  W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db  =  sum of the  B  rows of  dY:</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length  out         like  b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Each gradient has the shape of what it adjusts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Why an Activation Function?</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Without one,  two layers collapse into one:</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 X W1 ) W2   =   X ( W1 W2 )   =   X W</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A stack of matrix multiplies is just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one matrix multiply</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A </a:t>
            </a:r>
            <a:r>
              <a:rPr lang="en-US" sz="2600" b="1" i="0" dirty="0">
                <a:solidFill>
                  <a:srgbClr val="000000"/>
                </a:solidFill>
                <a:latin typeface="Cambria"/>
                <a:cs typeface="Cambria"/>
              </a:rPr>
              <a:t>nonlinear</a:t>
            </a:r>
            <a:r>
              <a:rPr lang="en-US" sz="2600" b="0" i="0" dirty="0">
                <a:solidFill>
                  <a:srgbClr val="000000"/>
                </a:solidFill>
                <a:latin typeface="Cambria"/>
                <a:cs typeface="Cambria"/>
              </a:rPr>
              <a:t> function between layers lets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the network learn curves,  not just straight lines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Two More Activations</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Tanh</a:t>
            </a:r>
            <a:r>
              <a:rPr lang="en-US" sz="2600" b="0" i="0" dirty="0">
                <a:solidFill>
                  <a:srgbClr val="000000"/>
                </a:solidFill>
                <a:latin typeface="Cambria"/>
                <a:cs typeface="Cambria"/>
              </a:rPr>
              <a:t>   ( hyperbolic tangent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tanh(z)  =  ( e^z − e^−z )  /  ( e^z + e^−z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like sigmoid,  but outputs from  −1  to  1</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ReLU</a:t>
            </a:r>
            <a:r>
              <a:rPr lang="en-US" sz="2600" b="0" i="0" dirty="0">
                <a:solidFill>
                  <a:srgbClr val="000000"/>
                </a:solidFill>
                <a:latin typeface="Cambria"/>
                <a:cs typeface="Cambria"/>
              </a:rPr>
              <a:t>   ( Rectified Linear Unit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ReLU(z)  =  max( 0 ,  z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negative  →  0,       positive  →  unchanged</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Activation Functions</a:t>
            </a:r>
          </a:p>
        </p:txBody>
      </p:sp>
      <p:sp>
        <p:nvSpPr>
          <p:cNvPr id="901" name="Rectangle 900"/>
          <p:cNvSpPr/>
          <p:nvPr/>
        </p:nvSpPr>
        <p:spPr>
          <a:xfrm>
            <a:off x="731520" y="1828800"/>
            <a:ext cx="2011680" cy="59436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2" name="Rectangle 901"/>
          <p:cNvSpPr/>
          <p:nvPr/>
        </p:nvSpPr>
        <p:spPr>
          <a:xfrm>
            <a:off x="2788920" y="1828800"/>
            <a:ext cx="2651760" cy="59436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function</a:t>
            </a:r>
          </a:p>
        </p:txBody>
      </p:sp>
      <p:sp>
        <p:nvSpPr>
          <p:cNvPr id="903" name="Rectangle 902"/>
          <p:cNvSpPr/>
          <p:nvPr/>
        </p:nvSpPr>
        <p:spPr>
          <a:xfrm>
            <a:off x="5486400" y="1828800"/>
            <a:ext cx="3840480" cy="59436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derivative</a:t>
            </a:r>
          </a:p>
        </p:txBody>
      </p:sp>
      <p:sp>
        <p:nvSpPr>
          <p:cNvPr id="904" name="Rectangle 903"/>
          <p:cNvSpPr/>
          <p:nvPr/>
        </p:nvSpPr>
        <p:spPr>
          <a:xfrm>
            <a:off x="731520" y="2514600"/>
            <a:ext cx="2011680" cy="59436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Sigmoid</a:t>
            </a:r>
          </a:p>
        </p:txBody>
      </p:sp>
      <p:sp>
        <p:nvSpPr>
          <p:cNvPr id="905" name="Rectangle 904"/>
          <p:cNvSpPr/>
          <p:nvPr/>
        </p:nvSpPr>
        <p:spPr>
          <a:xfrm>
            <a:off x="2788920" y="2514600"/>
            <a:ext cx="2651760" cy="59436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0">
                <a:solidFill>
                  <a:srgbClr val="000000"/>
                </a:solidFill>
                <a:latin typeface="Cambria"/>
              </a:rPr>
              <a:t>σ(z)</a:t>
            </a:r>
          </a:p>
        </p:txBody>
      </p:sp>
      <p:sp>
        <p:nvSpPr>
          <p:cNvPr id="906" name="Rectangle 905"/>
          <p:cNvSpPr/>
          <p:nvPr/>
        </p:nvSpPr>
        <p:spPr>
          <a:xfrm>
            <a:off x="5486400" y="2514600"/>
            <a:ext cx="3840480" cy="59436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0">
                <a:solidFill>
                  <a:srgbClr val="000000"/>
                </a:solidFill>
                <a:latin typeface="Cambria"/>
              </a:rPr>
              <a:t>σ ( 1 − σ )   ≤ 0.25</a:t>
            </a:r>
          </a:p>
        </p:txBody>
      </p:sp>
      <p:sp>
        <p:nvSpPr>
          <p:cNvPr id="907" name="Rectangle 906"/>
          <p:cNvSpPr/>
          <p:nvPr/>
        </p:nvSpPr>
        <p:spPr>
          <a:xfrm>
            <a:off x="731520" y="3200400"/>
            <a:ext cx="2011680" cy="59436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Tanh</a:t>
            </a:r>
          </a:p>
        </p:txBody>
      </p:sp>
      <p:sp>
        <p:nvSpPr>
          <p:cNvPr id="908" name="Rectangle 907"/>
          <p:cNvSpPr/>
          <p:nvPr/>
        </p:nvSpPr>
        <p:spPr>
          <a:xfrm>
            <a:off x="2788920" y="3200400"/>
            <a:ext cx="2651760" cy="59436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0">
                <a:solidFill>
                  <a:srgbClr val="000000"/>
                </a:solidFill>
                <a:latin typeface="Cambria"/>
              </a:rPr>
              <a:t>tanh(z)</a:t>
            </a:r>
          </a:p>
        </p:txBody>
      </p:sp>
      <p:sp>
        <p:nvSpPr>
          <p:cNvPr id="909" name="Rectangle 908"/>
          <p:cNvSpPr/>
          <p:nvPr/>
        </p:nvSpPr>
        <p:spPr>
          <a:xfrm>
            <a:off x="5486400" y="3200400"/>
            <a:ext cx="3840480" cy="59436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0">
                <a:solidFill>
                  <a:srgbClr val="000000"/>
                </a:solidFill>
                <a:latin typeface="Cambria"/>
              </a:rPr>
              <a:t>1 − tanh²   ≤ 1</a:t>
            </a:r>
          </a:p>
        </p:txBody>
      </p:sp>
      <p:sp>
        <p:nvSpPr>
          <p:cNvPr id="910" name="Rectangle 909"/>
          <p:cNvSpPr/>
          <p:nvPr/>
        </p:nvSpPr>
        <p:spPr>
          <a:xfrm>
            <a:off x="731520" y="3886200"/>
            <a:ext cx="2011680" cy="594360"/>
          </a:xfrm>
          <a:prstGeom prst="rect">
            <a:avLst/>
          </a:prstGeom>
          <a:solidFill>
            <a:srgbClr val="D5EDD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ReLU</a:t>
            </a:r>
          </a:p>
        </p:txBody>
      </p:sp>
      <p:sp>
        <p:nvSpPr>
          <p:cNvPr id="911" name="Rectangle 910"/>
          <p:cNvSpPr/>
          <p:nvPr/>
        </p:nvSpPr>
        <p:spPr>
          <a:xfrm>
            <a:off x="2788920" y="3886200"/>
            <a:ext cx="2651760" cy="594360"/>
          </a:xfrm>
          <a:prstGeom prst="rect">
            <a:avLst/>
          </a:prstGeom>
          <a:solidFill>
            <a:srgbClr val="D5EDD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0">
                <a:solidFill>
                  <a:srgbClr val="000000"/>
                </a:solidFill>
                <a:latin typeface="Cambria"/>
              </a:rPr>
              <a:t>max( 0, z )</a:t>
            </a:r>
          </a:p>
        </p:txBody>
      </p:sp>
      <p:sp>
        <p:nvSpPr>
          <p:cNvPr id="912" name="Rectangle 911"/>
          <p:cNvSpPr/>
          <p:nvPr/>
        </p:nvSpPr>
        <p:spPr>
          <a:xfrm>
            <a:off x="5486400" y="3886200"/>
            <a:ext cx="3840480" cy="594360"/>
          </a:xfrm>
          <a:prstGeom prst="rect">
            <a:avLst/>
          </a:prstGeom>
          <a:solidFill>
            <a:srgbClr val="D5EDD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0">
                <a:solidFill>
                  <a:srgbClr val="000000"/>
                </a:solidFill>
                <a:latin typeface="Cambria"/>
              </a:rPr>
              <a:t>1 if z &gt; 0,  else 0</a:t>
            </a:r>
          </a:p>
        </p:txBody>
      </p:sp>
      <p:sp>
        <p:nvSpPr>
          <p:cNvPr id="913" name="TextBox 912"/>
          <p:cNvSpPr txBox="1"/>
          <p:nvPr/>
        </p:nvSpPr>
        <p:spPr>
          <a:xfrm>
            <a:off x="731520" y="4846320"/>
            <a:ext cx="8595360" cy="146304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400" b="0" i="0">
                <a:solidFill>
                  <a:srgbClr val="000000"/>
                </a:solidFill>
                <a:latin typeface="Cambria"/>
              </a:rPr>
              <a:t>ReLU's derivative is a </a:t>
            </a:r>
            <a:r>
              <a:rPr sz="2400" b="1" i="0">
                <a:solidFill>
                  <a:srgbClr val="000000"/>
                </a:solidFill>
                <a:latin typeface="Cambria"/>
              </a:rPr>
              <a:t>comparator</a:t>
            </a:r>
          </a:p>
          <a:p>
            <a:pPr algn="l">
              <a:spcBef>
                <a:spcPts val="1000"/>
              </a:spcBef>
              <a:tabLst>
                <a:tab pos="548640" algn="l"/>
                <a:tab pos="1097280" algn="l"/>
                <a:tab pos="1645919" algn="l"/>
                <a:tab pos="2194560" algn="l"/>
                <a:tab pos="2743200" algn="l"/>
                <a:tab pos="3291839" algn="l"/>
                <a:tab pos="3840480" algn="l"/>
                <a:tab pos="4389120" algn="l"/>
              </a:tabLst>
            </a:pPr>
            <a:r>
              <a:rPr sz="2400" b="0" i="0">
                <a:solidFill>
                  <a:srgbClr val="000000"/>
                </a:solidFill>
                <a:latin typeface="Cambria"/>
              </a:rPr>
              <a:t>	cheap in software and in hardware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Training Loop Vocabulary</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epoch</a:t>
            </a:r>
            <a:r>
              <a:rPr lang="en-US" sz="2600" b="0" i="0" dirty="0">
                <a:solidFill>
                  <a:srgbClr val="000000"/>
                </a:solidFill>
                <a:latin typeface="Cambria"/>
                <a:cs typeface="Cambria"/>
              </a:rPr>
              <a:t>:   one pass over all the training data</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batches(data)</a:t>
            </a:r>
            <a:r>
              <a:rPr lang="en-US" sz="2600" b="0" i="0" dirty="0">
                <a:solidFill>
                  <a:srgbClr val="000000"/>
                </a:solidFill>
                <a:latin typeface="Cambria"/>
                <a:cs typeface="Cambria"/>
              </a:rPr>
              <a:t>:   split the data into groups of  B</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X ,  T:   a batch of inputs and their targets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lr</a:t>
            </a:r>
            <a:r>
              <a:rPr lang="en-US" sz="2600" b="0" i="0" dirty="0">
                <a:solidFill>
                  <a:srgbClr val="000000"/>
                </a:solidFill>
                <a:latin typeface="Cambria"/>
                <a:cs typeface="Cambria"/>
              </a:rPr>
              <a:t>:   the learning rate  η</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g:   the gradient for weight  w</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w -= lr * g:   Python for   w  &lt;=  w − η · g</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The Training Loop</a:t>
            </a:r>
          </a:p>
        </p:txBody>
      </p:sp>
      <p:sp>
        <p:nvSpPr>
          <p:cNvPr id="901" name="Rectangle 900"/>
          <p:cNvSpPr/>
          <p:nvPr/>
        </p:nvSpPr>
        <p:spPr>
          <a:xfrm>
            <a:off x="731520" y="1691640"/>
            <a:ext cx="8595360" cy="3992879"/>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for epoch in range(num_epochs):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    for X, T in batches(data):</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        # forward:  keep activations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        Y = model.forward(X)</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        loss = loss_fn(Y, 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        # backward:  gradients for every weight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        grads = model.backward(loss)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        # update</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        for w, g in zip(model.weights, grads):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2000">
                <a:solidFill>
                  <a:srgbClr val="000000"/>
                </a:solidFill>
                <a:latin typeface="Courier New"/>
              </a:rPr>
              <a:t>            w -= lr * g</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Mini-Batch Gradient Descent</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Gradient over </a:t>
            </a:r>
            <a:r>
              <a:rPr lang="en-US" sz="2600" b="1" i="0" dirty="0">
                <a:solidFill>
                  <a:srgbClr val="000000"/>
                </a:solidFill>
                <a:latin typeface="Cambria"/>
                <a:cs typeface="Cambria"/>
              </a:rPr>
              <a:t>all</a:t>
            </a:r>
            <a:r>
              <a:rPr lang="en-US" sz="2600" b="0" i="0" dirty="0">
                <a:solidFill>
                  <a:srgbClr val="000000"/>
                </a:solidFill>
                <a:latin typeface="Cambria"/>
                <a:cs typeface="Cambria"/>
              </a:rPr>
              <a:t> the data:   exact but too slow</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Gradient over </a:t>
            </a:r>
            <a:r>
              <a:rPr lang="en-US" sz="2600" b="1" i="0" dirty="0">
                <a:solidFill>
                  <a:srgbClr val="000000"/>
                </a:solidFill>
                <a:latin typeface="Cambria"/>
                <a:cs typeface="Cambria"/>
              </a:rPr>
              <a:t>one</a:t>
            </a:r>
            <a:r>
              <a:rPr lang="en-US" sz="2600" b="0" i="0" dirty="0">
                <a:solidFill>
                  <a:srgbClr val="000000"/>
                </a:solidFill>
                <a:latin typeface="Cambria"/>
                <a:cs typeface="Cambria"/>
              </a:rPr>
              <a:t> example:   fast but </a:t>
            </a:r>
            <a:r>
              <a:rPr lang="en-US" sz="2600" b="1" i="0" dirty="0">
                <a:solidFill>
                  <a:srgbClr val="000000"/>
                </a:solidFill>
                <a:latin typeface="Cambria"/>
                <a:cs typeface="Cambria"/>
              </a:rPr>
              <a:t>noisy</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one example's slope points in a</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somewhat random direction</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Mini-batch</a:t>
            </a:r>
            <a:r>
              <a:rPr lang="en-US" sz="2600" b="0" i="0" dirty="0">
                <a:solidFill>
                  <a:srgbClr val="000000"/>
                </a:solidFill>
                <a:latin typeface="Cambria"/>
                <a:cs typeface="Cambria"/>
              </a:rPr>
              <a:t>:   average over  B  examples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a good estimate of the gradient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and a matrix big enough to keep a GPU busy</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Better Optimizers</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Plain gradient descent zig-zags on bumpy ground</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Momentum</a:t>
            </a:r>
            <a:r>
              <a:rPr lang="en-US" sz="2600" b="0" i="0" dirty="0">
                <a:solidFill>
                  <a:srgbClr val="000000"/>
                </a:solidFill>
                <a:latin typeface="Cambria"/>
                <a:cs typeface="Cambria"/>
              </a:rPr>
              <a:t>:   roll like a heavy ball</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v  &lt;=  β v  +  g</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w  &lt;=  w  −  η v</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g:   this step's gradient          v:   the </a:t>
            </a:r>
            <a:r>
              <a:rPr lang="en-US" sz="2600" b="1" i="0" dirty="0">
                <a:solidFill>
                  <a:srgbClr val="000000"/>
                </a:solidFill>
                <a:latin typeface="Cambria"/>
                <a:cs typeface="Cambria"/>
              </a:rPr>
              <a:t>velocity</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β   ( beta,  e.g. 0.9 ):   how much old velocity to keep</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v  is a </a:t>
            </a:r>
            <a:r>
              <a:rPr lang="en-US" sz="2600" b="1" i="0" dirty="0">
                <a:solidFill>
                  <a:srgbClr val="000000"/>
                </a:solidFill>
                <a:latin typeface="Cambria"/>
                <a:cs typeface="Cambria"/>
              </a:rPr>
              <a:t>running average</a:t>
            </a:r>
            <a:r>
              <a:rPr lang="en-US" sz="2600" b="0" i="0" dirty="0">
                <a:solidFill>
                  <a:srgbClr val="000000"/>
                </a:solidFill>
                <a:latin typeface="Cambria"/>
                <a:cs typeface="Cambria"/>
              </a:rPr>
              <a:t> of recent gradients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Adam</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Adam</a:t>
            </a:r>
            <a:r>
              <a:rPr lang="en-US" sz="2600" b="0" i="0" dirty="0">
                <a:solidFill>
                  <a:srgbClr val="000000"/>
                </a:solidFill>
                <a:latin typeface="Cambria"/>
                <a:cs typeface="Cambria"/>
              </a:rPr>
              <a:t>   ( Adaptive Moment Estimation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momentum,  plus a step size </a:t>
            </a:r>
            <a:r>
              <a:rPr lang="en-US" sz="2600" b="1" i="0" dirty="0">
                <a:solidFill>
                  <a:srgbClr val="000000"/>
                </a:solidFill>
                <a:latin typeface="Cambria"/>
                <a:cs typeface="Cambria"/>
              </a:rPr>
              <a:t>per weight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Keeps a running average of  g²  for every weight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large gradients:   smaller steps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small gradients:   larger steps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Same gradients from backprop,  smarter steps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Cost:   extra numbers stored </a:t>
            </a:r>
            <a:r>
              <a:rPr lang="en-US" sz="2600" b="1" i="0" dirty="0">
                <a:solidFill>
                  <a:srgbClr val="000000"/>
                </a:solidFill>
                <a:latin typeface="Cambria"/>
                <a:cs typeface="Cambria"/>
              </a:rPr>
              <a:t>per weight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A Short History</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1970   Linnainmaa:   reverse-mode automatic differentiation</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derivatives computed by a program,  output to input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1974   Werbos:   applies it to neural networks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1986   Rumelhart,  Hinton,  Williams: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"Learning representations by back-propagating errors"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2012 on    backprop + GPUs  =  deep learning</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743200"/>
            <a:ext cx="9052560" cy="137160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Strengths</a:t>
            </a:r>
          </a:p>
        </p:txBody>
      </p:sp>
      <p:sp>
        <p:nvSpPr>
          <p:cNvPr id="901" name="TextBox 900"/>
          <p:cNvSpPr txBox="1"/>
          <p:nvPr/>
        </p:nvSpPr>
        <p:spPr>
          <a:xfrm>
            <a:off x="502920" y="4389120"/>
            <a:ext cx="9052560" cy="91440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2400" b="0" i="1">
                <a:solidFill>
                  <a:srgbClr val="000000"/>
                </a:solidFill>
                <a:latin typeface="Cambria"/>
              </a:rPr>
              <a:t>why backprop runs the AI world</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Strength:  Cheap Gradients</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N  =  the number of weights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All  N  gradients for about  2 ×  the forward cost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finite differences:	2N  forward passes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backprop:		1 forward  +  1 backward</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N = 10⁹:    a factor of about a billion</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Nothing else comes close   ( so far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Kinds of Layers</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Convolution</a:t>
            </a:r>
            <a:r>
              <a:rPr lang="en-US" sz="2600" b="0" i="0" dirty="0">
                <a:solidFill>
                  <a:srgbClr val="000000"/>
                </a:solidFill>
                <a:latin typeface="Cambria"/>
                <a:cs typeface="Cambria"/>
              </a:rPr>
              <a:t>:   a small filter slid across an image</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like an FIR filter,  in two dimensions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Attention</a:t>
            </a:r>
            <a:r>
              <a:rPr lang="en-US" sz="2600" b="0" i="0" dirty="0">
                <a:solidFill>
                  <a:srgbClr val="000000"/>
                </a:solidFill>
                <a:latin typeface="Cambria"/>
                <a:cs typeface="Cambria"/>
              </a:rPr>
              <a:t>:   each word weighs every other word</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the core of language models   ( transformers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Recurrence</a:t>
            </a:r>
            <a:r>
              <a:rPr lang="en-US" sz="2600" b="0" i="0" dirty="0">
                <a:solidFill>
                  <a:srgbClr val="000000"/>
                </a:solidFill>
                <a:latin typeface="Cambria"/>
                <a:cs typeface="Cambria"/>
              </a:rPr>
              <a:t>:   output fed back as the next input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like a state register</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All built from multiplies and adds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Strength:  Exact and General</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Gives the </a:t>
            </a:r>
            <a:r>
              <a:rPr lang="en-US" sz="2600" b="1" i="0" dirty="0">
                <a:solidFill>
                  <a:srgbClr val="000000"/>
                </a:solidFill>
                <a:latin typeface="Cambria"/>
                <a:cs typeface="Cambria"/>
              </a:rPr>
              <a:t>exact</a:t>
            </a:r>
            <a:r>
              <a:rPr lang="en-US" sz="2600" b="0" i="0" dirty="0">
                <a:solidFill>
                  <a:srgbClr val="000000"/>
                </a:solidFill>
                <a:latin typeface="Cambria"/>
                <a:cs typeface="Cambria"/>
              </a:rPr>
              <a:t> gradient,  not an estimate</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Works on </a:t>
            </a:r>
            <a:r>
              <a:rPr lang="en-US" sz="2600" b="1" i="0" dirty="0">
                <a:solidFill>
                  <a:srgbClr val="000000"/>
                </a:solidFill>
                <a:latin typeface="Cambria"/>
                <a:cs typeface="Cambria"/>
              </a:rPr>
              <a:t>any</a:t>
            </a:r>
            <a:r>
              <a:rPr lang="en-US" sz="2600" b="0" i="0" dirty="0">
                <a:solidFill>
                  <a:srgbClr val="000000"/>
                </a:solidFill>
                <a:latin typeface="Cambria"/>
                <a:cs typeface="Cambria"/>
              </a:rPr>
              <a:t> graph of differentiable operations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convolutions,  attention,  recurrences</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Frameworks do it automatically:   </a:t>
            </a:r>
            <a:r>
              <a:rPr lang="en-US" sz="2600" b="1" i="0" dirty="0">
                <a:solidFill>
                  <a:srgbClr val="000000"/>
                </a:solidFill>
                <a:latin typeface="Cambria"/>
                <a:cs typeface="Cambria"/>
              </a:rPr>
              <a:t>autograd</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 automatic differentiation,  e.g. PyTorch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you write only the forward pass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Strength:  Made for GPUs</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Forward and backward are both </a:t>
            </a:r>
            <a:r>
              <a:rPr lang="en-US" sz="2600" b="1" i="0" dirty="0">
                <a:solidFill>
                  <a:srgbClr val="000000"/>
                </a:solidFill>
                <a:latin typeface="Cambria"/>
                <a:cs typeface="Cambria"/>
              </a:rPr>
              <a:t>matrix multiplies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Exactly what </a:t>
            </a:r>
            <a:r>
              <a:rPr lang="en-US" sz="2600" b="1" i="0" dirty="0">
                <a:solidFill>
                  <a:srgbClr val="000000"/>
                </a:solidFill>
                <a:latin typeface="Cambria"/>
                <a:cs typeface="Cambria"/>
              </a:rPr>
              <a:t>tensor cores</a:t>
            </a:r>
            <a:r>
              <a:rPr lang="en-US" sz="2600" b="0" i="0" dirty="0">
                <a:solidFill>
                  <a:srgbClr val="000000"/>
                </a:solidFill>
                <a:latin typeface="Cambria"/>
                <a:cs typeface="Cambria"/>
              </a:rPr>
              <a:t> and </a:t>
            </a:r>
            <a:r>
              <a:rPr lang="en-US" sz="2600" b="1" i="0" dirty="0">
                <a:solidFill>
                  <a:srgbClr val="000000"/>
                </a:solidFill>
                <a:latin typeface="Cambria"/>
                <a:cs typeface="Cambria"/>
              </a:rPr>
              <a:t>systolic arrays</a:t>
            </a:r>
            <a:r>
              <a:rPr lang="en-US" sz="2600" b="0" i="0" dirty="0">
                <a:solidFill>
                  <a:srgbClr val="000000"/>
                </a:solidFill>
                <a:latin typeface="Cambria"/>
                <a:cs typeface="Cambria"/>
              </a:rPr>
              <a:t> do</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 Part 3:  hardware matrix-multiply engines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Mini-batches turn vectors into big matrices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Hardware and algorithm have </a:t>
            </a:r>
            <a:r>
              <a:rPr lang="en-US" sz="2600" b="1" i="0" dirty="0">
                <a:solidFill>
                  <a:srgbClr val="000000"/>
                </a:solidFill>
                <a:latin typeface="Cambria"/>
                <a:cs typeface="Cambria"/>
              </a:rPr>
              <a:t>co-evolved</a:t>
            </a:r>
            <a:r>
              <a:rPr lang="en-US" sz="2600" b="0" i="0" dirty="0">
                <a:solidFill>
                  <a:srgbClr val="000000"/>
                </a:solidFill>
                <a:latin typeface="Cambria"/>
                <a:cs typeface="Cambria"/>
              </a:rPr>
              <a: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each was designed around the other</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743200"/>
            <a:ext cx="9052560" cy="137160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Weaknesses</a:t>
            </a:r>
          </a:p>
        </p:txBody>
      </p:sp>
      <p:sp>
        <p:nvSpPr>
          <p:cNvPr id="901" name="TextBox 900"/>
          <p:cNvSpPr txBox="1"/>
          <p:nvPr/>
        </p:nvSpPr>
        <p:spPr>
          <a:xfrm>
            <a:off x="502920" y="4389120"/>
            <a:ext cx="9052560" cy="91440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2400" b="0" i="1">
                <a:solidFill>
                  <a:srgbClr val="000000"/>
                </a:solidFill>
                <a:latin typeface="Cambria"/>
              </a:rPr>
              <a:t>the price of the chain rule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fontScale="92500" lnSpcReduction="20000"/>
          </a:bodyPr>
          <a:lstStyle/>
          <a:p>
            <a:pPr algn="ctr"/>
            <a:r>
              <a:rPr lang="en-US" sz="4400" b="1" dirty="0">
                <a:solidFill>
                  <a:srgbClr val="FFFFFF"/>
                </a:solidFill>
                <a:latin typeface="Arial"/>
                <a:cs typeface="Arial"/>
              </a:rPr>
              <a:t>Vanishing and Exploding Gradients</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The gradient is a </a:t>
            </a:r>
            <a:r>
              <a:rPr lang="en-US" sz="2600" b="1" i="0" dirty="0">
                <a:solidFill>
                  <a:srgbClr val="000000"/>
                </a:solidFill>
                <a:latin typeface="Cambria"/>
                <a:cs typeface="Cambria"/>
              </a:rPr>
              <a:t>product</a:t>
            </a:r>
            <a:r>
              <a:rPr lang="en-US" sz="2600" b="0" i="0" dirty="0">
                <a:solidFill>
                  <a:srgbClr val="000000"/>
                </a:solidFill>
                <a:latin typeface="Cambria"/>
                <a:cs typeface="Cambria"/>
              </a:rPr>
              <a:t> over layers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Sigmoid:   each factor   ≤  0.25</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10 layers:    0.25¹⁰  ≈  10⁻⁶</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Vanishing</a:t>
            </a:r>
            <a:r>
              <a:rPr lang="en-US" sz="2600" b="0" i="0" dirty="0">
                <a:solidFill>
                  <a:srgbClr val="000000"/>
                </a:solidFill>
                <a:latin typeface="Cambria"/>
                <a:cs typeface="Cambria"/>
              </a:rPr>
              <a:t>:   early layers get almost no gradient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Factors  &gt; 1  multiply up:    </a:t>
            </a:r>
            <a:r>
              <a:rPr lang="en-US" sz="2600" b="1" i="0" dirty="0">
                <a:solidFill>
                  <a:srgbClr val="000000"/>
                </a:solidFill>
                <a:latin typeface="Cambria"/>
                <a:cs typeface="Cambria"/>
              </a:rPr>
              <a:t>exploding</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huge steps,  and training blows up</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Fixes</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ReLU</a:t>
            </a:r>
            <a:r>
              <a:rPr lang="en-US" sz="2600" b="0" i="0" dirty="0">
                <a:solidFill>
                  <a:srgbClr val="000000"/>
                </a:solidFill>
                <a:latin typeface="Cambria"/>
                <a:cs typeface="Cambria"/>
              </a:rPr>
              <a:t>:   slope is exactly 1 where it is active</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Careful initialization</a:t>
            </a:r>
            <a:r>
              <a:rPr lang="en-US" sz="2600" b="0" i="0" dirty="0">
                <a:solidFill>
                  <a:srgbClr val="000000"/>
                </a:solidFill>
                <a:latin typeface="Cambria"/>
                <a:cs typeface="Cambria"/>
              </a:rPr>
              <a:t>:   choose the starting</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random weights so signals neither shrink nor grow</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Normalization</a:t>
            </a:r>
            <a:r>
              <a:rPr lang="en-US" sz="2600" b="0" i="0" dirty="0">
                <a:solidFill>
                  <a:srgbClr val="000000"/>
                </a:solidFill>
                <a:latin typeface="Cambria"/>
                <a:cs typeface="Cambria"/>
              </a:rPr>
              <a:t>:   rescale each layer's values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to average 0 and spread 1</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Residual connection</a:t>
            </a:r>
            <a:r>
              <a:rPr lang="en-US" sz="2600" b="0" i="0" dirty="0">
                <a:solidFill>
                  <a:srgbClr val="000000"/>
                </a:solidFill>
                <a:latin typeface="Cambria"/>
                <a:cs typeface="Cambria"/>
              </a:rPr>
              <a:t>:   output  =  x + f(x)</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gives the gradient a path with factor 1</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fontScale="92500"/>
          </a:bodyPr>
          <a:lstStyle/>
          <a:p>
            <a:pPr algn="ctr"/>
            <a:r>
              <a:rPr lang="en-US" sz="4400" b="1" dirty="0">
                <a:solidFill>
                  <a:srgbClr val="FFFFFF"/>
                </a:solidFill>
                <a:latin typeface="Arial"/>
                <a:cs typeface="Arial"/>
              </a:rPr>
              <a:t>Everything Must Be Differentiable</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The chain rule needs a derivative at every step</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No help for:</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discrete choices,  table lookups,  random sampling</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physics simulators,  external programs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hardware in the loop</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Work-arounds exist,  but they are approximations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Memory:  Keep Everything</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The backward pass needs every forward </a:t>
            </a:r>
            <a:r>
              <a:rPr lang="en-US" sz="2600" b="1" i="0" dirty="0">
                <a:solidFill>
                  <a:srgbClr val="000000"/>
                </a:solidFill>
                <a:latin typeface="Cambria"/>
                <a:cs typeface="Cambria"/>
              </a:rPr>
              <a:t>activation</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activation:  a value computed in the forward pass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 z,  h,  y  in the tiny network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Memory grows with</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layers  ×  batch size  ×  sequence length</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Sequence length</a:t>
            </a:r>
            <a:r>
              <a:rPr lang="en-US" sz="2600" b="0" i="0" dirty="0">
                <a:solidFill>
                  <a:srgbClr val="000000"/>
                </a:solidFill>
                <a:latin typeface="Cambria"/>
                <a:cs typeface="Cambria"/>
              </a:rPr>
              <a:t>:   words in each input text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Often more memory than the weights themselves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Locking:  Layers Wait</a:t>
            </a:r>
          </a:p>
        </p:txBody>
      </p:sp>
      <p:sp>
        <p:nvSpPr>
          <p:cNvPr id="901" name="TextBox 900"/>
          <p:cNvSpPr txBox="1"/>
          <p:nvPr/>
        </p:nvSpPr>
        <p:spPr>
          <a:xfrm>
            <a:off x="731520" y="1691640"/>
            <a:ext cx="8595360" cy="457200"/>
          </a:xfrm>
          <a:prstGeom prst="rect">
            <a:avLst/>
          </a:prstGeom>
          <a:noFill/>
        </p:spPr>
        <p:txBody>
          <a:bodyPr wrap="square" lIns="0" tIns="0" rIns="0" bIns="0" anchor="ctr">
            <a:spAutoFit/>
          </a:bodyPr>
          <a:lstStyle/>
          <a:p>
            <a:pPr algn="ctr"/>
            <a:r>
              <a:rPr sz="2200" b="1" i="0">
                <a:solidFill>
                  <a:srgbClr val="000000"/>
                </a:solidFill>
                <a:latin typeface="Cambria"/>
              </a:rPr>
              <a:t>Four layers,  one training step</a:t>
            </a:r>
          </a:p>
        </p:txBody>
      </p:sp>
      <p:sp>
        <p:nvSpPr>
          <p:cNvPr id="902" name="TextBox 901"/>
          <p:cNvSpPr txBox="1"/>
          <p:nvPr/>
        </p:nvSpPr>
        <p:spPr>
          <a:xfrm>
            <a:off x="731520" y="2286000"/>
            <a:ext cx="1188720" cy="457200"/>
          </a:xfrm>
          <a:prstGeom prst="rect">
            <a:avLst/>
          </a:prstGeom>
          <a:noFill/>
        </p:spPr>
        <p:txBody>
          <a:bodyPr wrap="square" lIns="0" tIns="0" rIns="0" bIns="0" anchor="ctr">
            <a:spAutoFit/>
          </a:bodyPr>
          <a:lstStyle/>
          <a:p>
            <a:pPr algn="l"/>
            <a:r>
              <a:rPr sz="1800" b="0" i="0">
                <a:solidFill>
                  <a:srgbClr val="000000"/>
                </a:solidFill>
                <a:latin typeface="Cambria"/>
              </a:rPr>
              <a:t>layer 1</a:t>
            </a:r>
          </a:p>
        </p:txBody>
      </p:sp>
      <p:sp>
        <p:nvSpPr>
          <p:cNvPr id="903" name="Rectangle 902"/>
          <p:cNvSpPr/>
          <p:nvPr/>
        </p:nvSpPr>
        <p:spPr>
          <a:xfrm>
            <a:off x="2011680" y="2286000"/>
            <a:ext cx="7315200" cy="45720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4" name="Rectangle 903"/>
          <p:cNvSpPr/>
          <p:nvPr/>
        </p:nvSpPr>
        <p:spPr>
          <a:xfrm>
            <a:off x="2011680" y="2286000"/>
            <a:ext cx="914400" cy="4572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fwd</a:t>
            </a:r>
          </a:p>
        </p:txBody>
      </p:sp>
      <p:sp>
        <p:nvSpPr>
          <p:cNvPr id="905" name="Rectangle 904"/>
          <p:cNvSpPr/>
          <p:nvPr/>
        </p:nvSpPr>
        <p:spPr>
          <a:xfrm>
            <a:off x="8412480" y="2286000"/>
            <a:ext cx="914400" cy="457200"/>
          </a:xfrm>
          <a:prstGeom prst="rect">
            <a:avLst/>
          </a:prstGeom>
          <a:solidFill>
            <a:srgbClr val="F4B183"/>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bwd</a:t>
            </a:r>
          </a:p>
        </p:txBody>
      </p:sp>
      <p:sp>
        <p:nvSpPr>
          <p:cNvPr id="906" name="TextBox 905"/>
          <p:cNvSpPr txBox="1"/>
          <p:nvPr/>
        </p:nvSpPr>
        <p:spPr>
          <a:xfrm>
            <a:off x="731520" y="2926080"/>
            <a:ext cx="1188720" cy="457200"/>
          </a:xfrm>
          <a:prstGeom prst="rect">
            <a:avLst/>
          </a:prstGeom>
          <a:noFill/>
        </p:spPr>
        <p:txBody>
          <a:bodyPr wrap="square" lIns="0" tIns="0" rIns="0" bIns="0" anchor="ctr">
            <a:spAutoFit/>
          </a:bodyPr>
          <a:lstStyle/>
          <a:p>
            <a:pPr algn="l"/>
            <a:r>
              <a:rPr sz="1800" b="0" i="0">
                <a:solidFill>
                  <a:srgbClr val="000000"/>
                </a:solidFill>
                <a:latin typeface="Cambria"/>
              </a:rPr>
              <a:t>layer 2</a:t>
            </a:r>
          </a:p>
        </p:txBody>
      </p:sp>
      <p:sp>
        <p:nvSpPr>
          <p:cNvPr id="907" name="Rectangle 906"/>
          <p:cNvSpPr/>
          <p:nvPr/>
        </p:nvSpPr>
        <p:spPr>
          <a:xfrm>
            <a:off x="2011680" y="2926080"/>
            <a:ext cx="7315200" cy="45720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8" name="Rectangle 907"/>
          <p:cNvSpPr/>
          <p:nvPr/>
        </p:nvSpPr>
        <p:spPr>
          <a:xfrm>
            <a:off x="2926080" y="2926080"/>
            <a:ext cx="914400" cy="4572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fwd</a:t>
            </a:r>
          </a:p>
        </p:txBody>
      </p:sp>
      <p:sp>
        <p:nvSpPr>
          <p:cNvPr id="909" name="Rectangle 908"/>
          <p:cNvSpPr/>
          <p:nvPr/>
        </p:nvSpPr>
        <p:spPr>
          <a:xfrm>
            <a:off x="7498079" y="2926080"/>
            <a:ext cx="914400" cy="457200"/>
          </a:xfrm>
          <a:prstGeom prst="rect">
            <a:avLst/>
          </a:prstGeom>
          <a:solidFill>
            <a:srgbClr val="F4B183"/>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bwd</a:t>
            </a:r>
          </a:p>
        </p:txBody>
      </p:sp>
      <p:sp>
        <p:nvSpPr>
          <p:cNvPr id="910" name="TextBox 909"/>
          <p:cNvSpPr txBox="1"/>
          <p:nvPr/>
        </p:nvSpPr>
        <p:spPr>
          <a:xfrm>
            <a:off x="731520" y="3566160"/>
            <a:ext cx="1188720" cy="457200"/>
          </a:xfrm>
          <a:prstGeom prst="rect">
            <a:avLst/>
          </a:prstGeom>
          <a:noFill/>
        </p:spPr>
        <p:txBody>
          <a:bodyPr wrap="square" lIns="0" tIns="0" rIns="0" bIns="0" anchor="ctr">
            <a:spAutoFit/>
          </a:bodyPr>
          <a:lstStyle/>
          <a:p>
            <a:pPr algn="l"/>
            <a:r>
              <a:rPr sz="1800" b="0" i="0">
                <a:solidFill>
                  <a:srgbClr val="000000"/>
                </a:solidFill>
                <a:latin typeface="Cambria"/>
              </a:rPr>
              <a:t>layer 3</a:t>
            </a:r>
          </a:p>
        </p:txBody>
      </p:sp>
      <p:sp>
        <p:nvSpPr>
          <p:cNvPr id="911" name="Rectangle 910"/>
          <p:cNvSpPr/>
          <p:nvPr/>
        </p:nvSpPr>
        <p:spPr>
          <a:xfrm>
            <a:off x="2011680" y="3566160"/>
            <a:ext cx="7315200" cy="45720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2" name="Rectangle 911"/>
          <p:cNvSpPr/>
          <p:nvPr/>
        </p:nvSpPr>
        <p:spPr>
          <a:xfrm>
            <a:off x="3840480" y="3566160"/>
            <a:ext cx="914400" cy="4572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fwd</a:t>
            </a:r>
          </a:p>
        </p:txBody>
      </p:sp>
      <p:sp>
        <p:nvSpPr>
          <p:cNvPr id="913" name="Rectangle 912"/>
          <p:cNvSpPr/>
          <p:nvPr/>
        </p:nvSpPr>
        <p:spPr>
          <a:xfrm>
            <a:off x="6583680" y="3566160"/>
            <a:ext cx="914400" cy="457200"/>
          </a:xfrm>
          <a:prstGeom prst="rect">
            <a:avLst/>
          </a:prstGeom>
          <a:solidFill>
            <a:srgbClr val="F4B183"/>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bwd</a:t>
            </a:r>
          </a:p>
        </p:txBody>
      </p:sp>
      <p:sp>
        <p:nvSpPr>
          <p:cNvPr id="914" name="TextBox 913"/>
          <p:cNvSpPr txBox="1"/>
          <p:nvPr/>
        </p:nvSpPr>
        <p:spPr>
          <a:xfrm>
            <a:off x="731520" y="4206240"/>
            <a:ext cx="1188720" cy="457200"/>
          </a:xfrm>
          <a:prstGeom prst="rect">
            <a:avLst/>
          </a:prstGeom>
          <a:noFill/>
        </p:spPr>
        <p:txBody>
          <a:bodyPr wrap="square" lIns="0" tIns="0" rIns="0" bIns="0" anchor="ctr">
            <a:spAutoFit/>
          </a:bodyPr>
          <a:lstStyle/>
          <a:p>
            <a:pPr algn="l"/>
            <a:r>
              <a:rPr sz="1800" b="0" i="0">
                <a:solidFill>
                  <a:srgbClr val="000000"/>
                </a:solidFill>
                <a:latin typeface="Cambria"/>
              </a:rPr>
              <a:t>layer 4</a:t>
            </a:r>
          </a:p>
        </p:txBody>
      </p:sp>
      <p:sp>
        <p:nvSpPr>
          <p:cNvPr id="915" name="Rectangle 914"/>
          <p:cNvSpPr/>
          <p:nvPr/>
        </p:nvSpPr>
        <p:spPr>
          <a:xfrm>
            <a:off x="2011680" y="4206240"/>
            <a:ext cx="7315200" cy="45720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6" name="Rectangle 915"/>
          <p:cNvSpPr/>
          <p:nvPr/>
        </p:nvSpPr>
        <p:spPr>
          <a:xfrm>
            <a:off x="4754880" y="4206240"/>
            <a:ext cx="914400" cy="45720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fwd</a:t>
            </a:r>
          </a:p>
        </p:txBody>
      </p:sp>
      <p:sp>
        <p:nvSpPr>
          <p:cNvPr id="917" name="Rectangle 916"/>
          <p:cNvSpPr/>
          <p:nvPr/>
        </p:nvSpPr>
        <p:spPr>
          <a:xfrm>
            <a:off x="5669280" y="4206240"/>
            <a:ext cx="914400" cy="457200"/>
          </a:xfrm>
          <a:prstGeom prst="rect">
            <a:avLst/>
          </a:prstGeom>
          <a:solidFill>
            <a:srgbClr val="F4B183"/>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bwd</a:t>
            </a:r>
          </a:p>
        </p:txBody>
      </p:sp>
      <p:sp>
        <p:nvSpPr>
          <p:cNvPr id="918" name="TextBox 917"/>
          <p:cNvSpPr txBox="1"/>
          <p:nvPr/>
        </p:nvSpPr>
        <p:spPr>
          <a:xfrm>
            <a:off x="2011680" y="4892040"/>
            <a:ext cx="7315200" cy="365760"/>
          </a:xfrm>
          <a:prstGeom prst="rect">
            <a:avLst/>
          </a:prstGeom>
          <a:noFill/>
        </p:spPr>
        <p:txBody>
          <a:bodyPr wrap="square" lIns="0" tIns="0" rIns="0" bIns="0" anchor="ctr">
            <a:spAutoFit/>
          </a:bodyPr>
          <a:lstStyle/>
          <a:p>
            <a:pPr algn="r"/>
            <a:r>
              <a:rPr sz="1600" b="0" i="1">
                <a:solidFill>
                  <a:srgbClr val="595959"/>
                </a:solidFill>
                <a:latin typeface="Cambria"/>
              </a:rPr>
              <a:t>time  →</a:t>
            </a:r>
          </a:p>
        </p:txBody>
      </p:sp>
      <p:sp>
        <p:nvSpPr>
          <p:cNvPr id="919" name="TextBox 918"/>
          <p:cNvSpPr txBox="1"/>
          <p:nvPr/>
        </p:nvSpPr>
        <p:spPr>
          <a:xfrm>
            <a:off x="731520" y="5303520"/>
            <a:ext cx="8595360" cy="128016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Layer 1 cannot update until </a:t>
            </a:r>
            <a:r>
              <a:rPr sz="2200" b="1" i="0">
                <a:solidFill>
                  <a:srgbClr val="000000"/>
                </a:solidFill>
                <a:latin typeface="Cambria"/>
              </a:rPr>
              <a:t>every</a:t>
            </a:r>
            <a:r>
              <a:rPr sz="2200" b="0" i="0">
                <a:solidFill>
                  <a:srgbClr val="000000"/>
                </a:solidFill>
                <a:latin typeface="Cambria"/>
              </a:rPr>
              <a:t> later layer has finished</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Most of each row is </a:t>
            </a:r>
            <a:r>
              <a:rPr sz="2200" b="1" i="0">
                <a:solidFill>
                  <a:srgbClr val="000000"/>
                </a:solidFill>
                <a:latin typeface="Cambria"/>
              </a:rPr>
              <a:t>idle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Not How Brains Learn</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Backward pass reuses the same weights,  transposed</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the  "weight transport"  problem:</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brain connections carry signals one way only</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Needs a separate,  precise backward phase</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Neurons only see </a:t>
            </a:r>
            <a:r>
              <a:rPr lang="en-US" sz="2600" b="1" i="0" dirty="0">
                <a:solidFill>
                  <a:srgbClr val="000000"/>
                </a:solidFill>
                <a:latin typeface="Cambria"/>
                <a:cs typeface="Cambria"/>
              </a:rPr>
              <a:t>local</a:t>
            </a:r>
            <a:r>
              <a:rPr lang="en-US" sz="2600" b="0" i="0" dirty="0">
                <a:solidFill>
                  <a:srgbClr val="000000"/>
                </a:solidFill>
                <a:latin typeface="Cambria"/>
                <a:cs typeface="Cambria"/>
              </a:rPr>
              <a:t> signals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Brains learn with far less energy and data</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Local Minima and Saddle Points</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Gradient descent only knows  "downhill from here"</a:t>
            </a:r>
          </a:p>
          <a:p>
            <a:pPr algn="l">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1300">
                <a:latin typeface="Cambria"/>
              </a:rPr>
              <a:t>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Local minimum</a:t>
            </a:r>
            <a:r>
              <a:rPr lang="en-US" sz="2600" b="0" i="0" dirty="0">
                <a:solidFill>
                  <a:srgbClr val="000000"/>
                </a:solidFill>
                <a:latin typeface="Cambria"/>
                <a:cs typeface="Cambria"/>
              </a:rPr>
              <a:t>:   a valley,  but not the lowest one</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Saddle point</a:t>
            </a:r>
            <a:r>
              <a:rPr lang="en-US" sz="2600" b="0" i="0" dirty="0">
                <a:solidFill>
                  <a:srgbClr val="000000"/>
                </a:solidFill>
                <a:latin typeface="Cambria"/>
                <a:cs typeface="Cambria"/>
              </a:rPr>
              <a:t>:   downhill one way,  uphill another</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the slope is 0,  so the steps stall</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Flat region</a:t>
            </a:r>
            <a:r>
              <a:rPr lang="en-US" sz="2600" b="0" i="0" dirty="0">
                <a:solidFill>
                  <a:srgbClr val="000000"/>
                </a:solidFill>
                <a:latin typeface="Cambria"/>
                <a:cs typeface="Cambria"/>
              </a:rPr>
              <a:t>:   slope near 0,  so tiny steps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And a Few More</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Only finds a </a:t>
            </a:r>
            <a:r>
              <a:rPr lang="en-US" sz="2600" b="1" i="0" dirty="0">
                <a:solidFill>
                  <a:srgbClr val="000000"/>
                </a:solidFill>
                <a:latin typeface="Cambria"/>
                <a:cs typeface="Cambria"/>
              </a:rPr>
              <a:t>local</a:t>
            </a:r>
            <a:r>
              <a:rPr lang="en-US" sz="2600" b="0" i="0" dirty="0">
                <a:solidFill>
                  <a:srgbClr val="000000"/>
                </a:solidFill>
                <a:latin typeface="Cambria"/>
                <a:cs typeface="Cambria"/>
              </a:rPr>
              <a:t> improvement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local minima,  saddle points,  flat regions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Sensitive to </a:t>
            </a:r>
            <a:r>
              <a:rPr lang="en-US" sz="2600" b="1" i="0" dirty="0">
                <a:solidFill>
                  <a:srgbClr val="000000"/>
                </a:solidFill>
                <a:latin typeface="Cambria"/>
                <a:cs typeface="Cambria"/>
              </a:rPr>
              <a:t>hyperparameters</a:t>
            </a:r>
            <a:r>
              <a:rPr lang="en-US" sz="2600" b="0" i="0" dirty="0">
                <a:solidFill>
                  <a:srgbClr val="000000"/>
                </a:solidFill>
                <a:latin typeface="Cambria"/>
                <a:cs typeface="Cambria"/>
              </a:rPr>
              <a: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settings we choose,  not learn   ( η,  B,  β )</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1" i="0" dirty="0">
                <a:solidFill>
                  <a:srgbClr val="000000"/>
                </a:solidFill>
                <a:latin typeface="Cambria"/>
                <a:cs typeface="Cambria"/>
              </a:rPr>
              <a:t>Catastrophic forgetting</a:t>
            </a:r>
            <a:r>
              <a:rPr lang="en-US" sz="2600" b="0" i="0" dirty="0">
                <a:solidFill>
                  <a:srgbClr val="000000"/>
                </a:solidFill>
                <a:latin typeface="Cambria"/>
                <a:cs typeface="Cambria"/>
              </a:rPr>
              <a: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training on new data overwrites old knowledge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Backprop:  The Scorecard</a:t>
            </a:r>
          </a:p>
        </p:txBody>
      </p:sp>
      <p:sp>
        <p:nvSpPr>
          <p:cNvPr id="901" name="TextBox 900"/>
          <p:cNvSpPr txBox="1"/>
          <p:nvPr/>
        </p:nvSpPr>
        <p:spPr>
          <a:xfrm>
            <a:off x="731520" y="1691640"/>
            <a:ext cx="4114800" cy="548640"/>
          </a:xfrm>
          <a:prstGeom prst="rect">
            <a:avLst/>
          </a:prstGeom>
          <a:noFill/>
        </p:spPr>
        <p:txBody>
          <a:bodyPr wrap="square" lIns="0" tIns="0" rIns="0" bIns="0" anchor="ctr">
            <a:spAutoFit/>
          </a:bodyPr>
          <a:lstStyle/>
          <a:p>
            <a:pPr algn="ctr"/>
            <a:r>
              <a:rPr sz="2800" b="1" i="0">
                <a:solidFill>
                  <a:srgbClr val="004600"/>
                </a:solidFill>
                <a:latin typeface="Cambria"/>
              </a:rPr>
              <a:t>Strengths</a:t>
            </a:r>
          </a:p>
        </p:txBody>
      </p:sp>
      <p:sp>
        <p:nvSpPr>
          <p:cNvPr id="902" name="TextBox 901"/>
          <p:cNvSpPr txBox="1"/>
          <p:nvPr/>
        </p:nvSpPr>
        <p:spPr>
          <a:xfrm>
            <a:off x="5212080" y="1691640"/>
            <a:ext cx="4114800" cy="548640"/>
          </a:xfrm>
          <a:prstGeom prst="rect">
            <a:avLst/>
          </a:prstGeom>
          <a:noFill/>
        </p:spPr>
        <p:txBody>
          <a:bodyPr wrap="square" lIns="0" tIns="0" rIns="0" bIns="0" anchor="ctr">
            <a:spAutoFit/>
          </a:bodyPr>
          <a:lstStyle/>
          <a:p>
            <a:pPr algn="ctr"/>
            <a:r>
              <a:rPr sz="2800" b="1" i="0">
                <a:solidFill>
                  <a:srgbClr val="C00000"/>
                </a:solidFill>
                <a:latin typeface="Cambria"/>
              </a:rPr>
              <a:t>Weaknesses</a:t>
            </a:r>
          </a:p>
        </p:txBody>
      </p:sp>
      <p:sp>
        <p:nvSpPr>
          <p:cNvPr id="903" name="TextBox 902"/>
          <p:cNvSpPr txBox="1"/>
          <p:nvPr/>
        </p:nvSpPr>
        <p:spPr>
          <a:xfrm>
            <a:off x="731520" y="2286000"/>
            <a:ext cx="4206240" cy="43891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Exact gradient</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All gradients at about</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	2 × forward cost</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Works on any</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	differentiable graph</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Matrix multiplies:</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	perfect for GPUs</a:t>
            </a:r>
          </a:p>
        </p:txBody>
      </p:sp>
      <p:sp>
        <p:nvSpPr>
          <p:cNvPr id="904" name="TextBox 903"/>
          <p:cNvSpPr txBox="1"/>
          <p:nvPr/>
        </p:nvSpPr>
        <p:spPr>
          <a:xfrm>
            <a:off x="5212080" y="2286000"/>
            <a:ext cx="4206240" cy="43891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Vanishing / exploding</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Must be differentiable</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Stores all activations</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Layers lock and wait</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Biologically implausible</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Settings-sensitive</a:t>
            </a:r>
          </a:p>
        </p:txBody>
      </p:sp>
      <p:cxnSp>
        <p:nvCxnSpPr>
          <p:cNvPr id="905" name="Connector 904"/>
          <p:cNvCxnSpPr/>
          <p:nvPr/>
        </p:nvCxnSpPr>
        <p:spPr>
          <a:xfrm>
            <a:off x="5029200" y="1828800"/>
            <a:ext cx="0" cy="457200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Key Ideas from Part 4</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Training  =  gradient descent on a loss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Backprop:  the chain rule,  run </a:t>
            </a:r>
            <a:r>
              <a:rPr sz="2600" b="1" i="0">
                <a:solidFill>
                  <a:srgbClr val="000000"/>
                </a:solidFill>
                <a:latin typeface="Cambria"/>
              </a:rPr>
              <a:t>backwards</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forward stores,  backward reuses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Per layer:   dX = dY W</a:t>
            </a:r>
            <a:r>
              <a:rPr sz="2600" b="0" i="0" baseline="30000">
                <a:solidFill>
                  <a:srgbClr val="000000"/>
                </a:solidFill>
                <a:latin typeface="Cambria"/>
              </a:rPr>
              <a:t>T</a:t>
            </a:r>
            <a:r>
              <a:rPr sz="2600" b="0" i="0">
                <a:solidFill>
                  <a:srgbClr val="000000"/>
                </a:solidFill>
                <a:latin typeface="Cambria"/>
              </a:rPr>
              <a:t>,   dW = X</a:t>
            </a:r>
            <a:r>
              <a:rPr sz="2600" b="0" i="0" baseline="30000">
                <a:solidFill>
                  <a:srgbClr val="000000"/>
                </a:solidFill>
                <a:latin typeface="Cambria"/>
              </a:rPr>
              <a:t>T</a:t>
            </a:r>
            <a:r>
              <a:rPr sz="2600" b="0" i="0">
                <a:solidFill>
                  <a:srgbClr val="000000"/>
                </a:solidFill>
                <a:latin typeface="Cambria"/>
              </a:rPr>
              <a:t> dY</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Huge strength:  every gradient for about 2 × forward</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The XOR Problem</a:t>
            </a:r>
          </a:p>
        </p:txBody>
      </p:sp>
      <p:sp>
        <p:nvSpPr>
          <p:cNvPr id="901" name="TextBox 901"/>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XOR:   output 1 when the two inputs </a:t>
            </a:r>
            <a:r>
              <a:rPr lang="en-US" sz="2600" b="1" i="0" dirty="0">
                <a:solidFill>
                  <a:srgbClr val="000000"/>
                </a:solidFill>
                <a:latin typeface="Cambria"/>
                <a:cs typeface="Cambria"/>
              </a:rPr>
              <a:t>differ</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x1	x2	t</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0	0	0</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0	1	1</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1	0	1</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1	1	0</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No single straight line separates the 1s from the 0s</a:t>
            </a:r>
          </a:p>
          <a:p>
            <a:pPr algn="l">
              <a:spcBef>
                <a:spcPts val="1000"/>
              </a:spcBef>
              <a:tabLst>
                <a:tab pos="548640" algn="l"/>
                <a:tab pos="1097280" algn="l"/>
                <a:tab pos="1645920" algn="l"/>
                <a:tab pos="2194560" algn="l"/>
                <a:tab pos="2743200" algn="l"/>
                <a:tab pos="3291840" algn="l"/>
                <a:tab pos="3840480" algn="l"/>
                <a:tab pos="4389120" algn="l"/>
                <a:tab pos="4937760" algn="l"/>
                <a:tab pos="5486400" algn="l"/>
                <a:tab pos="6035040" algn="l"/>
                <a:tab pos="6583680" algn="l"/>
                <a:tab pos="7132320" algn="l"/>
                <a:tab pos="7680960" algn="l"/>
              </a:tabLst>
            </a:pPr>
            <a:r>
              <a:rPr lang="en-US" sz="2600" b="0" i="0" dirty="0">
                <a:solidFill>
                  <a:srgbClr val="000000"/>
                </a:solidFill>
                <a:latin typeface="Cambria"/>
                <a:cs typeface="Cambria"/>
              </a:rPr>
              <a:t>	so the network needs a hidden layer</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Let's Backpropagate</a:t>
            </a:r>
          </a:p>
        </p:txBody>
      </p:sp>
      <p:sp>
        <p:nvSpPr>
          <p:cNvPr id="901" name="TextBox 900"/>
          <p:cNvSpPr txBox="1"/>
          <p:nvPr/>
        </p:nvSpPr>
        <p:spPr>
          <a:xfrm>
            <a:off x="731520" y="1691640"/>
            <a:ext cx="8595360" cy="731520"/>
          </a:xfrm>
          <a:prstGeom prst="rect">
            <a:avLst/>
          </a:prstGeom>
          <a:noFill/>
        </p:spPr>
        <p:txBody>
          <a:bodyPr wrap="square" lIns="0" tIns="0" rIns="0" bIns="0" anchor="ctr">
            <a:spAutoFit/>
          </a:bodyPr>
          <a:lstStyle/>
          <a:p>
            <a:pPr algn="ctr"/>
            <a:r>
              <a:rPr sz="3600" b="0" i="0">
                <a:solidFill>
                  <a:srgbClr val="000000"/>
                </a:solidFill>
                <a:latin typeface="Calibri"/>
              </a:rPr>
              <a:t>Exercise:  Backprop by Hand and in Code</a:t>
            </a:r>
          </a:p>
        </p:txBody>
      </p:sp>
      <p:sp>
        <p:nvSpPr>
          <p:cNvPr id="902" name="TextBox 901"/>
          <p:cNvSpPr txBox="1"/>
          <p:nvPr/>
        </p:nvSpPr>
        <p:spPr>
          <a:xfrm>
            <a:off x="731520" y="251460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1.	Repeat the tiny-network example with  t = 0.</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	Do two update steps by hand</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2.	Code a 2-layer network  ( ReLU hidden layer )</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	in C++ or Python with its own backward pass</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3.	Gradient-check every weight with finite differences</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4.	Train it on XOR.   Plot the loss</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5.	Swap ReLU for sigmoid with 10 layers.   What happens?</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Theme1">
  <a:themeElements>
    <a:clrScheme name="ECS-whitebackground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CS-whitebackground">
      <a:majorFont>
        <a:latin typeface="Arial"/>
        <a:ea typeface="Osaka"/>
        <a:cs typeface="Osaka"/>
      </a:majorFont>
      <a:minorFont>
        <a:latin typeface="Arial"/>
        <a:ea typeface="Osaka"/>
        <a:cs typeface="Osaka"/>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1_Theme1">
  <a:themeElements>
    <a:clrScheme name="ECS-whitebackground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CS-whitebackground">
      <a:majorFont>
        <a:latin typeface="Arial"/>
        <a:ea typeface="Osaka"/>
        <a:cs typeface="Osaka"/>
      </a:majorFont>
      <a:minorFont>
        <a:latin typeface="Arial"/>
        <a:ea typeface="Osaka"/>
        <a:cs typeface="Osaka"/>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57926</TotalTime>
  <Words>4102</Words>
  <Application>Microsoft Office PowerPoint</Application>
  <PresentationFormat>Custom</PresentationFormat>
  <Paragraphs>782</Paragraphs>
  <Slides>74</Slides>
  <Notes>74</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74</vt:i4>
      </vt:variant>
    </vt:vector>
  </HeadingPairs>
  <TitlesOfParts>
    <vt:vector size="88" baseType="lpstr">
      <vt:lpstr>ＭＳ Ｐゴシック</vt:lpstr>
      <vt:lpstr>Arial</vt:lpstr>
      <vt:lpstr>Calibri</vt:lpstr>
      <vt:lpstr>Cambria</vt:lpstr>
      <vt:lpstr>Courier New</vt:lpstr>
      <vt:lpstr>DejaVu Sans</vt:lpstr>
      <vt:lpstr>OpenSymbol</vt:lpstr>
      <vt:lpstr>Osaka</vt:lpstr>
      <vt:lpstr>Symbol</vt:lpstr>
      <vt:lpstr>Times New Roman</vt:lpstr>
      <vt:lpstr>Wingdings</vt:lpstr>
      <vt:lpstr>Office Theme</vt:lpstr>
      <vt:lpstr>Theme1</vt:lpstr>
      <vt:lpstr>1_Theme1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dc:title>
  <dc:subject/>
  <dc:creator>Bill Swartz</dc:creator>
  <dc:description/>
  <cp:lastModifiedBy>Bill Swartz</cp:lastModifiedBy>
  <cp:revision>564</cp:revision>
  <dcterms:created xsi:type="dcterms:W3CDTF">2013-08-28T11:36:20Z</dcterms:created>
  <dcterms:modified xsi:type="dcterms:W3CDTF">2026-10-29T18:01:40Z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2012-08-29T00:00:00Z</vt:filetime>
  </property>
  <property fmtid="{D5CDD505-2E9C-101B-9397-08002B2CF9AE}" pid="3" name="LastSaved">
    <vt:filetime>2013-08-28T00:00:00Z</vt:filetime>
  </property>
  <property fmtid="{D5CDD505-2E9C-101B-9397-08002B2CF9AE}" pid="4" name="Notes">
    <vt:i4>8</vt:i4>
  </property>
  <property fmtid="{D5CDD505-2E9C-101B-9397-08002B2CF9AE}" pid="5" name="PresentationFormat">
    <vt:lpwstr>Custom</vt:lpwstr>
  </property>
  <property fmtid="{D5CDD505-2E9C-101B-9397-08002B2CF9AE}" pid="6" name="Slides">
    <vt:i4>8</vt:i4>
  </property>
</Properties>
</file>