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8" r:id="rId3"/>
  </p:sldMasterIdLst>
  <p:notesMasterIdLst>
    <p:notesMasterId r:id="rId3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92" userDrawn="1">
          <p15:clr>
            <a:srgbClr val="A4A3A4"/>
          </p15:clr>
        </p15:guide>
        <p15:guide id="2"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94660"/>
  </p:normalViewPr>
  <p:slideViewPr>
    <p:cSldViewPr snapToGrid="0" showGuides="1">
      <p:cViewPr varScale="1">
        <p:scale>
          <a:sx n="97" d="100"/>
          <a:sy n="97" d="100"/>
        </p:scale>
        <p:origin x="2148" y="78"/>
      </p:cViewPr>
      <p:guideLst>
        <p:guide orient="horz" pos="4392"/>
        <p:guide pos="3312"/>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38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8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83"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84"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85"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0BBEA29-00E4-49AD-9593-1714797B799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31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Session 3 of 3. Part 1 was why. Part 2 was how to program it. Today we open up the hardware that makes a modern GPU an AI machine, and build the key pieces ourselves in SystemVerilog.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29626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Open with the question from the exercise. The answer is today's lecture: cuBLAS uses tensor cores, hardware our kernel never touched.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109496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4 inputs, 3 outputs, 12 weights. A real layer might have 4096 inputs and 4096 outputs, 16 million weights. Process a batch of inputs together and the vector x becomes a matrix X, so the layer is exactly the matmul from last time. The nonlinearity after it is cheap by comparison.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630548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4096 cubed = 68.7 billion MACs, which is 137 billion FLOPs, the number from last session. An AI accelerator is, to first order, a machine for doing MACs and keeping them fed with data.</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20908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Vector add reads two floats and writes one, 12 bytes, for one add. Matmul reads two N by N matrices and writes one, 3 N squared values at 2 bytes each. Matmul reuses each value N times, which is why it can keep a GPU busy and vector add never can.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83968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Left of the ridge, performance is limited by memory bandwidth times intensity: the red slope. Right of it, by peak arithmetic: the flat green roof. 989 TFLOP/s is H100 SXM dense BF16 tensor-core throughput from NVIDIA's datasheet. Below about 300 ops per byte, the tensor cores starve. This one picture explains both the push for more HBM bandwidth and the push for fewer bits per number.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97395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Now the hardware. What did NVIDIA add in 2017, and why is it so much faster than the CUDA cores we used last time?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50673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Volta's tensor core performs a 4 x 4 x 4 matrix multiply-accumulate per clock: 64 fused multiply-adds, FP16 inputs with FP16 or FP32 accumulation. V100 has 640 of them. Later generations made the tiles larger and added more formats. It is the SIMD argument from part 1 taken one step further: amortize control over a whole matrix instead of a vector.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56052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Each of the 16 outputs is a 4-term dot product plus the old value. In hardware that is 4 multipliers and an adder tree per output, 64 multipliers total. Accumulating in FP32 is what keeps low-precision training stable: the products are cheap, but the running sum keeps its precision.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86906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BF16 keeps FP32's 8 exponent bits, so it has the same range and only loses precision; that makes it a drop-in for training. TF32 is an internal tensor-core format on Ampere and later: FP32 range, FP16 precision. FP8 also comes in E5M2, used for gradients. FP4 E2M1 can represent only 0, 0.5, 1, 1.5, 2, 3, 4, 6 and their negatives.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29553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Counting the hidden leading 1, an FP32 mantissa is 24 bits, BF16 is 8, E4M3 is 4. Partial products grow with the square of the width. The exponent logic is just an adder and grows linearly. So halving the width roughly quarters the multiplier, and the area saved buys more multipliers.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86744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Recall the biased-exponent idea from the number-representation review: range and precision are separate knobs. Block scaling moves part of the exponent out of each number and shares it across a block. NVFP4 uses 16-value blocks with an FP8 E4M3 scale, plus a per-tensor FP32 scale.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04260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Named for the transformer models it targets. Blackwell's second-generation version added FP4. The point for this class: precision became a run-time decision, and the datapath supports several formats sharing the same multipliers.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52103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Enough block diagrams. Build the basic unit: a signed 8-bit multiply-accumulate with a 32-bit accumulator, the integer version of what a tensor core does.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628035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accumulator is wider than the product for the same reason a tensor core accumulates in FP32: we add many products. A 16-bit product needs 16 more bits of headroom to add 65,536 of them without overflow, which is why 32 bits is the usual choice.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57981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Points to make: signed on every declaration, otherwise the multiply is unsigned and negative numbers break. prod is 2 * AW bits, the full product width. CW'(prod) is a size cast; because prod is signed, it sign-extends to 32 bits. clear lets us start a new dot product without a full reset.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463499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 connects every port to the testbench signal of the same name. Inputs change on the falling edge so they are stable at the rising edge. The software model is one line: expected += a * b. A self-checking testbench like this is how real accelerator blocks are verified, at much larger scale.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97690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One MAC is not an accelerator. Now we arrange many of them so that data, once fetched, is reused by many MACs without going back to memory.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73112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 T. Kung and Charles Leiserson, late 1970s. The idea sat mostly in textbooks until AI made matrix multiply the dominant workload. Google's first TPU (2016) is a 256 x 256 systolic array of 8-bit MACs: 65,536 of them.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3005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an output-stationary array: each PE accumulates one element of C and never moves it. Elements of A enter from the left and move one PE right per clock. Elements of B enter from the top and move one PE down per clock. Every A value is used by 4 PEs, every B value by 4 PEs, but each was fetched from memory only once.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901632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It is the MAC from before plus two pipeline registers. The registers are what make it systolic: each value moves exactly one PE per clock. In c + a_in * b_in the operands are extended to the 32-bit context width before multiplying, and since all are signed the extension is a sign extension.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803415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Two arrays of wires: a_h[r][c] is the A value entering PE (r, c) from the left, b_v[r][c] the B value entering from above. The edge loop ties the inputs to column 0 and row 0. The nested generate loop stamps out N squared PEs. Change N from 4 to 256 and you have the shape of a TPU. The last column's a_out and last row's b_out are simply unused.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65214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 is skewed the same way down the columns. The skew guarantees that matching pairs A[r][k] and B[k][c] arrive at PE (r, c) on the same clock: A[r][k] is delayed r cycles at the input and c cycles crossing the row; B[k][c] is delayed c at the input and r crossing the column. For N = 4 the last product reaches PE (3,3) at cycle 9 and is registered on that edge, so the full result takes 3N - 2 = 10 cycles. Pipelining the next matrix right behind this one hides most of that fill time.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1648799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Weight stationary suits inference: the weights of a layer are loaded once and millions of inputs stream through. This is a classic HDL design-space decision: it changes which registers exist and which wires are long, but the MAC is the same.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34537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Both use the same building block, an array of MACs. The difference is how much general-purpose machinery surrounds it. The GPU keeps its SIMT cores so it can run any kernel, including all the non-matmul parts of a model. Dedicated accelerators such as TPUs spend nearly all their area on the array.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015571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Tensor cores are only half the story. The roofline told us they starve without bandwidth.</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046753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Each stack is several DRAM dies connected by through-silicon vias, sitting on a base logic die (amber). The interposer carries thousands of short wires between stacks and GPU. HBM3 is 1024 bits wide per stack; HBM4 doubles that to 2048. Short wires mean low energy per bit. Rubin's 22 TB/s comes from HBM4. Compare a DDR5 DIMM channel: 64 data bits.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48740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NVLink 5 on Blackwell is 1.8 TB/s per GPU, NVLink 6 on Rubin 3.6 TB/s, per NVIDIA. The NVL72 racks connect 72 GPUs in one NVLink domain. For comparison, PCIe 5.0 x16 is about 64 GB/s each way. Model weights, activations and gradients are sharded across GPUs, so communication is constant.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814252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Finally, connect the hardware back to the software from part 2. How does a line of PyTorch end up on these MAC arrays?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1697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Inside the autocast block, PyTorch runs matrix multiplies and convolutions in BF16 and keeps sensitive operations such as reductions in FP32. The weights themselves stay FP32 in the optimizer. That one with-statement is what puts the work on tensor cores. MyNet, loader and loss_fn stand for any model, data loader and loss.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946725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WMMA, warp matrix multiply-accumulate, is the CUDA C++ API for tensor cores. The whole warp cooperates on one 16 x 16 x 16 tile: fragments are spread across the 32 threads' registers. FP16 in, FP32 accumulate. cuBLAS and CUTLASS use the lower-level mma and, on Hopper, wgmma instructions, but the idea is identical.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421569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summary of the whole three-session unit in one picture. Every level is the same multiply-accumulate. The higher you go, the less you control and the more you get for free.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626239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Recap of part 3.</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773959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Close the unit. The same design moves recur: replicate a small module, amortize control, keep data close, and shrink the numbers when the application allows.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78083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Step 2 is where students struggle: a shift register per row, of depth r, is the cleanest way to build the skew. Ask the strongest students to make it weight stationary, or to stream a second matrix in right behind the first.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72091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54560" y="2409480"/>
            <a:ext cx="8548920" cy="163152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ftr" idx="1"/>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2" name="PlaceHolder 3"/>
          <p:cNvSpPr>
            <a:spLocks noGrp="1"/>
          </p:cNvSpPr>
          <p:nvPr>
            <p:ph type="dt" idx="2"/>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3" name="PlaceHolder 4"/>
          <p:cNvSpPr>
            <a:spLocks noGrp="1"/>
          </p:cNvSpPr>
          <p:nvPr>
            <p:ph type="sldNum" idx="3"/>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7F920929-0F69-4400-B58F-F0F9AC4A6A2D}"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502920" y="1787760"/>
            <a:ext cx="905184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6" name="PlaceHolder 3"/>
          <p:cNvSpPr>
            <a:spLocks noGrp="1"/>
          </p:cNvSpPr>
          <p:nvPr>
            <p:ph type="ftr" idx="4"/>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4"/>
          <p:cNvSpPr>
            <a:spLocks noGrp="1"/>
          </p:cNvSpPr>
          <p:nvPr>
            <p:ph type="dt" idx="5"/>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8" name="PlaceHolder 5"/>
          <p:cNvSpPr>
            <a:spLocks noGrp="1"/>
          </p:cNvSpPr>
          <p:nvPr>
            <p:ph type="sldNum" idx="6"/>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5BC29054-6F74-4644-9529-D93E886B0EF0}"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292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body"/>
          </p:nvPr>
        </p:nvSpPr>
        <p:spPr>
          <a:xfrm>
            <a:off x="518004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2" name="PlaceHolder 4"/>
          <p:cNvSpPr>
            <a:spLocks noGrp="1"/>
          </p:cNvSpPr>
          <p:nvPr>
            <p:ph type="ftr" idx="7"/>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3" name="PlaceHolder 5"/>
          <p:cNvSpPr>
            <a:spLocks noGrp="1"/>
          </p:cNvSpPr>
          <p:nvPr>
            <p:ph type="dt" idx="8"/>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4" name="PlaceHolder 6"/>
          <p:cNvSpPr>
            <a:spLocks noGrp="1"/>
          </p:cNvSpPr>
          <p:nvPr>
            <p:ph type="sldNum" idx="9"/>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4839A86E-239E-4764-956E-22B529859FEB}"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bk object 16"/>
          <p:cNvSpPr/>
          <p:nvPr/>
        </p:nvSpPr>
        <p:spPr>
          <a:xfrm>
            <a:off x="2341800" y="638280"/>
            <a:ext cx="360" cy="5485680"/>
          </a:xfrm>
          <a:custGeom>
            <a:avLst/>
            <a:gdLst>
              <a:gd name="textAreaLeft" fmla="*/ 0 w 360"/>
              <a:gd name="textAreaRight" fmla="*/ 1440 w 360"/>
              <a:gd name="textAreaTop" fmla="*/ 0 h 5485680"/>
              <a:gd name="textAreaBottom" fmla="*/ 5486400 h 5485680"/>
            </a:gdLst>
            <a:ahLst/>
            <a:cxnLst/>
            <a:rect l="textAreaLeft" t="textAreaTop" r="textAreaRight" b="textAreaBottom"/>
            <a:pathLst>
              <a:path h="5486398">
                <a:moveTo>
                  <a:pt x="0" y="0"/>
                </a:moveTo>
                <a:lnTo>
                  <a:pt x="0" y="5486398"/>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 name="bk object 17"/>
          <p:cNvSpPr/>
          <p:nvPr/>
        </p:nvSpPr>
        <p:spPr>
          <a:xfrm>
            <a:off x="2296080" y="60789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 name="bk object 18"/>
          <p:cNvSpPr/>
          <p:nvPr/>
        </p:nvSpPr>
        <p:spPr>
          <a:xfrm>
            <a:off x="2296080" y="55396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 name="bk object 19"/>
          <p:cNvSpPr/>
          <p:nvPr/>
        </p:nvSpPr>
        <p:spPr>
          <a:xfrm>
            <a:off x="2296080" y="50000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 name="bk object 20"/>
          <p:cNvSpPr/>
          <p:nvPr/>
        </p:nvSpPr>
        <p:spPr>
          <a:xfrm>
            <a:off x="2296080" y="44604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 name="bk object 21"/>
          <p:cNvSpPr/>
          <p:nvPr/>
        </p:nvSpPr>
        <p:spPr>
          <a:xfrm>
            <a:off x="2296080" y="39211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 name="bk object 22"/>
          <p:cNvSpPr/>
          <p:nvPr/>
        </p:nvSpPr>
        <p:spPr>
          <a:xfrm>
            <a:off x="2296080" y="33814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bk object 23"/>
          <p:cNvSpPr/>
          <p:nvPr/>
        </p:nvSpPr>
        <p:spPr>
          <a:xfrm>
            <a:off x="2296080" y="28418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 name="bk object 24"/>
          <p:cNvSpPr/>
          <p:nvPr/>
        </p:nvSpPr>
        <p:spPr>
          <a:xfrm>
            <a:off x="2296080" y="23025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 name="bk object 25"/>
          <p:cNvSpPr/>
          <p:nvPr/>
        </p:nvSpPr>
        <p:spPr>
          <a:xfrm>
            <a:off x="2296080" y="17629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bk object 26"/>
          <p:cNvSpPr/>
          <p:nvPr/>
        </p:nvSpPr>
        <p:spPr>
          <a:xfrm>
            <a:off x="2296080" y="12236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bk object 27"/>
          <p:cNvSpPr/>
          <p:nvPr/>
        </p:nvSpPr>
        <p:spPr>
          <a:xfrm>
            <a:off x="2296080" y="6840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 name="bk object 28"/>
          <p:cNvSpPr/>
          <p:nvPr/>
        </p:nvSpPr>
        <p:spPr>
          <a:xfrm>
            <a:off x="2107080" y="5949000"/>
            <a:ext cx="134640" cy="204480"/>
          </a:xfrm>
          <a:custGeom>
            <a:avLst/>
            <a:gdLst>
              <a:gd name="textAreaLeft" fmla="*/ 0 w 134640"/>
              <a:gd name="textAreaRight" fmla="*/ 135360 w 134640"/>
              <a:gd name="textAreaTop" fmla="*/ 0 h 204480"/>
              <a:gd name="textAreaBottom" fmla="*/ 205200 h 204480"/>
            </a:gdLst>
            <a:ahLst/>
            <a:cxnLst/>
            <a:rect l="textAreaLeft" t="textAreaTop" r="textAreaRight" b="textAreaBottom"/>
            <a:pathLst>
              <a:path w="135254" h="205371">
                <a:moveTo>
                  <a:pt x="81533" y="0"/>
                </a:moveTo>
                <a:lnTo>
                  <a:pt x="54101" y="0"/>
                </a:lnTo>
                <a:lnTo>
                  <a:pt x="30098" y="11823"/>
                </a:lnTo>
                <a:lnTo>
                  <a:pt x="18033" y="20840"/>
                </a:lnTo>
                <a:lnTo>
                  <a:pt x="6095" y="44970"/>
                </a:lnTo>
                <a:lnTo>
                  <a:pt x="3175" y="53975"/>
                </a:lnTo>
                <a:lnTo>
                  <a:pt x="253" y="75196"/>
                </a:lnTo>
                <a:lnTo>
                  <a:pt x="253" y="102628"/>
                </a:lnTo>
                <a:lnTo>
                  <a:pt x="0" y="102628"/>
                </a:lnTo>
                <a:lnTo>
                  <a:pt x="0" y="130060"/>
                </a:lnTo>
                <a:lnTo>
                  <a:pt x="2920" y="151269"/>
                </a:lnTo>
                <a:lnTo>
                  <a:pt x="11937" y="169430"/>
                </a:lnTo>
                <a:lnTo>
                  <a:pt x="17906" y="184543"/>
                </a:lnTo>
                <a:lnTo>
                  <a:pt x="29971" y="193560"/>
                </a:lnTo>
                <a:lnTo>
                  <a:pt x="42036" y="199529"/>
                </a:lnTo>
                <a:lnTo>
                  <a:pt x="66166" y="205371"/>
                </a:lnTo>
                <a:lnTo>
                  <a:pt x="81279" y="202450"/>
                </a:lnTo>
                <a:lnTo>
                  <a:pt x="93344" y="199529"/>
                </a:lnTo>
                <a:lnTo>
                  <a:pt x="105409" y="193560"/>
                </a:lnTo>
                <a:lnTo>
                  <a:pt x="114426" y="184543"/>
                </a:lnTo>
                <a:lnTo>
                  <a:pt x="116397" y="181241"/>
                </a:lnTo>
                <a:lnTo>
                  <a:pt x="57276" y="181241"/>
                </a:lnTo>
                <a:lnTo>
                  <a:pt x="54356" y="178320"/>
                </a:lnTo>
                <a:lnTo>
                  <a:pt x="51434" y="178320"/>
                </a:lnTo>
                <a:lnTo>
                  <a:pt x="39623" y="166509"/>
                </a:lnTo>
                <a:lnTo>
                  <a:pt x="33654" y="157492"/>
                </a:lnTo>
                <a:lnTo>
                  <a:pt x="30709" y="139204"/>
                </a:lnTo>
                <a:lnTo>
                  <a:pt x="27812" y="124218"/>
                </a:lnTo>
                <a:lnTo>
                  <a:pt x="27812" y="103009"/>
                </a:lnTo>
                <a:lnTo>
                  <a:pt x="27558" y="102628"/>
                </a:lnTo>
                <a:lnTo>
                  <a:pt x="27558" y="78371"/>
                </a:lnTo>
                <a:lnTo>
                  <a:pt x="30479" y="66306"/>
                </a:lnTo>
                <a:lnTo>
                  <a:pt x="33400" y="48145"/>
                </a:lnTo>
                <a:lnTo>
                  <a:pt x="39369" y="39128"/>
                </a:lnTo>
                <a:lnTo>
                  <a:pt x="51181" y="27317"/>
                </a:lnTo>
                <a:lnTo>
                  <a:pt x="57150" y="24396"/>
                </a:lnTo>
                <a:lnTo>
                  <a:pt x="116294" y="24396"/>
                </a:lnTo>
                <a:lnTo>
                  <a:pt x="114553" y="20840"/>
                </a:lnTo>
                <a:lnTo>
                  <a:pt x="105536" y="11823"/>
                </a:lnTo>
                <a:lnTo>
                  <a:pt x="81533" y="0"/>
                </a:lnTo>
                <a:close/>
              </a:path>
              <a:path w="135254" h="205371">
                <a:moveTo>
                  <a:pt x="116294" y="24396"/>
                </a:moveTo>
                <a:lnTo>
                  <a:pt x="75310" y="24396"/>
                </a:lnTo>
                <a:lnTo>
                  <a:pt x="84327" y="27317"/>
                </a:lnTo>
                <a:lnTo>
                  <a:pt x="96265" y="39255"/>
                </a:lnTo>
                <a:lnTo>
                  <a:pt x="102234" y="48272"/>
                </a:lnTo>
                <a:lnTo>
                  <a:pt x="105156" y="66433"/>
                </a:lnTo>
                <a:lnTo>
                  <a:pt x="108076" y="81546"/>
                </a:lnTo>
                <a:lnTo>
                  <a:pt x="108052" y="124218"/>
                </a:lnTo>
                <a:lnTo>
                  <a:pt x="105135" y="139331"/>
                </a:lnTo>
                <a:lnTo>
                  <a:pt x="102234" y="157365"/>
                </a:lnTo>
                <a:lnTo>
                  <a:pt x="96265" y="166382"/>
                </a:lnTo>
                <a:lnTo>
                  <a:pt x="84327" y="178320"/>
                </a:lnTo>
                <a:lnTo>
                  <a:pt x="78358" y="178320"/>
                </a:lnTo>
                <a:lnTo>
                  <a:pt x="75437" y="181241"/>
                </a:lnTo>
                <a:lnTo>
                  <a:pt x="116397" y="181241"/>
                </a:lnTo>
                <a:lnTo>
                  <a:pt x="123443" y="169430"/>
                </a:lnTo>
                <a:lnTo>
                  <a:pt x="129412" y="151269"/>
                </a:lnTo>
                <a:lnTo>
                  <a:pt x="132333" y="130060"/>
                </a:lnTo>
                <a:lnTo>
                  <a:pt x="135254" y="102628"/>
                </a:lnTo>
                <a:lnTo>
                  <a:pt x="132333" y="75196"/>
                </a:lnTo>
                <a:lnTo>
                  <a:pt x="129412" y="53975"/>
                </a:lnTo>
                <a:lnTo>
                  <a:pt x="123443" y="32778"/>
                </a:lnTo>
                <a:lnTo>
                  <a:pt x="117475" y="26809"/>
                </a:lnTo>
                <a:lnTo>
                  <a:pt x="116294" y="24396"/>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 name="bk object 29"/>
          <p:cNvSpPr/>
          <p:nvPr/>
        </p:nvSpPr>
        <p:spPr>
          <a:xfrm>
            <a:off x="2147040" y="5409720"/>
            <a:ext cx="68400" cy="200160"/>
          </a:xfrm>
          <a:custGeom>
            <a:avLst/>
            <a:gdLst>
              <a:gd name="textAreaLeft" fmla="*/ 0 w 68400"/>
              <a:gd name="textAreaRight" fmla="*/ 69120 w 68400"/>
              <a:gd name="textAreaTop" fmla="*/ 0 h 200160"/>
              <a:gd name="textAreaBottom" fmla="*/ 200880 h 200160"/>
            </a:gdLst>
            <a:ahLst/>
            <a:cxnLst/>
            <a:rect l="textAreaLeft" t="textAreaTop" r="textAreaRight" b="textAreaBottom"/>
            <a:pathLst>
              <a:path w="69087" h="201041">
                <a:moveTo>
                  <a:pt x="69087" y="0"/>
                </a:moveTo>
                <a:lnTo>
                  <a:pt x="50927" y="0"/>
                </a:lnTo>
                <a:lnTo>
                  <a:pt x="48006" y="9004"/>
                </a:lnTo>
                <a:lnTo>
                  <a:pt x="48006" y="14986"/>
                </a:lnTo>
                <a:lnTo>
                  <a:pt x="36195" y="26797"/>
                </a:lnTo>
                <a:lnTo>
                  <a:pt x="27178" y="32766"/>
                </a:lnTo>
                <a:lnTo>
                  <a:pt x="18161" y="35687"/>
                </a:lnTo>
                <a:lnTo>
                  <a:pt x="0" y="35687"/>
                </a:lnTo>
                <a:lnTo>
                  <a:pt x="0" y="56895"/>
                </a:lnTo>
                <a:lnTo>
                  <a:pt x="45593" y="56895"/>
                </a:lnTo>
                <a:lnTo>
                  <a:pt x="45593" y="200025"/>
                </a:lnTo>
                <a:lnTo>
                  <a:pt x="44831" y="201041"/>
                </a:lnTo>
                <a:lnTo>
                  <a:pt x="69087" y="201041"/>
                </a:lnTo>
                <a:lnTo>
                  <a:pt x="690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 name="bk object 30"/>
          <p:cNvSpPr/>
          <p:nvPr/>
        </p:nvSpPr>
        <p:spPr>
          <a:xfrm>
            <a:off x="2104200" y="4871880"/>
            <a:ext cx="136800" cy="194400"/>
          </a:xfrm>
          <a:custGeom>
            <a:avLst/>
            <a:gdLst>
              <a:gd name="textAreaLeft" fmla="*/ 0 w 136800"/>
              <a:gd name="textAreaRight" fmla="*/ 137520 w 136800"/>
              <a:gd name="textAreaTop" fmla="*/ 0 h 194400"/>
              <a:gd name="textAreaBottom" fmla="*/ 195120 h 194400"/>
            </a:gdLst>
            <a:ahLst/>
            <a:cxnLst/>
            <a:rect l="textAreaLeft" t="textAreaTop" r="textAreaRight" b="textAreaBottom"/>
            <a:pathLst>
              <a:path w="137541" h="195199">
                <a:moveTo>
                  <a:pt x="123952" y="21463"/>
                </a:moveTo>
                <a:lnTo>
                  <a:pt x="77978" y="21463"/>
                </a:lnTo>
                <a:lnTo>
                  <a:pt x="95885" y="30226"/>
                </a:lnTo>
                <a:lnTo>
                  <a:pt x="101854" y="36195"/>
                </a:lnTo>
                <a:lnTo>
                  <a:pt x="107633" y="48006"/>
                </a:lnTo>
                <a:lnTo>
                  <a:pt x="107696" y="66294"/>
                </a:lnTo>
                <a:lnTo>
                  <a:pt x="104775" y="72263"/>
                </a:lnTo>
                <a:lnTo>
                  <a:pt x="101854" y="81280"/>
                </a:lnTo>
                <a:lnTo>
                  <a:pt x="90043" y="93091"/>
                </a:lnTo>
                <a:lnTo>
                  <a:pt x="81025" y="99047"/>
                </a:lnTo>
                <a:lnTo>
                  <a:pt x="62865" y="108077"/>
                </a:lnTo>
                <a:lnTo>
                  <a:pt x="53848" y="114046"/>
                </a:lnTo>
                <a:lnTo>
                  <a:pt x="14731" y="144018"/>
                </a:lnTo>
                <a:lnTo>
                  <a:pt x="2921" y="180213"/>
                </a:lnTo>
                <a:lnTo>
                  <a:pt x="0" y="186182"/>
                </a:lnTo>
                <a:lnTo>
                  <a:pt x="0" y="195199"/>
                </a:lnTo>
                <a:lnTo>
                  <a:pt x="507" y="194818"/>
                </a:lnTo>
                <a:lnTo>
                  <a:pt x="137541" y="194818"/>
                </a:lnTo>
                <a:lnTo>
                  <a:pt x="137541" y="170561"/>
                </a:lnTo>
                <a:lnTo>
                  <a:pt x="30861" y="170561"/>
                </a:lnTo>
                <a:lnTo>
                  <a:pt x="30861" y="164592"/>
                </a:lnTo>
                <a:lnTo>
                  <a:pt x="36703" y="158750"/>
                </a:lnTo>
                <a:lnTo>
                  <a:pt x="39624" y="152781"/>
                </a:lnTo>
                <a:lnTo>
                  <a:pt x="48513" y="143891"/>
                </a:lnTo>
                <a:lnTo>
                  <a:pt x="54482" y="140970"/>
                </a:lnTo>
                <a:lnTo>
                  <a:pt x="72517" y="129032"/>
                </a:lnTo>
                <a:lnTo>
                  <a:pt x="75437" y="126111"/>
                </a:lnTo>
                <a:lnTo>
                  <a:pt x="93599" y="120142"/>
                </a:lnTo>
                <a:lnTo>
                  <a:pt x="96519" y="117221"/>
                </a:lnTo>
                <a:lnTo>
                  <a:pt x="102488" y="114300"/>
                </a:lnTo>
                <a:lnTo>
                  <a:pt x="111506" y="105283"/>
                </a:lnTo>
                <a:lnTo>
                  <a:pt x="120523" y="99314"/>
                </a:lnTo>
                <a:lnTo>
                  <a:pt x="126492" y="90297"/>
                </a:lnTo>
                <a:lnTo>
                  <a:pt x="129412" y="87376"/>
                </a:lnTo>
                <a:lnTo>
                  <a:pt x="132334" y="81407"/>
                </a:lnTo>
                <a:lnTo>
                  <a:pt x="135255" y="72390"/>
                </a:lnTo>
                <a:lnTo>
                  <a:pt x="135255" y="44958"/>
                </a:lnTo>
                <a:lnTo>
                  <a:pt x="132334" y="32893"/>
                </a:lnTo>
                <a:lnTo>
                  <a:pt x="126365" y="23876"/>
                </a:lnTo>
                <a:lnTo>
                  <a:pt x="123952" y="21463"/>
                </a:lnTo>
                <a:close/>
              </a:path>
              <a:path w="137541" h="195199">
                <a:moveTo>
                  <a:pt x="84200" y="0"/>
                </a:moveTo>
                <a:lnTo>
                  <a:pt x="53848" y="0"/>
                </a:lnTo>
                <a:lnTo>
                  <a:pt x="47879" y="2921"/>
                </a:lnTo>
                <a:lnTo>
                  <a:pt x="41910" y="2921"/>
                </a:lnTo>
                <a:lnTo>
                  <a:pt x="8890" y="38989"/>
                </a:lnTo>
                <a:lnTo>
                  <a:pt x="5968" y="48006"/>
                </a:lnTo>
                <a:lnTo>
                  <a:pt x="5968" y="69215"/>
                </a:lnTo>
                <a:lnTo>
                  <a:pt x="30225" y="69215"/>
                </a:lnTo>
                <a:lnTo>
                  <a:pt x="30225" y="60198"/>
                </a:lnTo>
                <a:lnTo>
                  <a:pt x="33147" y="54229"/>
                </a:lnTo>
                <a:lnTo>
                  <a:pt x="33225" y="48006"/>
                </a:lnTo>
                <a:lnTo>
                  <a:pt x="36068" y="39243"/>
                </a:lnTo>
                <a:lnTo>
                  <a:pt x="42037" y="33274"/>
                </a:lnTo>
                <a:lnTo>
                  <a:pt x="48006" y="30353"/>
                </a:lnTo>
                <a:lnTo>
                  <a:pt x="53975" y="24384"/>
                </a:lnTo>
                <a:lnTo>
                  <a:pt x="59943" y="24384"/>
                </a:lnTo>
                <a:lnTo>
                  <a:pt x="68961" y="21463"/>
                </a:lnTo>
                <a:lnTo>
                  <a:pt x="123952" y="21463"/>
                </a:lnTo>
                <a:lnTo>
                  <a:pt x="117348" y="14859"/>
                </a:lnTo>
                <a:lnTo>
                  <a:pt x="108331" y="8890"/>
                </a:lnTo>
                <a:lnTo>
                  <a:pt x="96266" y="2921"/>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 name="bk object 31"/>
          <p:cNvSpPr/>
          <p:nvPr/>
        </p:nvSpPr>
        <p:spPr>
          <a:xfrm>
            <a:off x="2104200" y="4331880"/>
            <a:ext cx="134280" cy="203400"/>
          </a:xfrm>
          <a:custGeom>
            <a:avLst/>
            <a:gdLst>
              <a:gd name="textAreaLeft" fmla="*/ 0 w 134280"/>
              <a:gd name="textAreaRight" fmla="*/ 135000 w 134280"/>
              <a:gd name="textAreaTop" fmla="*/ 0 h 203400"/>
              <a:gd name="textAreaBottom" fmla="*/ 204120 h 203400"/>
            </a:gdLst>
            <a:ahLst/>
            <a:cxnLst/>
            <a:rect l="textAreaLeft" t="textAreaTop" r="textAreaRight" b="textAreaBottom"/>
            <a:pathLst>
              <a:path w="135128" h="203949">
                <a:moveTo>
                  <a:pt x="24256" y="134620"/>
                </a:moveTo>
                <a:lnTo>
                  <a:pt x="0" y="134620"/>
                </a:lnTo>
                <a:lnTo>
                  <a:pt x="127" y="135128"/>
                </a:lnTo>
                <a:lnTo>
                  <a:pt x="127" y="159385"/>
                </a:lnTo>
                <a:lnTo>
                  <a:pt x="3048" y="162306"/>
                </a:lnTo>
                <a:lnTo>
                  <a:pt x="3048" y="165227"/>
                </a:lnTo>
                <a:lnTo>
                  <a:pt x="9017" y="177292"/>
                </a:lnTo>
                <a:lnTo>
                  <a:pt x="26924" y="195199"/>
                </a:lnTo>
                <a:lnTo>
                  <a:pt x="38988" y="198120"/>
                </a:lnTo>
                <a:lnTo>
                  <a:pt x="57023" y="203949"/>
                </a:lnTo>
                <a:lnTo>
                  <a:pt x="72136" y="203949"/>
                </a:lnTo>
                <a:lnTo>
                  <a:pt x="78105" y="201041"/>
                </a:lnTo>
                <a:lnTo>
                  <a:pt x="90169" y="201041"/>
                </a:lnTo>
                <a:lnTo>
                  <a:pt x="114300" y="189103"/>
                </a:lnTo>
                <a:lnTo>
                  <a:pt x="117221" y="183134"/>
                </a:lnTo>
                <a:lnTo>
                  <a:pt x="123190" y="180212"/>
                </a:lnTo>
                <a:lnTo>
                  <a:pt x="123566" y="179450"/>
                </a:lnTo>
                <a:lnTo>
                  <a:pt x="66040" y="179450"/>
                </a:lnTo>
                <a:lnTo>
                  <a:pt x="53975" y="176530"/>
                </a:lnTo>
                <a:lnTo>
                  <a:pt x="48006" y="176530"/>
                </a:lnTo>
                <a:lnTo>
                  <a:pt x="38988" y="170561"/>
                </a:lnTo>
                <a:lnTo>
                  <a:pt x="33019" y="164592"/>
                </a:lnTo>
                <a:lnTo>
                  <a:pt x="24256" y="146685"/>
                </a:lnTo>
                <a:lnTo>
                  <a:pt x="24256" y="134620"/>
                </a:lnTo>
                <a:close/>
              </a:path>
              <a:path w="135128" h="203949">
                <a:moveTo>
                  <a:pt x="121424" y="105029"/>
                </a:moveTo>
                <a:lnTo>
                  <a:pt x="74930" y="105029"/>
                </a:lnTo>
                <a:lnTo>
                  <a:pt x="77850" y="107950"/>
                </a:lnTo>
                <a:lnTo>
                  <a:pt x="83819" y="107950"/>
                </a:lnTo>
                <a:lnTo>
                  <a:pt x="86741" y="110871"/>
                </a:lnTo>
                <a:lnTo>
                  <a:pt x="98679" y="116712"/>
                </a:lnTo>
                <a:lnTo>
                  <a:pt x="104648" y="125730"/>
                </a:lnTo>
                <a:lnTo>
                  <a:pt x="107568" y="131699"/>
                </a:lnTo>
                <a:lnTo>
                  <a:pt x="107568" y="149860"/>
                </a:lnTo>
                <a:lnTo>
                  <a:pt x="104648" y="155829"/>
                </a:lnTo>
                <a:lnTo>
                  <a:pt x="101727" y="164846"/>
                </a:lnTo>
                <a:lnTo>
                  <a:pt x="95885" y="170687"/>
                </a:lnTo>
                <a:lnTo>
                  <a:pt x="89916" y="173609"/>
                </a:lnTo>
                <a:lnTo>
                  <a:pt x="80899" y="176530"/>
                </a:lnTo>
                <a:lnTo>
                  <a:pt x="77978" y="176530"/>
                </a:lnTo>
                <a:lnTo>
                  <a:pt x="75056" y="179450"/>
                </a:lnTo>
                <a:lnTo>
                  <a:pt x="123566" y="179450"/>
                </a:lnTo>
                <a:lnTo>
                  <a:pt x="135128" y="156083"/>
                </a:lnTo>
                <a:lnTo>
                  <a:pt x="135128" y="125730"/>
                </a:lnTo>
                <a:lnTo>
                  <a:pt x="129159" y="113665"/>
                </a:lnTo>
                <a:lnTo>
                  <a:pt x="123190" y="107696"/>
                </a:lnTo>
                <a:lnTo>
                  <a:pt x="121424" y="105029"/>
                </a:lnTo>
                <a:close/>
              </a:path>
              <a:path w="135128" h="203949">
                <a:moveTo>
                  <a:pt x="120425" y="24257"/>
                </a:moveTo>
                <a:lnTo>
                  <a:pt x="78359" y="24257"/>
                </a:lnTo>
                <a:lnTo>
                  <a:pt x="90297" y="30099"/>
                </a:lnTo>
                <a:lnTo>
                  <a:pt x="99187" y="38989"/>
                </a:lnTo>
                <a:lnTo>
                  <a:pt x="99187" y="44958"/>
                </a:lnTo>
                <a:lnTo>
                  <a:pt x="102107" y="53975"/>
                </a:lnTo>
                <a:lnTo>
                  <a:pt x="99249" y="59817"/>
                </a:lnTo>
                <a:lnTo>
                  <a:pt x="99187" y="68961"/>
                </a:lnTo>
                <a:lnTo>
                  <a:pt x="90297" y="77850"/>
                </a:lnTo>
                <a:lnTo>
                  <a:pt x="78359" y="83693"/>
                </a:lnTo>
                <a:lnTo>
                  <a:pt x="50927" y="83693"/>
                </a:lnTo>
                <a:lnTo>
                  <a:pt x="50927" y="107950"/>
                </a:lnTo>
                <a:lnTo>
                  <a:pt x="56896" y="107950"/>
                </a:lnTo>
                <a:lnTo>
                  <a:pt x="62865" y="105029"/>
                </a:lnTo>
                <a:lnTo>
                  <a:pt x="121424" y="105029"/>
                </a:lnTo>
                <a:lnTo>
                  <a:pt x="117221" y="98679"/>
                </a:lnTo>
                <a:lnTo>
                  <a:pt x="114300" y="95758"/>
                </a:lnTo>
                <a:lnTo>
                  <a:pt x="108331" y="92824"/>
                </a:lnTo>
                <a:lnTo>
                  <a:pt x="102362" y="92824"/>
                </a:lnTo>
                <a:lnTo>
                  <a:pt x="111379" y="89916"/>
                </a:lnTo>
                <a:lnTo>
                  <a:pt x="120268" y="81025"/>
                </a:lnTo>
                <a:lnTo>
                  <a:pt x="123190" y="75057"/>
                </a:lnTo>
                <a:lnTo>
                  <a:pt x="126111" y="66040"/>
                </a:lnTo>
                <a:lnTo>
                  <a:pt x="129031" y="53975"/>
                </a:lnTo>
                <a:lnTo>
                  <a:pt x="126111" y="38849"/>
                </a:lnTo>
                <a:lnTo>
                  <a:pt x="123190" y="29845"/>
                </a:lnTo>
                <a:lnTo>
                  <a:pt x="120425" y="24257"/>
                </a:lnTo>
                <a:close/>
              </a:path>
              <a:path w="135128" h="203949">
                <a:moveTo>
                  <a:pt x="78105" y="0"/>
                </a:moveTo>
                <a:lnTo>
                  <a:pt x="66040" y="0"/>
                </a:lnTo>
                <a:lnTo>
                  <a:pt x="50927" y="2921"/>
                </a:lnTo>
                <a:lnTo>
                  <a:pt x="41910" y="2921"/>
                </a:lnTo>
                <a:lnTo>
                  <a:pt x="29972" y="8762"/>
                </a:lnTo>
                <a:lnTo>
                  <a:pt x="20955" y="14732"/>
                </a:lnTo>
                <a:lnTo>
                  <a:pt x="18034" y="20700"/>
                </a:lnTo>
                <a:lnTo>
                  <a:pt x="15112" y="23622"/>
                </a:lnTo>
                <a:lnTo>
                  <a:pt x="9143" y="35674"/>
                </a:lnTo>
                <a:lnTo>
                  <a:pt x="3302" y="53721"/>
                </a:lnTo>
                <a:lnTo>
                  <a:pt x="3302" y="65786"/>
                </a:lnTo>
                <a:lnTo>
                  <a:pt x="27559" y="65786"/>
                </a:lnTo>
                <a:lnTo>
                  <a:pt x="30417" y="59944"/>
                </a:lnTo>
                <a:lnTo>
                  <a:pt x="30480" y="50800"/>
                </a:lnTo>
                <a:lnTo>
                  <a:pt x="33338" y="44958"/>
                </a:lnTo>
                <a:lnTo>
                  <a:pt x="33400" y="41910"/>
                </a:lnTo>
                <a:lnTo>
                  <a:pt x="36322" y="38989"/>
                </a:lnTo>
                <a:lnTo>
                  <a:pt x="39243" y="33020"/>
                </a:lnTo>
                <a:lnTo>
                  <a:pt x="57150" y="24257"/>
                </a:lnTo>
                <a:lnTo>
                  <a:pt x="120425" y="24257"/>
                </a:lnTo>
                <a:lnTo>
                  <a:pt x="117221" y="17780"/>
                </a:lnTo>
                <a:lnTo>
                  <a:pt x="99187" y="5842"/>
                </a:lnTo>
                <a:lnTo>
                  <a:pt x="87122" y="2921"/>
                </a:lnTo>
                <a:lnTo>
                  <a:pt x="7810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 name="bk object 32"/>
          <p:cNvSpPr/>
          <p:nvPr/>
        </p:nvSpPr>
        <p:spPr>
          <a:xfrm>
            <a:off x="2104200" y="379620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8" h="194817">
                <a:moveTo>
                  <a:pt x="112648" y="143001"/>
                </a:moveTo>
                <a:lnTo>
                  <a:pt x="85216" y="143001"/>
                </a:lnTo>
                <a:lnTo>
                  <a:pt x="85216" y="194817"/>
                </a:lnTo>
                <a:lnTo>
                  <a:pt x="112648" y="194817"/>
                </a:lnTo>
                <a:lnTo>
                  <a:pt x="112648" y="143001"/>
                </a:lnTo>
                <a:close/>
              </a:path>
              <a:path w="112648" h="194817">
                <a:moveTo>
                  <a:pt x="112648" y="0"/>
                </a:moveTo>
                <a:lnTo>
                  <a:pt x="85216" y="0"/>
                </a:lnTo>
                <a:lnTo>
                  <a:pt x="0" y="118744"/>
                </a:lnTo>
                <a:lnTo>
                  <a:pt x="0" y="143001"/>
                </a:lnTo>
                <a:lnTo>
                  <a:pt x="140080" y="143001"/>
                </a:lnTo>
                <a:lnTo>
                  <a:pt x="140080" y="121792"/>
                </a:lnTo>
                <a:lnTo>
                  <a:pt x="112648" y="121792"/>
                </a:lnTo>
                <a:lnTo>
                  <a:pt x="24383" y="121665"/>
                </a:lnTo>
                <a:lnTo>
                  <a:pt x="85216" y="33400"/>
                </a:lnTo>
                <a:lnTo>
                  <a:pt x="112648" y="33400"/>
                </a:lnTo>
                <a:lnTo>
                  <a:pt x="112648" y="0"/>
                </a:lnTo>
                <a:close/>
              </a:path>
              <a:path w="112648" h="194817">
                <a:moveTo>
                  <a:pt x="112648" y="33400"/>
                </a:moveTo>
                <a:lnTo>
                  <a:pt x="85216" y="33400"/>
                </a:lnTo>
                <a:lnTo>
                  <a:pt x="85216" y="121665"/>
                </a:lnTo>
                <a:lnTo>
                  <a:pt x="112648" y="121665"/>
                </a:lnTo>
                <a:lnTo>
                  <a:pt x="112648" y="334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bk object 33"/>
          <p:cNvSpPr/>
          <p:nvPr/>
        </p:nvSpPr>
        <p:spPr>
          <a:xfrm>
            <a:off x="2104200" y="3253680"/>
            <a:ext cx="135000" cy="198720"/>
          </a:xfrm>
          <a:custGeom>
            <a:avLst/>
            <a:gdLst>
              <a:gd name="textAreaLeft" fmla="*/ 0 w 135000"/>
              <a:gd name="textAreaRight" fmla="*/ 135720 w 135000"/>
              <a:gd name="textAreaTop" fmla="*/ 0 h 198720"/>
              <a:gd name="textAreaBottom" fmla="*/ 199440 h 198720"/>
            </a:gdLst>
            <a:ahLst/>
            <a:cxnLst/>
            <a:rect l="textAreaLeft" t="textAreaTop" r="textAreaRight" b="textAreaBottom"/>
            <a:pathLst>
              <a:path w="135762" h="199389">
                <a:moveTo>
                  <a:pt x="27431" y="143001"/>
                </a:moveTo>
                <a:lnTo>
                  <a:pt x="635" y="143001"/>
                </a:lnTo>
                <a:lnTo>
                  <a:pt x="635" y="151637"/>
                </a:lnTo>
                <a:lnTo>
                  <a:pt x="21336" y="184530"/>
                </a:lnTo>
                <a:lnTo>
                  <a:pt x="51435" y="199389"/>
                </a:lnTo>
                <a:lnTo>
                  <a:pt x="81787" y="199389"/>
                </a:lnTo>
                <a:lnTo>
                  <a:pt x="93853" y="196469"/>
                </a:lnTo>
                <a:lnTo>
                  <a:pt x="105918" y="190500"/>
                </a:lnTo>
                <a:lnTo>
                  <a:pt x="120650" y="175767"/>
                </a:lnTo>
                <a:lnTo>
                  <a:pt x="57277" y="175767"/>
                </a:lnTo>
                <a:lnTo>
                  <a:pt x="48260" y="172847"/>
                </a:lnTo>
                <a:lnTo>
                  <a:pt x="42291" y="169925"/>
                </a:lnTo>
                <a:lnTo>
                  <a:pt x="27431" y="155066"/>
                </a:lnTo>
                <a:lnTo>
                  <a:pt x="27431" y="143001"/>
                </a:lnTo>
                <a:close/>
              </a:path>
              <a:path w="135762" h="199389">
                <a:moveTo>
                  <a:pt x="121920" y="89026"/>
                </a:moveTo>
                <a:lnTo>
                  <a:pt x="75437" y="89026"/>
                </a:lnTo>
                <a:lnTo>
                  <a:pt x="81406" y="91948"/>
                </a:lnTo>
                <a:lnTo>
                  <a:pt x="90424" y="94869"/>
                </a:lnTo>
                <a:lnTo>
                  <a:pt x="102362" y="106807"/>
                </a:lnTo>
                <a:lnTo>
                  <a:pt x="105282" y="115824"/>
                </a:lnTo>
                <a:lnTo>
                  <a:pt x="108204" y="118745"/>
                </a:lnTo>
                <a:lnTo>
                  <a:pt x="108204" y="143001"/>
                </a:lnTo>
                <a:lnTo>
                  <a:pt x="105282" y="148971"/>
                </a:lnTo>
                <a:lnTo>
                  <a:pt x="102362" y="157987"/>
                </a:lnTo>
                <a:lnTo>
                  <a:pt x="90424" y="169925"/>
                </a:lnTo>
                <a:lnTo>
                  <a:pt x="84455" y="172847"/>
                </a:lnTo>
                <a:lnTo>
                  <a:pt x="75437" y="175767"/>
                </a:lnTo>
                <a:lnTo>
                  <a:pt x="120650" y="175767"/>
                </a:lnTo>
                <a:lnTo>
                  <a:pt x="123952" y="172465"/>
                </a:lnTo>
                <a:lnTo>
                  <a:pt x="129793" y="160527"/>
                </a:lnTo>
                <a:lnTo>
                  <a:pt x="135762" y="148462"/>
                </a:lnTo>
                <a:lnTo>
                  <a:pt x="135762" y="118110"/>
                </a:lnTo>
                <a:lnTo>
                  <a:pt x="132842" y="106045"/>
                </a:lnTo>
                <a:lnTo>
                  <a:pt x="126873" y="93979"/>
                </a:lnTo>
                <a:lnTo>
                  <a:pt x="121920" y="89026"/>
                </a:lnTo>
                <a:close/>
              </a:path>
              <a:path w="135762" h="199389">
                <a:moveTo>
                  <a:pt x="635" y="142621"/>
                </a:moveTo>
                <a:lnTo>
                  <a:pt x="0" y="143001"/>
                </a:lnTo>
                <a:lnTo>
                  <a:pt x="635" y="143001"/>
                </a:lnTo>
                <a:lnTo>
                  <a:pt x="635" y="142621"/>
                </a:lnTo>
                <a:close/>
              </a:path>
              <a:path w="135762" h="199389">
                <a:moveTo>
                  <a:pt x="128016" y="0"/>
                </a:moveTo>
                <a:lnTo>
                  <a:pt x="21336" y="0"/>
                </a:lnTo>
                <a:lnTo>
                  <a:pt x="6223" y="106679"/>
                </a:lnTo>
                <a:lnTo>
                  <a:pt x="27431" y="106679"/>
                </a:lnTo>
                <a:lnTo>
                  <a:pt x="36322" y="97789"/>
                </a:lnTo>
                <a:lnTo>
                  <a:pt x="48260" y="91948"/>
                </a:lnTo>
                <a:lnTo>
                  <a:pt x="57277" y="89026"/>
                </a:lnTo>
                <a:lnTo>
                  <a:pt x="121920" y="89026"/>
                </a:lnTo>
                <a:lnTo>
                  <a:pt x="117856" y="84962"/>
                </a:lnTo>
                <a:lnTo>
                  <a:pt x="114997" y="79121"/>
                </a:lnTo>
                <a:lnTo>
                  <a:pt x="33781" y="79121"/>
                </a:lnTo>
                <a:lnTo>
                  <a:pt x="39750" y="24257"/>
                </a:lnTo>
                <a:lnTo>
                  <a:pt x="128016" y="24257"/>
                </a:lnTo>
                <a:lnTo>
                  <a:pt x="128016" y="0"/>
                </a:lnTo>
                <a:close/>
              </a:path>
              <a:path w="135762" h="199389">
                <a:moveTo>
                  <a:pt x="84962" y="67310"/>
                </a:moveTo>
                <a:lnTo>
                  <a:pt x="60706" y="67310"/>
                </a:lnTo>
                <a:lnTo>
                  <a:pt x="48641" y="70230"/>
                </a:lnTo>
                <a:lnTo>
                  <a:pt x="42672" y="70230"/>
                </a:lnTo>
                <a:lnTo>
                  <a:pt x="33781" y="79121"/>
                </a:lnTo>
                <a:lnTo>
                  <a:pt x="114997" y="79121"/>
                </a:lnTo>
                <a:lnTo>
                  <a:pt x="97028" y="70230"/>
                </a:lnTo>
                <a:lnTo>
                  <a:pt x="84962" y="6731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bk object 34"/>
          <p:cNvSpPr/>
          <p:nvPr/>
        </p:nvSpPr>
        <p:spPr>
          <a:xfrm>
            <a:off x="2109600" y="2711520"/>
            <a:ext cx="134280" cy="204480"/>
          </a:xfrm>
          <a:custGeom>
            <a:avLst/>
            <a:gdLst>
              <a:gd name="textAreaLeft" fmla="*/ 0 w 134280"/>
              <a:gd name="textAreaRight" fmla="*/ 135000 w 134280"/>
              <a:gd name="textAreaTop" fmla="*/ 0 h 204480"/>
              <a:gd name="textAreaBottom" fmla="*/ 205200 h 204480"/>
            </a:gdLst>
            <a:ahLst/>
            <a:cxnLst/>
            <a:rect l="textAreaLeft" t="textAreaTop" r="textAreaRight" b="textAreaBottom"/>
            <a:pathLst>
              <a:path w="135000" h="205104">
                <a:moveTo>
                  <a:pt x="84200" y="202184"/>
                </a:moveTo>
                <a:lnTo>
                  <a:pt x="53975" y="202184"/>
                </a:lnTo>
                <a:lnTo>
                  <a:pt x="69087" y="205104"/>
                </a:lnTo>
                <a:lnTo>
                  <a:pt x="84200" y="202184"/>
                </a:lnTo>
                <a:close/>
              </a:path>
              <a:path w="135000" h="205104">
                <a:moveTo>
                  <a:pt x="72008" y="0"/>
                </a:moveTo>
                <a:lnTo>
                  <a:pt x="56895" y="2920"/>
                </a:lnTo>
                <a:lnTo>
                  <a:pt x="44831" y="5841"/>
                </a:lnTo>
                <a:lnTo>
                  <a:pt x="38862" y="8762"/>
                </a:lnTo>
                <a:lnTo>
                  <a:pt x="32893" y="14731"/>
                </a:lnTo>
                <a:lnTo>
                  <a:pt x="20827" y="23749"/>
                </a:lnTo>
                <a:lnTo>
                  <a:pt x="17906" y="29717"/>
                </a:lnTo>
                <a:lnTo>
                  <a:pt x="11937" y="38735"/>
                </a:lnTo>
                <a:lnTo>
                  <a:pt x="0" y="81152"/>
                </a:lnTo>
                <a:lnTo>
                  <a:pt x="0" y="141986"/>
                </a:lnTo>
                <a:lnTo>
                  <a:pt x="2920" y="151002"/>
                </a:lnTo>
                <a:lnTo>
                  <a:pt x="11937" y="172212"/>
                </a:lnTo>
                <a:lnTo>
                  <a:pt x="20955" y="184276"/>
                </a:lnTo>
                <a:lnTo>
                  <a:pt x="29971" y="193293"/>
                </a:lnTo>
                <a:lnTo>
                  <a:pt x="45085" y="199262"/>
                </a:lnTo>
                <a:lnTo>
                  <a:pt x="48006" y="202184"/>
                </a:lnTo>
                <a:lnTo>
                  <a:pt x="90169" y="202184"/>
                </a:lnTo>
                <a:lnTo>
                  <a:pt x="96138" y="199262"/>
                </a:lnTo>
                <a:lnTo>
                  <a:pt x="102107" y="199262"/>
                </a:lnTo>
                <a:lnTo>
                  <a:pt x="108076" y="196341"/>
                </a:lnTo>
                <a:lnTo>
                  <a:pt x="117093" y="187325"/>
                </a:lnTo>
                <a:lnTo>
                  <a:pt x="121460" y="181482"/>
                </a:lnTo>
                <a:lnTo>
                  <a:pt x="53212" y="181482"/>
                </a:lnTo>
                <a:lnTo>
                  <a:pt x="50292" y="178562"/>
                </a:lnTo>
                <a:lnTo>
                  <a:pt x="44323" y="175640"/>
                </a:lnTo>
                <a:lnTo>
                  <a:pt x="32512" y="163829"/>
                </a:lnTo>
                <a:lnTo>
                  <a:pt x="32512" y="160909"/>
                </a:lnTo>
                <a:lnTo>
                  <a:pt x="29591" y="154939"/>
                </a:lnTo>
                <a:lnTo>
                  <a:pt x="38354" y="109727"/>
                </a:lnTo>
                <a:lnTo>
                  <a:pt x="62356" y="97916"/>
                </a:lnTo>
                <a:lnTo>
                  <a:pt x="122916" y="97916"/>
                </a:lnTo>
                <a:lnTo>
                  <a:pt x="121991" y="96519"/>
                </a:lnTo>
                <a:lnTo>
                  <a:pt x="26924" y="96519"/>
                </a:lnTo>
                <a:lnTo>
                  <a:pt x="26924" y="78359"/>
                </a:lnTo>
                <a:lnTo>
                  <a:pt x="29844" y="66293"/>
                </a:lnTo>
                <a:lnTo>
                  <a:pt x="32766" y="57276"/>
                </a:lnTo>
                <a:lnTo>
                  <a:pt x="38735" y="45212"/>
                </a:lnTo>
                <a:lnTo>
                  <a:pt x="41656" y="39242"/>
                </a:lnTo>
                <a:lnTo>
                  <a:pt x="50545" y="30352"/>
                </a:lnTo>
                <a:lnTo>
                  <a:pt x="62483" y="24511"/>
                </a:lnTo>
                <a:lnTo>
                  <a:pt x="124681" y="24511"/>
                </a:lnTo>
                <a:lnTo>
                  <a:pt x="120142" y="17652"/>
                </a:lnTo>
                <a:lnTo>
                  <a:pt x="114300" y="11811"/>
                </a:lnTo>
                <a:lnTo>
                  <a:pt x="102235" y="5841"/>
                </a:lnTo>
                <a:lnTo>
                  <a:pt x="72008" y="0"/>
                </a:lnTo>
                <a:close/>
              </a:path>
              <a:path w="135000" h="205104">
                <a:moveTo>
                  <a:pt x="122916" y="97916"/>
                </a:moveTo>
                <a:lnTo>
                  <a:pt x="77469" y="97916"/>
                </a:lnTo>
                <a:lnTo>
                  <a:pt x="86487" y="100837"/>
                </a:lnTo>
                <a:lnTo>
                  <a:pt x="92456" y="103759"/>
                </a:lnTo>
                <a:lnTo>
                  <a:pt x="98298" y="109600"/>
                </a:lnTo>
                <a:lnTo>
                  <a:pt x="101218" y="115569"/>
                </a:lnTo>
                <a:lnTo>
                  <a:pt x="104139" y="124587"/>
                </a:lnTo>
                <a:lnTo>
                  <a:pt x="107061" y="130555"/>
                </a:lnTo>
                <a:lnTo>
                  <a:pt x="107061" y="139573"/>
                </a:lnTo>
                <a:lnTo>
                  <a:pt x="107314" y="139700"/>
                </a:lnTo>
                <a:lnTo>
                  <a:pt x="107314" y="148716"/>
                </a:lnTo>
                <a:lnTo>
                  <a:pt x="104393" y="154686"/>
                </a:lnTo>
                <a:lnTo>
                  <a:pt x="101473" y="163702"/>
                </a:lnTo>
                <a:lnTo>
                  <a:pt x="98551" y="169672"/>
                </a:lnTo>
                <a:lnTo>
                  <a:pt x="92582" y="175640"/>
                </a:lnTo>
                <a:lnTo>
                  <a:pt x="80644" y="181482"/>
                </a:lnTo>
                <a:lnTo>
                  <a:pt x="121460" y="181482"/>
                </a:lnTo>
                <a:lnTo>
                  <a:pt x="126111" y="175260"/>
                </a:lnTo>
                <a:lnTo>
                  <a:pt x="132080" y="163194"/>
                </a:lnTo>
                <a:lnTo>
                  <a:pt x="132080" y="157225"/>
                </a:lnTo>
                <a:lnTo>
                  <a:pt x="135000" y="154304"/>
                </a:lnTo>
                <a:lnTo>
                  <a:pt x="135000" y="126873"/>
                </a:lnTo>
                <a:lnTo>
                  <a:pt x="132080" y="114807"/>
                </a:lnTo>
                <a:lnTo>
                  <a:pt x="126111" y="102742"/>
                </a:lnTo>
                <a:lnTo>
                  <a:pt x="122916" y="97916"/>
                </a:lnTo>
                <a:close/>
              </a:path>
              <a:path w="135000" h="205104">
                <a:moveTo>
                  <a:pt x="68833" y="72898"/>
                </a:moveTo>
                <a:lnTo>
                  <a:pt x="59817" y="75818"/>
                </a:lnTo>
                <a:lnTo>
                  <a:pt x="47751" y="78739"/>
                </a:lnTo>
                <a:lnTo>
                  <a:pt x="38735" y="81661"/>
                </a:lnTo>
                <a:lnTo>
                  <a:pt x="29844" y="90550"/>
                </a:lnTo>
                <a:lnTo>
                  <a:pt x="26924" y="96519"/>
                </a:lnTo>
                <a:lnTo>
                  <a:pt x="121991" y="96519"/>
                </a:lnTo>
                <a:lnTo>
                  <a:pt x="120142" y="93725"/>
                </a:lnTo>
                <a:lnTo>
                  <a:pt x="108076" y="84709"/>
                </a:lnTo>
                <a:lnTo>
                  <a:pt x="96012" y="78739"/>
                </a:lnTo>
                <a:lnTo>
                  <a:pt x="83946" y="75818"/>
                </a:lnTo>
                <a:lnTo>
                  <a:pt x="68833" y="72898"/>
                </a:lnTo>
                <a:close/>
              </a:path>
              <a:path w="135000" h="205104">
                <a:moveTo>
                  <a:pt x="124681" y="24511"/>
                </a:moveTo>
                <a:lnTo>
                  <a:pt x="80644" y="24511"/>
                </a:lnTo>
                <a:lnTo>
                  <a:pt x="86613" y="27431"/>
                </a:lnTo>
                <a:lnTo>
                  <a:pt x="95631" y="30352"/>
                </a:lnTo>
                <a:lnTo>
                  <a:pt x="98551" y="33274"/>
                </a:lnTo>
                <a:lnTo>
                  <a:pt x="101473" y="33274"/>
                </a:lnTo>
                <a:lnTo>
                  <a:pt x="107314" y="45212"/>
                </a:lnTo>
                <a:lnTo>
                  <a:pt x="107314" y="54228"/>
                </a:lnTo>
                <a:lnTo>
                  <a:pt x="134746" y="54228"/>
                </a:lnTo>
                <a:lnTo>
                  <a:pt x="134874" y="53593"/>
                </a:lnTo>
                <a:lnTo>
                  <a:pt x="134874" y="47625"/>
                </a:lnTo>
                <a:lnTo>
                  <a:pt x="129031" y="35687"/>
                </a:lnTo>
                <a:lnTo>
                  <a:pt x="126111" y="26669"/>
                </a:lnTo>
                <a:lnTo>
                  <a:pt x="124681" y="2451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 name="bk object 35"/>
          <p:cNvSpPr/>
          <p:nvPr/>
        </p:nvSpPr>
        <p:spPr>
          <a:xfrm>
            <a:off x="2106000" y="2179080"/>
            <a:ext cx="28080" cy="192960"/>
          </a:xfrm>
          <a:custGeom>
            <a:avLst/>
            <a:gdLst>
              <a:gd name="textAreaLeft" fmla="*/ 0 w 28080"/>
              <a:gd name="textAreaRight" fmla="*/ 28800 w 28080"/>
              <a:gd name="textAreaTop" fmla="*/ 0 h 192960"/>
              <a:gd name="textAreaBottom" fmla="*/ 193680 h 192960"/>
            </a:gdLst>
            <a:ahLst/>
            <a:cxnLst/>
            <a:rect l="textAreaLeft" t="textAreaTop" r="textAreaRight" b="textAreaBottom"/>
            <a:pathLst>
              <a:path w="28722" h="193675">
                <a:moveTo>
                  <a:pt x="28722" y="193548"/>
                </a:moveTo>
              </a:path>
              <a:path w="28722" h="193675">
                <a:moveTo>
                  <a:pt x="137032" y="0"/>
                </a:moveTo>
                <a:lnTo>
                  <a:pt x="0" y="0"/>
                </a:lnTo>
                <a:lnTo>
                  <a:pt x="0" y="24256"/>
                </a:lnTo>
                <a:lnTo>
                  <a:pt x="109727" y="24256"/>
                </a:lnTo>
                <a:lnTo>
                  <a:pt x="97662" y="39370"/>
                </a:lnTo>
                <a:lnTo>
                  <a:pt x="91693" y="45338"/>
                </a:lnTo>
                <a:lnTo>
                  <a:pt x="79628" y="63500"/>
                </a:lnTo>
                <a:lnTo>
                  <a:pt x="67563" y="78612"/>
                </a:lnTo>
                <a:lnTo>
                  <a:pt x="55499" y="102870"/>
                </a:lnTo>
                <a:lnTo>
                  <a:pt x="46481" y="124078"/>
                </a:lnTo>
                <a:lnTo>
                  <a:pt x="40512" y="145287"/>
                </a:lnTo>
                <a:lnTo>
                  <a:pt x="34543" y="169545"/>
                </a:lnTo>
                <a:lnTo>
                  <a:pt x="31622" y="175513"/>
                </a:lnTo>
                <a:lnTo>
                  <a:pt x="28722" y="193548"/>
                </a:lnTo>
                <a:lnTo>
                  <a:pt x="59054" y="193548"/>
                </a:lnTo>
                <a:lnTo>
                  <a:pt x="61975" y="172338"/>
                </a:lnTo>
                <a:lnTo>
                  <a:pt x="61975" y="163322"/>
                </a:lnTo>
                <a:lnTo>
                  <a:pt x="67944" y="142112"/>
                </a:lnTo>
                <a:lnTo>
                  <a:pt x="70865" y="133096"/>
                </a:lnTo>
                <a:lnTo>
                  <a:pt x="73787" y="121030"/>
                </a:lnTo>
                <a:lnTo>
                  <a:pt x="82803" y="102870"/>
                </a:lnTo>
                <a:lnTo>
                  <a:pt x="94868" y="81661"/>
                </a:lnTo>
                <a:lnTo>
                  <a:pt x="103885" y="63500"/>
                </a:lnTo>
                <a:lnTo>
                  <a:pt x="115950" y="48387"/>
                </a:lnTo>
                <a:lnTo>
                  <a:pt x="121919" y="39370"/>
                </a:lnTo>
                <a:lnTo>
                  <a:pt x="137032" y="24256"/>
                </a:lnTo>
                <a:lnTo>
                  <a:pt x="13703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5" name="bk object 36"/>
          <p:cNvSpPr/>
          <p:nvPr/>
        </p:nvSpPr>
        <p:spPr>
          <a:xfrm>
            <a:off x="2107800" y="1636560"/>
            <a:ext cx="134640" cy="200160"/>
          </a:xfrm>
          <a:custGeom>
            <a:avLst/>
            <a:gdLst>
              <a:gd name="textAreaLeft" fmla="*/ 0 w 134640"/>
              <a:gd name="textAreaRight" fmla="*/ 135360 w 134640"/>
              <a:gd name="textAreaTop" fmla="*/ 0 h 200160"/>
              <a:gd name="textAreaBottom" fmla="*/ 200880 h 200160"/>
            </a:gdLst>
            <a:ahLst/>
            <a:cxnLst/>
            <a:rect l="textAreaLeft" t="textAreaTop" r="textAreaRight" b="textAreaBottom"/>
            <a:pathLst>
              <a:path w="135509" h="200913">
                <a:moveTo>
                  <a:pt x="32584" y="89815"/>
                </a:moveTo>
                <a:lnTo>
                  <a:pt x="26670" y="92709"/>
                </a:lnTo>
                <a:lnTo>
                  <a:pt x="23749" y="92709"/>
                </a:lnTo>
                <a:lnTo>
                  <a:pt x="17780" y="98678"/>
                </a:lnTo>
                <a:lnTo>
                  <a:pt x="11811" y="101600"/>
                </a:lnTo>
                <a:lnTo>
                  <a:pt x="5842" y="110616"/>
                </a:lnTo>
                <a:lnTo>
                  <a:pt x="0" y="128650"/>
                </a:lnTo>
                <a:lnTo>
                  <a:pt x="0" y="152907"/>
                </a:lnTo>
                <a:lnTo>
                  <a:pt x="2921" y="164972"/>
                </a:lnTo>
                <a:lnTo>
                  <a:pt x="11938" y="177037"/>
                </a:lnTo>
                <a:lnTo>
                  <a:pt x="29972" y="195071"/>
                </a:lnTo>
                <a:lnTo>
                  <a:pt x="54102" y="200913"/>
                </a:lnTo>
                <a:lnTo>
                  <a:pt x="81534" y="200913"/>
                </a:lnTo>
                <a:lnTo>
                  <a:pt x="90551" y="197992"/>
                </a:lnTo>
                <a:lnTo>
                  <a:pt x="105664" y="195071"/>
                </a:lnTo>
                <a:lnTo>
                  <a:pt x="123444" y="177291"/>
                </a:lnTo>
                <a:lnTo>
                  <a:pt x="53213" y="177291"/>
                </a:lnTo>
                <a:lnTo>
                  <a:pt x="47244" y="174370"/>
                </a:lnTo>
                <a:lnTo>
                  <a:pt x="44323" y="174370"/>
                </a:lnTo>
                <a:lnTo>
                  <a:pt x="32385" y="162432"/>
                </a:lnTo>
                <a:lnTo>
                  <a:pt x="29464" y="156463"/>
                </a:lnTo>
                <a:lnTo>
                  <a:pt x="26543" y="147446"/>
                </a:lnTo>
                <a:lnTo>
                  <a:pt x="26543" y="138429"/>
                </a:lnTo>
                <a:lnTo>
                  <a:pt x="26797" y="138429"/>
                </a:lnTo>
                <a:lnTo>
                  <a:pt x="26859" y="129412"/>
                </a:lnTo>
                <a:lnTo>
                  <a:pt x="32639" y="117601"/>
                </a:lnTo>
                <a:lnTo>
                  <a:pt x="38608" y="111632"/>
                </a:lnTo>
                <a:lnTo>
                  <a:pt x="44577" y="108712"/>
                </a:lnTo>
                <a:lnTo>
                  <a:pt x="53594" y="105790"/>
                </a:lnTo>
                <a:lnTo>
                  <a:pt x="59563" y="102869"/>
                </a:lnTo>
                <a:lnTo>
                  <a:pt x="121406" y="102869"/>
                </a:lnTo>
                <a:lnTo>
                  <a:pt x="120650" y="101726"/>
                </a:lnTo>
                <a:lnTo>
                  <a:pt x="114681" y="98805"/>
                </a:lnTo>
                <a:lnTo>
                  <a:pt x="108712" y="92837"/>
                </a:lnTo>
                <a:lnTo>
                  <a:pt x="102743" y="89915"/>
                </a:lnTo>
                <a:lnTo>
                  <a:pt x="32893" y="89915"/>
                </a:lnTo>
                <a:lnTo>
                  <a:pt x="32584" y="89815"/>
                </a:lnTo>
                <a:close/>
              </a:path>
              <a:path w="135509" h="200913">
                <a:moveTo>
                  <a:pt x="121406" y="102869"/>
                </a:moveTo>
                <a:lnTo>
                  <a:pt x="74676" y="102869"/>
                </a:lnTo>
                <a:lnTo>
                  <a:pt x="92583" y="111632"/>
                </a:lnTo>
                <a:lnTo>
                  <a:pt x="101473" y="120522"/>
                </a:lnTo>
                <a:lnTo>
                  <a:pt x="101473" y="123443"/>
                </a:lnTo>
                <a:lnTo>
                  <a:pt x="104394" y="129412"/>
                </a:lnTo>
                <a:lnTo>
                  <a:pt x="107315" y="138429"/>
                </a:lnTo>
                <a:lnTo>
                  <a:pt x="104394" y="147446"/>
                </a:lnTo>
                <a:lnTo>
                  <a:pt x="104394" y="156463"/>
                </a:lnTo>
                <a:lnTo>
                  <a:pt x="98425" y="162432"/>
                </a:lnTo>
                <a:lnTo>
                  <a:pt x="95504" y="168401"/>
                </a:lnTo>
                <a:lnTo>
                  <a:pt x="89535" y="174370"/>
                </a:lnTo>
                <a:lnTo>
                  <a:pt x="83566" y="174370"/>
                </a:lnTo>
                <a:lnTo>
                  <a:pt x="80645" y="177291"/>
                </a:lnTo>
                <a:lnTo>
                  <a:pt x="123444" y="177291"/>
                </a:lnTo>
                <a:lnTo>
                  <a:pt x="123698" y="177037"/>
                </a:lnTo>
                <a:lnTo>
                  <a:pt x="129667" y="164972"/>
                </a:lnTo>
                <a:lnTo>
                  <a:pt x="135509" y="140842"/>
                </a:lnTo>
                <a:lnTo>
                  <a:pt x="132588" y="128777"/>
                </a:lnTo>
                <a:lnTo>
                  <a:pt x="132588" y="119760"/>
                </a:lnTo>
                <a:lnTo>
                  <a:pt x="121406" y="102869"/>
                </a:lnTo>
                <a:close/>
              </a:path>
              <a:path w="135509" h="200913">
                <a:moveTo>
                  <a:pt x="26797" y="138429"/>
                </a:moveTo>
                <a:lnTo>
                  <a:pt x="26543" y="138429"/>
                </a:lnTo>
                <a:lnTo>
                  <a:pt x="26797" y="138556"/>
                </a:lnTo>
                <a:close/>
              </a:path>
              <a:path w="135509" h="200913">
                <a:moveTo>
                  <a:pt x="103002" y="89788"/>
                </a:moveTo>
                <a:lnTo>
                  <a:pt x="32639" y="89788"/>
                </a:lnTo>
                <a:lnTo>
                  <a:pt x="32893" y="89915"/>
                </a:lnTo>
                <a:lnTo>
                  <a:pt x="102743" y="89915"/>
                </a:lnTo>
                <a:lnTo>
                  <a:pt x="103002" y="89788"/>
                </a:lnTo>
                <a:close/>
              </a:path>
              <a:path w="135509" h="200913">
                <a:moveTo>
                  <a:pt x="87503" y="0"/>
                </a:moveTo>
                <a:lnTo>
                  <a:pt x="44958" y="0"/>
                </a:lnTo>
                <a:lnTo>
                  <a:pt x="32893" y="5968"/>
                </a:lnTo>
                <a:lnTo>
                  <a:pt x="23876" y="11937"/>
                </a:lnTo>
                <a:lnTo>
                  <a:pt x="17907" y="17906"/>
                </a:lnTo>
                <a:lnTo>
                  <a:pt x="11938" y="26923"/>
                </a:lnTo>
                <a:lnTo>
                  <a:pt x="6096" y="38862"/>
                </a:lnTo>
                <a:lnTo>
                  <a:pt x="6096" y="60070"/>
                </a:lnTo>
                <a:lnTo>
                  <a:pt x="9017" y="69087"/>
                </a:lnTo>
                <a:lnTo>
                  <a:pt x="14986" y="78104"/>
                </a:lnTo>
                <a:lnTo>
                  <a:pt x="23876" y="86994"/>
                </a:lnTo>
                <a:lnTo>
                  <a:pt x="32584" y="89815"/>
                </a:lnTo>
                <a:lnTo>
                  <a:pt x="103002" y="89788"/>
                </a:lnTo>
                <a:lnTo>
                  <a:pt x="114681" y="84073"/>
                </a:lnTo>
                <a:lnTo>
                  <a:pt x="115823" y="82930"/>
                </a:lnTo>
                <a:lnTo>
                  <a:pt x="65659" y="82930"/>
                </a:lnTo>
                <a:lnTo>
                  <a:pt x="59690" y="80009"/>
                </a:lnTo>
                <a:lnTo>
                  <a:pt x="53721" y="80009"/>
                </a:lnTo>
                <a:lnTo>
                  <a:pt x="41783" y="74167"/>
                </a:lnTo>
                <a:lnTo>
                  <a:pt x="38862" y="71246"/>
                </a:lnTo>
                <a:lnTo>
                  <a:pt x="33020" y="59308"/>
                </a:lnTo>
                <a:lnTo>
                  <a:pt x="33020" y="50291"/>
                </a:lnTo>
                <a:lnTo>
                  <a:pt x="32893" y="50291"/>
                </a:lnTo>
                <a:lnTo>
                  <a:pt x="32893" y="44322"/>
                </a:lnTo>
                <a:lnTo>
                  <a:pt x="41656" y="26415"/>
                </a:lnTo>
                <a:lnTo>
                  <a:pt x="47625" y="23494"/>
                </a:lnTo>
                <a:lnTo>
                  <a:pt x="53594" y="23494"/>
                </a:lnTo>
                <a:lnTo>
                  <a:pt x="56515" y="20573"/>
                </a:lnTo>
                <a:lnTo>
                  <a:pt x="119367" y="20573"/>
                </a:lnTo>
                <a:lnTo>
                  <a:pt x="117602" y="17906"/>
                </a:lnTo>
                <a:lnTo>
                  <a:pt x="99568" y="5968"/>
                </a:lnTo>
                <a:lnTo>
                  <a:pt x="87503" y="0"/>
                </a:lnTo>
                <a:close/>
              </a:path>
              <a:path w="135509" h="200913">
                <a:moveTo>
                  <a:pt x="119367" y="20573"/>
                </a:moveTo>
                <a:lnTo>
                  <a:pt x="74676" y="20573"/>
                </a:lnTo>
                <a:lnTo>
                  <a:pt x="77597" y="23494"/>
                </a:lnTo>
                <a:lnTo>
                  <a:pt x="83566" y="23494"/>
                </a:lnTo>
                <a:lnTo>
                  <a:pt x="89535" y="26415"/>
                </a:lnTo>
                <a:lnTo>
                  <a:pt x="95504" y="32384"/>
                </a:lnTo>
                <a:lnTo>
                  <a:pt x="98425" y="38353"/>
                </a:lnTo>
                <a:lnTo>
                  <a:pt x="98425" y="44322"/>
                </a:lnTo>
                <a:lnTo>
                  <a:pt x="101346" y="50291"/>
                </a:lnTo>
                <a:lnTo>
                  <a:pt x="98425" y="59308"/>
                </a:lnTo>
                <a:lnTo>
                  <a:pt x="98425" y="65277"/>
                </a:lnTo>
                <a:lnTo>
                  <a:pt x="95504" y="71246"/>
                </a:lnTo>
                <a:lnTo>
                  <a:pt x="77597" y="80009"/>
                </a:lnTo>
                <a:lnTo>
                  <a:pt x="71628" y="80009"/>
                </a:lnTo>
                <a:lnTo>
                  <a:pt x="65659" y="82930"/>
                </a:lnTo>
                <a:lnTo>
                  <a:pt x="115823" y="82930"/>
                </a:lnTo>
                <a:lnTo>
                  <a:pt x="120650" y="78104"/>
                </a:lnTo>
                <a:lnTo>
                  <a:pt x="126492" y="60070"/>
                </a:lnTo>
                <a:lnTo>
                  <a:pt x="129413" y="48005"/>
                </a:lnTo>
                <a:lnTo>
                  <a:pt x="126461" y="38862"/>
                </a:lnTo>
                <a:lnTo>
                  <a:pt x="123571" y="26923"/>
                </a:lnTo>
                <a:lnTo>
                  <a:pt x="119367" y="20573"/>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6" name="bk object 37"/>
          <p:cNvSpPr/>
          <p:nvPr/>
        </p:nvSpPr>
        <p:spPr>
          <a:xfrm>
            <a:off x="2104200" y="1094040"/>
            <a:ext cx="137160" cy="204480"/>
          </a:xfrm>
          <a:custGeom>
            <a:avLst/>
            <a:gdLst>
              <a:gd name="textAreaLeft" fmla="*/ 0 w 137160"/>
              <a:gd name="textAreaRight" fmla="*/ 137880 w 137160"/>
              <a:gd name="textAreaTop" fmla="*/ 0 h 204480"/>
              <a:gd name="textAreaBottom" fmla="*/ 205200 h 204480"/>
            </a:gdLst>
            <a:ahLst/>
            <a:cxnLst/>
            <a:rect l="textAreaLeft" t="textAreaTop" r="textAreaRight" b="textAreaBottom"/>
            <a:pathLst>
              <a:path w="137922" h="205104">
                <a:moveTo>
                  <a:pt x="27431" y="150749"/>
                </a:moveTo>
                <a:lnTo>
                  <a:pt x="3175" y="150749"/>
                </a:lnTo>
                <a:lnTo>
                  <a:pt x="2667" y="151129"/>
                </a:lnTo>
                <a:lnTo>
                  <a:pt x="2667" y="169290"/>
                </a:lnTo>
                <a:lnTo>
                  <a:pt x="8636" y="178307"/>
                </a:lnTo>
                <a:lnTo>
                  <a:pt x="23622" y="193293"/>
                </a:lnTo>
                <a:lnTo>
                  <a:pt x="47625" y="205104"/>
                </a:lnTo>
                <a:lnTo>
                  <a:pt x="62737" y="205104"/>
                </a:lnTo>
                <a:lnTo>
                  <a:pt x="105029" y="193293"/>
                </a:lnTo>
                <a:lnTo>
                  <a:pt x="114576" y="180339"/>
                </a:lnTo>
                <a:lnTo>
                  <a:pt x="54102" y="180339"/>
                </a:lnTo>
                <a:lnTo>
                  <a:pt x="36194" y="171576"/>
                </a:lnTo>
                <a:lnTo>
                  <a:pt x="30353" y="159638"/>
                </a:lnTo>
                <a:lnTo>
                  <a:pt x="30353" y="156717"/>
                </a:lnTo>
                <a:lnTo>
                  <a:pt x="27431" y="150749"/>
                </a:lnTo>
                <a:close/>
              </a:path>
              <a:path w="137922" h="205104">
                <a:moveTo>
                  <a:pt x="136650" y="111378"/>
                </a:moveTo>
                <a:lnTo>
                  <a:pt x="110871" y="111378"/>
                </a:lnTo>
                <a:lnTo>
                  <a:pt x="107950" y="120395"/>
                </a:lnTo>
                <a:lnTo>
                  <a:pt x="107950" y="132460"/>
                </a:lnTo>
                <a:lnTo>
                  <a:pt x="105029" y="138429"/>
                </a:lnTo>
                <a:lnTo>
                  <a:pt x="87249" y="174498"/>
                </a:lnTo>
                <a:lnTo>
                  <a:pt x="78231" y="177418"/>
                </a:lnTo>
                <a:lnTo>
                  <a:pt x="72262" y="180339"/>
                </a:lnTo>
                <a:lnTo>
                  <a:pt x="114576" y="180339"/>
                </a:lnTo>
                <a:lnTo>
                  <a:pt x="123062" y="166115"/>
                </a:lnTo>
                <a:lnTo>
                  <a:pt x="132080" y="144906"/>
                </a:lnTo>
                <a:lnTo>
                  <a:pt x="135000" y="135889"/>
                </a:lnTo>
                <a:lnTo>
                  <a:pt x="135109" y="125856"/>
                </a:lnTo>
                <a:lnTo>
                  <a:pt x="136650" y="111378"/>
                </a:lnTo>
                <a:close/>
              </a:path>
              <a:path w="137922" h="205104">
                <a:moveTo>
                  <a:pt x="65912" y="0"/>
                </a:moveTo>
                <a:lnTo>
                  <a:pt x="41782" y="5841"/>
                </a:lnTo>
                <a:lnTo>
                  <a:pt x="17653" y="17779"/>
                </a:lnTo>
                <a:lnTo>
                  <a:pt x="11811" y="29717"/>
                </a:lnTo>
                <a:lnTo>
                  <a:pt x="5842" y="35686"/>
                </a:lnTo>
                <a:lnTo>
                  <a:pt x="5842" y="41655"/>
                </a:lnTo>
                <a:lnTo>
                  <a:pt x="123" y="65276"/>
                </a:lnTo>
                <a:lnTo>
                  <a:pt x="0" y="80899"/>
                </a:lnTo>
                <a:lnTo>
                  <a:pt x="20828" y="116966"/>
                </a:lnTo>
                <a:lnTo>
                  <a:pt x="53975" y="131825"/>
                </a:lnTo>
                <a:lnTo>
                  <a:pt x="72136" y="131825"/>
                </a:lnTo>
                <a:lnTo>
                  <a:pt x="78105" y="128904"/>
                </a:lnTo>
                <a:lnTo>
                  <a:pt x="96138" y="123062"/>
                </a:lnTo>
                <a:lnTo>
                  <a:pt x="104902" y="114300"/>
                </a:lnTo>
                <a:lnTo>
                  <a:pt x="110871" y="111378"/>
                </a:lnTo>
                <a:lnTo>
                  <a:pt x="136650" y="111378"/>
                </a:lnTo>
                <a:lnTo>
                  <a:pt x="137097" y="107187"/>
                </a:lnTo>
                <a:lnTo>
                  <a:pt x="57150" y="107187"/>
                </a:lnTo>
                <a:lnTo>
                  <a:pt x="54229" y="104266"/>
                </a:lnTo>
                <a:lnTo>
                  <a:pt x="51307" y="104266"/>
                </a:lnTo>
                <a:lnTo>
                  <a:pt x="42291" y="101345"/>
                </a:lnTo>
                <a:lnTo>
                  <a:pt x="39369" y="95376"/>
                </a:lnTo>
                <a:lnTo>
                  <a:pt x="33400" y="89407"/>
                </a:lnTo>
                <a:lnTo>
                  <a:pt x="30480" y="83438"/>
                </a:lnTo>
                <a:lnTo>
                  <a:pt x="27559" y="74421"/>
                </a:lnTo>
                <a:lnTo>
                  <a:pt x="27559" y="65404"/>
                </a:lnTo>
                <a:lnTo>
                  <a:pt x="27431" y="65276"/>
                </a:lnTo>
                <a:lnTo>
                  <a:pt x="27431" y="56260"/>
                </a:lnTo>
                <a:lnTo>
                  <a:pt x="33274" y="44323"/>
                </a:lnTo>
                <a:lnTo>
                  <a:pt x="33274" y="41401"/>
                </a:lnTo>
                <a:lnTo>
                  <a:pt x="39243" y="35432"/>
                </a:lnTo>
                <a:lnTo>
                  <a:pt x="42163" y="29463"/>
                </a:lnTo>
                <a:lnTo>
                  <a:pt x="51181" y="26542"/>
                </a:lnTo>
                <a:lnTo>
                  <a:pt x="57150" y="23621"/>
                </a:lnTo>
                <a:lnTo>
                  <a:pt x="118523" y="23621"/>
                </a:lnTo>
                <a:lnTo>
                  <a:pt x="117093" y="20700"/>
                </a:lnTo>
                <a:lnTo>
                  <a:pt x="105029" y="11683"/>
                </a:lnTo>
                <a:lnTo>
                  <a:pt x="93091" y="5841"/>
                </a:lnTo>
                <a:lnTo>
                  <a:pt x="81025" y="2920"/>
                </a:lnTo>
                <a:lnTo>
                  <a:pt x="65912" y="0"/>
                </a:lnTo>
                <a:close/>
              </a:path>
              <a:path w="137922" h="205104">
                <a:moveTo>
                  <a:pt x="118523" y="23621"/>
                </a:moveTo>
                <a:lnTo>
                  <a:pt x="78359" y="23621"/>
                </a:lnTo>
                <a:lnTo>
                  <a:pt x="84328" y="26542"/>
                </a:lnTo>
                <a:lnTo>
                  <a:pt x="93344" y="29463"/>
                </a:lnTo>
                <a:lnTo>
                  <a:pt x="99313" y="35432"/>
                </a:lnTo>
                <a:lnTo>
                  <a:pt x="102235" y="41401"/>
                </a:lnTo>
                <a:lnTo>
                  <a:pt x="105156" y="50418"/>
                </a:lnTo>
                <a:lnTo>
                  <a:pt x="108014" y="56260"/>
                </a:lnTo>
                <a:lnTo>
                  <a:pt x="107984" y="65785"/>
                </a:lnTo>
                <a:lnTo>
                  <a:pt x="105156" y="77469"/>
                </a:lnTo>
                <a:lnTo>
                  <a:pt x="105156" y="83438"/>
                </a:lnTo>
                <a:lnTo>
                  <a:pt x="102235" y="89407"/>
                </a:lnTo>
                <a:lnTo>
                  <a:pt x="90297" y="101345"/>
                </a:lnTo>
                <a:lnTo>
                  <a:pt x="81280" y="104266"/>
                </a:lnTo>
                <a:lnTo>
                  <a:pt x="75311" y="107187"/>
                </a:lnTo>
                <a:lnTo>
                  <a:pt x="137097" y="107187"/>
                </a:lnTo>
                <a:lnTo>
                  <a:pt x="137922" y="99440"/>
                </a:lnTo>
                <a:lnTo>
                  <a:pt x="137922" y="72008"/>
                </a:lnTo>
                <a:lnTo>
                  <a:pt x="131953" y="53848"/>
                </a:lnTo>
                <a:lnTo>
                  <a:pt x="125984" y="32638"/>
                </a:lnTo>
                <a:lnTo>
                  <a:pt x="120015" y="26669"/>
                </a:lnTo>
                <a:lnTo>
                  <a:pt x="118523" y="2362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7" name="bk object 38"/>
          <p:cNvSpPr/>
          <p:nvPr/>
        </p:nvSpPr>
        <p:spPr>
          <a:xfrm>
            <a:off x="1991520" y="55440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1881" h="201040">
                <a:moveTo>
                  <a:pt x="71881" y="0"/>
                </a:moveTo>
                <a:lnTo>
                  <a:pt x="53721" y="0"/>
                </a:lnTo>
                <a:lnTo>
                  <a:pt x="50800" y="9016"/>
                </a:lnTo>
                <a:lnTo>
                  <a:pt x="47879" y="14985"/>
                </a:lnTo>
                <a:lnTo>
                  <a:pt x="44958" y="24002"/>
                </a:lnTo>
                <a:lnTo>
                  <a:pt x="42037" y="26923"/>
                </a:lnTo>
                <a:lnTo>
                  <a:pt x="24130" y="35686"/>
                </a:lnTo>
                <a:lnTo>
                  <a:pt x="15112" y="35686"/>
                </a:lnTo>
                <a:lnTo>
                  <a:pt x="0" y="38607"/>
                </a:lnTo>
                <a:lnTo>
                  <a:pt x="0" y="56768"/>
                </a:lnTo>
                <a:lnTo>
                  <a:pt x="45593" y="56768"/>
                </a:lnTo>
                <a:lnTo>
                  <a:pt x="45593" y="199897"/>
                </a:lnTo>
                <a:lnTo>
                  <a:pt x="44450" y="201040"/>
                </a:lnTo>
                <a:lnTo>
                  <a:pt x="71881" y="201040"/>
                </a:lnTo>
                <a:lnTo>
                  <a:pt x="718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bk object 39"/>
          <p:cNvSpPr/>
          <p:nvPr/>
        </p:nvSpPr>
        <p:spPr>
          <a:xfrm>
            <a:off x="2107080" y="553680"/>
            <a:ext cx="134640" cy="204840"/>
          </a:xfrm>
          <a:custGeom>
            <a:avLst/>
            <a:gdLst>
              <a:gd name="textAreaLeft" fmla="*/ 0 w 134640"/>
              <a:gd name="textAreaRight" fmla="*/ 135360 w 134640"/>
              <a:gd name="textAreaTop" fmla="*/ 0 h 204840"/>
              <a:gd name="textAreaBottom" fmla="*/ 205560 h 204840"/>
            </a:gdLst>
            <a:ahLst/>
            <a:cxnLst/>
            <a:rect l="textAreaLeft" t="textAreaTop" r="textAreaRight" b="textAreaBottom"/>
            <a:pathLst>
              <a:path w="135509" h="205611">
                <a:moveTo>
                  <a:pt x="81534" y="0"/>
                </a:moveTo>
                <a:lnTo>
                  <a:pt x="54102" y="0"/>
                </a:lnTo>
                <a:lnTo>
                  <a:pt x="29972" y="11938"/>
                </a:lnTo>
                <a:lnTo>
                  <a:pt x="17906" y="20954"/>
                </a:lnTo>
                <a:lnTo>
                  <a:pt x="11937" y="33020"/>
                </a:lnTo>
                <a:lnTo>
                  <a:pt x="2921" y="54228"/>
                </a:lnTo>
                <a:lnTo>
                  <a:pt x="0" y="75438"/>
                </a:lnTo>
                <a:lnTo>
                  <a:pt x="0" y="102870"/>
                </a:lnTo>
                <a:lnTo>
                  <a:pt x="254" y="102870"/>
                </a:lnTo>
                <a:lnTo>
                  <a:pt x="254" y="130301"/>
                </a:lnTo>
                <a:lnTo>
                  <a:pt x="3175" y="151511"/>
                </a:lnTo>
                <a:lnTo>
                  <a:pt x="12192" y="169672"/>
                </a:lnTo>
                <a:lnTo>
                  <a:pt x="18161" y="184785"/>
                </a:lnTo>
                <a:lnTo>
                  <a:pt x="30225" y="193801"/>
                </a:lnTo>
                <a:lnTo>
                  <a:pt x="42291" y="199771"/>
                </a:lnTo>
                <a:lnTo>
                  <a:pt x="66421" y="205611"/>
                </a:lnTo>
                <a:lnTo>
                  <a:pt x="81534" y="202692"/>
                </a:lnTo>
                <a:lnTo>
                  <a:pt x="93599" y="199771"/>
                </a:lnTo>
                <a:lnTo>
                  <a:pt x="105663" y="193801"/>
                </a:lnTo>
                <a:lnTo>
                  <a:pt x="114681" y="184785"/>
                </a:lnTo>
                <a:lnTo>
                  <a:pt x="116726" y="181355"/>
                </a:lnTo>
                <a:lnTo>
                  <a:pt x="57023" y="181355"/>
                </a:lnTo>
                <a:lnTo>
                  <a:pt x="51054" y="178435"/>
                </a:lnTo>
                <a:lnTo>
                  <a:pt x="39243" y="166624"/>
                </a:lnTo>
                <a:lnTo>
                  <a:pt x="33274" y="157606"/>
                </a:lnTo>
                <a:lnTo>
                  <a:pt x="30353" y="139446"/>
                </a:lnTo>
                <a:lnTo>
                  <a:pt x="27431" y="124333"/>
                </a:lnTo>
                <a:lnTo>
                  <a:pt x="27305" y="78611"/>
                </a:lnTo>
                <a:lnTo>
                  <a:pt x="30225" y="66548"/>
                </a:lnTo>
                <a:lnTo>
                  <a:pt x="33147" y="48387"/>
                </a:lnTo>
                <a:lnTo>
                  <a:pt x="39116" y="39370"/>
                </a:lnTo>
                <a:lnTo>
                  <a:pt x="50927" y="27559"/>
                </a:lnTo>
                <a:lnTo>
                  <a:pt x="56896" y="24638"/>
                </a:lnTo>
                <a:lnTo>
                  <a:pt x="117433" y="24638"/>
                </a:lnTo>
                <a:lnTo>
                  <a:pt x="114681" y="20954"/>
                </a:lnTo>
                <a:lnTo>
                  <a:pt x="105663" y="11938"/>
                </a:lnTo>
                <a:lnTo>
                  <a:pt x="81534" y="0"/>
                </a:lnTo>
                <a:close/>
              </a:path>
              <a:path w="135509" h="205611">
                <a:moveTo>
                  <a:pt x="117433" y="24638"/>
                </a:moveTo>
                <a:lnTo>
                  <a:pt x="75056" y="24638"/>
                </a:lnTo>
                <a:lnTo>
                  <a:pt x="84074" y="27559"/>
                </a:lnTo>
                <a:lnTo>
                  <a:pt x="96012" y="39497"/>
                </a:lnTo>
                <a:lnTo>
                  <a:pt x="101981" y="48514"/>
                </a:lnTo>
                <a:lnTo>
                  <a:pt x="104902" y="66675"/>
                </a:lnTo>
                <a:lnTo>
                  <a:pt x="107823" y="81788"/>
                </a:lnTo>
                <a:lnTo>
                  <a:pt x="107823" y="124333"/>
                </a:lnTo>
                <a:lnTo>
                  <a:pt x="104902" y="139446"/>
                </a:lnTo>
                <a:lnTo>
                  <a:pt x="101981" y="157606"/>
                </a:lnTo>
                <a:lnTo>
                  <a:pt x="96012" y="166624"/>
                </a:lnTo>
                <a:lnTo>
                  <a:pt x="84200" y="178435"/>
                </a:lnTo>
                <a:lnTo>
                  <a:pt x="75184" y="181355"/>
                </a:lnTo>
                <a:lnTo>
                  <a:pt x="116726" y="181355"/>
                </a:lnTo>
                <a:lnTo>
                  <a:pt x="123698" y="169672"/>
                </a:lnTo>
                <a:lnTo>
                  <a:pt x="129667" y="151511"/>
                </a:lnTo>
                <a:lnTo>
                  <a:pt x="132587" y="130301"/>
                </a:lnTo>
                <a:lnTo>
                  <a:pt x="135509" y="102870"/>
                </a:lnTo>
                <a:lnTo>
                  <a:pt x="132587" y="75438"/>
                </a:lnTo>
                <a:lnTo>
                  <a:pt x="129667" y="54228"/>
                </a:lnTo>
                <a:lnTo>
                  <a:pt x="123698" y="33020"/>
                </a:lnTo>
                <a:lnTo>
                  <a:pt x="117433" y="2463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bk object 40"/>
          <p:cNvSpPr/>
          <p:nvPr/>
        </p:nvSpPr>
        <p:spPr>
          <a:xfrm>
            <a:off x="2341800" y="6124680"/>
            <a:ext cx="6009840" cy="360"/>
          </a:xfrm>
          <a:custGeom>
            <a:avLst/>
            <a:gdLst>
              <a:gd name="textAreaLeft" fmla="*/ 0 w 6009840"/>
              <a:gd name="textAreaRight" fmla="*/ 6010560 w 6009840"/>
              <a:gd name="textAreaTop" fmla="*/ 0 h 360"/>
              <a:gd name="textAreaBottom" fmla="*/ 1440 h 360"/>
            </a:gdLst>
            <a:ahLst/>
            <a:cxnLst/>
            <a:rect l="textAreaLeft" t="textAreaTop" r="textAreaRight" b="textAreaBottom"/>
            <a:pathLst>
              <a:path w="6010529">
                <a:moveTo>
                  <a:pt x="6010529" y="0"/>
                </a:moveTo>
                <a:lnTo>
                  <a:pt x="0"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bk object 41"/>
          <p:cNvSpPr/>
          <p:nvPr/>
        </p:nvSpPr>
        <p:spPr>
          <a:xfrm>
            <a:off x="2387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1" name="bk object 42"/>
          <p:cNvSpPr/>
          <p:nvPr/>
        </p:nvSpPr>
        <p:spPr>
          <a:xfrm>
            <a:off x="29818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bk object 43"/>
          <p:cNvSpPr/>
          <p:nvPr/>
        </p:nvSpPr>
        <p:spPr>
          <a:xfrm>
            <a:off x="35733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3" name="bk object 44"/>
          <p:cNvSpPr/>
          <p:nvPr/>
        </p:nvSpPr>
        <p:spPr>
          <a:xfrm>
            <a:off x="41644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4" name="bk object 45"/>
          <p:cNvSpPr/>
          <p:nvPr/>
        </p:nvSpPr>
        <p:spPr>
          <a:xfrm>
            <a:off x="47559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5" name="bk object 46"/>
          <p:cNvSpPr/>
          <p:nvPr/>
        </p:nvSpPr>
        <p:spPr>
          <a:xfrm>
            <a:off x="53470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6" name="bk object 47"/>
          <p:cNvSpPr/>
          <p:nvPr/>
        </p:nvSpPr>
        <p:spPr>
          <a:xfrm>
            <a:off x="59385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bk object 48"/>
          <p:cNvSpPr/>
          <p:nvPr/>
        </p:nvSpPr>
        <p:spPr>
          <a:xfrm>
            <a:off x="65329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bk object 49"/>
          <p:cNvSpPr/>
          <p:nvPr/>
        </p:nvSpPr>
        <p:spPr>
          <a:xfrm>
            <a:off x="71240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bk object 50"/>
          <p:cNvSpPr/>
          <p:nvPr/>
        </p:nvSpPr>
        <p:spPr>
          <a:xfrm>
            <a:off x="7715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 name="bk object 51"/>
          <p:cNvSpPr/>
          <p:nvPr/>
        </p:nvSpPr>
        <p:spPr>
          <a:xfrm>
            <a:off x="83066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bk object 52"/>
          <p:cNvSpPr/>
          <p:nvPr/>
        </p:nvSpPr>
        <p:spPr>
          <a:xfrm>
            <a:off x="220428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599" y="2921"/>
                </a:moveTo>
                <a:lnTo>
                  <a:pt x="42291" y="2921"/>
                </a:lnTo>
                <a:lnTo>
                  <a:pt x="30226" y="11938"/>
                </a:lnTo>
                <a:lnTo>
                  <a:pt x="21209" y="20955"/>
                </a:lnTo>
                <a:lnTo>
                  <a:pt x="18287" y="26924"/>
                </a:lnTo>
                <a:lnTo>
                  <a:pt x="12318" y="32893"/>
                </a:lnTo>
                <a:lnTo>
                  <a:pt x="9398" y="41910"/>
                </a:lnTo>
                <a:lnTo>
                  <a:pt x="6477" y="53975"/>
                </a:lnTo>
                <a:lnTo>
                  <a:pt x="3542" y="75311"/>
                </a:lnTo>
                <a:lnTo>
                  <a:pt x="635" y="102616"/>
                </a:lnTo>
                <a:lnTo>
                  <a:pt x="0" y="102743"/>
                </a:lnTo>
                <a:lnTo>
                  <a:pt x="5842" y="148336"/>
                </a:lnTo>
                <a:lnTo>
                  <a:pt x="29845" y="193675"/>
                </a:lnTo>
                <a:lnTo>
                  <a:pt x="53975" y="202565"/>
                </a:lnTo>
                <a:lnTo>
                  <a:pt x="81406" y="202565"/>
                </a:lnTo>
                <a:lnTo>
                  <a:pt x="93472" y="199644"/>
                </a:lnTo>
                <a:lnTo>
                  <a:pt x="105537" y="193675"/>
                </a:lnTo>
                <a:lnTo>
                  <a:pt x="117602" y="181610"/>
                </a:lnTo>
                <a:lnTo>
                  <a:pt x="69850" y="181483"/>
                </a:lnTo>
                <a:lnTo>
                  <a:pt x="60833" y="178562"/>
                </a:lnTo>
                <a:lnTo>
                  <a:pt x="54864" y="178562"/>
                </a:lnTo>
                <a:lnTo>
                  <a:pt x="45847" y="172593"/>
                </a:lnTo>
                <a:lnTo>
                  <a:pt x="39878" y="166624"/>
                </a:lnTo>
                <a:lnTo>
                  <a:pt x="36956" y="154559"/>
                </a:lnTo>
                <a:lnTo>
                  <a:pt x="30987" y="139446"/>
                </a:lnTo>
                <a:lnTo>
                  <a:pt x="30987" y="124333"/>
                </a:lnTo>
                <a:lnTo>
                  <a:pt x="28067" y="103124"/>
                </a:lnTo>
                <a:lnTo>
                  <a:pt x="27940" y="102616"/>
                </a:lnTo>
                <a:lnTo>
                  <a:pt x="30861" y="78359"/>
                </a:lnTo>
                <a:lnTo>
                  <a:pt x="30861" y="63246"/>
                </a:lnTo>
                <a:lnTo>
                  <a:pt x="36830" y="48133"/>
                </a:lnTo>
                <a:lnTo>
                  <a:pt x="39751" y="39116"/>
                </a:lnTo>
                <a:lnTo>
                  <a:pt x="45720" y="30099"/>
                </a:lnTo>
                <a:lnTo>
                  <a:pt x="54737" y="27178"/>
                </a:lnTo>
                <a:lnTo>
                  <a:pt x="60706" y="24257"/>
                </a:lnTo>
                <a:lnTo>
                  <a:pt x="119344" y="24257"/>
                </a:lnTo>
                <a:lnTo>
                  <a:pt x="117729" y="20955"/>
                </a:lnTo>
                <a:lnTo>
                  <a:pt x="93599" y="2921"/>
                </a:lnTo>
                <a:close/>
              </a:path>
              <a:path w="135509" h="202564">
                <a:moveTo>
                  <a:pt x="119344" y="24257"/>
                </a:moveTo>
                <a:lnTo>
                  <a:pt x="78867" y="24257"/>
                </a:lnTo>
                <a:lnTo>
                  <a:pt x="90805" y="30099"/>
                </a:lnTo>
                <a:lnTo>
                  <a:pt x="102743" y="48133"/>
                </a:lnTo>
                <a:lnTo>
                  <a:pt x="108712" y="63246"/>
                </a:lnTo>
                <a:lnTo>
                  <a:pt x="108712" y="139446"/>
                </a:lnTo>
                <a:lnTo>
                  <a:pt x="102743" y="154559"/>
                </a:lnTo>
                <a:lnTo>
                  <a:pt x="96774" y="166624"/>
                </a:lnTo>
                <a:lnTo>
                  <a:pt x="84836" y="178562"/>
                </a:lnTo>
                <a:lnTo>
                  <a:pt x="78867" y="178562"/>
                </a:lnTo>
                <a:lnTo>
                  <a:pt x="69850" y="181483"/>
                </a:lnTo>
                <a:lnTo>
                  <a:pt x="117664" y="181483"/>
                </a:lnTo>
                <a:lnTo>
                  <a:pt x="123571" y="169545"/>
                </a:lnTo>
                <a:lnTo>
                  <a:pt x="132587" y="148336"/>
                </a:lnTo>
                <a:lnTo>
                  <a:pt x="135509" y="130175"/>
                </a:lnTo>
                <a:lnTo>
                  <a:pt x="135491" y="75184"/>
                </a:lnTo>
                <a:lnTo>
                  <a:pt x="132587" y="54102"/>
                </a:lnTo>
                <a:lnTo>
                  <a:pt x="123571" y="32893"/>
                </a:lnTo>
                <a:lnTo>
                  <a:pt x="119344" y="24257"/>
                </a:lnTo>
                <a:close/>
              </a:path>
              <a:path w="135509" h="202564">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 name="bk object 53"/>
          <p:cNvSpPr/>
          <p:nvPr/>
        </p:nvSpPr>
        <p:spPr>
          <a:xfrm>
            <a:off x="237240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2" h="33401">
                <a:moveTo>
                  <a:pt x="0" y="16700"/>
                </a:moveTo>
                <a:lnTo>
                  <a:pt x="3035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3" name="bk object 54"/>
          <p:cNvSpPr/>
          <p:nvPr/>
        </p:nvSpPr>
        <p:spPr>
          <a:xfrm>
            <a:off x="243252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361" h="202564">
                <a:moveTo>
                  <a:pt x="93472" y="2920"/>
                </a:moveTo>
                <a:lnTo>
                  <a:pt x="42163" y="2920"/>
                </a:lnTo>
                <a:lnTo>
                  <a:pt x="36194" y="5841"/>
                </a:lnTo>
                <a:lnTo>
                  <a:pt x="21208" y="20827"/>
                </a:lnTo>
                <a:lnTo>
                  <a:pt x="18287" y="26796"/>
                </a:lnTo>
                <a:lnTo>
                  <a:pt x="12318" y="32765"/>
                </a:lnTo>
                <a:lnTo>
                  <a:pt x="9398" y="41782"/>
                </a:lnTo>
                <a:lnTo>
                  <a:pt x="6476" y="53847"/>
                </a:lnTo>
                <a:lnTo>
                  <a:pt x="3528" y="75310"/>
                </a:lnTo>
                <a:lnTo>
                  <a:pt x="635" y="102488"/>
                </a:lnTo>
                <a:lnTo>
                  <a:pt x="0" y="102869"/>
                </a:lnTo>
                <a:lnTo>
                  <a:pt x="5842" y="148462"/>
                </a:lnTo>
                <a:lnTo>
                  <a:pt x="29844" y="193801"/>
                </a:lnTo>
                <a:lnTo>
                  <a:pt x="53848" y="202564"/>
                </a:lnTo>
                <a:lnTo>
                  <a:pt x="81280" y="202564"/>
                </a:lnTo>
                <a:lnTo>
                  <a:pt x="93344" y="199643"/>
                </a:lnTo>
                <a:lnTo>
                  <a:pt x="105410" y="193674"/>
                </a:lnTo>
                <a:lnTo>
                  <a:pt x="117475" y="181609"/>
                </a:lnTo>
                <a:lnTo>
                  <a:pt x="117537" y="181482"/>
                </a:lnTo>
                <a:lnTo>
                  <a:pt x="69976" y="181482"/>
                </a:lnTo>
                <a:lnTo>
                  <a:pt x="60960" y="178561"/>
                </a:lnTo>
                <a:lnTo>
                  <a:pt x="54991" y="178561"/>
                </a:lnTo>
                <a:lnTo>
                  <a:pt x="45974" y="172592"/>
                </a:lnTo>
                <a:lnTo>
                  <a:pt x="40005" y="166611"/>
                </a:lnTo>
                <a:lnTo>
                  <a:pt x="37083" y="160654"/>
                </a:lnTo>
                <a:lnTo>
                  <a:pt x="37033" y="154558"/>
                </a:lnTo>
                <a:lnTo>
                  <a:pt x="31114" y="139572"/>
                </a:lnTo>
                <a:lnTo>
                  <a:pt x="31114" y="124459"/>
                </a:lnTo>
                <a:lnTo>
                  <a:pt x="28193" y="103250"/>
                </a:lnTo>
                <a:lnTo>
                  <a:pt x="28067" y="102488"/>
                </a:lnTo>
                <a:lnTo>
                  <a:pt x="30987" y="78231"/>
                </a:lnTo>
                <a:lnTo>
                  <a:pt x="30987" y="63118"/>
                </a:lnTo>
                <a:lnTo>
                  <a:pt x="36906" y="48132"/>
                </a:lnTo>
                <a:lnTo>
                  <a:pt x="36956" y="42036"/>
                </a:lnTo>
                <a:lnTo>
                  <a:pt x="39878" y="39115"/>
                </a:lnTo>
                <a:lnTo>
                  <a:pt x="45847" y="30086"/>
                </a:lnTo>
                <a:lnTo>
                  <a:pt x="54863" y="27177"/>
                </a:lnTo>
                <a:lnTo>
                  <a:pt x="60832" y="24256"/>
                </a:lnTo>
                <a:lnTo>
                  <a:pt x="119217" y="24256"/>
                </a:lnTo>
                <a:lnTo>
                  <a:pt x="117601" y="20954"/>
                </a:lnTo>
                <a:lnTo>
                  <a:pt x="93472" y="2920"/>
                </a:lnTo>
                <a:close/>
              </a:path>
              <a:path w="135361" h="202564">
                <a:moveTo>
                  <a:pt x="119217" y="24256"/>
                </a:moveTo>
                <a:lnTo>
                  <a:pt x="78993" y="24256"/>
                </a:lnTo>
                <a:lnTo>
                  <a:pt x="90931" y="30086"/>
                </a:lnTo>
                <a:lnTo>
                  <a:pt x="102869" y="48132"/>
                </a:lnTo>
                <a:lnTo>
                  <a:pt x="108788" y="63118"/>
                </a:lnTo>
                <a:lnTo>
                  <a:pt x="108788" y="139572"/>
                </a:lnTo>
                <a:lnTo>
                  <a:pt x="102807" y="154685"/>
                </a:lnTo>
                <a:lnTo>
                  <a:pt x="96900" y="166611"/>
                </a:lnTo>
                <a:lnTo>
                  <a:pt x="84962" y="178561"/>
                </a:lnTo>
                <a:lnTo>
                  <a:pt x="78993" y="178561"/>
                </a:lnTo>
                <a:lnTo>
                  <a:pt x="69976" y="181482"/>
                </a:lnTo>
                <a:lnTo>
                  <a:pt x="117537" y="181482"/>
                </a:lnTo>
                <a:lnTo>
                  <a:pt x="123443" y="169544"/>
                </a:lnTo>
                <a:lnTo>
                  <a:pt x="132461" y="148335"/>
                </a:lnTo>
                <a:lnTo>
                  <a:pt x="135361" y="130301"/>
                </a:lnTo>
                <a:lnTo>
                  <a:pt x="135347" y="75056"/>
                </a:lnTo>
                <a:lnTo>
                  <a:pt x="132461" y="54101"/>
                </a:lnTo>
                <a:lnTo>
                  <a:pt x="123381" y="32765"/>
                </a:lnTo>
                <a:lnTo>
                  <a:pt x="119217" y="24256"/>
                </a:lnTo>
                <a:close/>
              </a:path>
              <a:path w="135361" h="202564">
                <a:moveTo>
                  <a:pt x="81533" y="0"/>
                </a:moveTo>
                <a:lnTo>
                  <a:pt x="54101" y="0"/>
                </a:lnTo>
                <a:lnTo>
                  <a:pt x="48132" y="2920"/>
                </a:lnTo>
                <a:lnTo>
                  <a:pt x="87503" y="2920"/>
                </a:lnTo>
                <a:lnTo>
                  <a:pt x="81533"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 name="bk object 55"/>
          <p:cNvSpPr/>
          <p:nvPr/>
        </p:nvSpPr>
        <p:spPr>
          <a:xfrm>
            <a:off x="2816640" y="6293160"/>
            <a:ext cx="137520" cy="201960"/>
          </a:xfrm>
          <a:custGeom>
            <a:avLst/>
            <a:gdLst>
              <a:gd name="textAreaLeft" fmla="*/ 0 w 137520"/>
              <a:gd name="textAreaRight" fmla="*/ 138240 w 137520"/>
              <a:gd name="textAreaTop" fmla="*/ 0 h 201960"/>
              <a:gd name="textAreaBottom" fmla="*/ 202680 h 201960"/>
            </a:gdLst>
            <a:ahLst/>
            <a:cxnLst/>
            <a:rect l="textAreaLeft" t="textAreaTop" r="textAreaRight" b="textAreaBottom"/>
            <a:pathLst>
              <a:path w="138289" h="202564">
                <a:moveTo>
                  <a:pt x="96519" y="2921"/>
                </a:moveTo>
                <a:lnTo>
                  <a:pt x="45338" y="2921"/>
                </a:lnTo>
                <a:lnTo>
                  <a:pt x="21208" y="20955"/>
                </a:lnTo>
                <a:lnTo>
                  <a:pt x="15367" y="32893"/>
                </a:lnTo>
                <a:lnTo>
                  <a:pt x="9398" y="41910"/>
                </a:lnTo>
                <a:lnTo>
                  <a:pt x="6476" y="53975"/>
                </a:lnTo>
                <a:lnTo>
                  <a:pt x="3542" y="75311"/>
                </a:lnTo>
                <a:lnTo>
                  <a:pt x="635" y="102616"/>
                </a:lnTo>
                <a:lnTo>
                  <a:pt x="0" y="102743"/>
                </a:lnTo>
                <a:lnTo>
                  <a:pt x="5842" y="148336"/>
                </a:lnTo>
                <a:lnTo>
                  <a:pt x="32893" y="193675"/>
                </a:lnTo>
                <a:lnTo>
                  <a:pt x="53975" y="202565"/>
                </a:lnTo>
                <a:lnTo>
                  <a:pt x="84328" y="202565"/>
                </a:lnTo>
                <a:lnTo>
                  <a:pt x="96393" y="199644"/>
                </a:lnTo>
                <a:lnTo>
                  <a:pt x="105410" y="193675"/>
                </a:lnTo>
                <a:lnTo>
                  <a:pt x="117475" y="181610"/>
                </a:lnTo>
                <a:lnTo>
                  <a:pt x="117854" y="181102"/>
                </a:lnTo>
                <a:lnTo>
                  <a:pt x="69976" y="181102"/>
                </a:lnTo>
                <a:lnTo>
                  <a:pt x="60960" y="178181"/>
                </a:lnTo>
                <a:lnTo>
                  <a:pt x="54991" y="178181"/>
                </a:lnTo>
                <a:lnTo>
                  <a:pt x="45974" y="172212"/>
                </a:lnTo>
                <a:lnTo>
                  <a:pt x="40005" y="166243"/>
                </a:lnTo>
                <a:lnTo>
                  <a:pt x="37083" y="160274"/>
                </a:lnTo>
                <a:lnTo>
                  <a:pt x="37033" y="154178"/>
                </a:lnTo>
                <a:lnTo>
                  <a:pt x="31114" y="139192"/>
                </a:lnTo>
                <a:lnTo>
                  <a:pt x="31097" y="123952"/>
                </a:lnTo>
                <a:lnTo>
                  <a:pt x="28193" y="102870"/>
                </a:lnTo>
                <a:lnTo>
                  <a:pt x="28067" y="102616"/>
                </a:lnTo>
                <a:lnTo>
                  <a:pt x="30972" y="78486"/>
                </a:lnTo>
                <a:lnTo>
                  <a:pt x="30987" y="63246"/>
                </a:lnTo>
                <a:lnTo>
                  <a:pt x="36906" y="48260"/>
                </a:lnTo>
                <a:lnTo>
                  <a:pt x="36956" y="42164"/>
                </a:lnTo>
                <a:lnTo>
                  <a:pt x="39878" y="39243"/>
                </a:lnTo>
                <a:lnTo>
                  <a:pt x="45847" y="30213"/>
                </a:lnTo>
                <a:lnTo>
                  <a:pt x="54863" y="27305"/>
                </a:lnTo>
                <a:lnTo>
                  <a:pt x="60832" y="24384"/>
                </a:lnTo>
                <a:lnTo>
                  <a:pt x="119280" y="24384"/>
                </a:lnTo>
                <a:lnTo>
                  <a:pt x="117601" y="20955"/>
                </a:lnTo>
                <a:lnTo>
                  <a:pt x="105537" y="11938"/>
                </a:lnTo>
                <a:lnTo>
                  <a:pt x="96519" y="2921"/>
                </a:lnTo>
                <a:close/>
              </a:path>
              <a:path w="138289" h="202564">
                <a:moveTo>
                  <a:pt x="119280" y="24384"/>
                </a:moveTo>
                <a:lnTo>
                  <a:pt x="78993" y="24384"/>
                </a:lnTo>
                <a:lnTo>
                  <a:pt x="84962" y="27305"/>
                </a:lnTo>
                <a:lnTo>
                  <a:pt x="93980" y="30213"/>
                </a:lnTo>
                <a:lnTo>
                  <a:pt x="99949" y="39243"/>
                </a:lnTo>
                <a:lnTo>
                  <a:pt x="102869" y="48260"/>
                </a:lnTo>
                <a:lnTo>
                  <a:pt x="108788" y="63246"/>
                </a:lnTo>
                <a:lnTo>
                  <a:pt x="108838" y="78486"/>
                </a:lnTo>
                <a:lnTo>
                  <a:pt x="111744" y="102616"/>
                </a:lnTo>
                <a:lnTo>
                  <a:pt x="111742" y="102870"/>
                </a:lnTo>
                <a:lnTo>
                  <a:pt x="108838" y="123952"/>
                </a:lnTo>
                <a:lnTo>
                  <a:pt x="108788" y="139192"/>
                </a:lnTo>
                <a:lnTo>
                  <a:pt x="102869" y="154178"/>
                </a:lnTo>
                <a:lnTo>
                  <a:pt x="99949" y="166243"/>
                </a:lnTo>
                <a:lnTo>
                  <a:pt x="93980" y="172212"/>
                </a:lnTo>
                <a:lnTo>
                  <a:pt x="84962" y="178181"/>
                </a:lnTo>
                <a:lnTo>
                  <a:pt x="78993" y="178181"/>
                </a:lnTo>
                <a:lnTo>
                  <a:pt x="69976" y="181102"/>
                </a:lnTo>
                <a:lnTo>
                  <a:pt x="117854" y="181102"/>
                </a:lnTo>
                <a:lnTo>
                  <a:pt x="126492" y="169545"/>
                </a:lnTo>
                <a:lnTo>
                  <a:pt x="132461" y="148336"/>
                </a:lnTo>
                <a:lnTo>
                  <a:pt x="135381" y="130175"/>
                </a:lnTo>
                <a:lnTo>
                  <a:pt x="138289" y="102870"/>
                </a:lnTo>
                <a:lnTo>
                  <a:pt x="138289" y="102616"/>
                </a:lnTo>
                <a:lnTo>
                  <a:pt x="135364" y="75184"/>
                </a:lnTo>
                <a:lnTo>
                  <a:pt x="132461" y="54102"/>
                </a:lnTo>
                <a:lnTo>
                  <a:pt x="126492" y="32893"/>
                </a:lnTo>
                <a:lnTo>
                  <a:pt x="120523" y="26924"/>
                </a:lnTo>
                <a:lnTo>
                  <a:pt x="119280" y="24384"/>
                </a:lnTo>
                <a:close/>
              </a:path>
              <a:path w="138289" h="202564">
                <a:moveTo>
                  <a:pt x="84581" y="0"/>
                </a:moveTo>
                <a:lnTo>
                  <a:pt x="54229" y="0"/>
                </a:lnTo>
                <a:lnTo>
                  <a:pt x="48260" y="2921"/>
                </a:lnTo>
                <a:lnTo>
                  <a:pt x="90550" y="2921"/>
                </a:lnTo>
                <a:lnTo>
                  <a:pt x="845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 name="bk object 56"/>
          <p:cNvSpPr/>
          <p:nvPr/>
        </p:nvSpPr>
        <p:spPr>
          <a:xfrm>
            <a:off x="298800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bk object 57"/>
          <p:cNvSpPr/>
          <p:nvPr/>
        </p:nvSpPr>
        <p:spPr>
          <a:xfrm>
            <a:off x="30430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6" h="201040">
                <a:moveTo>
                  <a:pt x="72136" y="0"/>
                </a:moveTo>
                <a:lnTo>
                  <a:pt x="53975" y="0"/>
                </a:lnTo>
                <a:lnTo>
                  <a:pt x="51054" y="9016"/>
                </a:lnTo>
                <a:lnTo>
                  <a:pt x="45212" y="20954"/>
                </a:lnTo>
                <a:lnTo>
                  <a:pt x="36194" y="26911"/>
                </a:lnTo>
                <a:lnTo>
                  <a:pt x="30225" y="32892"/>
                </a:lnTo>
                <a:lnTo>
                  <a:pt x="21208" y="35813"/>
                </a:lnTo>
                <a:lnTo>
                  <a:pt x="0" y="35813"/>
                </a:lnTo>
                <a:lnTo>
                  <a:pt x="0" y="57022"/>
                </a:lnTo>
                <a:lnTo>
                  <a:pt x="45593" y="57022"/>
                </a:lnTo>
                <a:lnTo>
                  <a:pt x="45593" y="200151"/>
                </a:lnTo>
                <a:lnTo>
                  <a:pt x="44704" y="201040"/>
                </a:lnTo>
                <a:lnTo>
                  <a:pt x="72136" y="201040"/>
                </a:lnTo>
                <a:lnTo>
                  <a:pt x="7213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bk object 58"/>
          <p:cNvSpPr/>
          <p:nvPr/>
        </p:nvSpPr>
        <p:spPr>
          <a:xfrm>
            <a:off x="3386520" y="6293520"/>
            <a:ext cx="137160" cy="201600"/>
          </a:xfrm>
          <a:custGeom>
            <a:avLst/>
            <a:gdLst>
              <a:gd name="textAreaLeft" fmla="*/ 0 w 137160"/>
              <a:gd name="textAreaRight" fmla="*/ 137880 w 137160"/>
              <a:gd name="textAreaTop" fmla="*/ 0 h 201600"/>
              <a:gd name="textAreaBottom" fmla="*/ 202320 h 201600"/>
            </a:gdLst>
            <a:ahLst/>
            <a:cxnLst/>
            <a:rect l="textAreaLeft" t="textAreaTop" r="textAreaRight" b="textAreaBottom"/>
            <a:pathLst>
              <a:path w="138049" h="202311">
                <a:moveTo>
                  <a:pt x="96393" y="2920"/>
                </a:moveTo>
                <a:lnTo>
                  <a:pt x="45212" y="2920"/>
                </a:lnTo>
                <a:lnTo>
                  <a:pt x="33147" y="11937"/>
                </a:lnTo>
                <a:lnTo>
                  <a:pt x="27178" y="14858"/>
                </a:lnTo>
                <a:lnTo>
                  <a:pt x="21209" y="20827"/>
                </a:lnTo>
                <a:lnTo>
                  <a:pt x="15367" y="32765"/>
                </a:lnTo>
                <a:lnTo>
                  <a:pt x="9398" y="41782"/>
                </a:lnTo>
                <a:lnTo>
                  <a:pt x="6477" y="53847"/>
                </a:lnTo>
                <a:lnTo>
                  <a:pt x="3542" y="75183"/>
                </a:lnTo>
                <a:lnTo>
                  <a:pt x="635" y="102488"/>
                </a:lnTo>
                <a:lnTo>
                  <a:pt x="0" y="102615"/>
                </a:lnTo>
                <a:lnTo>
                  <a:pt x="5842" y="148208"/>
                </a:lnTo>
                <a:lnTo>
                  <a:pt x="32766" y="193420"/>
                </a:lnTo>
                <a:lnTo>
                  <a:pt x="53848" y="202310"/>
                </a:lnTo>
                <a:lnTo>
                  <a:pt x="84201" y="202310"/>
                </a:lnTo>
                <a:lnTo>
                  <a:pt x="96266" y="199389"/>
                </a:lnTo>
                <a:lnTo>
                  <a:pt x="105283" y="193420"/>
                </a:lnTo>
                <a:lnTo>
                  <a:pt x="117221" y="181482"/>
                </a:lnTo>
                <a:lnTo>
                  <a:pt x="118075" y="180339"/>
                </a:lnTo>
                <a:lnTo>
                  <a:pt x="70231" y="180339"/>
                </a:lnTo>
                <a:lnTo>
                  <a:pt x="61214" y="177418"/>
                </a:lnTo>
                <a:lnTo>
                  <a:pt x="55245" y="177418"/>
                </a:lnTo>
                <a:lnTo>
                  <a:pt x="49276" y="171449"/>
                </a:lnTo>
                <a:lnTo>
                  <a:pt x="40259" y="165480"/>
                </a:lnTo>
                <a:lnTo>
                  <a:pt x="37337" y="153415"/>
                </a:lnTo>
                <a:lnTo>
                  <a:pt x="31419" y="138429"/>
                </a:lnTo>
                <a:lnTo>
                  <a:pt x="31369" y="102488"/>
                </a:lnTo>
                <a:lnTo>
                  <a:pt x="31292" y="62737"/>
                </a:lnTo>
                <a:lnTo>
                  <a:pt x="37252" y="47624"/>
                </a:lnTo>
                <a:lnTo>
                  <a:pt x="40132" y="38734"/>
                </a:lnTo>
                <a:lnTo>
                  <a:pt x="49149" y="29717"/>
                </a:lnTo>
                <a:lnTo>
                  <a:pt x="61087" y="23875"/>
                </a:lnTo>
                <a:lnTo>
                  <a:pt x="118839" y="23875"/>
                </a:lnTo>
                <a:lnTo>
                  <a:pt x="117348" y="20827"/>
                </a:lnTo>
                <a:lnTo>
                  <a:pt x="111379" y="14858"/>
                </a:lnTo>
                <a:lnTo>
                  <a:pt x="105410" y="11937"/>
                </a:lnTo>
                <a:lnTo>
                  <a:pt x="96393" y="2920"/>
                </a:lnTo>
                <a:close/>
              </a:path>
              <a:path w="138049" h="202311">
                <a:moveTo>
                  <a:pt x="118839" y="23875"/>
                </a:moveTo>
                <a:lnTo>
                  <a:pt x="79248" y="23875"/>
                </a:lnTo>
                <a:lnTo>
                  <a:pt x="85217" y="26796"/>
                </a:lnTo>
                <a:lnTo>
                  <a:pt x="94234" y="29717"/>
                </a:lnTo>
                <a:lnTo>
                  <a:pt x="100203" y="38734"/>
                </a:lnTo>
                <a:lnTo>
                  <a:pt x="103124" y="41655"/>
                </a:lnTo>
                <a:lnTo>
                  <a:pt x="103174" y="47751"/>
                </a:lnTo>
                <a:lnTo>
                  <a:pt x="109093" y="62737"/>
                </a:lnTo>
                <a:lnTo>
                  <a:pt x="109093" y="77850"/>
                </a:lnTo>
                <a:lnTo>
                  <a:pt x="111983" y="101853"/>
                </a:lnTo>
                <a:lnTo>
                  <a:pt x="111944" y="102615"/>
                </a:lnTo>
                <a:lnTo>
                  <a:pt x="109093" y="123316"/>
                </a:lnTo>
                <a:lnTo>
                  <a:pt x="109093" y="138429"/>
                </a:lnTo>
                <a:lnTo>
                  <a:pt x="103174" y="153415"/>
                </a:lnTo>
                <a:lnTo>
                  <a:pt x="103124" y="159511"/>
                </a:lnTo>
                <a:lnTo>
                  <a:pt x="100203" y="165480"/>
                </a:lnTo>
                <a:lnTo>
                  <a:pt x="94234" y="171449"/>
                </a:lnTo>
                <a:lnTo>
                  <a:pt x="85217" y="177418"/>
                </a:lnTo>
                <a:lnTo>
                  <a:pt x="79248" y="177418"/>
                </a:lnTo>
                <a:lnTo>
                  <a:pt x="70231" y="180339"/>
                </a:lnTo>
                <a:lnTo>
                  <a:pt x="118075" y="180339"/>
                </a:lnTo>
                <a:lnTo>
                  <a:pt x="126237" y="169417"/>
                </a:lnTo>
                <a:lnTo>
                  <a:pt x="132207" y="148208"/>
                </a:lnTo>
                <a:lnTo>
                  <a:pt x="135128" y="130047"/>
                </a:lnTo>
                <a:lnTo>
                  <a:pt x="138049" y="102615"/>
                </a:lnTo>
                <a:lnTo>
                  <a:pt x="135110" y="75056"/>
                </a:lnTo>
                <a:lnTo>
                  <a:pt x="132207" y="53974"/>
                </a:lnTo>
                <a:lnTo>
                  <a:pt x="126237" y="32765"/>
                </a:lnTo>
                <a:lnTo>
                  <a:pt x="120269" y="26796"/>
                </a:lnTo>
                <a:lnTo>
                  <a:pt x="118839" y="23875"/>
                </a:lnTo>
                <a:close/>
              </a:path>
              <a:path w="138049" h="202311">
                <a:moveTo>
                  <a:pt x="31369" y="101853"/>
                </a:moveTo>
                <a:lnTo>
                  <a:pt x="31242" y="102488"/>
                </a:lnTo>
                <a:lnTo>
                  <a:pt x="31369" y="101853"/>
                </a:lnTo>
                <a:close/>
              </a:path>
              <a:path w="138049" h="202311">
                <a:moveTo>
                  <a:pt x="84455" y="0"/>
                </a:moveTo>
                <a:lnTo>
                  <a:pt x="54102" y="0"/>
                </a:lnTo>
                <a:lnTo>
                  <a:pt x="51181" y="2920"/>
                </a:lnTo>
                <a:lnTo>
                  <a:pt x="90424" y="2920"/>
                </a:lnTo>
                <a:lnTo>
                  <a:pt x="8445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bk object 59"/>
          <p:cNvSpPr/>
          <p:nvPr/>
        </p:nvSpPr>
        <p:spPr>
          <a:xfrm>
            <a:off x="355788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 name="bk object 60"/>
          <p:cNvSpPr/>
          <p:nvPr/>
        </p:nvSpPr>
        <p:spPr>
          <a:xfrm>
            <a:off x="3615840" y="6294960"/>
            <a:ext cx="136440" cy="197640"/>
          </a:xfrm>
          <a:custGeom>
            <a:avLst/>
            <a:gdLst>
              <a:gd name="textAreaLeft" fmla="*/ 0 w 136440"/>
              <a:gd name="textAreaRight" fmla="*/ 137160 w 136440"/>
              <a:gd name="textAreaTop" fmla="*/ 0 h 197640"/>
              <a:gd name="textAreaBottom" fmla="*/ 198360 h 197640"/>
            </a:gdLst>
            <a:ahLst/>
            <a:cxnLst/>
            <a:rect l="textAreaLeft" t="textAreaTop" r="textAreaRight" b="textAreaBottom"/>
            <a:pathLst>
              <a:path w="137287" h="198500">
                <a:moveTo>
                  <a:pt x="126675" y="24510"/>
                </a:moveTo>
                <a:lnTo>
                  <a:pt x="84200" y="24510"/>
                </a:lnTo>
                <a:lnTo>
                  <a:pt x="96138" y="30352"/>
                </a:lnTo>
                <a:lnTo>
                  <a:pt x="102108" y="36321"/>
                </a:lnTo>
                <a:lnTo>
                  <a:pt x="104966" y="42163"/>
                </a:lnTo>
                <a:lnTo>
                  <a:pt x="105029" y="45211"/>
                </a:lnTo>
                <a:lnTo>
                  <a:pt x="107823" y="48005"/>
                </a:lnTo>
                <a:lnTo>
                  <a:pt x="90170" y="93217"/>
                </a:lnTo>
                <a:lnTo>
                  <a:pt x="62992" y="108203"/>
                </a:lnTo>
                <a:lnTo>
                  <a:pt x="44958" y="120141"/>
                </a:lnTo>
                <a:lnTo>
                  <a:pt x="32893" y="126110"/>
                </a:lnTo>
                <a:lnTo>
                  <a:pt x="14859" y="144144"/>
                </a:lnTo>
                <a:lnTo>
                  <a:pt x="2921" y="168274"/>
                </a:lnTo>
                <a:lnTo>
                  <a:pt x="0" y="183387"/>
                </a:lnTo>
                <a:lnTo>
                  <a:pt x="0" y="198500"/>
                </a:lnTo>
                <a:lnTo>
                  <a:pt x="254" y="197992"/>
                </a:lnTo>
                <a:lnTo>
                  <a:pt x="137287" y="197992"/>
                </a:lnTo>
                <a:lnTo>
                  <a:pt x="137287" y="170560"/>
                </a:lnTo>
                <a:lnTo>
                  <a:pt x="30607" y="170560"/>
                </a:lnTo>
                <a:lnTo>
                  <a:pt x="30607" y="167639"/>
                </a:lnTo>
                <a:lnTo>
                  <a:pt x="33527" y="164718"/>
                </a:lnTo>
                <a:lnTo>
                  <a:pt x="39370" y="152780"/>
                </a:lnTo>
                <a:lnTo>
                  <a:pt x="45338" y="149859"/>
                </a:lnTo>
                <a:lnTo>
                  <a:pt x="48260" y="143890"/>
                </a:lnTo>
                <a:lnTo>
                  <a:pt x="54229" y="140969"/>
                </a:lnTo>
                <a:lnTo>
                  <a:pt x="63246" y="135000"/>
                </a:lnTo>
                <a:lnTo>
                  <a:pt x="72262" y="132079"/>
                </a:lnTo>
                <a:lnTo>
                  <a:pt x="75184" y="129158"/>
                </a:lnTo>
                <a:lnTo>
                  <a:pt x="93345" y="120141"/>
                </a:lnTo>
                <a:lnTo>
                  <a:pt x="96266" y="117220"/>
                </a:lnTo>
                <a:lnTo>
                  <a:pt x="102235" y="114299"/>
                </a:lnTo>
                <a:lnTo>
                  <a:pt x="111251" y="108330"/>
                </a:lnTo>
                <a:lnTo>
                  <a:pt x="126237" y="93344"/>
                </a:lnTo>
                <a:lnTo>
                  <a:pt x="129159" y="84327"/>
                </a:lnTo>
                <a:lnTo>
                  <a:pt x="135127" y="72262"/>
                </a:lnTo>
                <a:lnTo>
                  <a:pt x="135127" y="44830"/>
                </a:lnTo>
                <a:lnTo>
                  <a:pt x="132207" y="35813"/>
                </a:lnTo>
                <a:lnTo>
                  <a:pt x="126675" y="24510"/>
                </a:lnTo>
                <a:close/>
              </a:path>
              <a:path w="137287" h="198500">
                <a:moveTo>
                  <a:pt x="84200" y="0"/>
                </a:moveTo>
                <a:lnTo>
                  <a:pt x="53848" y="0"/>
                </a:lnTo>
                <a:lnTo>
                  <a:pt x="29845" y="11810"/>
                </a:lnTo>
                <a:lnTo>
                  <a:pt x="17907" y="23748"/>
                </a:lnTo>
                <a:lnTo>
                  <a:pt x="14986" y="29717"/>
                </a:lnTo>
                <a:lnTo>
                  <a:pt x="9017" y="38734"/>
                </a:lnTo>
                <a:lnTo>
                  <a:pt x="6096" y="47751"/>
                </a:lnTo>
                <a:lnTo>
                  <a:pt x="6096" y="68960"/>
                </a:lnTo>
                <a:lnTo>
                  <a:pt x="30352" y="68960"/>
                </a:lnTo>
                <a:lnTo>
                  <a:pt x="30352" y="59943"/>
                </a:lnTo>
                <a:lnTo>
                  <a:pt x="33274" y="53974"/>
                </a:lnTo>
                <a:lnTo>
                  <a:pt x="33274" y="48005"/>
                </a:lnTo>
                <a:lnTo>
                  <a:pt x="36068" y="45211"/>
                </a:lnTo>
                <a:lnTo>
                  <a:pt x="36195" y="42163"/>
                </a:lnTo>
                <a:lnTo>
                  <a:pt x="48006" y="30352"/>
                </a:lnTo>
                <a:lnTo>
                  <a:pt x="59944" y="24510"/>
                </a:lnTo>
                <a:lnTo>
                  <a:pt x="126675" y="24510"/>
                </a:lnTo>
                <a:lnTo>
                  <a:pt x="126364" y="23875"/>
                </a:lnTo>
                <a:lnTo>
                  <a:pt x="117348" y="14858"/>
                </a:lnTo>
                <a:lnTo>
                  <a:pt x="108331" y="8889"/>
                </a:lnTo>
                <a:lnTo>
                  <a:pt x="96266" y="2920"/>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bk object 61"/>
          <p:cNvSpPr/>
          <p:nvPr/>
        </p:nvSpPr>
        <p:spPr>
          <a:xfrm>
            <a:off x="3980880" y="6293160"/>
            <a:ext cx="134640" cy="201600"/>
          </a:xfrm>
          <a:custGeom>
            <a:avLst/>
            <a:gdLst>
              <a:gd name="textAreaLeft" fmla="*/ 0 w 134640"/>
              <a:gd name="textAreaRight" fmla="*/ 135360 w 134640"/>
              <a:gd name="textAreaTop" fmla="*/ 0 h 201600"/>
              <a:gd name="textAreaBottom" fmla="*/ 202320 h 201600"/>
            </a:gdLst>
            <a:ahLst/>
            <a:cxnLst/>
            <a:rect l="textAreaLeft" t="textAreaTop" r="textAreaRight" b="textAreaBottom"/>
            <a:pathLst>
              <a:path w="135509" h="202437">
                <a:moveTo>
                  <a:pt x="28448" y="102616"/>
                </a:moveTo>
                <a:lnTo>
                  <a:pt x="0" y="102616"/>
                </a:lnTo>
                <a:lnTo>
                  <a:pt x="0" y="130048"/>
                </a:lnTo>
                <a:lnTo>
                  <a:pt x="11937" y="169418"/>
                </a:lnTo>
                <a:lnTo>
                  <a:pt x="42037" y="199517"/>
                </a:lnTo>
                <a:lnTo>
                  <a:pt x="54101" y="202438"/>
                </a:lnTo>
                <a:lnTo>
                  <a:pt x="81534" y="202438"/>
                </a:lnTo>
                <a:lnTo>
                  <a:pt x="93599" y="199517"/>
                </a:lnTo>
                <a:lnTo>
                  <a:pt x="105663" y="193548"/>
                </a:lnTo>
                <a:lnTo>
                  <a:pt x="115155" y="180848"/>
                </a:lnTo>
                <a:lnTo>
                  <a:pt x="67183" y="180848"/>
                </a:lnTo>
                <a:lnTo>
                  <a:pt x="58165" y="177927"/>
                </a:lnTo>
                <a:lnTo>
                  <a:pt x="52197" y="177927"/>
                </a:lnTo>
                <a:lnTo>
                  <a:pt x="40259" y="165989"/>
                </a:lnTo>
                <a:lnTo>
                  <a:pt x="34289" y="153924"/>
                </a:lnTo>
                <a:lnTo>
                  <a:pt x="28472" y="123825"/>
                </a:lnTo>
                <a:lnTo>
                  <a:pt x="28448" y="102616"/>
                </a:lnTo>
                <a:close/>
              </a:path>
              <a:path w="135509" h="202437">
                <a:moveTo>
                  <a:pt x="116486" y="24257"/>
                </a:moveTo>
                <a:lnTo>
                  <a:pt x="76200" y="24257"/>
                </a:lnTo>
                <a:lnTo>
                  <a:pt x="85216" y="27178"/>
                </a:lnTo>
                <a:lnTo>
                  <a:pt x="91186" y="30099"/>
                </a:lnTo>
                <a:lnTo>
                  <a:pt x="97154" y="39116"/>
                </a:lnTo>
                <a:lnTo>
                  <a:pt x="100075" y="42037"/>
                </a:lnTo>
                <a:lnTo>
                  <a:pt x="102997" y="48006"/>
                </a:lnTo>
                <a:lnTo>
                  <a:pt x="108838" y="78232"/>
                </a:lnTo>
                <a:lnTo>
                  <a:pt x="108838" y="123825"/>
                </a:lnTo>
                <a:lnTo>
                  <a:pt x="102997" y="154038"/>
                </a:lnTo>
                <a:lnTo>
                  <a:pt x="97154" y="165989"/>
                </a:lnTo>
                <a:lnTo>
                  <a:pt x="85216" y="177927"/>
                </a:lnTo>
                <a:lnTo>
                  <a:pt x="76200" y="177927"/>
                </a:lnTo>
                <a:lnTo>
                  <a:pt x="67183" y="180848"/>
                </a:lnTo>
                <a:lnTo>
                  <a:pt x="115155" y="180848"/>
                </a:lnTo>
                <a:lnTo>
                  <a:pt x="123698" y="169418"/>
                </a:lnTo>
                <a:lnTo>
                  <a:pt x="129666" y="148209"/>
                </a:lnTo>
                <a:lnTo>
                  <a:pt x="132587" y="130048"/>
                </a:lnTo>
                <a:lnTo>
                  <a:pt x="135509" y="102616"/>
                </a:lnTo>
                <a:lnTo>
                  <a:pt x="132587" y="75184"/>
                </a:lnTo>
                <a:lnTo>
                  <a:pt x="129666" y="53975"/>
                </a:lnTo>
                <a:lnTo>
                  <a:pt x="123698" y="32766"/>
                </a:lnTo>
                <a:lnTo>
                  <a:pt x="117728" y="26797"/>
                </a:lnTo>
                <a:lnTo>
                  <a:pt x="116486" y="24257"/>
                </a:lnTo>
                <a:close/>
              </a:path>
              <a:path w="135509" h="202437">
                <a:moveTo>
                  <a:pt x="93852" y="2921"/>
                </a:moveTo>
                <a:lnTo>
                  <a:pt x="42545" y="2921"/>
                </a:lnTo>
                <a:lnTo>
                  <a:pt x="18414" y="20955"/>
                </a:lnTo>
                <a:lnTo>
                  <a:pt x="12573" y="32893"/>
                </a:lnTo>
                <a:lnTo>
                  <a:pt x="6603" y="41910"/>
                </a:lnTo>
                <a:lnTo>
                  <a:pt x="3683" y="53975"/>
                </a:lnTo>
                <a:lnTo>
                  <a:pt x="762" y="75184"/>
                </a:lnTo>
                <a:lnTo>
                  <a:pt x="762" y="102616"/>
                </a:lnTo>
                <a:lnTo>
                  <a:pt x="28321" y="102616"/>
                </a:lnTo>
                <a:lnTo>
                  <a:pt x="28345" y="78232"/>
                </a:lnTo>
                <a:lnTo>
                  <a:pt x="34162" y="48133"/>
                </a:lnTo>
                <a:lnTo>
                  <a:pt x="46100" y="30099"/>
                </a:lnTo>
                <a:lnTo>
                  <a:pt x="58038" y="24257"/>
                </a:lnTo>
                <a:lnTo>
                  <a:pt x="116486" y="24257"/>
                </a:lnTo>
                <a:lnTo>
                  <a:pt x="114808" y="20828"/>
                </a:lnTo>
                <a:lnTo>
                  <a:pt x="99822" y="5842"/>
                </a:lnTo>
                <a:lnTo>
                  <a:pt x="93852" y="2921"/>
                </a:lnTo>
                <a:close/>
              </a:path>
              <a:path w="135509" h="202437">
                <a:moveTo>
                  <a:pt x="28448" y="102489"/>
                </a:moveTo>
              </a:path>
              <a:path w="135509" h="202437">
                <a:moveTo>
                  <a:pt x="81914" y="0"/>
                </a:moveTo>
                <a:lnTo>
                  <a:pt x="54483" y="0"/>
                </a:lnTo>
                <a:lnTo>
                  <a:pt x="48513" y="2921"/>
                </a:lnTo>
                <a:lnTo>
                  <a:pt x="87884" y="2921"/>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bk object 62"/>
          <p:cNvSpPr/>
          <p:nvPr/>
        </p:nvSpPr>
        <p:spPr>
          <a:xfrm>
            <a:off x="414936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bk object 63"/>
          <p:cNvSpPr/>
          <p:nvPr/>
        </p:nvSpPr>
        <p:spPr>
          <a:xfrm>
            <a:off x="4207320" y="6294600"/>
            <a:ext cx="134640" cy="200520"/>
          </a:xfrm>
          <a:custGeom>
            <a:avLst/>
            <a:gdLst>
              <a:gd name="textAreaLeft" fmla="*/ 0 w 134640"/>
              <a:gd name="textAreaRight" fmla="*/ 135360 w 134640"/>
              <a:gd name="textAreaTop" fmla="*/ 0 h 200520"/>
              <a:gd name="textAreaBottom" fmla="*/ 201240 h 200520"/>
            </a:gdLst>
            <a:ahLst/>
            <a:cxnLst/>
            <a:rect l="textAreaLeft" t="textAreaTop" r="textAreaRight" b="textAreaBottom"/>
            <a:pathLst>
              <a:path w="135509" h="201167">
                <a:moveTo>
                  <a:pt x="24257" y="135000"/>
                </a:moveTo>
                <a:lnTo>
                  <a:pt x="0" y="135000"/>
                </a:lnTo>
                <a:lnTo>
                  <a:pt x="0" y="156209"/>
                </a:lnTo>
                <a:lnTo>
                  <a:pt x="26924" y="192278"/>
                </a:lnTo>
                <a:lnTo>
                  <a:pt x="48006" y="201167"/>
                </a:lnTo>
                <a:lnTo>
                  <a:pt x="78359" y="201167"/>
                </a:lnTo>
                <a:lnTo>
                  <a:pt x="102488" y="195325"/>
                </a:lnTo>
                <a:lnTo>
                  <a:pt x="114554" y="186308"/>
                </a:lnTo>
                <a:lnTo>
                  <a:pt x="123571" y="177291"/>
                </a:lnTo>
                <a:lnTo>
                  <a:pt x="123907" y="176783"/>
                </a:lnTo>
                <a:lnTo>
                  <a:pt x="53975" y="176783"/>
                </a:lnTo>
                <a:lnTo>
                  <a:pt x="48006" y="173862"/>
                </a:lnTo>
                <a:lnTo>
                  <a:pt x="38988" y="170941"/>
                </a:lnTo>
                <a:lnTo>
                  <a:pt x="33020" y="164972"/>
                </a:lnTo>
                <a:lnTo>
                  <a:pt x="30099" y="159003"/>
                </a:lnTo>
                <a:lnTo>
                  <a:pt x="27178" y="149986"/>
                </a:lnTo>
                <a:lnTo>
                  <a:pt x="24257" y="147065"/>
                </a:lnTo>
                <a:lnTo>
                  <a:pt x="24257" y="135000"/>
                </a:lnTo>
                <a:close/>
              </a:path>
              <a:path w="135509" h="201167">
                <a:moveTo>
                  <a:pt x="119998" y="21335"/>
                </a:moveTo>
                <a:lnTo>
                  <a:pt x="66294" y="21335"/>
                </a:lnTo>
                <a:lnTo>
                  <a:pt x="72262" y="24256"/>
                </a:lnTo>
                <a:lnTo>
                  <a:pt x="84328" y="24256"/>
                </a:lnTo>
                <a:lnTo>
                  <a:pt x="87249" y="27178"/>
                </a:lnTo>
                <a:lnTo>
                  <a:pt x="90170" y="27178"/>
                </a:lnTo>
                <a:lnTo>
                  <a:pt x="93091" y="33146"/>
                </a:lnTo>
                <a:lnTo>
                  <a:pt x="98933" y="38988"/>
                </a:lnTo>
                <a:lnTo>
                  <a:pt x="99060" y="45084"/>
                </a:lnTo>
                <a:lnTo>
                  <a:pt x="101981" y="51053"/>
                </a:lnTo>
                <a:lnTo>
                  <a:pt x="99060" y="60070"/>
                </a:lnTo>
                <a:lnTo>
                  <a:pt x="99060" y="66039"/>
                </a:lnTo>
                <a:lnTo>
                  <a:pt x="96138" y="72008"/>
                </a:lnTo>
                <a:lnTo>
                  <a:pt x="90170" y="77978"/>
                </a:lnTo>
                <a:lnTo>
                  <a:pt x="87249" y="77978"/>
                </a:lnTo>
                <a:lnTo>
                  <a:pt x="84328" y="80898"/>
                </a:lnTo>
                <a:lnTo>
                  <a:pt x="78359" y="83819"/>
                </a:lnTo>
                <a:lnTo>
                  <a:pt x="50927" y="83819"/>
                </a:lnTo>
                <a:lnTo>
                  <a:pt x="50927" y="105028"/>
                </a:lnTo>
                <a:lnTo>
                  <a:pt x="78359" y="105028"/>
                </a:lnTo>
                <a:lnTo>
                  <a:pt x="87375" y="107950"/>
                </a:lnTo>
                <a:lnTo>
                  <a:pt x="93345" y="110870"/>
                </a:lnTo>
                <a:lnTo>
                  <a:pt x="105283" y="122808"/>
                </a:lnTo>
                <a:lnTo>
                  <a:pt x="108204" y="131825"/>
                </a:lnTo>
                <a:lnTo>
                  <a:pt x="108204" y="153034"/>
                </a:lnTo>
                <a:lnTo>
                  <a:pt x="105283" y="155943"/>
                </a:lnTo>
                <a:lnTo>
                  <a:pt x="102362" y="161925"/>
                </a:lnTo>
                <a:lnTo>
                  <a:pt x="90424" y="173862"/>
                </a:lnTo>
                <a:lnTo>
                  <a:pt x="81407" y="176783"/>
                </a:lnTo>
                <a:lnTo>
                  <a:pt x="123907" y="176783"/>
                </a:lnTo>
                <a:lnTo>
                  <a:pt x="129540" y="168275"/>
                </a:lnTo>
                <a:lnTo>
                  <a:pt x="135509" y="153161"/>
                </a:lnTo>
                <a:lnTo>
                  <a:pt x="135509" y="125729"/>
                </a:lnTo>
                <a:lnTo>
                  <a:pt x="129540" y="113664"/>
                </a:lnTo>
                <a:lnTo>
                  <a:pt x="123571" y="104647"/>
                </a:lnTo>
                <a:lnTo>
                  <a:pt x="114681" y="95757"/>
                </a:lnTo>
                <a:lnTo>
                  <a:pt x="108712" y="92836"/>
                </a:lnTo>
                <a:lnTo>
                  <a:pt x="105791" y="92836"/>
                </a:lnTo>
                <a:lnTo>
                  <a:pt x="102870" y="89915"/>
                </a:lnTo>
                <a:lnTo>
                  <a:pt x="111887" y="86994"/>
                </a:lnTo>
                <a:lnTo>
                  <a:pt x="114808" y="86994"/>
                </a:lnTo>
                <a:lnTo>
                  <a:pt x="120777" y="81025"/>
                </a:lnTo>
                <a:lnTo>
                  <a:pt x="126619" y="62991"/>
                </a:lnTo>
                <a:lnTo>
                  <a:pt x="129509" y="51053"/>
                </a:lnTo>
                <a:lnTo>
                  <a:pt x="129540" y="44957"/>
                </a:lnTo>
                <a:lnTo>
                  <a:pt x="126619" y="38988"/>
                </a:lnTo>
                <a:lnTo>
                  <a:pt x="123698" y="26923"/>
                </a:lnTo>
                <a:lnTo>
                  <a:pt x="119998" y="21335"/>
                </a:lnTo>
                <a:close/>
              </a:path>
              <a:path w="135509" h="201167">
                <a:moveTo>
                  <a:pt x="87757" y="0"/>
                </a:moveTo>
                <a:lnTo>
                  <a:pt x="51308" y="0"/>
                </a:lnTo>
                <a:lnTo>
                  <a:pt x="42291" y="2920"/>
                </a:lnTo>
                <a:lnTo>
                  <a:pt x="9271" y="35940"/>
                </a:lnTo>
                <a:lnTo>
                  <a:pt x="3429" y="53975"/>
                </a:lnTo>
                <a:lnTo>
                  <a:pt x="3429" y="62991"/>
                </a:lnTo>
                <a:lnTo>
                  <a:pt x="27686" y="62991"/>
                </a:lnTo>
                <a:lnTo>
                  <a:pt x="30607" y="60070"/>
                </a:lnTo>
                <a:lnTo>
                  <a:pt x="30607" y="47993"/>
                </a:lnTo>
                <a:lnTo>
                  <a:pt x="36449" y="36067"/>
                </a:lnTo>
                <a:lnTo>
                  <a:pt x="45338" y="27178"/>
                </a:lnTo>
                <a:lnTo>
                  <a:pt x="51308" y="24256"/>
                </a:lnTo>
                <a:lnTo>
                  <a:pt x="57277" y="24256"/>
                </a:lnTo>
                <a:lnTo>
                  <a:pt x="66294" y="21335"/>
                </a:lnTo>
                <a:lnTo>
                  <a:pt x="119998" y="21335"/>
                </a:lnTo>
                <a:lnTo>
                  <a:pt x="117729" y="17906"/>
                </a:lnTo>
                <a:lnTo>
                  <a:pt x="108712" y="8889"/>
                </a:lnTo>
                <a:lnTo>
                  <a:pt x="102743" y="5968"/>
                </a:lnTo>
                <a:lnTo>
                  <a:pt x="99822" y="5968"/>
                </a:lnTo>
                <a:lnTo>
                  <a:pt x="8775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3" name="bk object 64"/>
          <p:cNvSpPr/>
          <p:nvPr/>
        </p:nvSpPr>
        <p:spPr>
          <a:xfrm>
            <a:off x="457236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725" y="2921"/>
                </a:moveTo>
                <a:lnTo>
                  <a:pt x="42418" y="2921"/>
                </a:lnTo>
                <a:lnTo>
                  <a:pt x="30352" y="11938"/>
                </a:lnTo>
                <a:lnTo>
                  <a:pt x="15367" y="26924"/>
                </a:lnTo>
                <a:lnTo>
                  <a:pt x="12446" y="32893"/>
                </a:lnTo>
                <a:lnTo>
                  <a:pt x="9525" y="41910"/>
                </a:lnTo>
                <a:lnTo>
                  <a:pt x="3556" y="53975"/>
                </a:lnTo>
                <a:lnTo>
                  <a:pt x="635" y="75184"/>
                </a:lnTo>
                <a:lnTo>
                  <a:pt x="635" y="102616"/>
                </a:lnTo>
                <a:lnTo>
                  <a:pt x="0" y="102743"/>
                </a:lnTo>
                <a:lnTo>
                  <a:pt x="0" y="130175"/>
                </a:lnTo>
                <a:lnTo>
                  <a:pt x="2921" y="148336"/>
                </a:lnTo>
                <a:lnTo>
                  <a:pt x="11937" y="169545"/>
                </a:lnTo>
                <a:lnTo>
                  <a:pt x="29972" y="193675"/>
                </a:lnTo>
                <a:lnTo>
                  <a:pt x="42037" y="199644"/>
                </a:lnTo>
                <a:lnTo>
                  <a:pt x="54101" y="202565"/>
                </a:lnTo>
                <a:lnTo>
                  <a:pt x="81534" y="202565"/>
                </a:lnTo>
                <a:lnTo>
                  <a:pt x="93599" y="199644"/>
                </a:lnTo>
                <a:lnTo>
                  <a:pt x="105663" y="193675"/>
                </a:lnTo>
                <a:lnTo>
                  <a:pt x="115440" y="180594"/>
                </a:lnTo>
                <a:lnTo>
                  <a:pt x="66929" y="180594"/>
                </a:lnTo>
                <a:lnTo>
                  <a:pt x="57912" y="177673"/>
                </a:lnTo>
                <a:lnTo>
                  <a:pt x="51943" y="177673"/>
                </a:lnTo>
                <a:lnTo>
                  <a:pt x="40005" y="165735"/>
                </a:lnTo>
                <a:lnTo>
                  <a:pt x="34036" y="153670"/>
                </a:lnTo>
                <a:lnTo>
                  <a:pt x="28243" y="123698"/>
                </a:lnTo>
                <a:lnTo>
                  <a:pt x="28194" y="102616"/>
                </a:lnTo>
                <a:lnTo>
                  <a:pt x="28116" y="78105"/>
                </a:lnTo>
                <a:lnTo>
                  <a:pt x="33909" y="48133"/>
                </a:lnTo>
                <a:lnTo>
                  <a:pt x="45847" y="30099"/>
                </a:lnTo>
                <a:lnTo>
                  <a:pt x="57785" y="24257"/>
                </a:lnTo>
                <a:lnTo>
                  <a:pt x="118109" y="24257"/>
                </a:lnTo>
                <a:lnTo>
                  <a:pt x="105790" y="11938"/>
                </a:lnTo>
                <a:lnTo>
                  <a:pt x="93725" y="2921"/>
                </a:lnTo>
                <a:close/>
              </a:path>
              <a:path w="135509" h="202564">
                <a:moveTo>
                  <a:pt x="118109" y="24257"/>
                </a:moveTo>
                <a:lnTo>
                  <a:pt x="75946" y="24257"/>
                </a:lnTo>
                <a:lnTo>
                  <a:pt x="84962" y="27178"/>
                </a:lnTo>
                <a:lnTo>
                  <a:pt x="90932" y="30099"/>
                </a:lnTo>
                <a:lnTo>
                  <a:pt x="93852" y="33020"/>
                </a:lnTo>
                <a:lnTo>
                  <a:pt x="96774" y="38989"/>
                </a:lnTo>
                <a:lnTo>
                  <a:pt x="102743" y="48006"/>
                </a:lnTo>
                <a:lnTo>
                  <a:pt x="105663" y="63119"/>
                </a:lnTo>
                <a:lnTo>
                  <a:pt x="105663" y="72136"/>
                </a:lnTo>
                <a:lnTo>
                  <a:pt x="108585" y="78105"/>
                </a:lnTo>
                <a:lnTo>
                  <a:pt x="108585" y="123698"/>
                </a:lnTo>
                <a:lnTo>
                  <a:pt x="105663" y="129667"/>
                </a:lnTo>
                <a:lnTo>
                  <a:pt x="105663" y="138684"/>
                </a:lnTo>
                <a:lnTo>
                  <a:pt x="102743" y="153797"/>
                </a:lnTo>
                <a:lnTo>
                  <a:pt x="96774" y="165862"/>
                </a:lnTo>
                <a:lnTo>
                  <a:pt x="84962" y="177673"/>
                </a:lnTo>
                <a:lnTo>
                  <a:pt x="75946" y="177673"/>
                </a:lnTo>
                <a:lnTo>
                  <a:pt x="66929" y="180594"/>
                </a:lnTo>
                <a:lnTo>
                  <a:pt x="115440" y="180594"/>
                </a:lnTo>
                <a:lnTo>
                  <a:pt x="123698" y="169545"/>
                </a:lnTo>
                <a:lnTo>
                  <a:pt x="129667" y="148336"/>
                </a:lnTo>
                <a:lnTo>
                  <a:pt x="132587" y="130175"/>
                </a:lnTo>
                <a:lnTo>
                  <a:pt x="135509" y="102743"/>
                </a:lnTo>
                <a:lnTo>
                  <a:pt x="132570" y="75184"/>
                </a:lnTo>
                <a:lnTo>
                  <a:pt x="129667" y="54102"/>
                </a:lnTo>
                <a:lnTo>
                  <a:pt x="123698" y="32893"/>
                </a:lnTo>
                <a:lnTo>
                  <a:pt x="120776" y="26924"/>
                </a:lnTo>
                <a:lnTo>
                  <a:pt x="118109" y="24257"/>
                </a:lnTo>
                <a:close/>
              </a:path>
              <a:path w="135509" h="202564">
                <a:moveTo>
                  <a:pt x="28194" y="102235"/>
                </a:moveTo>
                <a:lnTo>
                  <a:pt x="28067" y="102616"/>
                </a:lnTo>
                <a:lnTo>
                  <a:pt x="28194" y="102235"/>
                </a:lnTo>
                <a:close/>
              </a:path>
              <a:path w="135509" h="202564">
                <a:moveTo>
                  <a:pt x="81787" y="0"/>
                </a:moveTo>
                <a:lnTo>
                  <a:pt x="54356" y="0"/>
                </a:lnTo>
                <a:lnTo>
                  <a:pt x="48387" y="2921"/>
                </a:lnTo>
                <a:lnTo>
                  <a:pt x="87757" y="2921"/>
                </a:lnTo>
                <a:lnTo>
                  <a:pt x="817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bk object 65"/>
          <p:cNvSpPr/>
          <p:nvPr/>
        </p:nvSpPr>
        <p:spPr>
          <a:xfrm>
            <a:off x="474084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bk object 66"/>
          <p:cNvSpPr/>
          <p:nvPr/>
        </p:nvSpPr>
        <p:spPr>
          <a:xfrm>
            <a:off x="4798800" y="629856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9" h="194817">
                <a:moveTo>
                  <a:pt x="112649" y="143002"/>
                </a:moveTo>
                <a:lnTo>
                  <a:pt x="85217" y="143002"/>
                </a:lnTo>
                <a:lnTo>
                  <a:pt x="85217" y="194818"/>
                </a:lnTo>
                <a:lnTo>
                  <a:pt x="112649" y="194818"/>
                </a:lnTo>
                <a:lnTo>
                  <a:pt x="112649" y="143002"/>
                </a:lnTo>
                <a:close/>
              </a:path>
              <a:path w="112649" h="194817">
                <a:moveTo>
                  <a:pt x="112649" y="0"/>
                </a:moveTo>
                <a:lnTo>
                  <a:pt x="85217" y="0"/>
                </a:lnTo>
                <a:lnTo>
                  <a:pt x="0" y="118745"/>
                </a:lnTo>
                <a:lnTo>
                  <a:pt x="0" y="143002"/>
                </a:lnTo>
                <a:lnTo>
                  <a:pt x="140081" y="143002"/>
                </a:lnTo>
                <a:lnTo>
                  <a:pt x="140081" y="121793"/>
                </a:lnTo>
                <a:lnTo>
                  <a:pt x="112649" y="121793"/>
                </a:lnTo>
                <a:lnTo>
                  <a:pt x="24130" y="121666"/>
                </a:lnTo>
                <a:lnTo>
                  <a:pt x="84963" y="33401"/>
                </a:lnTo>
                <a:lnTo>
                  <a:pt x="112649" y="33401"/>
                </a:lnTo>
                <a:lnTo>
                  <a:pt x="112649" y="0"/>
                </a:lnTo>
                <a:close/>
              </a:path>
              <a:path w="112649" h="194817">
                <a:moveTo>
                  <a:pt x="112649" y="33401"/>
                </a:moveTo>
                <a:lnTo>
                  <a:pt x="84963" y="33401"/>
                </a:lnTo>
                <a:lnTo>
                  <a:pt x="84963" y="121666"/>
                </a:lnTo>
                <a:lnTo>
                  <a:pt x="112649" y="121666"/>
                </a:lnTo>
                <a:lnTo>
                  <a:pt x="112649" y="3340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6" name="bk object 67"/>
          <p:cNvSpPr/>
          <p:nvPr/>
        </p:nvSpPr>
        <p:spPr>
          <a:xfrm>
            <a:off x="5163480" y="6293520"/>
            <a:ext cx="135000" cy="201600"/>
          </a:xfrm>
          <a:custGeom>
            <a:avLst/>
            <a:gdLst>
              <a:gd name="textAreaLeft" fmla="*/ 0 w 135000"/>
              <a:gd name="textAreaRight" fmla="*/ 135720 w 135000"/>
              <a:gd name="textAreaTop" fmla="*/ 0 h 201600"/>
              <a:gd name="textAreaBottom" fmla="*/ 202320 h 201600"/>
            </a:gdLst>
            <a:ahLst/>
            <a:cxnLst/>
            <a:rect l="textAreaLeft" t="textAreaTop" r="textAreaRight" b="textAreaBottom"/>
            <a:pathLst>
              <a:path w="135636" h="202437">
                <a:moveTo>
                  <a:pt x="93852" y="2920"/>
                </a:moveTo>
                <a:lnTo>
                  <a:pt x="42545" y="2920"/>
                </a:lnTo>
                <a:lnTo>
                  <a:pt x="30479" y="11937"/>
                </a:lnTo>
                <a:lnTo>
                  <a:pt x="15494" y="26911"/>
                </a:lnTo>
                <a:lnTo>
                  <a:pt x="15367" y="29971"/>
                </a:lnTo>
                <a:lnTo>
                  <a:pt x="12573" y="32765"/>
                </a:lnTo>
                <a:lnTo>
                  <a:pt x="9651" y="41782"/>
                </a:lnTo>
                <a:lnTo>
                  <a:pt x="6730" y="53847"/>
                </a:lnTo>
                <a:lnTo>
                  <a:pt x="762" y="75056"/>
                </a:lnTo>
                <a:lnTo>
                  <a:pt x="762" y="102488"/>
                </a:lnTo>
                <a:lnTo>
                  <a:pt x="0" y="102615"/>
                </a:lnTo>
                <a:lnTo>
                  <a:pt x="0" y="130047"/>
                </a:lnTo>
                <a:lnTo>
                  <a:pt x="5969" y="148208"/>
                </a:lnTo>
                <a:lnTo>
                  <a:pt x="11937" y="169417"/>
                </a:lnTo>
                <a:lnTo>
                  <a:pt x="29972" y="193547"/>
                </a:lnTo>
                <a:lnTo>
                  <a:pt x="42037" y="199516"/>
                </a:lnTo>
                <a:lnTo>
                  <a:pt x="54101" y="202437"/>
                </a:lnTo>
                <a:lnTo>
                  <a:pt x="81534" y="202437"/>
                </a:lnTo>
                <a:lnTo>
                  <a:pt x="93599" y="199516"/>
                </a:lnTo>
                <a:lnTo>
                  <a:pt x="105663" y="193547"/>
                </a:lnTo>
                <a:lnTo>
                  <a:pt x="115250" y="180720"/>
                </a:lnTo>
                <a:lnTo>
                  <a:pt x="67183" y="180720"/>
                </a:lnTo>
                <a:lnTo>
                  <a:pt x="61213" y="177799"/>
                </a:lnTo>
                <a:lnTo>
                  <a:pt x="52197" y="177799"/>
                </a:lnTo>
                <a:lnTo>
                  <a:pt x="40259" y="165861"/>
                </a:lnTo>
                <a:lnTo>
                  <a:pt x="34289" y="153796"/>
                </a:lnTo>
                <a:lnTo>
                  <a:pt x="28472" y="123697"/>
                </a:lnTo>
                <a:lnTo>
                  <a:pt x="28448" y="102488"/>
                </a:lnTo>
                <a:lnTo>
                  <a:pt x="34162" y="48005"/>
                </a:lnTo>
                <a:lnTo>
                  <a:pt x="61087" y="24129"/>
                </a:lnTo>
                <a:lnTo>
                  <a:pt x="118109" y="24129"/>
                </a:lnTo>
                <a:lnTo>
                  <a:pt x="105917" y="11937"/>
                </a:lnTo>
                <a:lnTo>
                  <a:pt x="93852" y="2920"/>
                </a:lnTo>
                <a:close/>
              </a:path>
              <a:path w="135636" h="202437">
                <a:moveTo>
                  <a:pt x="118109" y="24129"/>
                </a:moveTo>
                <a:lnTo>
                  <a:pt x="76200" y="24129"/>
                </a:lnTo>
                <a:lnTo>
                  <a:pt x="85216" y="27050"/>
                </a:lnTo>
                <a:lnTo>
                  <a:pt x="91186" y="29971"/>
                </a:lnTo>
                <a:lnTo>
                  <a:pt x="103124" y="48005"/>
                </a:lnTo>
                <a:lnTo>
                  <a:pt x="106045" y="57022"/>
                </a:lnTo>
                <a:lnTo>
                  <a:pt x="106045" y="62991"/>
                </a:lnTo>
                <a:lnTo>
                  <a:pt x="108965" y="78104"/>
                </a:lnTo>
                <a:lnTo>
                  <a:pt x="108965" y="123697"/>
                </a:lnTo>
                <a:lnTo>
                  <a:pt x="106045" y="138810"/>
                </a:lnTo>
                <a:lnTo>
                  <a:pt x="106045" y="147827"/>
                </a:lnTo>
                <a:lnTo>
                  <a:pt x="103124" y="153796"/>
                </a:lnTo>
                <a:lnTo>
                  <a:pt x="97154" y="165861"/>
                </a:lnTo>
                <a:lnTo>
                  <a:pt x="85216" y="177799"/>
                </a:lnTo>
                <a:lnTo>
                  <a:pt x="76200" y="177799"/>
                </a:lnTo>
                <a:lnTo>
                  <a:pt x="67183" y="180720"/>
                </a:lnTo>
                <a:lnTo>
                  <a:pt x="115250" y="180720"/>
                </a:lnTo>
                <a:lnTo>
                  <a:pt x="123698" y="169417"/>
                </a:lnTo>
                <a:lnTo>
                  <a:pt x="129666" y="148208"/>
                </a:lnTo>
                <a:lnTo>
                  <a:pt x="135636" y="130047"/>
                </a:lnTo>
                <a:lnTo>
                  <a:pt x="135600" y="75056"/>
                </a:lnTo>
                <a:lnTo>
                  <a:pt x="123698" y="32765"/>
                </a:lnTo>
                <a:lnTo>
                  <a:pt x="120776" y="26796"/>
                </a:lnTo>
                <a:lnTo>
                  <a:pt x="118109" y="24129"/>
                </a:lnTo>
                <a:close/>
              </a:path>
              <a:path w="135636" h="202437">
                <a:moveTo>
                  <a:pt x="28448" y="102361"/>
                </a:moveTo>
              </a:path>
              <a:path w="135636" h="202437">
                <a:moveTo>
                  <a:pt x="81914" y="0"/>
                </a:moveTo>
                <a:lnTo>
                  <a:pt x="54483" y="0"/>
                </a:lnTo>
                <a:lnTo>
                  <a:pt x="48513" y="2920"/>
                </a:lnTo>
                <a:lnTo>
                  <a:pt x="87884" y="2920"/>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7" name="bk object 68"/>
          <p:cNvSpPr/>
          <p:nvPr/>
        </p:nvSpPr>
        <p:spPr>
          <a:xfrm>
            <a:off x="533196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8" name="bk object 69"/>
          <p:cNvSpPr/>
          <p:nvPr/>
        </p:nvSpPr>
        <p:spPr>
          <a:xfrm>
            <a:off x="5389920" y="6298560"/>
            <a:ext cx="138240" cy="195480"/>
          </a:xfrm>
          <a:custGeom>
            <a:avLst/>
            <a:gdLst>
              <a:gd name="textAreaLeft" fmla="*/ 0 w 138240"/>
              <a:gd name="textAreaRight" fmla="*/ 138960 w 138240"/>
              <a:gd name="textAreaTop" fmla="*/ 0 h 195480"/>
              <a:gd name="textAreaBottom" fmla="*/ 196200 h 195480"/>
            </a:gdLst>
            <a:ahLst/>
            <a:cxnLst/>
            <a:rect l="textAreaLeft" t="textAreaTop" r="textAreaRight" b="textAreaBottom"/>
            <a:pathLst>
              <a:path w="139064" h="196341">
                <a:moveTo>
                  <a:pt x="27432" y="142875"/>
                </a:moveTo>
                <a:lnTo>
                  <a:pt x="1270" y="142875"/>
                </a:lnTo>
                <a:lnTo>
                  <a:pt x="1311" y="148844"/>
                </a:lnTo>
                <a:lnTo>
                  <a:pt x="21971" y="181610"/>
                </a:lnTo>
                <a:lnTo>
                  <a:pt x="51955" y="196342"/>
                </a:lnTo>
                <a:lnTo>
                  <a:pt x="82296" y="196342"/>
                </a:lnTo>
                <a:lnTo>
                  <a:pt x="121412" y="175514"/>
                </a:lnTo>
                <a:lnTo>
                  <a:pt x="122903" y="172466"/>
                </a:lnTo>
                <a:lnTo>
                  <a:pt x="57023" y="172466"/>
                </a:lnTo>
                <a:lnTo>
                  <a:pt x="48006" y="169545"/>
                </a:lnTo>
                <a:lnTo>
                  <a:pt x="45085" y="169545"/>
                </a:lnTo>
                <a:lnTo>
                  <a:pt x="33274" y="157734"/>
                </a:lnTo>
                <a:lnTo>
                  <a:pt x="30352" y="151752"/>
                </a:lnTo>
                <a:lnTo>
                  <a:pt x="27432" y="148844"/>
                </a:lnTo>
                <a:lnTo>
                  <a:pt x="27432" y="142875"/>
                </a:lnTo>
                <a:close/>
              </a:path>
              <a:path w="139064" h="196341">
                <a:moveTo>
                  <a:pt x="123638" y="85852"/>
                </a:moveTo>
                <a:lnTo>
                  <a:pt x="75311" y="85852"/>
                </a:lnTo>
                <a:lnTo>
                  <a:pt x="78232" y="88773"/>
                </a:lnTo>
                <a:lnTo>
                  <a:pt x="84200" y="88773"/>
                </a:lnTo>
                <a:lnTo>
                  <a:pt x="90170" y="91694"/>
                </a:lnTo>
                <a:lnTo>
                  <a:pt x="102108" y="103632"/>
                </a:lnTo>
                <a:lnTo>
                  <a:pt x="108076" y="112649"/>
                </a:lnTo>
                <a:lnTo>
                  <a:pt x="108076" y="124714"/>
                </a:lnTo>
                <a:lnTo>
                  <a:pt x="110998" y="130683"/>
                </a:lnTo>
                <a:lnTo>
                  <a:pt x="108076" y="133604"/>
                </a:lnTo>
                <a:lnTo>
                  <a:pt x="107950" y="148844"/>
                </a:lnTo>
                <a:lnTo>
                  <a:pt x="90170" y="166624"/>
                </a:lnTo>
                <a:lnTo>
                  <a:pt x="84200" y="169545"/>
                </a:lnTo>
                <a:lnTo>
                  <a:pt x="75184" y="172466"/>
                </a:lnTo>
                <a:lnTo>
                  <a:pt x="122903" y="172466"/>
                </a:lnTo>
                <a:lnTo>
                  <a:pt x="124333" y="169545"/>
                </a:lnTo>
                <a:lnTo>
                  <a:pt x="133223" y="160655"/>
                </a:lnTo>
                <a:lnTo>
                  <a:pt x="133223" y="151638"/>
                </a:lnTo>
                <a:lnTo>
                  <a:pt x="136144" y="145669"/>
                </a:lnTo>
                <a:lnTo>
                  <a:pt x="139064" y="130556"/>
                </a:lnTo>
                <a:lnTo>
                  <a:pt x="136144" y="115443"/>
                </a:lnTo>
                <a:lnTo>
                  <a:pt x="133223" y="103378"/>
                </a:lnTo>
                <a:lnTo>
                  <a:pt x="127253" y="91313"/>
                </a:lnTo>
                <a:lnTo>
                  <a:pt x="123638" y="85852"/>
                </a:lnTo>
                <a:close/>
              </a:path>
              <a:path w="139064" h="196341">
                <a:moveTo>
                  <a:pt x="1270" y="142748"/>
                </a:moveTo>
                <a:lnTo>
                  <a:pt x="0" y="142875"/>
                </a:lnTo>
                <a:lnTo>
                  <a:pt x="1270" y="142875"/>
                </a:lnTo>
                <a:lnTo>
                  <a:pt x="1270" y="142748"/>
                </a:lnTo>
                <a:close/>
              </a:path>
              <a:path w="139064" h="196341">
                <a:moveTo>
                  <a:pt x="128155" y="0"/>
                </a:moveTo>
                <a:lnTo>
                  <a:pt x="21462" y="0"/>
                </a:lnTo>
                <a:lnTo>
                  <a:pt x="6350" y="103632"/>
                </a:lnTo>
                <a:lnTo>
                  <a:pt x="30607" y="103632"/>
                </a:lnTo>
                <a:lnTo>
                  <a:pt x="33527" y="97663"/>
                </a:lnTo>
                <a:lnTo>
                  <a:pt x="36449" y="97663"/>
                </a:lnTo>
                <a:lnTo>
                  <a:pt x="42430" y="91694"/>
                </a:lnTo>
                <a:lnTo>
                  <a:pt x="45338" y="91694"/>
                </a:lnTo>
                <a:lnTo>
                  <a:pt x="51308" y="88773"/>
                </a:lnTo>
                <a:lnTo>
                  <a:pt x="57276" y="88773"/>
                </a:lnTo>
                <a:lnTo>
                  <a:pt x="66294" y="85852"/>
                </a:lnTo>
                <a:lnTo>
                  <a:pt x="123638" y="85852"/>
                </a:lnTo>
                <a:lnTo>
                  <a:pt x="121285" y="82296"/>
                </a:lnTo>
                <a:lnTo>
                  <a:pt x="112958" y="76073"/>
                </a:lnTo>
                <a:lnTo>
                  <a:pt x="33909" y="76073"/>
                </a:lnTo>
                <a:lnTo>
                  <a:pt x="39877" y="21209"/>
                </a:lnTo>
                <a:lnTo>
                  <a:pt x="128155" y="21209"/>
                </a:lnTo>
                <a:lnTo>
                  <a:pt x="128155" y="0"/>
                </a:lnTo>
                <a:close/>
              </a:path>
              <a:path w="139064" h="196341">
                <a:moveTo>
                  <a:pt x="85089" y="64389"/>
                </a:moveTo>
                <a:lnTo>
                  <a:pt x="60833" y="64389"/>
                </a:lnTo>
                <a:lnTo>
                  <a:pt x="42799" y="70231"/>
                </a:lnTo>
                <a:lnTo>
                  <a:pt x="36830" y="73152"/>
                </a:lnTo>
                <a:lnTo>
                  <a:pt x="33909" y="76073"/>
                </a:lnTo>
                <a:lnTo>
                  <a:pt x="112958" y="76073"/>
                </a:lnTo>
                <a:lnTo>
                  <a:pt x="109220" y="73279"/>
                </a:lnTo>
                <a:lnTo>
                  <a:pt x="97155" y="67310"/>
                </a:lnTo>
                <a:lnTo>
                  <a:pt x="85089" y="6438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9" name="bk object 70"/>
          <p:cNvSpPr/>
          <p:nvPr/>
        </p:nvSpPr>
        <p:spPr>
          <a:xfrm>
            <a:off x="575820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473" h="202564">
                <a:moveTo>
                  <a:pt x="93599" y="2921"/>
                </a:moveTo>
                <a:lnTo>
                  <a:pt x="42290" y="2921"/>
                </a:lnTo>
                <a:lnTo>
                  <a:pt x="30225" y="11938"/>
                </a:lnTo>
                <a:lnTo>
                  <a:pt x="15239" y="26924"/>
                </a:lnTo>
                <a:lnTo>
                  <a:pt x="12319" y="32893"/>
                </a:lnTo>
                <a:lnTo>
                  <a:pt x="9398" y="41910"/>
                </a:lnTo>
                <a:lnTo>
                  <a:pt x="6476" y="53975"/>
                </a:lnTo>
                <a:lnTo>
                  <a:pt x="508" y="75184"/>
                </a:lnTo>
                <a:lnTo>
                  <a:pt x="508" y="102616"/>
                </a:lnTo>
                <a:lnTo>
                  <a:pt x="0" y="102870"/>
                </a:lnTo>
                <a:lnTo>
                  <a:pt x="0" y="130302"/>
                </a:lnTo>
                <a:lnTo>
                  <a:pt x="5969" y="148463"/>
                </a:lnTo>
                <a:lnTo>
                  <a:pt x="8889" y="160528"/>
                </a:lnTo>
                <a:lnTo>
                  <a:pt x="11811" y="169545"/>
                </a:lnTo>
                <a:lnTo>
                  <a:pt x="29845" y="193675"/>
                </a:lnTo>
                <a:lnTo>
                  <a:pt x="41910" y="199644"/>
                </a:lnTo>
                <a:lnTo>
                  <a:pt x="53975" y="202565"/>
                </a:lnTo>
                <a:lnTo>
                  <a:pt x="81407" y="202565"/>
                </a:lnTo>
                <a:lnTo>
                  <a:pt x="93472" y="199644"/>
                </a:lnTo>
                <a:lnTo>
                  <a:pt x="105537" y="193675"/>
                </a:lnTo>
                <a:lnTo>
                  <a:pt x="115123" y="180848"/>
                </a:lnTo>
                <a:lnTo>
                  <a:pt x="66675" y="180848"/>
                </a:lnTo>
                <a:lnTo>
                  <a:pt x="60706" y="177927"/>
                </a:lnTo>
                <a:lnTo>
                  <a:pt x="51688" y="177927"/>
                </a:lnTo>
                <a:lnTo>
                  <a:pt x="39877" y="166116"/>
                </a:lnTo>
                <a:lnTo>
                  <a:pt x="33909" y="154038"/>
                </a:lnTo>
                <a:lnTo>
                  <a:pt x="28066" y="123825"/>
                </a:lnTo>
                <a:lnTo>
                  <a:pt x="27939" y="102616"/>
                </a:lnTo>
                <a:lnTo>
                  <a:pt x="27964" y="78232"/>
                </a:lnTo>
                <a:lnTo>
                  <a:pt x="33782" y="48133"/>
                </a:lnTo>
                <a:lnTo>
                  <a:pt x="45720" y="30099"/>
                </a:lnTo>
                <a:lnTo>
                  <a:pt x="48640" y="27178"/>
                </a:lnTo>
                <a:lnTo>
                  <a:pt x="51562" y="27178"/>
                </a:lnTo>
                <a:lnTo>
                  <a:pt x="60578" y="24257"/>
                </a:lnTo>
                <a:lnTo>
                  <a:pt x="117982" y="24257"/>
                </a:lnTo>
                <a:lnTo>
                  <a:pt x="105663" y="11938"/>
                </a:lnTo>
                <a:lnTo>
                  <a:pt x="93599" y="2921"/>
                </a:lnTo>
                <a:close/>
              </a:path>
              <a:path w="135473" h="202564">
                <a:moveTo>
                  <a:pt x="117982" y="24257"/>
                </a:moveTo>
                <a:lnTo>
                  <a:pt x="75691" y="24257"/>
                </a:lnTo>
                <a:lnTo>
                  <a:pt x="84709" y="27178"/>
                </a:lnTo>
                <a:lnTo>
                  <a:pt x="90677" y="30099"/>
                </a:lnTo>
                <a:lnTo>
                  <a:pt x="102615" y="48133"/>
                </a:lnTo>
                <a:lnTo>
                  <a:pt x="105537" y="57150"/>
                </a:lnTo>
                <a:lnTo>
                  <a:pt x="105537" y="63119"/>
                </a:lnTo>
                <a:lnTo>
                  <a:pt x="108458" y="78232"/>
                </a:lnTo>
                <a:lnTo>
                  <a:pt x="108458" y="123825"/>
                </a:lnTo>
                <a:lnTo>
                  <a:pt x="105537" y="138938"/>
                </a:lnTo>
                <a:lnTo>
                  <a:pt x="105537" y="147955"/>
                </a:lnTo>
                <a:lnTo>
                  <a:pt x="102559" y="154038"/>
                </a:lnTo>
                <a:lnTo>
                  <a:pt x="96647" y="165989"/>
                </a:lnTo>
                <a:lnTo>
                  <a:pt x="84709" y="177927"/>
                </a:lnTo>
                <a:lnTo>
                  <a:pt x="75691" y="177927"/>
                </a:lnTo>
                <a:lnTo>
                  <a:pt x="66675" y="180848"/>
                </a:lnTo>
                <a:lnTo>
                  <a:pt x="115123" y="180848"/>
                </a:lnTo>
                <a:lnTo>
                  <a:pt x="123571" y="169545"/>
                </a:lnTo>
                <a:lnTo>
                  <a:pt x="129539" y="148336"/>
                </a:lnTo>
                <a:lnTo>
                  <a:pt x="135467" y="130302"/>
                </a:lnTo>
                <a:lnTo>
                  <a:pt x="135473" y="75184"/>
                </a:lnTo>
                <a:lnTo>
                  <a:pt x="123571" y="32893"/>
                </a:lnTo>
                <a:lnTo>
                  <a:pt x="120650" y="26924"/>
                </a:lnTo>
                <a:lnTo>
                  <a:pt x="117982" y="24257"/>
                </a:lnTo>
                <a:close/>
              </a:path>
              <a:path w="135473" h="202564">
                <a:moveTo>
                  <a:pt x="81661" y="0"/>
                </a:moveTo>
                <a:lnTo>
                  <a:pt x="54228"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0" name="bk object 71"/>
          <p:cNvSpPr/>
          <p:nvPr/>
        </p:nvSpPr>
        <p:spPr>
          <a:xfrm>
            <a:off x="59263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1" name="bk object 72"/>
          <p:cNvSpPr/>
          <p:nvPr/>
        </p:nvSpPr>
        <p:spPr>
          <a:xfrm>
            <a:off x="5986800" y="6292440"/>
            <a:ext cx="137520" cy="201600"/>
          </a:xfrm>
          <a:custGeom>
            <a:avLst/>
            <a:gdLst>
              <a:gd name="textAreaLeft" fmla="*/ 0 w 137520"/>
              <a:gd name="textAreaRight" fmla="*/ 138240 w 137520"/>
              <a:gd name="textAreaTop" fmla="*/ 0 h 201600"/>
              <a:gd name="textAreaBottom" fmla="*/ 202320 h 201600"/>
            </a:gdLst>
            <a:ahLst/>
            <a:cxnLst/>
            <a:rect l="textAreaLeft" t="textAreaTop" r="textAreaRight" b="textAreaBottom"/>
            <a:pathLst>
              <a:path w="138303" h="202311">
                <a:moveTo>
                  <a:pt x="90424" y="0"/>
                </a:moveTo>
                <a:lnTo>
                  <a:pt x="60071" y="0"/>
                </a:lnTo>
                <a:lnTo>
                  <a:pt x="48006" y="5969"/>
                </a:lnTo>
                <a:lnTo>
                  <a:pt x="32893" y="11925"/>
                </a:lnTo>
                <a:lnTo>
                  <a:pt x="14859" y="36068"/>
                </a:lnTo>
                <a:lnTo>
                  <a:pt x="5842" y="57277"/>
                </a:lnTo>
                <a:lnTo>
                  <a:pt x="2921" y="78486"/>
                </a:lnTo>
                <a:lnTo>
                  <a:pt x="0" y="90551"/>
                </a:lnTo>
                <a:lnTo>
                  <a:pt x="87" y="130810"/>
                </a:lnTo>
                <a:lnTo>
                  <a:pt x="2921" y="151384"/>
                </a:lnTo>
                <a:lnTo>
                  <a:pt x="11937" y="169545"/>
                </a:lnTo>
                <a:lnTo>
                  <a:pt x="14859" y="178562"/>
                </a:lnTo>
                <a:lnTo>
                  <a:pt x="20700" y="184404"/>
                </a:lnTo>
                <a:lnTo>
                  <a:pt x="32766" y="193421"/>
                </a:lnTo>
                <a:lnTo>
                  <a:pt x="44831" y="199390"/>
                </a:lnTo>
                <a:lnTo>
                  <a:pt x="56896" y="202311"/>
                </a:lnTo>
                <a:lnTo>
                  <a:pt x="84328" y="202311"/>
                </a:lnTo>
                <a:lnTo>
                  <a:pt x="96393" y="199390"/>
                </a:lnTo>
                <a:lnTo>
                  <a:pt x="108458" y="193421"/>
                </a:lnTo>
                <a:lnTo>
                  <a:pt x="120142" y="181737"/>
                </a:lnTo>
                <a:lnTo>
                  <a:pt x="59182" y="181737"/>
                </a:lnTo>
                <a:lnTo>
                  <a:pt x="50164" y="178816"/>
                </a:lnTo>
                <a:lnTo>
                  <a:pt x="44196" y="172847"/>
                </a:lnTo>
                <a:lnTo>
                  <a:pt x="38226" y="169926"/>
                </a:lnTo>
                <a:lnTo>
                  <a:pt x="38226" y="167005"/>
                </a:lnTo>
                <a:lnTo>
                  <a:pt x="32385" y="155067"/>
                </a:lnTo>
                <a:lnTo>
                  <a:pt x="29463" y="146050"/>
                </a:lnTo>
                <a:lnTo>
                  <a:pt x="29463" y="127889"/>
                </a:lnTo>
                <a:lnTo>
                  <a:pt x="32385" y="121920"/>
                </a:lnTo>
                <a:lnTo>
                  <a:pt x="35306" y="112903"/>
                </a:lnTo>
                <a:lnTo>
                  <a:pt x="41275" y="106934"/>
                </a:lnTo>
                <a:lnTo>
                  <a:pt x="47244" y="104000"/>
                </a:lnTo>
                <a:lnTo>
                  <a:pt x="53212" y="98044"/>
                </a:lnTo>
                <a:lnTo>
                  <a:pt x="127508" y="98044"/>
                </a:lnTo>
                <a:lnTo>
                  <a:pt x="123444" y="93980"/>
                </a:lnTo>
                <a:lnTo>
                  <a:pt x="27050" y="93980"/>
                </a:lnTo>
                <a:lnTo>
                  <a:pt x="29972" y="81915"/>
                </a:lnTo>
                <a:lnTo>
                  <a:pt x="29972" y="66802"/>
                </a:lnTo>
                <a:lnTo>
                  <a:pt x="32893" y="54737"/>
                </a:lnTo>
                <a:lnTo>
                  <a:pt x="38862" y="42672"/>
                </a:lnTo>
                <a:lnTo>
                  <a:pt x="53721" y="27800"/>
                </a:lnTo>
                <a:lnTo>
                  <a:pt x="59689" y="24892"/>
                </a:lnTo>
                <a:lnTo>
                  <a:pt x="65659" y="24892"/>
                </a:lnTo>
                <a:lnTo>
                  <a:pt x="74675" y="21971"/>
                </a:lnTo>
                <a:lnTo>
                  <a:pt x="125432" y="21971"/>
                </a:lnTo>
                <a:lnTo>
                  <a:pt x="123444" y="17907"/>
                </a:lnTo>
                <a:lnTo>
                  <a:pt x="114426" y="8890"/>
                </a:lnTo>
                <a:lnTo>
                  <a:pt x="102362" y="2921"/>
                </a:lnTo>
                <a:lnTo>
                  <a:pt x="96393" y="2921"/>
                </a:lnTo>
                <a:lnTo>
                  <a:pt x="90424" y="0"/>
                </a:lnTo>
                <a:close/>
              </a:path>
              <a:path w="138303" h="202311">
                <a:moveTo>
                  <a:pt x="127508" y="98044"/>
                </a:moveTo>
                <a:lnTo>
                  <a:pt x="80645" y="98044"/>
                </a:lnTo>
                <a:lnTo>
                  <a:pt x="92583" y="103886"/>
                </a:lnTo>
                <a:lnTo>
                  <a:pt x="104521" y="115824"/>
                </a:lnTo>
                <a:lnTo>
                  <a:pt x="107442" y="121793"/>
                </a:lnTo>
                <a:lnTo>
                  <a:pt x="107442" y="130810"/>
                </a:lnTo>
                <a:lnTo>
                  <a:pt x="110362" y="139827"/>
                </a:lnTo>
                <a:lnTo>
                  <a:pt x="110109" y="139954"/>
                </a:lnTo>
                <a:lnTo>
                  <a:pt x="107187" y="145923"/>
                </a:lnTo>
                <a:lnTo>
                  <a:pt x="107146" y="155067"/>
                </a:lnTo>
                <a:lnTo>
                  <a:pt x="104267" y="163957"/>
                </a:lnTo>
                <a:lnTo>
                  <a:pt x="98298" y="169926"/>
                </a:lnTo>
                <a:lnTo>
                  <a:pt x="92329" y="172847"/>
                </a:lnTo>
                <a:lnTo>
                  <a:pt x="86360" y="178816"/>
                </a:lnTo>
                <a:lnTo>
                  <a:pt x="80391" y="181737"/>
                </a:lnTo>
                <a:lnTo>
                  <a:pt x="120142" y="181737"/>
                </a:lnTo>
                <a:lnTo>
                  <a:pt x="126492" y="175387"/>
                </a:lnTo>
                <a:lnTo>
                  <a:pt x="132461" y="163322"/>
                </a:lnTo>
                <a:lnTo>
                  <a:pt x="138303" y="139192"/>
                </a:lnTo>
                <a:lnTo>
                  <a:pt x="135382" y="124079"/>
                </a:lnTo>
                <a:lnTo>
                  <a:pt x="135382" y="115062"/>
                </a:lnTo>
                <a:lnTo>
                  <a:pt x="129412" y="99949"/>
                </a:lnTo>
                <a:lnTo>
                  <a:pt x="127508" y="98044"/>
                </a:lnTo>
                <a:close/>
              </a:path>
              <a:path w="138303" h="202311">
                <a:moveTo>
                  <a:pt x="84328" y="73152"/>
                </a:moveTo>
                <a:lnTo>
                  <a:pt x="60071" y="73152"/>
                </a:lnTo>
                <a:lnTo>
                  <a:pt x="51054" y="76073"/>
                </a:lnTo>
                <a:lnTo>
                  <a:pt x="33020" y="88011"/>
                </a:lnTo>
                <a:lnTo>
                  <a:pt x="27050" y="93980"/>
                </a:lnTo>
                <a:lnTo>
                  <a:pt x="123444" y="93980"/>
                </a:lnTo>
                <a:lnTo>
                  <a:pt x="111379" y="81915"/>
                </a:lnTo>
                <a:lnTo>
                  <a:pt x="99441" y="76073"/>
                </a:lnTo>
                <a:lnTo>
                  <a:pt x="84328" y="73152"/>
                </a:lnTo>
                <a:close/>
              </a:path>
              <a:path w="138303" h="202311">
                <a:moveTo>
                  <a:pt x="125432" y="21971"/>
                </a:moveTo>
                <a:lnTo>
                  <a:pt x="74675" y="21971"/>
                </a:lnTo>
                <a:lnTo>
                  <a:pt x="83693" y="24892"/>
                </a:lnTo>
                <a:lnTo>
                  <a:pt x="89662" y="24892"/>
                </a:lnTo>
                <a:lnTo>
                  <a:pt x="95631" y="27800"/>
                </a:lnTo>
                <a:lnTo>
                  <a:pt x="101600" y="33782"/>
                </a:lnTo>
                <a:lnTo>
                  <a:pt x="107442" y="45720"/>
                </a:lnTo>
                <a:lnTo>
                  <a:pt x="107442" y="51689"/>
                </a:lnTo>
                <a:lnTo>
                  <a:pt x="110362" y="54610"/>
                </a:lnTo>
                <a:lnTo>
                  <a:pt x="134620" y="54610"/>
                </a:lnTo>
                <a:lnTo>
                  <a:pt x="135255" y="53848"/>
                </a:lnTo>
                <a:lnTo>
                  <a:pt x="135255" y="44831"/>
                </a:lnTo>
                <a:lnTo>
                  <a:pt x="132334" y="38862"/>
                </a:lnTo>
                <a:lnTo>
                  <a:pt x="132334" y="32893"/>
                </a:lnTo>
                <a:lnTo>
                  <a:pt x="126364" y="23876"/>
                </a:lnTo>
                <a:lnTo>
                  <a:pt x="125432" y="2197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bk object 73"/>
          <p:cNvSpPr/>
          <p:nvPr/>
        </p:nvSpPr>
        <p:spPr>
          <a:xfrm>
            <a:off x="6350040" y="6293520"/>
            <a:ext cx="134280" cy="201600"/>
          </a:xfrm>
          <a:custGeom>
            <a:avLst/>
            <a:gdLst>
              <a:gd name="textAreaLeft" fmla="*/ 0 w 134280"/>
              <a:gd name="textAreaRight" fmla="*/ 135000 w 134280"/>
              <a:gd name="textAreaTop" fmla="*/ 0 h 201600"/>
              <a:gd name="textAreaBottom" fmla="*/ 202320 h 201600"/>
            </a:gdLst>
            <a:ahLst/>
            <a:cxnLst/>
            <a:rect l="textAreaLeft" t="textAreaTop" r="textAreaRight" b="textAreaBottom"/>
            <a:pathLst>
              <a:path w="134929" h="202437">
                <a:moveTo>
                  <a:pt x="93090" y="2920"/>
                </a:moveTo>
                <a:lnTo>
                  <a:pt x="41782" y="2920"/>
                </a:lnTo>
                <a:lnTo>
                  <a:pt x="29717" y="11937"/>
                </a:lnTo>
                <a:lnTo>
                  <a:pt x="14731" y="26911"/>
                </a:lnTo>
                <a:lnTo>
                  <a:pt x="11811" y="32892"/>
                </a:lnTo>
                <a:lnTo>
                  <a:pt x="8889" y="41909"/>
                </a:lnTo>
                <a:lnTo>
                  <a:pt x="5968" y="53974"/>
                </a:lnTo>
                <a:lnTo>
                  <a:pt x="3048" y="62991"/>
                </a:lnTo>
                <a:lnTo>
                  <a:pt x="126" y="75056"/>
                </a:lnTo>
                <a:lnTo>
                  <a:pt x="0" y="130428"/>
                </a:lnTo>
                <a:lnTo>
                  <a:pt x="5841" y="148462"/>
                </a:lnTo>
                <a:lnTo>
                  <a:pt x="8762" y="160527"/>
                </a:lnTo>
                <a:lnTo>
                  <a:pt x="11683" y="169544"/>
                </a:lnTo>
                <a:lnTo>
                  <a:pt x="14604" y="175513"/>
                </a:lnTo>
                <a:lnTo>
                  <a:pt x="20574" y="181482"/>
                </a:lnTo>
                <a:lnTo>
                  <a:pt x="29590" y="193547"/>
                </a:lnTo>
                <a:lnTo>
                  <a:pt x="47625" y="202437"/>
                </a:lnTo>
                <a:lnTo>
                  <a:pt x="81025" y="202437"/>
                </a:lnTo>
                <a:lnTo>
                  <a:pt x="93090" y="199516"/>
                </a:lnTo>
                <a:lnTo>
                  <a:pt x="105155" y="193547"/>
                </a:lnTo>
                <a:lnTo>
                  <a:pt x="114185" y="181482"/>
                </a:lnTo>
                <a:lnTo>
                  <a:pt x="114692" y="180974"/>
                </a:lnTo>
                <a:lnTo>
                  <a:pt x="69341" y="180974"/>
                </a:lnTo>
                <a:lnTo>
                  <a:pt x="60325" y="178053"/>
                </a:lnTo>
                <a:lnTo>
                  <a:pt x="51307" y="178053"/>
                </a:lnTo>
                <a:lnTo>
                  <a:pt x="39369" y="166115"/>
                </a:lnTo>
                <a:lnTo>
                  <a:pt x="33400" y="154050"/>
                </a:lnTo>
                <a:lnTo>
                  <a:pt x="27558" y="123824"/>
                </a:lnTo>
                <a:lnTo>
                  <a:pt x="27431" y="78231"/>
                </a:lnTo>
                <a:lnTo>
                  <a:pt x="33274" y="48005"/>
                </a:lnTo>
                <a:lnTo>
                  <a:pt x="45212" y="29971"/>
                </a:lnTo>
                <a:lnTo>
                  <a:pt x="51180" y="27050"/>
                </a:lnTo>
                <a:lnTo>
                  <a:pt x="60198" y="24129"/>
                </a:lnTo>
                <a:lnTo>
                  <a:pt x="117358" y="24129"/>
                </a:lnTo>
                <a:lnTo>
                  <a:pt x="105155" y="11937"/>
                </a:lnTo>
                <a:lnTo>
                  <a:pt x="93090" y="2920"/>
                </a:lnTo>
                <a:close/>
              </a:path>
              <a:path w="134929" h="202437">
                <a:moveTo>
                  <a:pt x="117358" y="24129"/>
                </a:moveTo>
                <a:lnTo>
                  <a:pt x="75311" y="24129"/>
                </a:lnTo>
                <a:lnTo>
                  <a:pt x="84327" y="27050"/>
                </a:lnTo>
                <a:lnTo>
                  <a:pt x="90296" y="29971"/>
                </a:lnTo>
                <a:lnTo>
                  <a:pt x="102235" y="48005"/>
                </a:lnTo>
                <a:lnTo>
                  <a:pt x="108076" y="78231"/>
                </a:lnTo>
                <a:lnTo>
                  <a:pt x="108076" y="123824"/>
                </a:lnTo>
                <a:lnTo>
                  <a:pt x="102235" y="154050"/>
                </a:lnTo>
                <a:lnTo>
                  <a:pt x="96265" y="166115"/>
                </a:lnTo>
                <a:lnTo>
                  <a:pt x="84327" y="178053"/>
                </a:lnTo>
                <a:lnTo>
                  <a:pt x="75311" y="178053"/>
                </a:lnTo>
                <a:lnTo>
                  <a:pt x="69341" y="180974"/>
                </a:lnTo>
                <a:lnTo>
                  <a:pt x="114692" y="180974"/>
                </a:lnTo>
                <a:lnTo>
                  <a:pt x="120141" y="175513"/>
                </a:lnTo>
                <a:lnTo>
                  <a:pt x="123062" y="169544"/>
                </a:lnTo>
                <a:lnTo>
                  <a:pt x="129031" y="148335"/>
                </a:lnTo>
                <a:lnTo>
                  <a:pt x="134917" y="130428"/>
                </a:lnTo>
                <a:lnTo>
                  <a:pt x="134929" y="75056"/>
                </a:lnTo>
                <a:lnTo>
                  <a:pt x="123062" y="32892"/>
                </a:lnTo>
                <a:lnTo>
                  <a:pt x="120141" y="26911"/>
                </a:lnTo>
                <a:lnTo>
                  <a:pt x="117358" y="24129"/>
                </a:lnTo>
                <a:close/>
              </a:path>
              <a:path w="134929" h="202437">
                <a:moveTo>
                  <a:pt x="81152" y="0"/>
                </a:moveTo>
                <a:lnTo>
                  <a:pt x="53720" y="0"/>
                </a:lnTo>
                <a:lnTo>
                  <a:pt x="47751" y="2920"/>
                </a:lnTo>
                <a:lnTo>
                  <a:pt x="87121" y="2920"/>
                </a:lnTo>
                <a:lnTo>
                  <a:pt x="8115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bk object 74"/>
          <p:cNvSpPr/>
          <p:nvPr/>
        </p:nvSpPr>
        <p:spPr>
          <a:xfrm>
            <a:off x="65174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4" name="bk object 75"/>
          <p:cNvSpPr/>
          <p:nvPr/>
        </p:nvSpPr>
        <p:spPr>
          <a:xfrm>
            <a:off x="6577200" y="6300000"/>
            <a:ext cx="133200" cy="192960"/>
          </a:xfrm>
          <a:custGeom>
            <a:avLst/>
            <a:gdLst>
              <a:gd name="textAreaLeft" fmla="*/ 0 w 133200"/>
              <a:gd name="textAreaRight" fmla="*/ 133920 w 133200"/>
              <a:gd name="textAreaTop" fmla="*/ 0 h 192960"/>
              <a:gd name="textAreaBottom" fmla="*/ 193680 h 192960"/>
            </a:gdLst>
            <a:ahLst/>
            <a:cxnLst/>
            <a:rect l="textAreaLeft" t="textAreaTop" r="textAreaRight" b="textAreaBottom"/>
            <a:pathLst>
              <a:path w="133984" h="193675">
                <a:moveTo>
                  <a:pt x="133984" y="0"/>
                </a:moveTo>
                <a:lnTo>
                  <a:pt x="0" y="0"/>
                </a:lnTo>
                <a:lnTo>
                  <a:pt x="0" y="24256"/>
                </a:lnTo>
                <a:lnTo>
                  <a:pt x="106679" y="24256"/>
                </a:lnTo>
                <a:lnTo>
                  <a:pt x="94615" y="39369"/>
                </a:lnTo>
                <a:lnTo>
                  <a:pt x="91694" y="45338"/>
                </a:lnTo>
                <a:lnTo>
                  <a:pt x="76580" y="60451"/>
                </a:lnTo>
                <a:lnTo>
                  <a:pt x="70611" y="69468"/>
                </a:lnTo>
                <a:lnTo>
                  <a:pt x="67691" y="78485"/>
                </a:lnTo>
                <a:lnTo>
                  <a:pt x="55625" y="102730"/>
                </a:lnTo>
                <a:lnTo>
                  <a:pt x="43687" y="120776"/>
                </a:lnTo>
                <a:lnTo>
                  <a:pt x="37656" y="142240"/>
                </a:lnTo>
                <a:lnTo>
                  <a:pt x="31750" y="166230"/>
                </a:lnTo>
                <a:lnTo>
                  <a:pt x="31750" y="175259"/>
                </a:lnTo>
                <a:lnTo>
                  <a:pt x="28828" y="193420"/>
                </a:lnTo>
                <a:lnTo>
                  <a:pt x="28575" y="193675"/>
                </a:lnTo>
                <a:lnTo>
                  <a:pt x="56006" y="193675"/>
                </a:lnTo>
                <a:lnTo>
                  <a:pt x="58927" y="172465"/>
                </a:lnTo>
                <a:lnTo>
                  <a:pt x="61849" y="160400"/>
                </a:lnTo>
                <a:lnTo>
                  <a:pt x="67889" y="141985"/>
                </a:lnTo>
                <a:lnTo>
                  <a:pt x="73786" y="121031"/>
                </a:lnTo>
                <a:lnTo>
                  <a:pt x="82803" y="99822"/>
                </a:lnTo>
                <a:lnTo>
                  <a:pt x="91821" y="81660"/>
                </a:lnTo>
                <a:lnTo>
                  <a:pt x="103885" y="63500"/>
                </a:lnTo>
                <a:lnTo>
                  <a:pt x="112902" y="48387"/>
                </a:lnTo>
                <a:lnTo>
                  <a:pt x="121920" y="39369"/>
                </a:lnTo>
                <a:lnTo>
                  <a:pt x="133984" y="21209"/>
                </a:lnTo>
                <a:lnTo>
                  <a:pt x="13398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5" name="bk object 76"/>
          <p:cNvSpPr/>
          <p:nvPr/>
        </p:nvSpPr>
        <p:spPr>
          <a:xfrm>
            <a:off x="6941160" y="6293160"/>
            <a:ext cx="134280" cy="201240"/>
          </a:xfrm>
          <a:custGeom>
            <a:avLst/>
            <a:gdLst>
              <a:gd name="textAreaLeft" fmla="*/ 0 w 134280"/>
              <a:gd name="textAreaRight" fmla="*/ 135000 w 134280"/>
              <a:gd name="textAreaTop" fmla="*/ 0 h 201240"/>
              <a:gd name="textAreaBottom" fmla="*/ 201960 h 201240"/>
            </a:gdLst>
            <a:ahLst/>
            <a:cxnLst/>
            <a:rect l="textAreaLeft" t="textAreaTop" r="textAreaRight" b="textAreaBottom"/>
            <a:pathLst>
              <a:path w="135127" h="201929">
                <a:moveTo>
                  <a:pt x="93345" y="2921"/>
                </a:moveTo>
                <a:lnTo>
                  <a:pt x="42037" y="2921"/>
                </a:lnTo>
                <a:lnTo>
                  <a:pt x="29972" y="11938"/>
                </a:lnTo>
                <a:lnTo>
                  <a:pt x="6223" y="53975"/>
                </a:lnTo>
                <a:lnTo>
                  <a:pt x="380" y="102616"/>
                </a:lnTo>
                <a:lnTo>
                  <a:pt x="40" y="102616"/>
                </a:lnTo>
                <a:lnTo>
                  <a:pt x="5842" y="147828"/>
                </a:lnTo>
                <a:lnTo>
                  <a:pt x="20700" y="180975"/>
                </a:lnTo>
                <a:lnTo>
                  <a:pt x="29718" y="193040"/>
                </a:lnTo>
                <a:lnTo>
                  <a:pt x="41782" y="199009"/>
                </a:lnTo>
                <a:lnTo>
                  <a:pt x="53848" y="201930"/>
                </a:lnTo>
                <a:lnTo>
                  <a:pt x="81279" y="201930"/>
                </a:lnTo>
                <a:lnTo>
                  <a:pt x="93345" y="199009"/>
                </a:lnTo>
                <a:lnTo>
                  <a:pt x="105410" y="193040"/>
                </a:lnTo>
                <a:lnTo>
                  <a:pt x="114332" y="181102"/>
                </a:lnTo>
                <a:lnTo>
                  <a:pt x="69596" y="181102"/>
                </a:lnTo>
                <a:lnTo>
                  <a:pt x="60578" y="178181"/>
                </a:lnTo>
                <a:lnTo>
                  <a:pt x="51562" y="178181"/>
                </a:lnTo>
                <a:lnTo>
                  <a:pt x="39624" y="166243"/>
                </a:lnTo>
                <a:lnTo>
                  <a:pt x="33654" y="154178"/>
                </a:lnTo>
                <a:lnTo>
                  <a:pt x="27813" y="123952"/>
                </a:lnTo>
                <a:lnTo>
                  <a:pt x="27686" y="102616"/>
                </a:lnTo>
                <a:lnTo>
                  <a:pt x="380" y="102616"/>
                </a:lnTo>
                <a:lnTo>
                  <a:pt x="0" y="102235"/>
                </a:lnTo>
                <a:lnTo>
                  <a:pt x="27686" y="102235"/>
                </a:lnTo>
                <a:lnTo>
                  <a:pt x="27686" y="78359"/>
                </a:lnTo>
                <a:lnTo>
                  <a:pt x="33527" y="48133"/>
                </a:lnTo>
                <a:lnTo>
                  <a:pt x="45466" y="30099"/>
                </a:lnTo>
                <a:lnTo>
                  <a:pt x="51435" y="27178"/>
                </a:lnTo>
                <a:lnTo>
                  <a:pt x="60451" y="24257"/>
                </a:lnTo>
                <a:lnTo>
                  <a:pt x="117728" y="24257"/>
                </a:lnTo>
                <a:lnTo>
                  <a:pt x="105410" y="11938"/>
                </a:lnTo>
                <a:lnTo>
                  <a:pt x="93345" y="2921"/>
                </a:lnTo>
                <a:close/>
              </a:path>
              <a:path w="135127" h="201929">
                <a:moveTo>
                  <a:pt x="117728" y="24257"/>
                </a:moveTo>
                <a:lnTo>
                  <a:pt x="78613" y="24257"/>
                </a:lnTo>
                <a:lnTo>
                  <a:pt x="90550" y="30099"/>
                </a:lnTo>
                <a:lnTo>
                  <a:pt x="102489" y="48133"/>
                </a:lnTo>
                <a:lnTo>
                  <a:pt x="108330" y="78359"/>
                </a:lnTo>
                <a:lnTo>
                  <a:pt x="108330" y="123952"/>
                </a:lnTo>
                <a:lnTo>
                  <a:pt x="102489" y="154178"/>
                </a:lnTo>
                <a:lnTo>
                  <a:pt x="96520" y="166243"/>
                </a:lnTo>
                <a:lnTo>
                  <a:pt x="84581" y="178181"/>
                </a:lnTo>
                <a:lnTo>
                  <a:pt x="78613" y="178181"/>
                </a:lnTo>
                <a:lnTo>
                  <a:pt x="69596" y="181102"/>
                </a:lnTo>
                <a:lnTo>
                  <a:pt x="114332" y="181102"/>
                </a:lnTo>
                <a:lnTo>
                  <a:pt x="114426" y="180975"/>
                </a:lnTo>
                <a:lnTo>
                  <a:pt x="120396" y="175006"/>
                </a:lnTo>
                <a:lnTo>
                  <a:pt x="123317" y="169037"/>
                </a:lnTo>
                <a:lnTo>
                  <a:pt x="129286" y="160020"/>
                </a:lnTo>
                <a:lnTo>
                  <a:pt x="132206" y="147955"/>
                </a:lnTo>
                <a:lnTo>
                  <a:pt x="132206" y="138938"/>
                </a:lnTo>
                <a:lnTo>
                  <a:pt x="135127" y="129921"/>
                </a:lnTo>
                <a:lnTo>
                  <a:pt x="135127" y="75057"/>
                </a:lnTo>
                <a:lnTo>
                  <a:pt x="132206" y="62992"/>
                </a:lnTo>
                <a:lnTo>
                  <a:pt x="132206" y="53975"/>
                </a:lnTo>
                <a:lnTo>
                  <a:pt x="129286" y="41910"/>
                </a:lnTo>
                <a:lnTo>
                  <a:pt x="123317" y="32893"/>
                </a:lnTo>
                <a:lnTo>
                  <a:pt x="120396" y="26924"/>
                </a:lnTo>
                <a:lnTo>
                  <a:pt x="117728" y="24257"/>
                </a:lnTo>
                <a:close/>
              </a:path>
              <a:path w="135127" h="201929">
                <a:moveTo>
                  <a:pt x="81406" y="0"/>
                </a:moveTo>
                <a:lnTo>
                  <a:pt x="53975" y="0"/>
                </a:lnTo>
                <a:lnTo>
                  <a:pt x="48005" y="2921"/>
                </a:lnTo>
                <a:lnTo>
                  <a:pt x="87375" y="2921"/>
                </a:lnTo>
                <a:lnTo>
                  <a:pt x="8140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6" name="bk object 77"/>
          <p:cNvSpPr/>
          <p:nvPr/>
        </p:nvSpPr>
        <p:spPr>
          <a:xfrm>
            <a:off x="71089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7" name="bk object 78"/>
          <p:cNvSpPr/>
          <p:nvPr/>
        </p:nvSpPr>
        <p:spPr>
          <a:xfrm>
            <a:off x="7170480" y="6293880"/>
            <a:ext cx="134640" cy="199800"/>
          </a:xfrm>
          <a:custGeom>
            <a:avLst/>
            <a:gdLst>
              <a:gd name="textAreaLeft" fmla="*/ 0 w 134640"/>
              <a:gd name="textAreaRight" fmla="*/ 135360 w 134640"/>
              <a:gd name="textAreaTop" fmla="*/ 0 h 199800"/>
              <a:gd name="textAreaBottom" fmla="*/ 200520 h 199800"/>
            </a:gdLst>
            <a:ahLst/>
            <a:cxnLst/>
            <a:rect l="textAreaLeft" t="textAreaTop" r="textAreaRight" b="textAreaBottom"/>
            <a:pathLst>
              <a:path w="135254" h="200405">
                <a:moveTo>
                  <a:pt x="32493" y="89606"/>
                </a:moveTo>
                <a:lnTo>
                  <a:pt x="26669" y="92456"/>
                </a:lnTo>
                <a:lnTo>
                  <a:pt x="23749" y="95377"/>
                </a:lnTo>
                <a:lnTo>
                  <a:pt x="17779" y="98298"/>
                </a:lnTo>
                <a:lnTo>
                  <a:pt x="14858" y="101219"/>
                </a:lnTo>
                <a:lnTo>
                  <a:pt x="2920" y="119253"/>
                </a:lnTo>
                <a:lnTo>
                  <a:pt x="0" y="128270"/>
                </a:lnTo>
                <a:lnTo>
                  <a:pt x="0" y="140335"/>
                </a:lnTo>
                <a:lnTo>
                  <a:pt x="20827" y="188595"/>
                </a:lnTo>
                <a:lnTo>
                  <a:pt x="44957" y="197485"/>
                </a:lnTo>
                <a:lnTo>
                  <a:pt x="53975" y="200406"/>
                </a:lnTo>
                <a:lnTo>
                  <a:pt x="81406" y="200406"/>
                </a:lnTo>
                <a:lnTo>
                  <a:pt x="105536" y="194551"/>
                </a:lnTo>
                <a:lnTo>
                  <a:pt x="114553" y="188595"/>
                </a:lnTo>
                <a:lnTo>
                  <a:pt x="120523" y="182626"/>
                </a:lnTo>
                <a:lnTo>
                  <a:pt x="123071" y="177419"/>
                </a:lnTo>
                <a:lnTo>
                  <a:pt x="53593" y="177419"/>
                </a:lnTo>
                <a:lnTo>
                  <a:pt x="44576" y="174498"/>
                </a:lnTo>
                <a:lnTo>
                  <a:pt x="38734" y="168656"/>
                </a:lnTo>
                <a:lnTo>
                  <a:pt x="35813" y="162687"/>
                </a:lnTo>
                <a:lnTo>
                  <a:pt x="29844" y="156718"/>
                </a:lnTo>
                <a:lnTo>
                  <a:pt x="29844" y="150749"/>
                </a:lnTo>
                <a:lnTo>
                  <a:pt x="26924" y="141732"/>
                </a:lnTo>
                <a:lnTo>
                  <a:pt x="29844" y="132588"/>
                </a:lnTo>
                <a:lnTo>
                  <a:pt x="29844" y="123571"/>
                </a:lnTo>
                <a:lnTo>
                  <a:pt x="41655" y="111760"/>
                </a:lnTo>
                <a:lnTo>
                  <a:pt x="53593" y="105918"/>
                </a:lnTo>
                <a:lnTo>
                  <a:pt x="126386" y="105918"/>
                </a:lnTo>
                <a:lnTo>
                  <a:pt x="123443" y="101473"/>
                </a:lnTo>
                <a:lnTo>
                  <a:pt x="111505" y="95631"/>
                </a:lnTo>
                <a:lnTo>
                  <a:pt x="108584" y="92710"/>
                </a:lnTo>
                <a:lnTo>
                  <a:pt x="102615" y="89776"/>
                </a:lnTo>
                <a:lnTo>
                  <a:pt x="33019" y="89776"/>
                </a:lnTo>
                <a:lnTo>
                  <a:pt x="32493" y="89606"/>
                </a:lnTo>
                <a:close/>
              </a:path>
              <a:path w="135254" h="200405">
                <a:moveTo>
                  <a:pt x="126386" y="105918"/>
                </a:moveTo>
                <a:lnTo>
                  <a:pt x="81025" y="105918"/>
                </a:lnTo>
                <a:lnTo>
                  <a:pt x="90042" y="108826"/>
                </a:lnTo>
                <a:lnTo>
                  <a:pt x="96011" y="111760"/>
                </a:lnTo>
                <a:lnTo>
                  <a:pt x="101980" y="117729"/>
                </a:lnTo>
                <a:lnTo>
                  <a:pt x="104839" y="123571"/>
                </a:lnTo>
                <a:lnTo>
                  <a:pt x="104901" y="126619"/>
                </a:lnTo>
                <a:lnTo>
                  <a:pt x="107823" y="132588"/>
                </a:lnTo>
                <a:lnTo>
                  <a:pt x="107823" y="150749"/>
                </a:lnTo>
                <a:lnTo>
                  <a:pt x="104901" y="156718"/>
                </a:lnTo>
                <a:lnTo>
                  <a:pt x="104901" y="159626"/>
                </a:lnTo>
                <a:lnTo>
                  <a:pt x="90042" y="174498"/>
                </a:lnTo>
                <a:lnTo>
                  <a:pt x="81025" y="177419"/>
                </a:lnTo>
                <a:lnTo>
                  <a:pt x="123071" y="177419"/>
                </a:lnTo>
                <a:lnTo>
                  <a:pt x="126364" y="170688"/>
                </a:lnTo>
                <a:lnTo>
                  <a:pt x="132333" y="164719"/>
                </a:lnTo>
                <a:lnTo>
                  <a:pt x="132333" y="158750"/>
                </a:lnTo>
                <a:lnTo>
                  <a:pt x="135254" y="152781"/>
                </a:lnTo>
                <a:lnTo>
                  <a:pt x="135172" y="128270"/>
                </a:lnTo>
                <a:lnTo>
                  <a:pt x="129412" y="110490"/>
                </a:lnTo>
                <a:lnTo>
                  <a:pt x="126386" y="105918"/>
                </a:lnTo>
                <a:close/>
              </a:path>
              <a:path w="135254" h="200405">
                <a:moveTo>
                  <a:pt x="103364" y="89535"/>
                </a:moveTo>
                <a:lnTo>
                  <a:pt x="32638" y="89535"/>
                </a:lnTo>
                <a:lnTo>
                  <a:pt x="33019" y="89776"/>
                </a:lnTo>
                <a:lnTo>
                  <a:pt x="102615" y="89776"/>
                </a:lnTo>
                <a:lnTo>
                  <a:pt x="103364" y="89535"/>
                </a:lnTo>
                <a:close/>
              </a:path>
              <a:path w="135254" h="200405">
                <a:moveTo>
                  <a:pt x="78485" y="0"/>
                </a:moveTo>
                <a:lnTo>
                  <a:pt x="57276" y="0"/>
                </a:lnTo>
                <a:lnTo>
                  <a:pt x="48259" y="2921"/>
                </a:lnTo>
                <a:lnTo>
                  <a:pt x="36194" y="5842"/>
                </a:lnTo>
                <a:lnTo>
                  <a:pt x="18160" y="17780"/>
                </a:lnTo>
                <a:lnTo>
                  <a:pt x="12191" y="26797"/>
                </a:lnTo>
                <a:lnTo>
                  <a:pt x="6350" y="50927"/>
                </a:lnTo>
                <a:lnTo>
                  <a:pt x="15112" y="77978"/>
                </a:lnTo>
                <a:lnTo>
                  <a:pt x="24002" y="86868"/>
                </a:lnTo>
                <a:lnTo>
                  <a:pt x="32493" y="89606"/>
                </a:lnTo>
                <a:lnTo>
                  <a:pt x="32638" y="89535"/>
                </a:lnTo>
                <a:lnTo>
                  <a:pt x="103364" y="89535"/>
                </a:lnTo>
                <a:lnTo>
                  <a:pt x="111632" y="86868"/>
                </a:lnTo>
                <a:lnTo>
                  <a:pt x="115570" y="82931"/>
                </a:lnTo>
                <a:lnTo>
                  <a:pt x="59689" y="82931"/>
                </a:lnTo>
                <a:lnTo>
                  <a:pt x="59689" y="80010"/>
                </a:lnTo>
                <a:lnTo>
                  <a:pt x="56768" y="80010"/>
                </a:lnTo>
                <a:lnTo>
                  <a:pt x="38861" y="71247"/>
                </a:lnTo>
                <a:lnTo>
                  <a:pt x="35940" y="65278"/>
                </a:lnTo>
                <a:lnTo>
                  <a:pt x="35940" y="59309"/>
                </a:lnTo>
                <a:lnTo>
                  <a:pt x="33019" y="50292"/>
                </a:lnTo>
                <a:lnTo>
                  <a:pt x="35940" y="44196"/>
                </a:lnTo>
                <a:lnTo>
                  <a:pt x="35940" y="38227"/>
                </a:lnTo>
                <a:lnTo>
                  <a:pt x="38861" y="32258"/>
                </a:lnTo>
                <a:lnTo>
                  <a:pt x="44830" y="29337"/>
                </a:lnTo>
                <a:lnTo>
                  <a:pt x="50800" y="23368"/>
                </a:lnTo>
                <a:lnTo>
                  <a:pt x="56768" y="23368"/>
                </a:lnTo>
                <a:lnTo>
                  <a:pt x="59689" y="20447"/>
                </a:lnTo>
                <a:lnTo>
                  <a:pt x="119367" y="20447"/>
                </a:lnTo>
                <a:lnTo>
                  <a:pt x="117601" y="17780"/>
                </a:lnTo>
                <a:lnTo>
                  <a:pt x="111632" y="11811"/>
                </a:lnTo>
                <a:lnTo>
                  <a:pt x="102615" y="5842"/>
                </a:lnTo>
                <a:lnTo>
                  <a:pt x="78485" y="0"/>
                </a:lnTo>
                <a:close/>
              </a:path>
              <a:path w="135254" h="200405">
                <a:moveTo>
                  <a:pt x="119367" y="20447"/>
                </a:moveTo>
                <a:lnTo>
                  <a:pt x="74815" y="20447"/>
                </a:lnTo>
                <a:lnTo>
                  <a:pt x="80772" y="23368"/>
                </a:lnTo>
                <a:lnTo>
                  <a:pt x="86740" y="23368"/>
                </a:lnTo>
                <a:lnTo>
                  <a:pt x="89661" y="29337"/>
                </a:lnTo>
                <a:lnTo>
                  <a:pt x="95630" y="32258"/>
                </a:lnTo>
                <a:lnTo>
                  <a:pt x="101473" y="44196"/>
                </a:lnTo>
                <a:lnTo>
                  <a:pt x="101473" y="59309"/>
                </a:lnTo>
                <a:lnTo>
                  <a:pt x="95630" y="71247"/>
                </a:lnTo>
                <a:lnTo>
                  <a:pt x="92709" y="74168"/>
                </a:lnTo>
                <a:lnTo>
                  <a:pt x="74815" y="82931"/>
                </a:lnTo>
                <a:lnTo>
                  <a:pt x="115570" y="82931"/>
                </a:lnTo>
                <a:lnTo>
                  <a:pt x="120523" y="77978"/>
                </a:lnTo>
                <a:lnTo>
                  <a:pt x="126491" y="68961"/>
                </a:lnTo>
                <a:lnTo>
                  <a:pt x="129412" y="59944"/>
                </a:lnTo>
                <a:lnTo>
                  <a:pt x="129412" y="50927"/>
                </a:lnTo>
                <a:lnTo>
                  <a:pt x="123570" y="26797"/>
                </a:lnTo>
                <a:lnTo>
                  <a:pt x="119367" y="20447"/>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8" name="bk object 79"/>
          <p:cNvSpPr/>
          <p:nvPr/>
        </p:nvSpPr>
        <p:spPr>
          <a:xfrm>
            <a:off x="7531920" y="6293160"/>
            <a:ext cx="134640" cy="201240"/>
          </a:xfrm>
          <a:custGeom>
            <a:avLst/>
            <a:gdLst>
              <a:gd name="textAreaLeft" fmla="*/ 0 w 134640"/>
              <a:gd name="textAreaRight" fmla="*/ 135360 w 134640"/>
              <a:gd name="textAreaTop" fmla="*/ 0 h 201240"/>
              <a:gd name="textAreaBottom" fmla="*/ 201960 h 201240"/>
            </a:gdLst>
            <a:ahLst/>
            <a:cxnLst/>
            <a:rect l="textAreaLeft" t="textAreaTop" r="textAreaRight" b="textAreaBottom"/>
            <a:pathLst>
              <a:path w="135394" h="202056">
                <a:moveTo>
                  <a:pt x="0" y="102235"/>
                </a:moveTo>
                <a:lnTo>
                  <a:pt x="5842" y="147828"/>
                </a:lnTo>
                <a:lnTo>
                  <a:pt x="29845" y="193167"/>
                </a:lnTo>
                <a:lnTo>
                  <a:pt x="53975" y="202057"/>
                </a:lnTo>
                <a:lnTo>
                  <a:pt x="81407" y="202057"/>
                </a:lnTo>
                <a:lnTo>
                  <a:pt x="93472" y="199136"/>
                </a:lnTo>
                <a:lnTo>
                  <a:pt x="105537" y="193167"/>
                </a:lnTo>
                <a:lnTo>
                  <a:pt x="117221" y="181483"/>
                </a:lnTo>
                <a:lnTo>
                  <a:pt x="69723" y="181483"/>
                </a:lnTo>
                <a:lnTo>
                  <a:pt x="60706" y="178562"/>
                </a:lnTo>
                <a:lnTo>
                  <a:pt x="51689" y="178562"/>
                </a:lnTo>
                <a:lnTo>
                  <a:pt x="39751" y="166624"/>
                </a:lnTo>
                <a:lnTo>
                  <a:pt x="36830" y="154559"/>
                </a:lnTo>
                <a:lnTo>
                  <a:pt x="33909" y="148590"/>
                </a:lnTo>
                <a:lnTo>
                  <a:pt x="30988" y="139573"/>
                </a:lnTo>
                <a:lnTo>
                  <a:pt x="30988" y="124460"/>
                </a:lnTo>
                <a:lnTo>
                  <a:pt x="28067" y="103238"/>
                </a:lnTo>
                <a:lnTo>
                  <a:pt x="27927" y="102616"/>
                </a:lnTo>
                <a:lnTo>
                  <a:pt x="635" y="102616"/>
                </a:lnTo>
                <a:lnTo>
                  <a:pt x="0" y="102235"/>
                </a:lnTo>
                <a:close/>
              </a:path>
              <a:path w="135394" h="202056">
                <a:moveTo>
                  <a:pt x="119407" y="24384"/>
                </a:moveTo>
                <a:lnTo>
                  <a:pt x="78740" y="24384"/>
                </a:lnTo>
                <a:lnTo>
                  <a:pt x="84709" y="27305"/>
                </a:lnTo>
                <a:lnTo>
                  <a:pt x="87630" y="27305"/>
                </a:lnTo>
                <a:lnTo>
                  <a:pt x="90551" y="30213"/>
                </a:lnTo>
                <a:lnTo>
                  <a:pt x="102489" y="48260"/>
                </a:lnTo>
                <a:lnTo>
                  <a:pt x="108407" y="63246"/>
                </a:lnTo>
                <a:lnTo>
                  <a:pt x="108458" y="139573"/>
                </a:lnTo>
                <a:lnTo>
                  <a:pt x="102489" y="154686"/>
                </a:lnTo>
                <a:lnTo>
                  <a:pt x="96520" y="166738"/>
                </a:lnTo>
                <a:lnTo>
                  <a:pt x="84709" y="178562"/>
                </a:lnTo>
                <a:lnTo>
                  <a:pt x="78740" y="178562"/>
                </a:lnTo>
                <a:lnTo>
                  <a:pt x="69723" y="181483"/>
                </a:lnTo>
                <a:lnTo>
                  <a:pt x="117221" y="181483"/>
                </a:lnTo>
                <a:lnTo>
                  <a:pt x="117602" y="181102"/>
                </a:lnTo>
                <a:lnTo>
                  <a:pt x="123571" y="169037"/>
                </a:lnTo>
                <a:lnTo>
                  <a:pt x="129540" y="160020"/>
                </a:lnTo>
                <a:lnTo>
                  <a:pt x="132461" y="147955"/>
                </a:lnTo>
                <a:lnTo>
                  <a:pt x="132461" y="138938"/>
                </a:lnTo>
                <a:lnTo>
                  <a:pt x="135394" y="129921"/>
                </a:lnTo>
                <a:lnTo>
                  <a:pt x="135394" y="75057"/>
                </a:lnTo>
                <a:lnTo>
                  <a:pt x="132553" y="63373"/>
                </a:lnTo>
                <a:lnTo>
                  <a:pt x="132461" y="53975"/>
                </a:lnTo>
                <a:lnTo>
                  <a:pt x="129540" y="41910"/>
                </a:lnTo>
                <a:lnTo>
                  <a:pt x="123571" y="32893"/>
                </a:lnTo>
                <a:lnTo>
                  <a:pt x="119407" y="24384"/>
                </a:lnTo>
                <a:close/>
              </a:path>
              <a:path w="135394" h="202056">
                <a:moveTo>
                  <a:pt x="93599" y="2921"/>
                </a:moveTo>
                <a:lnTo>
                  <a:pt x="42291" y="2921"/>
                </a:lnTo>
                <a:lnTo>
                  <a:pt x="30226" y="11938"/>
                </a:lnTo>
                <a:lnTo>
                  <a:pt x="21209" y="20955"/>
                </a:lnTo>
                <a:lnTo>
                  <a:pt x="18288" y="26924"/>
                </a:lnTo>
                <a:lnTo>
                  <a:pt x="12319" y="32893"/>
                </a:lnTo>
                <a:lnTo>
                  <a:pt x="9398" y="41910"/>
                </a:lnTo>
                <a:lnTo>
                  <a:pt x="6477" y="53975"/>
                </a:lnTo>
                <a:lnTo>
                  <a:pt x="3556" y="75184"/>
                </a:lnTo>
                <a:lnTo>
                  <a:pt x="635" y="102616"/>
                </a:lnTo>
                <a:lnTo>
                  <a:pt x="27927" y="102616"/>
                </a:lnTo>
                <a:lnTo>
                  <a:pt x="30861" y="78359"/>
                </a:lnTo>
                <a:lnTo>
                  <a:pt x="30985" y="62992"/>
                </a:lnTo>
                <a:lnTo>
                  <a:pt x="33782" y="57277"/>
                </a:lnTo>
                <a:lnTo>
                  <a:pt x="39624" y="39243"/>
                </a:lnTo>
                <a:lnTo>
                  <a:pt x="45593" y="30213"/>
                </a:lnTo>
                <a:lnTo>
                  <a:pt x="51562" y="27305"/>
                </a:lnTo>
                <a:lnTo>
                  <a:pt x="60579" y="24384"/>
                </a:lnTo>
                <a:lnTo>
                  <a:pt x="119407" y="24384"/>
                </a:lnTo>
                <a:lnTo>
                  <a:pt x="117729" y="20955"/>
                </a:lnTo>
                <a:lnTo>
                  <a:pt x="93599" y="2921"/>
                </a:lnTo>
                <a:close/>
              </a:path>
              <a:path w="135394" h="202056">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bk object 80"/>
          <p:cNvSpPr/>
          <p:nvPr/>
        </p:nvSpPr>
        <p:spPr>
          <a:xfrm>
            <a:off x="77000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65" h="33401">
                <a:moveTo>
                  <a:pt x="0" y="16700"/>
                </a:moveTo>
                <a:lnTo>
                  <a:pt x="30365"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0" name="bk object 81"/>
          <p:cNvSpPr/>
          <p:nvPr/>
        </p:nvSpPr>
        <p:spPr>
          <a:xfrm>
            <a:off x="7761240" y="6293520"/>
            <a:ext cx="137880" cy="201240"/>
          </a:xfrm>
          <a:custGeom>
            <a:avLst/>
            <a:gdLst>
              <a:gd name="textAreaLeft" fmla="*/ 0 w 137880"/>
              <a:gd name="textAreaRight" fmla="*/ 138600 w 137880"/>
              <a:gd name="textAreaTop" fmla="*/ 0 h 201240"/>
              <a:gd name="textAreaBottom" fmla="*/ 201960 h 201240"/>
            </a:gdLst>
            <a:ahLst/>
            <a:cxnLst/>
            <a:rect l="textAreaLeft" t="textAreaTop" r="textAreaRight" b="textAreaBottom"/>
            <a:pathLst>
              <a:path w="138429" h="202056">
                <a:moveTo>
                  <a:pt x="27558" y="147954"/>
                </a:moveTo>
                <a:lnTo>
                  <a:pt x="126" y="147954"/>
                </a:lnTo>
                <a:lnTo>
                  <a:pt x="0" y="157225"/>
                </a:lnTo>
                <a:lnTo>
                  <a:pt x="2802" y="162940"/>
                </a:lnTo>
                <a:lnTo>
                  <a:pt x="2921" y="166115"/>
                </a:lnTo>
                <a:lnTo>
                  <a:pt x="32893" y="199135"/>
                </a:lnTo>
                <a:lnTo>
                  <a:pt x="44957" y="202056"/>
                </a:lnTo>
                <a:lnTo>
                  <a:pt x="78358" y="202056"/>
                </a:lnTo>
                <a:lnTo>
                  <a:pt x="90436" y="199135"/>
                </a:lnTo>
                <a:lnTo>
                  <a:pt x="114553" y="181101"/>
                </a:lnTo>
                <a:lnTo>
                  <a:pt x="114781" y="180720"/>
                </a:lnTo>
                <a:lnTo>
                  <a:pt x="54355" y="180720"/>
                </a:lnTo>
                <a:lnTo>
                  <a:pt x="48386" y="177799"/>
                </a:lnTo>
                <a:lnTo>
                  <a:pt x="39370" y="174878"/>
                </a:lnTo>
                <a:lnTo>
                  <a:pt x="33400" y="168909"/>
                </a:lnTo>
                <a:lnTo>
                  <a:pt x="30479" y="162940"/>
                </a:lnTo>
                <a:lnTo>
                  <a:pt x="27558" y="160007"/>
                </a:lnTo>
                <a:lnTo>
                  <a:pt x="27558" y="147954"/>
                </a:lnTo>
                <a:close/>
              </a:path>
              <a:path w="138429" h="202056">
                <a:moveTo>
                  <a:pt x="136073" y="108584"/>
                </a:moveTo>
                <a:lnTo>
                  <a:pt x="108203" y="108584"/>
                </a:lnTo>
                <a:lnTo>
                  <a:pt x="108203" y="126745"/>
                </a:lnTo>
                <a:lnTo>
                  <a:pt x="105282" y="138810"/>
                </a:lnTo>
                <a:lnTo>
                  <a:pt x="102361" y="147827"/>
                </a:lnTo>
                <a:lnTo>
                  <a:pt x="96393" y="159892"/>
                </a:lnTo>
                <a:lnTo>
                  <a:pt x="93472" y="168909"/>
                </a:lnTo>
                <a:lnTo>
                  <a:pt x="84454" y="174878"/>
                </a:lnTo>
                <a:lnTo>
                  <a:pt x="72516" y="180720"/>
                </a:lnTo>
                <a:lnTo>
                  <a:pt x="114781" y="180720"/>
                </a:lnTo>
                <a:lnTo>
                  <a:pt x="123571" y="165988"/>
                </a:lnTo>
                <a:lnTo>
                  <a:pt x="135508" y="123570"/>
                </a:lnTo>
                <a:lnTo>
                  <a:pt x="135533" y="111378"/>
                </a:lnTo>
                <a:lnTo>
                  <a:pt x="136073" y="108584"/>
                </a:lnTo>
                <a:close/>
              </a:path>
              <a:path w="138429" h="202056">
                <a:moveTo>
                  <a:pt x="81533" y="0"/>
                </a:moveTo>
                <a:lnTo>
                  <a:pt x="51180" y="0"/>
                </a:lnTo>
                <a:lnTo>
                  <a:pt x="39115" y="2920"/>
                </a:lnTo>
                <a:lnTo>
                  <a:pt x="27050" y="8889"/>
                </a:lnTo>
                <a:lnTo>
                  <a:pt x="9144" y="26796"/>
                </a:lnTo>
                <a:lnTo>
                  <a:pt x="3175" y="38861"/>
                </a:lnTo>
                <a:lnTo>
                  <a:pt x="253" y="50926"/>
                </a:lnTo>
                <a:lnTo>
                  <a:pt x="253" y="78358"/>
                </a:lnTo>
                <a:lnTo>
                  <a:pt x="27050" y="120395"/>
                </a:lnTo>
                <a:lnTo>
                  <a:pt x="45084" y="129285"/>
                </a:lnTo>
                <a:lnTo>
                  <a:pt x="78485" y="129285"/>
                </a:lnTo>
                <a:lnTo>
                  <a:pt x="87502" y="126364"/>
                </a:lnTo>
                <a:lnTo>
                  <a:pt x="96520" y="120395"/>
                </a:lnTo>
                <a:lnTo>
                  <a:pt x="99440" y="117474"/>
                </a:lnTo>
                <a:lnTo>
                  <a:pt x="102361" y="117474"/>
                </a:lnTo>
                <a:lnTo>
                  <a:pt x="105282" y="114553"/>
                </a:lnTo>
                <a:lnTo>
                  <a:pt x="108203" y="108584"/>
                </a:lnTo>
                <a:lnTo>
                  <a:pt x="136073" y="108584"/>
                </a:lnTo>
                <a:lnTo>
                  <a:pt x="136196" y="107949"/>
                </a:lnTo>
                <a:lnTo>
                  <a:pt x="66166" y="107949"/>
                </a:lnTo>
                <a:lnTo>
                  <a:pt x="48132" y="102107"/>
                </a:lnTo>
                <a:lnTo>
                  <a:pt x="36195" y="96265"/>
                </a:lnTo>
                <a:lnTo>
                  <a:pt x="33286" y="90296"/>
                </a:lnTo>
                <a:lnTo>
                  <a:pt x="30352" y="81279"/>
                </a:lnTo>
                <a:lnTo>
                  <a:pt x="27419" y="75310"/>
                </a:lnTo>
                <a:lnTo>
                  <a:pt x="27419" y="56768"/>
                </a:lnTo>
                <a:lnTo>
                  <a:pt x="30352" y="47751"/>
                </a:lnTo>
                <a:lnTo>
                  <a:pt x="33161" y="42036"/>
                </a:lnTo>
                <a:lnTo>
                  <a:pt x="33286" y="38861"/>
                </a:lnTo>
                <a:lnTo>
                  <a:pt x="48005" y="24129"/>
                </a:lnTo>
                <a:lnTo>
                  <a:pt x="57023" y="24129"/>
                </a:lnTo>
                <a:lnTo>
                  <a:pt x="66039" y="21208"/>
                </a:lnTo>
                <a:lnTo>
                  <a:pt x="117982" y="21208"/>
                </a:lnTo>
                <a:lnTo>
                  <a:pt x="105663" y="8889"/>
                </a:lnTo>
                <a:lnTo>
                  <a:pt x="93611" y="2920"/>
                </a:lnTo>
                <a:lnTo>
                  <a:pt x="81533" y="0"/>
                </a:lnTo>
                <a:close/>
              </a:path>
              <a:path w="138429" h="202056">
                <a:moveTo>
                  <a:pt x="117982" y="21208"/>
                </a:moveTo>
                <a:lnTo>
                  <a:pt x="66039" y="21208"/>
                </a:lnTo>
                <a:lnTo>
                  <a:pt x="75044" y="24129"/>
                </a:lnTo>
                <a:lnTo>
                  <a:pt x="84086" y="24129"/>
                </a:lnTo>
                <a:lnTo>
                  <a:pt x="101980" y="42036"/>
                </a:lnTo>
                <a:lnTo>
                  <a:pt x="104777" y="47751"/>
                </a:lnTo>
                <a:lnTo>
                  <a:pt x="104901" y="78358"/>
                </a:lnTo>
                <a:lnTo>
                  <a:pt x="101980" y="81279"/>
                </a:lnTo>
                <a:lnTo>
                  <a:pt x="99059" y="90296"/>
                </a:lnTo>
                <a:lnTo>
                  <a:pt x="99059" y="93217"/>
                </a:lnTo>
                <a:lnTo>
                  <a:pt x="96138" y="96138"/>
                </a:lnTo>
                <a:lnTo>
                  <a:pt x="90170" y="99059"/>
                </a:lnTo>
                <a:lnTo>
                  <a:pt x="81152" y="105028"/>
                </a:lnTo>
                <a:lnTo>
                  <a:pt x="75183" y="105028"/>
                </a:lnTo>
                <a:lnTo>
                  <a:pt x="66166" y="107949"/>
                </a:lnTo>
                <a:lnTo>
                  <a:pt x="136196" y="107949"/>
                </a:lnTo>
                <a:lnTo>
                  <a:pt x="138429" y="96392"/>
                </a:lnTo>
                <a:lnTo>
                  <a:pt x="135508" y="72135"/>
                </a:lnTo>
                <a:lnTo>
                  <a:pt x="132587" y="50926"/>
                </a:lnTo>
                <a:lnTo>
                  <a:pt x="123571" y="32765"/>
                </a:lnTo>
                <a:lnTo>
                  <a:pt x="123571" y="29832"/>
                </a:lnTo>
                <a:lnTo>
                  <a:pt x="120650" y="23875"/>
                </a:lnTo>
                <a:lnTo>
                  <a:pt x="117982" y="2120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bk object 82"/>
          <p:cNvSpPr/>
          <p:nvPr/>
        </p:nvSpPr>
        <p:spPr>
          <a:xfrm>
            <a:off x="81424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5" h="201041">
                <a:moveTo>
                  <a:pt x="72135" y="0"/>
                </a:moveTo>
                <a:lnTo>
                  <a:pt x="53975" y="0"/>
                </a:lnTo>
                <a:lnTo>
                  <a:pt x="51053" y="2920"/>
                </a:lnTo>
                <a:lnTo>
                  <a:pt x="51053" y="8889"/>
                </a:lnTo>
                <a:lnTo>
                  <a:pt x="45211" y="20827"/>
                </a:lnTo>
                <a:lnTo>
                  <a:pt x="36207" y="26784"/>
                </a:lnTo>
                <a:lnTo>
                  <a:pt x="30225" y="32765"/>
                </a:lnTo>
                <a:lnTo>
                  <a:pt x="21208" y="35686"/>
                </a:lnTo>
                <a:lnTo>
                  <a:pt x="0" y="35686"/>
                </a:lnTo>
                <a:lnTo>
                  <a:pt x="0" y="56895"/>
                </a:lnTo>
                <a:lnTo>
                  <a:pt x="45593" y="56895"/>
                </a:lnTo>
                <a:lnTo>
                  <a:pt x="45593" y="200024"/>
                </a:lnTo>
                <a:lnTo>
                  <a:pt x="44703" y="201040"/>
                </a:lnTo>
                <a:lnTo>
                  <a:pt x="72135" y="201040"/>
                </a:lnTo>
                <a:lnTo>
                  <a:pt x="7213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bk object 83"/>
          <p:cNvSpPr/>
          <p:nvPr/>
        </p:nvSpPr>
        <p:spPr>
          <a:xfrm>
            <a:off x="827028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3" name="bk object 84"/>
          <p:cNvSpPr/>
          <p:nvPr/>
        </p:nvSpPr>
        <p:spPr>
          <a:xfrm>
            <a:off x="833076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8" h="202564">
                <a:moveTo>
                  <a:pt x="93598" y="2920"/>
                </a:moveTo>
                <a:lnTo>
                  <a:pt x="42290" y="2920"/>
                </a:lnTo>
                <a:lnTo>
                  <a:pt x="30225" y="11937"/>
                </a:lnTo>
                <a:lnTo>
                  <a:pt x="18287" y="23875"/>
                </a:lnTo>
                <a:lnTo>
                  <a:pt x="18287" y="26784"/>
                </a:lnTo>
                <a:lnTo>
                  <a:pt x="12318" y="32765"/>
                </a:lnTo>
                <a:lnTo>
                  <a:pt x="12318" y="38734"/>
                </a:lnTo>
                <a:lnTo>
                  <a:pt x="9397" y="41655"/>
                </a:lnTo>
                <a:lnTo>
                  <a:pt x="6476" y="53720"/>
                </a:lnTo>
                <a:lnTo>
                  <a:pt x="3527" y="75310"/>
                </a:lnTo>
                <a:lnTo>
                  <a:pt x="634" y="102361"/>
                </a:lnTo>
                <a:lnTo>
                  <a:pt x="0" y="102742"/>
                </a:lnTo>
                <a:lnTo>
                  <a:pt x="5841" y="148335"/>
                </a:lnTo>
                <a:lnTo>
                  <a:pt x="29844" y="193674"/>
                </a:lnTo>
                <a:lnTo>
                  <a:pt x="53975" y="202564"/>
                </a:lnTo>
                <a:lnTo>
                  <a:pt x="81406" y="202564"/>
                </a:lnTo>
                <a:lnTo>
                  <a:pt x="93471" y="199643"/>
                </a:lnTo>
                <a:lnTo>
                  <a:pt x="105536" y="193674"/>
                </a:lnTo>
                <a:lnTo>
                  <a:pt x="117601" y="181609"/>
                </a:lnTo>
                <a:lnTo>
                  <a:pt x="117727" y="181355"/>
                </a:lnTo>
                <a:lnTo>
                  <a:pt x="69722" y="181355"/>
                </a:lnTo>
                <a:lnTo>
                  <a:pt x="60718" y="178434"/>
                </a:lnTo>
                <a:lnTo>
                  <a:pt x="54736" y="178434"/>
                </a:lnTo>
                <a:lnTo>
                  <a:pt x="45719" y="172465"/>
                </a:lnTo>
                <a:lnTo>
                  <a:pt x="39750" y="166484"/>
                </a:lnTo>
                <a:lnTo>
                  <a:pt x="36829" y="154431"/>
                </a:lnTo>
                <a:lnTo>
                  <a:pt x="33908" y="148462"/>
                </a:lnTo>
                <a:lnTo>
                  <a:pt x="30987" y="139445"/>
                </a:lnTo>
                <a:lnTo>
                  <a:pt x="30987" y="124332"/>
                </a:lnTo>
                <a:lnTo>
                  <a:pt x="28066" y="103123"/>
                </a:lnTo>
                <a:lnTo>
                  <a:pt x="27939" y="102361"/>
                </a:lnTo>
                <a:lnTo>
                  <a:pt x="30860" y="78104"/>
                </a:lnTo>
                <a:lnTo>
                  <a:pt x="30860" y="62991"/>
                </a:lnTo>
                <a:lnTo>
                  <a:pt x="33781" y="57022"/>
                </a:lnTo>
                <a:lnTo>
                  <a:pt x="39623" y="38988"/>
                </a:lnTo>
                <a:lnTo>
                  <a:pt x="45592" y="29959"/>
                </a:lnTo>
                <a:lnTo>
                  <a:pt x="54609" y="27050"/>
                </a:lnTo>
                <a:lnTo>
                  <a:pt x="60578" y="24129"/>
                </a:lnTo>
                <a:lnTo>
                  <a:pt x="119282" y="24129"/>
                </a:lnTo>
                <a:lnTo>
                  <a:pt x="117728" y="20954"/>
                </a:lnTo>
                <a:lnTo>
                  <a:pt x="93598" y="2920"/>
                </a:lnTo>
                <a:close/>
              </a:path>
              <a:path w="135508" h="202564">
                <a:moveTo>
                  <a:pt x="119282" y="24129"/>
                </a:moveTo>
                <a:lnTo>
                  <a:pt x="78739" y="24129"/>
                </a:lnTo>
                <a:lnTo>
                  <a:pt x="90677" y="29959"/>
                </a:lnTo>
                <a:lnTo>
                  <a:pt x="102615" y="48005"/>
                </a:lnTo>
                <a:lnTo>
                  <a:pt x="108534" y="62991"/>
                </a:lnTo>
                <a:lnTo>
                  <a:pt x="108534" y="139445"/>
                </a:lnTo>
                <a:lnTo>
                  <a:pt x="102615" y="154431"/>
                </a:lnTo>
                <a:lnTo>
                  <a:pt x="96646" y="166484"/>
                </a:lnTo>
                <a:lnTo>
                  <a:pt x="84708" y="178434"/>
                </a:lnTo>
                <a:lnTo>
                  <a:pt x="78739" y="178434"/>
                </a:lnTo>
                <a:lnTo>
                  <a:pt x="69722" y="181355"/>
                </a:lnTo>
                <a:lnTo>
                  <a:pt x="117727" y="181355"/>
                </a:lnTo>
                <a:lnTo>
                  <a:pt x="123570" y="169544"/>
                </a:lnTo>
                <a:lnTo>
                  <a:pt x="132587" y="148335"/>
                </a:lnTo>
                <a:lnTo>
                  <a:pt x="135508" y="130174"/>
                </a:lnTo>
                <a:lnTo>
                  <a:pt x="135456" y="74929"/>
                </a:lnTo>
                <a:lnTo>
                  <a:pt x="132587" y="54101"/>
                </a:lnTo>
                <a:lnTo>
                  <a:pt x="123508" y="32765"/>
                </a:lnTo>
                <a:lnTo>
                  <a:pt x="119282" y="24129"/>
                </a:lnTo>
                <a:close/>
              </a:path>
              <a:path w="135508" h="202564">
                <a:moveTo>
                  <a:pt x="81660" y="0"/>
                </a:moveTo>
                <a:lnTo>
                  <a:pt x="54228" y="0"/>
                </a:lnTo>
                <a:lnTo>
                  <a:pt x="48259" y="2920"/>
                </a:lnTo>
                <a:lnTo>
                  <a:pt x="87629" y="2920"/>
                </a:lnTo>
                <a:lnTo>
                  <a:pt x="8166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4" name="bk object 85"/>
          <p:cNvSpPr/>
          <p:nvPr/>
        </p:nvSpPr>
        <p:spPr>
          <a:xfrm>
            <a:off x="2387520" y="5539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5" name="bk object 86"/>
          <p:cNvSpPr/>
          <p:nvPr/>
        </p:nvSpPr>
        <p:spPr>
          <a:xfrm>
            <a:off x="2448360" y="5533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6" name="bk object 87"/>
          <p:cNvSpPr/>
          <p:nvPr/>
        </p:nvSpPr>
        <p:spPr>
          <a:xfrm>
            <a:off x="2506320" y="552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7" name="bk object 88"/>
          <p:cNvSpPr/>
          <p:nvPr/>
        </p:nvSpPr>
        <p:spPr>
          <a:xfrm>
            <a:off x="2567520" y="5524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bk object 89"/>
          <p:cNvSpPr/>
          <p:nvPr/>
        </p:nvSpPr>
        <p:spPr>
          <a:xfrm>
            <a:off x="2625120" y="551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bk object 90"/>
          <p:cNvSpPr/>
          <p:nvPr/>
        </p:nvSpPr>
        <p:spPr>
          <a:xfrm>
            <a:off x="2683440" y="5511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bk object 91"/>
          <p:cNvSpPr/>
          <p:nvPr/>
        </p:nvSpPr>
        <p:spPr>
          <a:xfrm>
            <a:off x="2744280" y="5505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bk object 92"/>
          <p:cNvSpPr/>
          <p:nvPr/>
        </p:nvSpPr>
        <p:spPr>
          <a:xfrm>
            <a:off x="2802240" y="5502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2" name="bk object 93"/>
          <p:cNvSpPr/>
          <p:nvPr/>
        </p:nvSpPr>
        <p:spPr>
          <a:xfrm>
            <a:off x="2863080" y="5496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3" name="bk object 94"/>
          <p:cNvSpPr/>
          <p:nvPr/>
        </p:nvSpPr>
        <p:spPr>
          <a:xfrm>
            <a:off x="2921040" y="5490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bk object 95"/>
          <p:cNvSpPr/>
          <p:nvPr/>
        </p:nvSpPr>
        <p:spPr>
          <a:xfrm>
            <a:off x="2981880" y="5484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bk object 96"/>
          <p:cNvSpPr/>
          <p:nvPr/>
        </p:nvSpPr>
        <p:spPr>
          <a:xfrm>
            <a:off x="3039840" y="5478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6" name="bk object 97"/>
          <p:cNvSpPr/>
          <p:nvPr/>
        </p:nvSpPr>
        <p:spPr>
          <a:xfrm>
            <a:off x="3097800" y="5472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7" name="bk object 98"/>
          <p:cNvSpPr/>
          <p:nvPr/>
        </p:nvSpPr>
        <p:spPr>
          <a:xfrm>
            <a:off x="3158640" y="5466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8" name="bk object 99"/>
          <p:cNvSpPr/>
          <p:nvPr/>
        </p:nvSpPr>
        <p:spPr>
          <a:xfrm>
            <a:off x="3216600" y="5460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9" name="bk object 100"/>
          <p:cNvSpPr/>
          <p:nvPr/>
        </p:nvSpPr>
        <p:spPr>
          <a:xfrm>
            <a:off x="3277440" y="545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bk object 101"/>
          <p:cNvSpPr/>
          <p:nvPr/>
        </p:nvSpPr>
        <p:spPr>
          <a:xfrm>
            <a:off x="3335400" y="544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bk object 102"/>
          <p:cNvSpPr/>
          <p:nvPr/>
        </p:nvSpPr>
        <p:spPr>
          <a:xfrm>
            <a:off x="3393360" y="5441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2" name="bk object 103"/>
          <p:cNvSpPr/>
          <p:nvPr/>
        </p:nvSpPr>
        <p:spPr>
          <a:xfrm>
            <a:off x="3454560" y="5432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3" name="bk object 104"/>
          <p:cNvSpPr/>
          <p:nvPr/>
        </p:nvSpPr>
        <p:spPr>
          <a:xfrm>
            <a:off x="3512520" y="5426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4" name="bk object 105"/>
          <p:cNvSpPr/>
          <p:nvPr/>
        </p:nvSpPr>
        <p:spPr>
          <a:xfrm>
            <a:off x="3573360" y="5420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5" name="bk object 106"/>
          <p:cNvSpPr/>
          <p:nvPr/>
        </p:nvSpPr>
        <p:spPr>
          <a:xfrm>
            <a:off x="3630960" y="5411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6" name="bk object 107"/>
          <p:cNvSpPr/>
          <p:nvPr/>
        </p:nvSpPr>
        <p:spPr>
          <a:xfrm>
            <a:off x="3692160" y="5405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7" name="bk object 108"/>
          <p:cNvSpPr/>
          <p:nvPr/>
        </p:nvSpPr>
        <p:spPr>
          <a:xfrm>
            <a:off x="3750120" y="539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bk object 109"/>
          <p:cNvSpPr/>
          <p:nvPr/>
        </p:nvSpPr>
        <p:spPr>
          <a:xfrm>
            <a:off x="3808080" y="539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bk object 110"/>
          <p:cNvSpPr/>
          <p:nvPr/>
        </p:nvSpPr>
        <p:spPr>
          <a:xfrm>
            <a:off x="3868920" y="5380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bk object 111"/>
          <p:cNvSpPr/>
          <p:nvPr/>
        </p:nvSpPr>
        <p:spPr>
          <a:xfrm>
            <a:off x="3926880" y="5374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1" name="bk object 112"/>
          <p:cNvSpPr/>
          <p:nvPr/>
        </p:nvSpPr>
        <p:spPr>
          <a:xfrm>
            <a:off x="3987720" y="536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2" name="bk object 113"/>
          <p:cNvSpPr/>
          <p:nvPr/>
        </p:nvSpPr>
        <p:spPr>
          <a:xfrm>
            <a:off x="4045680" y="5356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3" name="bk object 114"/>
          <p:cNvSpPr/>
          <p:nvPr/>
        </p:nvSpPr>
        <p:spPr>
          <a:xfrm>
            <a:off x="4103640" y="534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4" name="bk object 115"/>
          <p:cNvSpPr/>
          <p:nvPr/>
        </p:nvSpPr>
        <p:spPr>
          <a:xfrm>
            <a:off x="4164480" y="533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5" name="bk object 116"/>
          <p:cNvSpPr/>
          <p:nvPr/>
        </p:nvSpPr>
        <p:spPr>
          <a:xfrm>
            <a:off x="4222440" y="5329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bk object 117"/>
          <p:cNvSpPr/>
          <p:nvPr/>
        </p:nvSpPr>
        <p:spPr>
          <a:xfrm>
            <a:off x="4283640" y="5320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bk object 118"/>
          <p:cNvSpPr/>
          <p:nvPr/>
        </p:nvSpPr>
        <p:spPr>
          <a:xfrm>
            <a:off x="4341600" y="5311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8" name="bk object 119"/>
          <p:cNvSpPr/>
          <p:nvPr/>
        </p:nvSpPr>
        <p:spPr>
          <a:xfrm>
            <a:off x="4402080" y="530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9" name="bk object 120"/>
          <p:cNvSpPr/>
          <p:nvPr/>
        </p:nvSpPr>
        <p:spPr>
          <a:xfrm>
            <a:off x="4460040" y="5289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0" name="bk object 121"/>
          <p:cNvSpPr/>
          <p:nvPr/>
        </p:nvSpPr>
        <p:spPr>
          <a:xfrm>
            <a:off x="4518000" y="5280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bk object 122"/>
          <p:cNvSpPr/>
          <p:nvPr/>
        </p:nvSpPr>
        <p:spPr>
          <a:xfrm>
            <a:off x="4579200" y="526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bk object 123"/>
          <p:cNvSpPr/>
          <p:nvPr/>
        </p:nvSpPr>
        <p:spPr>
          <a:xfrm>
            <a:off x="4637160" y="525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bk object 124"/>
          <p:cNvSpPr/>
          <p:nvPr/>
        </p:nvSpPr>
        <p:spPr>
          <a:xfrm>
            <a:off x="4698000" y="5247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4" name="bk object 125"/>
          <p:cNvSpPr/>
          <p:nvPr/>
        </p:nvSpPr>
        <p:spPr>
          <a:xfrm>
            <a:off x="4755960" y="5234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5" name="bk object 126"/>
          <p:cNvSpPr/>
          <p:nvPr/>
        </p:nvSpPr>
        <p:spPr>
          <a:xfrm>
            <a:off x="4816800" y="522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bk object 127"/>
          <p:cNvSpPr/>
          <p:nvPr/>
        </p:nvSpPr>
        <p:spPr>
          <a:xfrm>
            <a:off x="4874760" y="521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bk object 128"/>
          <p:cNvSpPr/>
          <p:nvPr/>
        </p:nvSpPr>
        <p:spPr>
          <a:xfrm>
            <a:off x="4932720" y="5198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8" name="bk object 129"/>
          <p:cNvSpPr/>
          <p:nvPr/>
        </p:nvSpPr>
        <p:spPr>
          <a:xfrm>
            <a:off x="4993560" y="518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9" name="bk object 130"/>
          <p:cNvSpPr/>
          <p:nvPr/>
        </p:nvSpPr>
        <p:spPr>
          <a:xfrm>
            <a:off x="5051520" y="517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0" name="bk object 131"/>
          <p:cNvSpPr/>
          <p:nvPr/>
        </p:nvSpPr>
        <p:spPr>
          <a:xfrm>
            <a:off x="5112720" y="5158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bk object 132"/>
          <p:cNvSpPr/>
          <p:nvPr/>
        </p:nvSpPr>
        <p:spPr>
          <a:xfrm>
            <a:off x="5170320" y="51433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bk object 133"/>
          <p:cNvSpPr/>
          <p:nvPr/>
        </p:nvSpPr>
        <p:spPr>
          <a:xfrm>
            <a:off x="5228280" y="5127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3" name="bk object 134"/>
          <p:cNvSpPr/>
          <p:nvPr/>
        </p:nvSpPr>
        <p:spPr>
          <a:xfrm>
            <a:off x="5289120" y="5112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4" name="bk object 135"/>
          <p:cNvSpPr/>
          <p:nvPr/>
        </p:nvSpPr>
        <p:spPr>
          <a:xfrm>
            <a:off x="5347080" y="5097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5" name="bk object 136"/>
          <p:cNvSpPr/>
          <p:nvPr/>
        </p:nvSpPr>
        <p:spPr>
          <a:xfrm>
            <a:off x="5407920" y="507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6" name="bk object 137"/>
          <p:cNvSpPr/>
          <p:nvPr/>
        </p:nvSpPr>
        <p:spPr>
          <a:xfrm>
            <a:off x="5465880" y="5064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7" name="bk object 138"/>
          <p:cNvSpPr/>
          <p:nvPr/>
        </p:nvSpPr>
        <p:spPr>
          <a:xfrm>
            <a:off x="5527080" y="5045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8" name="bk object 139"/>
          <p:cNvSpPr/>
          <p:nvPr/>
        </p:nvSpPr>
        <p:spPr>
          <a:xfrm>
            <a:off x="5585040" y="5027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9" name="bk object 140"/>
          <p:cNvSpPr/>
          <p:nvPr/>
        </p:nvSpPr>
        <p:spPr>
          <a:xfrm>
            <a:off x="5642640" y="5009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0" name="bk object 141"/>
          <p:cNvSpPr/>
          <p:nvPr/>
        </p:nvSpPr>
        <p:spPr>
          <a:xfrm>
            <a:off x="5703840" y="4991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bk object 142"/>
          <p:cNvSpPr/>
          <p:nvPr/>
        </p:nvSpPr>
        <p:spPr>
          <a:xfrm>
            <a:off x="5761800" y="4969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bk object 143"/>
          <p:cNvSpPr/>
          <p:nvPr/>
        </p:nvSpPr>
        <p:spPr>
          <a:xfrm>
            <a:off x="5822640" y="494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3" name="bk object 144"/>
          <p:cNvSpPr/>
          <p:nvPr/>
        </p:nvSpPr>
        <p:spPr>
          <a:xfrm>
            <a:off x="5880600" y="492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4" name="bk object 145"/>
          <p:cNvSpPr/>
          <p:nvPr/>
        </p:nvSpPr>
        <p:spPr>
          <a:xfrm>
            <a:off x="5938560" y="4905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bk object 146"/>
          <p:cNvSpPr/>
          <p:nvPr/>
        </p:nvSpPr>
        <p:spPr>
          <a:xfrm>
            <a:off x="5999400" y="4880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6" name="bk object 147"/>
          <p:cNvSpPr/>
          <p:nvPr/>
        </p:nvSpPr>
        <p:spPr>
          <a:xfrm>
            <a:off x="6057360" y="4856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7" name="bk object 148"/>
          <p:cNvSpPr/>
          <p:nvPr/>
        </p:nvSpPr>
        <p:spPr>
          <a:xfrm>
            <a:off x="6118200" y="4832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bk object 149"/>
          <p:cNvSpPr/>
          <p:nvPr/>
        </p:nvSpPr>
        <p:spPr>
          <a:xfrm>
            <a:off x="6176160" y="4804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9" name="bk object 150"/>
          <p:cNvSpPr/>
          <p:nvPr/>
        </p:nvSpPr>
        <p:spPr>
          <a:xfrm>
            <a:off x="6237360" y="4777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0" name="bk object 151"/>
          <p:cNvSpPr/>
          <p:nvPr/>
        </p:nvSpPr>
        <p:spPr>
          <a:xfrm>
            <a:off x="6295320" y="4750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bk object 152"/>
          <p:cNvSpPr/>
          <p:nvPr/>
        </p:nvSpPr>
        <p:spPr>
          <a:xfrm>
            <a:off x="6353280" y="4719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2" name="bk object 153"/>
          <p:cNvSpPr/>
          <p:nvPr/>
        </p:nvSpPr>
        <p:spPr>
          <a:xfrm>
            <a:off x="6413760" y="468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3" name="bk object 154"/>
          <p:cNvSpPr/>
          <p:nvPr/>
        </p:nvSpPr>
        <p:spPr>
          <a:xfrm>
            <a:off x="6471720" y="4655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4" name="bk object 155"/>
          <p:cNvSpPr/>
          <p:nvPr/>
        </p:nvSpPr>
        <p:spPr>
          <a:xfrm>
            <a:off x="6532920" y="4619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bk object 156"/>
          <p:cNvSpPr/>
          <p:nvPr/>
        </p:nvSpPr>
        <p:spPr>
          <a:xfrm>
            <a:off x="6590880" y="4582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bk object 157"/>
          <p:cNvSpPr/>
          <p:nvPr/>
        </p:nvSpPr>
        <p:spPr>
          <a:xfrm>
            <a:off x="6651720" y="4545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7" name="bk object 158"/>
          <p:cNvSpPr/>
          <p:nvPr/>
        </p:nvSpPr>
        <p:spPr>
          <a:xfrm>
            <a:off x="6709680" y="450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8" name="bk object 159"/>
          <p:cNvSpPr/>
          <p:nvPr/>
        </p:nvSpPr>
        <p:spPr>
          <a:xfrm>
            <a:off x="6767640" y="4463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bk object 160"/>
          <p:cNvSpPr/>
          <p:nvPr/>
        </p:nvSpPr>
        <p:spPr>
          <a:xfrm>
            <a:off x="6828480" y="4417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0" name="bk object 161"/>
          <p:cNvSpPr/>
          <p:nvPr/>
        </p:nvSpPr>
        <p:spPr>
          <a:xfrm>
            <a:off x="6886440" y="4372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1" name="bk object 162"/>
          <p:cNvSpPr/>
          <p:nvPr/>
        </p:nvSpPr>
        <p:spPr>
          <a:xfrm>
            <a:off x="6947280" y="4320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bk object 163"/>
          <p:cNvSpPr/>
          <p:nvPr/>
        </p:nvSpPr>
        <p:spPr>
          <a:xfrm>
            <a:off x="7005240" y="426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3" name="bk object 164"/>
          <p:cNvSpPr/>
          <p:nvPr/>
        </p:nvSpPr>
        <p:spPr>
          <a:xfrm>
            <a:off x="7063200" y="4210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4" name="bk object 165"/>
          <p:cNvSpPr/>
          <p:nvPr/>
        </p:nvSpPr>
        <p:spPr>
          <a:xfrm>
            <a:off x="7124040" y="4152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bk object 166"/>
          <p:cNvSpPr/>
          <p:nvPr/>
        </p:nvSpPr>
        <p:spPr>
          <a:xfrm>
            <a:off x="7182000" y="408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6" name="bk object 167"/>
          <p:cNvSpPr/>
          <p:nvPr/>
        </p:nvSpPr>
        <p:spPr>
          <a:xfrm>
            <a:off x="7242840" y="4018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7" name="bk object 168"/>
          <p:cNvSpPr/>
          <p:nvPr/>
        </p:nvSpPr>
        <p:spPr>
          <a:xfrm>
            <a:off x="7300800" y="3945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8" name="bk object 169"/>
          <p:cNvSpPr/>
          <p:nvPr/>
        </p:nvSpPr>
        <p:spPr>
          <a:xfrm>
            <a:off x="7362000" y="386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bk object 170"/>
          <p:cNvSpPr/>
          <p:nvPr/>
        </p:nvSpPr>
        <p:spPr>
          <a:xfrm>
            <a:off x="7419960" y="3783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bk object 171"/>
          <p:cNvSpPr/>
          <p:nvPr/>
        </p:nvSpPr>
        <p:spPr>
          <a:xfrm>
            <a:off x="7477560" y="369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1" name="bk object 172"/>
          <p:cNvSpPr/>
          <p:nvPr/>
        </p:nvSpPr>
        <p:spPr>
          <a:xfrm>
            <a:off x="7538760" y="359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2" name="bk object 173"/>
          <p:cNvSpPr/>
          <p:nvPr/>
        </p:nvSpPr>
        <p:spPr>
          <a:xfrm>
            <a:off x="7596720" y="3485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bk object 174"/>
          <p:cNvSpPr/>
          <p:nvPr/>
        </p:nvSpPr>
        <p:spPr>
          <a:xfrm>
            <a:off x="7657560" y="3366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4" name="bk object 175"/>
          <p:cNvSpPr/>
          <p:nvPr/>
        </p:nvSpPr>
        <p:spPr>
          <a:xfrm>
            <a:off x="7715520" y="323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5" name="bk object 176"/>
          <p:cNvSpPr/>
          <p:nvPr/>
        </p:nvSpPr>
        <p:spPr>
          <a:xfrm>
            <a:off x="7773480" y="3098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bk object 177"/>
          <p:cNvSpPr/>
          <p:nvPr/>
        </p:nvSpPr>
        <p:spPr>
          <a:xfrm>
            <a:off x="7834320" y="2942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7" name="bk object 178"/>
          <p:cNvSpPr/>
          <p:nvPr/>
        </p:nvSpPr>
        <p:spPr>
          <a:xfrm>
            <a:off x="7892280" y="2768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8" name="bk object 179"/>
          <p:cNvSpPr/>
          <p:nvPr/>
        </p:nvSpPr>
        <p:spPr>
          <a:xfrm>
            <a:off x="7953480" y="2576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bk object 180"/>
          <p:cNvSpPr/>
          <p:nvPr/>
        </p:nvSpPr>
        <p:spPr>
          <a:xfrm>
            <a:off x="8011080" y="2357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08">
                <a:moveTo>
                  <a:pt x="0" y="0"/>
                </a:moveTo>
                <a:lnTo>
                  <a:pt x="2908"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0" name="bk object 181"/>
          <p:cNvSpPr/>
          <p:nvPr/>
        </p:nvSpPr>
        <p:spPr>
          <a:xfrm>
            <a:off x="8071920" y="211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1" name="bk object 182"/>
          <p:cNvSpPr/>
          <p:nvPr/>
        </p:nvSpPr>
        <p:spPr>
          <a:xfrm>
            <a:off x="8129880" y="1830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2" name="bk object 183"/>
          <p:cNvSpPr/>
          <p:nvPr/>
        </p:nvSpPr>
        <p:spPr>
          <a:xfrm>
            <a:off x="8187840" y="150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bk object 184"/>
          <p:cNvSpPr/>
          <p:nvPr/>
        </p:nvSpPr>
        <p:spPr>
          <a:xfrm>
            <a:off x="8248680" y="1128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bk object 185"/>
          <p:cNvSpPr/>
          <p:nvPr/>
        </p:nvSpPr>
        <p:spPr>
          <a:xfrm>
            <a:off x="8306640" y="68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5" name="bk object 186"/>
          <p:cNvSpPr/>
          <p:nvPr/>
        </p:nvSpPr>
        <p:spPr>
          <a:xfrm>
            <a:off x="2387520" y="695160"/>
            <a:ext cx="5905800" cy="4843440"/>
          </a:xfrm>
          <a:custGeom>
            <a:avLst/>
            <a:gdLst>
              <a:gd name="textAreaLeft" fmla="*/ 0 w 5905800"/>
              <a:gd name="textAreaRight" fmla="*/ 5906520 w 5905800"/>
              <a:gd name="textAreaTop" fmla="*/ 0 h 4843440"/>
              <a:gd name="textAreaBottom" fmla="*/ 4844160 h 4843440"/>
            </a:gdLst>
            <a:ahLst/>
            <a:cxnLst/>
            <a:rect l="textAreaLeft" t="textAreaTop" r="textAreaRight" b="textAreaBottom"/>
            <a:pathLst>
              <a:path w="5906515" h="4844288">
                <a:moveTo>
                  <a:pt x="0" y="4844288"/>
                </a:moveTo>
                <a:lnTo>
                  <a:pt x="60832" y="4838319"/>
                </a:lnTo>
                <a:lnTo>
                  <a:pt x="118617" y="4832350"/>
                </a:lnTo>
                <a:lnTo>
                  <a:pt x="179450" y="4829429"/>
                </a:lnTo>
                <a:lnTo>
                  <a:pt x="237235" y="4823459"/>
                </a:lnTo>
                <a:lnTo>
                  <a:pt x="295020" y="4817491"/>
                </a:lnTo>
                <a:lnTo>
                  <a:pt x="355853" y="4811521"/>
                </a:lnTo>
                <a:lnTo>
                  <a:pt x="413638" y="4808601"/>
                </a:lnTo>
                <a:lnTo>
                  <a:pt x="474471" y="4802632"/>
                </a:lnTo>
                <a:lnTo>
                  <a:pt x="532256" y="4796663"/>
                </a:lnTo>
                <a:lnTo>
                  <a:pt x="593089" y="4790694"/>
                </a:lnTo>
                <a:lnTo>
                  <a:pt x="650874" y="4784725"/>
                </a:lnTo>
                <a:lnTo>
                  <a:pt x="708659" y="4778756"/>
                </a:lnTo>
                <a:lnTo>
                  <a:pt x="769492" y="4772786"/>
                </a:lnTo>
                <a:lnTo>
                  <a:pt x="827277" y="4766818"/>
                </a:lnTo>
                <a:lnTo>
                  <a:pt x="888110" y="4760849"/>
                </a:lnTo>
                <a:lnTo>
                  <a:pt x="1003680" y="4748910"/>
                </a:lnTo>
                <a:lnTo>
                  <a:pt x="1064513" y="4739894"/>
                </a:lnTo>
                <a:lnTo>
                  <a:pt x="1122298" y="4733925"/>
                </a:lnTo>
                <a:lnTo>
                  <a:pt x="1183131" y="4727956"/>
                </a:lnTo>
                <a:lnTo>
                  <a:pt x="1240916" y="4718938"/>
                </a:lnTo>
                <a:lnTo>
                  <a:pt x="1301749" y="4712970"/>
                </a:lnTo>
                <a:lnTo>
                  <a:pt x="1359534" y="4703953"/>
                </a:lnTo>
                <a:lnTo>
                  <a:pt x="1417319" y="4697983"/>
                </a:lnTo>
                <a:lnTo>
                  <a:pt x="1478152" y="4688967"/>
                </a:lnTo>
                <a:lnTo>
                  <a:pt x="1535937" y="4682998"/>
                </a:lnTo>
                <a:lnTo>
                  <a:pt x="1596770" y="4673981"/>
                </a:lnTo>
                <a:lnTo>
                  <a:pt x="1654555" y="4664963"/>
                </a:lnTo>
                <a:lnTo>
                  <a:pt x="1712340" y="4655947"/>
                </a:lnTo>
                <a:lnTo>
                  <a:pt x="1773173" y="4646930"/>
                </a:lnTo>
                <a:lnTo>
                  <a:pt x="1830958" y="4637912"/>
                </a:lnTo>
                <a:lnTo>
                  <a:pt x="1891791" y="4628896"/>
                </a:lnTo>
                <a:lnTo>
                  <a:pt x="1949576" y="4619879"/>
                </a:lnTo>
                <a:lnTo>
                  <a:pt x="2010409" y="4610861"/>
                </a:lnTo>
                <a:lnTo>
                  <a:pt x="2068194" y="4598797"/>
                </a:lnTo>
                <a:lnTo>
                  <a:pt x="2125979" y="4589780"/>
                </a:lnTo>
                <a:lnTo>
                  <a:pt x="2186812" y="4577715"/>
                </a:lnTo>
                <a:lnTo>
                  <a:pt x="2244597" y="4568698"/>
                </a:lnTo>
                <a:lnTo>
                  <a:pt x="2305430" y="4556633"/>
                </a:lnTo>
                <a:lnTo>
                  <a:pt x="2363215" y="4544568"/>
                </a:lnTo>
                <a:lnTo>
                  <a:pt x="2424048" y="4532503"/>
                </a:lnTo>
                <a:lnTo>
                  <a:pt x="2481833" y="4520437"/>
                </a:lnTo>
                <a:lnTo>
                  <a:pt x="2539618" y="4508373"/>
                </a:lnTo>
                <a:lnTo>
                  <a:pt x="2600451" y="4496308"/>
                </a:lnTo>
                <a:lnTo>
                  <a:pt x="2658236" y="4481195"/>
                </a:lnTo>
                <a:lnTo>
                  <a:pt x="2719069" y="4469130"/>
                </a:lnTo>
                <a:lnTo>
                  <a:pt x="2776854" y="4454017"/>
                </a:lnTo>
                <a:lnTo>
                  <a:pt x="2834639" y="4438904"/>
                </a:lnTo>
                <a:lnTo>
                  <a:pt x="2895472" y="4423791"/>
                </a:lnTo>
                <a:lnTo>
                  <a:pt x="2953257" y="4408678"/>
                </a:lnTo>
                <a:lnTo>
                  <a:pt x="3014090" y="4390517"/>
                </a:lnTo>
                <a:lnTo>
                  <a:pt x="3071875" y="4375404"/>
                </a:lnTo>
                <a:lnTo>
                  <a:pt x="3132708" y="4357243"/>
                </a:lnTo>
                <a:lnTo>
                  <a:pt x="3190493" y="4339082"/>
                </a:lnTo>
                <a:lnTo>
                  <a:pt x="3248278" y="4320921"/>
                </a:lnTo>
                <a:lnTo>
                  <a:pt x="3309111" y="4302759"/>
                </a:lnTo>
                <a:lnTo>
                  <a:pt x="3366896" y="4281551"/>
                </a:lnTo>
                <a:lnTo>
                  <a:pt x="3427729" y="4260342"/>
                </a:lnTo>
                <a:lnTo>
                  <a:pt x="3543299" y="4217924"/>
                </a:lnTo>
                <a:lnTo>
                  <a:pt x="3604132" y="4193666"/>
                </a:lnTo>
                <a:lnTo>
                  <a:pt x="3661917" y="4169409"/>
                </a:lnTo>
                <a:lnTo>
                  <a:pt x="3722750" y="4145153"/>
                </a:lnTo>
                <a:lnTo>
                  <a:pt x="3780535" y="4117721"/>
                </a:lnTo>
                <a:lnTo>
                  <a:pt x="3841368" y="4090288"/>
                </a:lnTo>
                <a:lnTo>
                  <a:pt x="3899153" y="4062856"/>
                </a:lnTo>
                <a:lnTo>
                  <a:pt x="3956938" y="4032504"/>
                </a:lnTo>
                <a:lnTo>
                  <a:pt x="4017771" y="3999103"/>
                </a:lnTo>
                <a:lnTo>
                  <a:pt x="4075556" y="3968750"/>
                </a:lnTo>
                <a:lnTo>
                  <a:pt x="4136389" y="3932301"/>
                </a:lnTo>
                <a:lnTo>
                  <a:pt x="4194174" y="3895852"/>
                </a:lnTo>
                <a:lnTo>
                  <a:pt x="4255007" y="3859403"/>
                </a:lnTo>
                <a:lnTo>
                  <a:pt x="4312792" y="3819779"/>
                </a:lnTo>
                <a:lnTo>
                  <a:pt x="4370577" y="3777221"/>
                </a:lnTo>
                <a:lnTo>
                  <a:pt x="4431410" y="3731641"/>
                </a:lnTo>
                <a:lnTo>
                  <a:pt x="4489195" y="3686048"/>
                </a:lnTo>
                <a:lnTo>
                  <a:pt x="4550028" y="3634231"/>
                </a:lnTo>
                <a:lnTo>
                  <a:pt x="4607812" y="3582416"/>
                </a:lnTo>
                <a:lnTo>
                  <a:pt x="4665598" y="3524630"/>
                </a:lnTo>
                <a:lnTo>
                  <a:pt x="4726431" y="3466846"/>
                </a:lnTo>
                <a:lnTo>
                  <a:pt x="4784216" y="3402837"/>
                </a:lnTo>
                <a:lnTo>
                  <a:pt x="4845049" y="3332860"/>
                </a:lnTo>
                <a:lnTo>
                  <a:pt x="4902834" y="3259835"/>
                </a:lnTo>
                <a:lnTo>
                  <a:pt x="4963667" y="3180587"/>
                </a:lnTo>
                <a:lnTo>
                  <a:pt x="5021452" y="3098418"/>
                </a:lnTo>
                <a:lnTo>
                  <a:pt x="5079237" y="3007105"/>
                </a:lnTo>
                <a:lnTo>
                  <a:pt x="5140070" y="2906649"/>
                </a:lnTo>
                <a:lnTo>
                  <a:pt x="5197855" y="2799968"/>
                </a:lnTo>
                <a:lnTo>
                  <a:pt x="5258687" y="2681224"/>
                </a:lnTo>
                <a:lnTo>
                  <a:pt x="5316473" y="2553207"/>
                </a:lnTo>
                <a:lnTo>
                  <a:pt x="5374258" y="2413127"/>
                </a:lnTo>
                <a:lnTo>
                  <a:pt x="5435091" y="2257679"/>
                </a:lnTo>
                <a:lnTo>
                  <a:pt x="5492875" y="2084069"/>
                </a:lnTo>
                <a:lnTo>
                  <a:pt x="5553709" y="1892172"/>
                </a:lnTo>
                <a:lnTo>
                  <a:pt x="5611494" y="1672716"/>
                </a:lnTo>
                <a:lnTo>
                  <a:pt x="5672327" y="1425955"/>
                </a:lnTo>
                <a:lnTo>
                  <a:pt x="5730112" y="1145666"/>
                </a:lnTo>
                <a:lnTo>
                  <a:pt x="5787897" y="822705"/>
                </a:lnTo>
                <a:lnTo>
                  <a:pt x="5848730" y="444880"/>
                </a:lnTo>
                <a:lnTo>
                  <a:pt x="5906515"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6" name="bk object 187"/>
          <p:cNvSpPr/>
          <p:nvPr/>
        </p:nvSpPr>
        <p:spPr>
          <a:xfrm>
            <a:off x="3711600" y="1895040"/>
            <a:ext cx="2564640" cy="659520"/>
          </a:xfrm>
          <a:custGeom>
            <a:avLst/>
            <a:gdLst>
              <a:gd name="textAreaLeft" fmla="*/ 0 w 2564640"/>
              <a:gd name="textAreaRight" fmla="*/ 2565360 w 2564640"/>
              <a:gd name="textAreaTop" fmla="*/ 0 h 659520"/>
              <a:gd name="textAreaBottom" fmla="*/ 660240 h 659520"/>
            </a:gdLst>
            <a:ahLst/>
            <a:cxnLst/>
            <a:rect l="textAreaLeft" t="textAreaTop" r="textAreaRight" b="textAreaBottom"/>
            <a:pathLst>
              <a:path w="2565400" h="660400">
                <a:moveTo>
                  <a:pt x="0" y="660400"/>
                </a:moveTo>
                <a:lnTo>
                  <a:pt x="2565400" y="660400"/>
                </a:lnTo>
                <a:lnTo>
                  <a:pt x="2565400" y="0"/>
                </a:lnTo>
                <a:lnTo>
                  <a:pt x="0" y="0"/>
                </a:lnTo>
                <a:lnTo>
                  <a:pt x="0" y="6604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88" name="PlaceHolder 2"/>
          <p:cNvSpPr>
            <a:spLocks noGrp="1"/>
          </p:cNvSpPr>
          <p:nvPr>
            <p:ph type="ftr" idx="10"/>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89" name="PlaceHolder 3"/>
          <p:cNvSpPr>
            <a:spLocks noGrp="1"/>
          </p:cNvSpPr>
          <p:nvPr>
            <p:ph type="dt" idx="11"/>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0" name="PlaceHolder 4"/>
          <p:cNvSpPr>
            <a:spLocks noGrp="1"/>
          </p:cNvSpPr>
          <p:nvPr>
            <p:ph type="sldNum" idx="12"/>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61F9705-5889-4F40-9C66-F2C11886F55A}"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1" name="PlaceHolder 1"/>
          <p:cNvSpPr>
            <a:spLocks noGrp="1"/>
          </p:cNvSpPr>
          <p:nvPr>
            <p:ph type="ftr" idx="13"/>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92" name="PlaceHolder 2"/>
          <p:cNvSpPr>
            <a:spLocks noGrp="1"/>
          </p:cNvSpPr>
          <p:nvPr>
            <p:ph type="dt" idx="14"/>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3" name="PlaceHolder 3"/>
          <p:cNvSpPr>
            <a:spLocks noGrp="1"/>
          </p:cNvSpPr>
          <p:nvPr>
            <p:ph type="sldNum" idx="15"/>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EBD7EAC-8FD1-4434-9C95-79BE485A3A12}"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
        <p:nvSpPr>
          <p:cNvPr id="194" name="PlaceHolder 4"/>
          <p:cNvSpPr>
            <a:spLocks noGrp="1"/>
          </p:cNvSpPr>
          <p:nvPr>
            <p:ph type="title"/>
          </p:nvPr>
        </p:nvSpPr>
        <p:spPr>
          <a:xfrm>
            <a:off x="502920" y="309960"/>
            <a:ext cx="9051840" cy="1297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195" name="PlaceHolder 5"/>
          <p:cNvSpPr>
            <a:spLocks noGrp="1"/>
          </p:cNvSpPr>
          <p:nvPr>
            <p:ph type="body"/>
          </p:nvPr>
        </p:nvSpPr>
        <p:spPr>
          <a:xfrm>
            <a:off x="502920" y="1818720"/>
            <a:ext cx="9051840" cy="4507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6C9D30"/>
        </a:solidFill>
        <a:effectLst/>
      </p:bgPr>
    </p:bg>
    <p:spTree>
      <p:nvGrpSpPr>
        <p:cNvPr id="1" name=""/>
        <p:cNvGrpSpPr/>
        <p:nvPr/>
      </p:nvGrpSpPr>
      <p:grpSpPr>
        <a:xfrm>
          <a:off x="0" y="0"/>
          <a:ext cx="0" cy="0"/>
          <a:chOff x="0" y="0"/>
          <a:chExt cx="0" cy="0"/>
        </a:xfrm>
      </p:grpSpPr>
      <p:sp>
        <p:nvSpPr>
          <p:cNvPr id="19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19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198" name="Picture 24" descr="utdlogo"/>
          <p:cNvPicPr/>
          <p:nvPr/>
        </p:nvPicPr>
        <p:blipFill>
          <a:blip r:embed="rId2"/>
          <a:stretch/>
        </p:blipFill>
        <p:spPr>
          <a:xfrm>
            <a:off x="9304200" y="7254360"/>
            <a:ext cx="619200" cy="272880"/>
          </a:xfrm>
          <a:prstGeom prst="rect">
            <a:avLst/>
          </a:prstGeom>
          <a:noFill/>
          <a:ln w="9525">
            <a:noFill/>
          </a:ln>
        </p:spPr>
      </p:pic>
      <p:sp>
        <p:nvSpPr>
          <p:cNvPr id="19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0"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01"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2"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03"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4"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rgbClr val="6C9D30"/>
        </a:solidFill>
        <a:effectLst/>
      </p:bgPr>
    </p:bg>
    <p:spTree>
      <p:nvGrpSpPr>
        <p:cNvPr id="1" name=""/>
        <p:cNvGrpSpPr/>
        <p:nvPr/>
      </p:nvGrpSpPr>
      <p:grpSpPr>
        <a:xfrm>
          <a:off x="0" y="0"/>
          <a:ext cx="0" cy="0"/>
          <a:chOff x="0" y="0"/>
          <a:chExt cx="0" cy="0"/>
        </a:xfrm>
      </p:grpSpPr>
      <p:sp>
        <p:nvSpPr>
          <p:cNvPr id="20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07" name="Picture 24" descr="utdlogo"/>
          <p:cNvPicPr/>
          <p:nvPr/>
        </p:nvPicPr>
        <p:blipFill>
          <a:blip r:embed="rId2"/>
          <a:stretch/>
        </p:blipFill>
        <p:spPr>
          <a:xfrm>
            <a:off x="9304200" y="7254360"/>
            <a:ext cx="619200" cy="272880"/>
          </a:xfrm>
          <a:prstGeom prst="rect">
            <a:avLst/>
          </a:prstGeom>
          <a:noFill/>
          <a:ln w="9525">
            <a:noFill/>
          </a:ln>
        </p:spPr>
      </p:pic>
      <p:sp>
        <p:nvSpPr>
          <p:cNvPr id="20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6C9D30"/>
        </a:solidFill>
        <a:effectLst/>
      </p:bgPr>
    </p:bg>
    <p:spTree>
      <p:nvGrpSpPr>
        <p:cNvPr id="1" name=""/>
        <p:cNvGrpSpPr/>
        <p:nvPr/>
      </p:nvGrpSpPr>
      <p:grpSpPr>
        <a:xfrm>
          <a:off x="0" y="0"/>
          <a:ext cx="0" cy="0"/>
          <a:chOff x="0" y="0"/>
          <a:chExt cx="0" cy="0"/>
        </a:xfrm>
      </p:grpSpPr>
      <p:sp>
        <p:nvSpPr>
          <p:cNvPr id="210"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1"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2" name="Picture 24" descr="utdlogo"/>
          <p:cNvPicPr/>
          <p:nvPr/>
        </p:nvPicPr>
        <p:blipFill>
          <a:blip r:embed="rId2"/>
          <a:stretch/>
        </p:blipFill>
        <p:spPr>
          <a:xfrm>
            <a:off x="9304200" y="7254360"/>
            <a:ext cx="619200" cy="272880"/>
          </a:xfrm>
          <a:prstGeom prst="rect">
            <a:avLst/>
          </a:prstGeom>
          <a:noFill/>
          <a:ln w="9525">
            <a:noFill/>
          </a:ln>
        </p:spPr>
      </p:pic>
      <p:sp>
        <p:nvSpPr>
          <p:cNvPr id="213"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6C9D30"/>
        </a:solidFill>
        <a:effectLst/>
      </p:bgPr>
    </p:bg>
    <p:spTree>
      <p:nvGrpSpPr>
        <p:cNvPr id="1" name=""/>
        <p:cNvGrpSpPr/>
        <p:nvPr/>
      </p:nvGrpSpPr>
      <p:grpSpPr>
        <a:xfrm>
          <a:off x="0" y="0"/>
          <a:ext cx="0" cy="0"/>
          <a:chOff x="0" y="0"/>
          <a:chExt cx="0" cy="0"/>
        </a:xfrm>
      </p:grpSpPr>
      <p:sp>
        <p:nvSpPr>
          <p:cNvPr id="214"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5"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6" name="Picture 24" descr="utdlogo"/>
          <p:cNvPicPr/>
          <p:nvPr/>
        </p:nvPicPr>
        <p:blipFill>
          <a:blip r:embed="rId2"/>
          <a:stretch/>
        </p:blipFill>
        <p:spPr>
          <a:xfrm>
            <a:off x="9304200" y="7254360"/>
            <a:ext cx="619200" cy="272880"/>
          </a:xfrm>
          <a:prstGeom prst="rect">
            <a:avLst/>
          </a:prstGeom>
          <a:noFill/>
          <a:ln w="9525">
            <a:noFill/>
          </a:ln>
        </p:spPr>
      </p:pic>
      <p:sp>
        <p:nvSpPr>
          <p:cNvPr id="217"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8"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19"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220"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6C9D30"/>
        </a:solidFill>
        <a:effectLst/>
      </p:bgPr>
    </p:bg>
    <p:spTree>
      <p:nvGrpSpPr>
        <p:cNvPr id="1" name=""/>
        <p:cNvGrpSpPr/>
        <p:nvPr/>
      </p:nvGrpSpPr>
      <p:grpSpPr>
        <a:xfrm>
          <a:off x="0" y="0"/>
          <a:ext cx="0" cy="0"/>
          <a:chOff x="0" y="0"/>
          <a:chExt cx="0" cy="0"/>
        </a:xfrm>
      </p:grpSpPr>
      <p:sp>
        <p:nvSpPr>
          <p:cNvPr id="22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23" name="Picture 24" descr="utdlogo"/>
          <p:cNvPicPr/>
          <p:nvPr/>
        </p:nvPicPr>
        <p:blipFill>
          <a:blip r:embed="rId2"/>
          <a:stretch/>
        </p:blipFill>
        <p:spPr>
          <a:xfrm>
            <a:off x="9304200" y="7254360"/>
            <a:ext cx="619200" cy="272880"/>
          </a:xfrm>
          <a:prstGeom prst="rect">
            <a:avLst/>
          </a:prstGeom>
          <a:noFill/>
          <a:ln w="9525">
            <a:noFill/>
          </a:ln>
        </p:spPr>
      </p:pic>
      <p:sp>
        <p:nvSpPr>
          <p:cNvPr id="22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5"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26"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227"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228"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9"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30" name="Picture 24" descr="utdlogo"/>
          <p:cNvPicPr/>
          <p:nvPr/>
        </p:nvPicPr>
        <p:blipFill>
          <a:blip r:embed="rId2"/>
          <a:stretch/>
        </p:blipFill>
        <p:spPr>
          <a:xfrm>
            <a:off x="9304200" y="7254360"/>
            <a:ext cx="619200" cy="272880"/>
          </a:xfrm>
          <a:prstGeom prst="rect">
            <a:avLst/>
          </a:prstGeom>
          <a:noFill/>
          <a:ln w="9525">
            <a:noFill/>
          </a:ln>
        </p:spPr>
      </p:pic>
      <p:sp>
        <p:nvSpPr>
          <p:cNvPr id="231"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2"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3"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4"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35"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236"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237"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238"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9"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40" name="Picture 16" descr="utdlogo"/>
          <p:cNvPicPr/>
          <p:nvPr/>
        </p:nvPicPr>
        <p:blipFill>
          <a:blip r:embed="rId2"/>
          <a:stretch/>
        </p:blipFill>
        <p:spPr>
          <a:xfrm>
            <a:off x="9304200" y="7254360"/>
            <a:ext cx="619200" cy="272880"/>
          </a:xfrm>
          <a:prstGeom prst="rect">
            <a:avLst/>
          </a:prstGeom>
          <a:noFill/>
          <a:ln w="9525">
            <a:noFill/>
          </a:ln>
        </p:spPr>
      </p:pic>
      <p:sp>
        <p:nvSpPr>
          <p:cNvPr id="241"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42"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6C9D30"/>
        </a:solidFill>
        <a:effectLst/>
      </p:bgPr>
    </p:bg>
    <p:spTree>
      <p:nvGrpSpPr>
        <p:cNvPr id="1" name=""/>
        <p:cNvGrpSpPr/>
        <p:nvPr/>
      </p:nvGrpSpPr>
      <p:grpSpPr>
        <a:xfrm>
          <a:off x="0" y="0"/>
          <a:ext cx="0" cy="0"/>
          <a:chOff x="0" y="0"/>
          <a:chExt cx="0" cy="0"/>
        </a:xfrm>
      </p:grpSpPr>
      <p:sp>
        <p:nvSpPr>
          <p:cNvPr id="24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45" name="Picture 24" descr="utdlogo"/>
          <p:cNvPicPr/>
          <p:nvPr/>
        </p:nvPicPr>
        <p:blipFill>
          <a:blip r:embed="rId2"/>
          <a:stretch/>
        </p:blipFill>
        <p:spPr>
          <a:xfrm>
            <a:off x="9304200" y="7254360"/>
            <a:ext cx="619200" cy="272880"/>
          </a:xfrm>
          <a:prstGeom prst="rect">
            <a:avLst/>
          </a:prstGeom>
          <a:noFill/>
          <a:ln w="9525">
            <a:noFill/>
          </a:ln>
        </p:spPr>
      </p:pic>
      <p:sp>
        <p:nvSpPr>
          <p:cNvPr id="24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48"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6C9D30"/>
        </a:solidFill>
        <a:effectLst/>
      </p:bgPr>
    </p:bg>
    <p:spTree>
      <p:nvGrpSpPr>
        <p:cNvPr id="1" name=""/>
        <p:cNvGrpSpPr/>
        <p:nvPr/>
      </p:nvGrpSpPr>
      <p:grpSpPr>
        <a:xfrm>
          <a:off x="0" y="0"/>
          <a:ext cx="0" cy="0"/>
          <a:chOff x="0" y="0"/>
          <a:chExt cx="0" cy="0"/>
        </a:xfrm>
      </p:grpSpPr>
      <p:sp>
        <p:nvSpPr>
          <p:cNvPr id="24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1" name="Picture 24" descr="utdlogo"/>
          <p:cNvPicPr/>
          <p:nvPr/>
        </p:nvPicPr>
        <p:blipFill>
          <a:blip r:embed="rId2"/>
          <a:stretch/>
        </p:blipFill>
        <p:spPr>
          <a:xfrm>
            <a:off x="9304200" y="7254360"/>
            <a:ext cx="619200" cy="272880"/>
          </a:xfrm>
          <a:prstGeom prst="rect">
            <a:avLst/>
          </a:prstGeom>
          <a:noFill/>
          <a:ln w="9525">
            <a:noFill/>
          </a:ln>
        </p:spPr>
      </p:pic>
      <p:sp>
        <p:nvSpPr>
          <p:cNvPr id="25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3"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54"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6C9D30"/>
        </a:solidFill>
        <a:effectLst/>
      </p:bgPr>
    </p:bg>
    <p:spTree>
      <p:nvGrpSpPr>
        <p:cNvPr id="1" name=""/>
        <p:cNvGrpSpPr/>
        <p:nvPr/>
      </p:nvGrpSpPr>
      <p:grpSpPr>
        <a:xfrm>
          <a:off x="0" y="0"/>
          <a:ext cx="0" cy="0"/>
          <a:chOff x="0" y="0"/>
          <a:chExt cx="0" cy="0"/>
        </a:xfrm>
      </p:grpSpPr>
      <p:sp>
        <p:nvSpPr>
          <p:cNvPr id="2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7" name="Picture 24" descr="utdlogo"/>
          <p:cNvPicPr/>
          <p:nvPr/>
        </p:nvPicPr>
        <p:blipFill>
          <a:blip r:embed="rId2"/>
          <a:stretch/>
        </p:blipFill>
        <p:spPr>
          <a:xfrm>
            <a:off x="9304200" y="7254360"/>
            <a:ext cx="619200" cy="272880"/>
          </a:xfrm>
          <a:prstGeom prst="rect">
            <a:avLst/>
          </a:prstGeom>
          <a:noFill/>
          <a:ln w="9525">
            <a:noFill/>
          </a:ln>
        </p:spPr>
      </p:pic>
      <p:sp>
        <p:nvSpPr>
          <p:cNvPr id="2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0"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1"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2"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6C9D30"/>
        </a:solidFill>
        <a:effectLst/>
      </p:bgPr>
    </p:bg>
    <p:spTree>
      <p:nvGrpSpPr>
        <p:cNvPr id="1" name=""/>
        <p:cNvGrpSpPr/>
        <p:nvPr/>
      </p:nvGrpSpPr>
      <p:grpSpPr>
        <a:xfrm>
          <a:off x="0" y="0"/>
          <a:ext cx="0" cy="0"/>
          <a:chOff x="0" y="0"/>
          <a:chExt cx="0" cy="0"/>
        </a:xfrm>
      </p:grpSpPr>
      <p:sp>
        <p:nvSpPr>
          <p:cNvPr id="26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65" name="Picture 24" descr="utdlogo"/>
          <p:cNvPicPr/>
          <p:nvPr/>
        </p:nvPicPr>
        <p:blipFill>
          <a:blip r:embed="rId2"/>
          <a:stretch/>
        </p:blipFill>
        <p:spPr>
          <a:xfrm>
            <a:off x="9304200" y="7254360"/>
            <a:ext cx="619200" cy="272880"/>
          </a:xfrm>
          <a:prstGeom prst="rect">
            <a:avLst/>
          </a:prstGeom>
          <a:noFill/>
          <a:ln w="9525">
            <a:noFill/>
          </a:ln>
        </p:spPr>
      </p:pic>
      <p:sp>
        <p:nvSpPr>
          <p:cNvPr id="26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8"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1">
    <p:bg>
      <p:bgPr>
        <a:solidFill>
          <a:srgbClr val="6C9D30"/>
        </a:solidFill>
        <a:effectLst/>
      </p:bgPr>
    </p:bg>
    <p:spTree>
      <p:nvGrpSpPr>
        <p:cNvPr id="1" name=""/>
        <p:cNvGrpSpPr/>
        <p:nvPr/>
      </p:nvGrpSpPr>
      <p:grpSpPr>
        <a:xfrm>
          <a:off x="0" y="0"/>
          <a:ext cx="0" cy="0"/>
          <a:chOff x="0" y="0"/>
          <a:chExt cx="0" cy="0"/>
        </a:xfrm>
      </p:grpSpPr>
      <p:sp>
        <p:nvSpPr>
          <p:cNvPr id="26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1" name="Picture 24" descr="utdlogo"/>
          <p:cNvPicPr/>
          <p:nvPr/>
        </p:nvPicPr>
        <p:blipFill>
          <a:blip r:embed="rId2"/>
          <a:stretch/>
        </p:blipFill>
        <p:spPr>
          <a:xfrm>
            <a:off x="9304200" y="7254360"/>
            <a:ext cx="619200" cy="272880"/>
          </a:xfrm>
          <a:prstGeom prst="rect">
            <a:avLst/>
          </a:prstGeom>
          <a:noFill/>
          <a:ln w="9525">
            <a:noFill/>
          </a:ln>
        </p:spPr>
      </p:pic>
      <p:sp>
        <p:nvSpPr>
          <p:cNvPr id="27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3"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74"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6C9D30"/>
        </a:solidFill>
        <a:effectLst/>
      </p:bgPr>
    </p:bg>
    <p:spTree>
      <p:nvGrpSpPr>
        <p:cNvPr id="1" name=""/>
        <p:cNvGrpSpPr/>
        <p:nvPr/>
      </p:nvGrpSpPr>
      <p:grpSpPr>
        <a:xfrm>
          <a:off x="0" y="0"/>
          <a:ext cx="0" cy="0"/>
          <a:chOff x="0" y="0"/>
          <a:chExt cx="0" cy="0"/>
        </a:xfrm>
      </p:grpSpPr>
      <p:sp>
        <p:nvSpPr>
          <p:cNvPr id="27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7" name="Picture 24" descr="utdlogo"/>
          <p:cNvPicPr/>
          <p:nvPr/>
        </p:nvPicPr>
        <p:blipFill>
          <a:blip r:embed="rId2"/>
          <a:stretch/>
        </p:blipFill>
        <p:spPr>
          <a:xfrm>
            <a:off x="9304200" y="7254360"/>
            <a:ext cx="619200" cy="272880"/>
          </a:xfrm>
          <a:prstGeom prst="rect">
            <a:avLst/>
          </a:prstGeom>
          <a:noFill/>
          <a:ln w="9525">
            <a:noFill/>
          </a:ln>
        </p:spPr>
      </p:pic>
      <p:sp>
        <p:nvSpPr>
          <p:cNvPr id="27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9"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280"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fault 2">
    <p:bg>
      <p:bgPr>
        <a:solidFill>
          <a:srgbClr val="6C9D30"/>
        </a:solidFill>
        <a:effectLst/>
      </p:bgPr>
    </p:bg>
    <p:spTree>
      <p:nvGrpSpPr>
        <p:cNvPr id="1" name=""/>
        <p:cNvGrpSpPr/>
        <p:nvPr/>
      </p:nvGrpSpPr>
      <p:grpSpPr>
        <a:xfrm>
          <a:off x="0" y="0"/>
          <a:ext cx="0" cy="0"/>
          <a:chOff x="0" y="0"/>
          <a:chExt cx="0" cy="0"/>
        </a:xfrm>
      </p:grpSpPr>
      <p:sp>
        <p:nvSpPr>
          <p:cNvPr id="28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83" name="Picture 24" descr="utdlogo"/>
          <p:cNvPicPr/>
          <p:nvPr/>
        </p:nvPicPr>
        <p:blipFill>
          <a:blip r:embed="rId2"/>
          <a:stretch/>
        </p:blipFill>
        <p:spPr>
          <a:xfrm>
            <a:off x="9304200" y="7254360"/>
            <a:ext cx="619200" cy="272880"/>
          </a:xfrm>
          <a:prstGeom prst="rect">
            <a:avLst/>
          </a:prstGeom>
          <a:noFill/>
          <a:ln w="9525">
            <a:noFill/>
          </a:ln>
        </p:spPr>
      </p:pic>
      <p:sp>
        <p:nvSpPr>
          <p:cNvPr id="28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86"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287"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6C9D30"/>
        </a:solidFill>
        <a:effectLst/>
      </p:bgPr>
    </p:bg>
    <p:spTree>
      <p:nvGrpSpPr>
        <p:cNvPr id="1" name=""/>
        <p:cNvGrpSpPr/>
        <p:nvPr/>
      </p:nvGrpSpPr>
      <p:grpSpPr>
        <a:xfrm>
          <a:off x="0" y="0"/>
          <a:ext cx="0" cy="0"/>
          <a:chOff x="0" y="0"/>
          <a:chExt cx="0" cy="0"/>
        </a:xfrm>
      </p:grpSpPr>
      <p:sp>
        <p:nvSpPr>
          <p:cNvPr id="288"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9"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0" name="Picture 24" descr="utdlogo"/>
          <p:cNvPicPr/>
          <p:nvPr/>
        </p:nvPicPr>
        <p:blipFill>
          <a:blip r:embed="rId2"/>
          <a:stretch/>
        </p:blipFill>
        <p:spPr>
          <a:xfrm>
            <a:off x="9304200" y="7254360"/>
            <a:ext cx="619200" cy="272880"/>
          </a:xfrm>
          <a:prstGeom prst="rect">
            <a:avLst/>
          </a:prstGeom>
          <a:noFill/>
          <a:ln w="9525">
            <a:noFill/>
          </a:ln>
        </p:spPr>
      </p:pic>
      <p:sp>
        <p:nvSpPr>
          <p:cNvPr id="291"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2"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93"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4"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95"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6"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efault 14">
    <p:bg>
      <p:bgPr>
        <a:solidFill>
          <a:srgbClr val="6C9D30"/>
        </a:solidFill>
        <a:effectLst/>
      </p:bgPr>
    </p:bg>
    <p:spTree>
      <p:nvGrpSpPr>
        <p:cNvPr id="1" name=""/>
        <p:cNvGrpSpPr/>
        <p:nvPr/>
      </p:nvGrpSpPr>
      <p:grpSpPr>
        <a:xfrm>
          <a:off x="0" y="0"/>
          <a:ext cx="0" cy="0"/>
          <a:chOff x="0" y="0"/>
          <a:chExt cx="0" cy="0"/>
        </a:xfrm>
      </p:grpSpPr>
      <p:sp>
        <p:nvSpPr>
          <p:cNvPr id="29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9" name="Picture 24" descr="utdlogo"/>
          <p:cNvPicPr/>
          <p:nvPr/>
        </p:nvPicPr>
        <p:blipFill>
          <a:blip r:embed="rId2"/>
          <a:stretch/>
        </p:blipFill>
        <p:spPr>
          <a:xfrm>
            <a:off x="9304200" y="7254360"/>
            <a:ext cx="619200" cy="272880"/>
          </a:xfrm>
          <a:prstGeom prst="rect">
            <a:avLst/>
          </a:prstGeom>
          <a:noFill/>
          <a:ln w="9525">
            <a:noFill/>
          </a:ln>
        </p:spPr>
      </p:pic>
      <p:sp>
        <p:nvSpPr>
          <p:cNvPr id="30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6C9D30"/>
        </a:solidFill>
        <a:effectLst/>
      </p:bgPr>
    </p:bg>
    <p:spTree>
      <p:nvGrpSpPr>
        <p:cNvPr id="1" name=""/>
        <p:cNvGrpSpPr/>
        <p:nvPr/>
      </p:nvGrpSpPr>
      <p:grpSpPr>
        <a:xfrm>
          <a:off x="0" y="0"/>
          <a:ext cx="0" cy="0"/>
          <a:chOff x="0" y="0"/>
          <a:chExt cx="0" cy="0"/>
        </a:xfrm>
      </p:grpSpPr>
      <p:sp>
        <p:nvSpPr>
          <p:cNvPr id="302"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3"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4" name="Picture 24" descr="utdlogo"/>
          <p:cNvPicPr/>
          <p:nvPr/>
        </p:nvPicPr>
        <p:blipFill>
          <a:blip r:embed="rId2"/>
          <a:stretch/>
        </p:blipFill>
        <p:spPr>
          <a:xfrm>
            <a:off x="9304200" y="7254360"/>
            <a:ext cx="619200" cy="272880"/>
          </a:xfrm>
          <a:prstGeom prst="rect">
            <a:avLst/>
          </a:prstGeom>
          <a:noFill/>
          <a:ln w="9525">
            <a:noFill/>
          </a:ln>
        </p:spPr>
      </p:pic>
      <p:sp>
        <p:nvSpPr>
          <p:cNvPr id="305"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6C9D30"/>
        </a:solidFill>
        <a:effectLst/>
      </p:bgPr>
    </p:bg>
    <p:spTree>
      <p:nvGrpSpPr>
        <p:cNvPr id="1" name=""/>
        <p:cNvGrpSpPr/>
        <p:nvPr/>
      </p:nvGrpSpPr>
      <p:grpSpPr>
        <a:xfrm>
          <a:off x="0" y="0"/>
          <a:ext cx="0" cy="0"/>
          <a:chOff x="0" y="0"/>
          <a:chExt cx="0" cy="0"/>
        </a:xfrm>
      </p:grpSpPr>
      <p:sp>
        <p:nvSpPr>
          <p:cNvPr id="30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8" name="Picture 24" descr="utdlogo"/>
          <p:cNvPicPr/>
          <p:nvPr/>
        </p:nvPicPr>
        <p:blipFill>
          <a:blip r:embed="rId2"/>
          <a:stretch/>
        </p:blipFill>
        <p:spPr>
          <a:xfrm>
            <a:off x="9304200" y="7254360"/>
            <a:ext cx="619200" cy="272880"/>
          </a:xfrm>
          <a:prstGeom prst="rect">
            <a:avLst/>
          </a:prstGeom>
          <a:noFill/>
          <a:ln w="9525">
            <a:noFill/>
          </a:ln>
        </p:spPr>
      </p:pic>
      <p:sp>
        <p:nvSpPr>
          <p:cNvPr id="30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0"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1"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312"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6C9D30"/>
        </a:solidFill>
        <a:effectLst/>
      </p:bgPr>
    </p:bg>
    <p:spTree>
      <p:nvGrpSpPr>
        <p:cNvPr id="1" name=""/>
        <p:cNvGrpSpPr/>
        <p:nvPr/>
      </p:nvGrpSpPr>
      <p:grpSpPr>
        <a:xfrm>
          <a:off x="0" y="0"/>
          <a:ext cx="0" cy="0"/>
          <a:chOff x="0" y="0"/>
          <a:chExt cx="0" cy="0"/>
        </a:xfrm>
      </p:grpSpPr>
      <p:sp>
        <p:nvSpPr>
          <p:cNvPr id="31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15" name="Picture 24" descr="utdlogo"/>
          <p:cNvPicPr/>
          <p:nvPr/>
        </p:nvPicPr>
        <p:blipFill>
          <a:blip r:embed="rId2"/>
          <a:stretch/>
        </p:blipFill>
        <p:spPr>
          <a:xfrm>
            <a:off x="9304200" y="7254360"/>
            <a:ext cx="619200" cy="272880"/>
          </a:xfrm>
          <a:prstGeom prst="rect">
            <a:avLst/>
          </a:prstGeom>
          <a:noFill/>
          <a:ln w="9525">
            <a:noFill/>
          </a:ln>
        </p:spPr>
      </p:pic>
      <p:sp>
        <p:nvSpPr>
          <p:cNvPr id="31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7"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8"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319"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5">
    <p:bg>
      <p:bgPr>
        <a:solidFill>
          <a:schemeClr val="lt1"/>
        </a:solidFill>
        <a:effectLst/>
      </p:bgPr>
    </p:bg>
    <p:spTree>
      <p:nvGrpSpPr>
        <p:cNvPr id="1" name=""/>
        <p:cNvGrpSpPr/>
        <p:nvPr/>
      </p:nvGrpSpPr>
      <p:grpSpPr>
        <a:xfrm>
          <a:off x="0" y="0"/>
          <a:ext cx="0" cy="0"/>
          <a:chOff x="0" y="0"/>
          <a:chExt cx="0" cy="0"/>
        </a:xfrm>
      </p:grpSpPr>
      <p:sp>
        <p:nvSpPr>
          <p:cNvPr id="320"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1"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22" name="Picture 24" descr="utdlogo"/>
          <p:cNvPicPr/>
          <p:nvPr/>
        </p:nvPicPr>
        <p:blipFill>
          <a:blip r:embed="rId2"/>
          <a:stretch/>
        </p:blipFill>
        <p:spPr>
          <a:xfrm>
            <a:off x="9304200" y="7254360"/>
            <a:ext cx="619200" cy="272880"/>
          </a:xfrm>
          <a:prstGeom prst="rect">
            <a:avLst/>
          </a:prstGeom>
          <a:noFill/>
          <a:ln w="9525">
            <a:noFill/>
          </a:ln>
        </p:spPr>
      </p:pic>
      <p:sp>
        <p:nvSpPr>
          <p:cNvPr id="323"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4"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5"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6"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27"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328"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329"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330"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1"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32" name="Picture 16" descr="utdlogo"/>
          <p:cNvPicPr/>
          <p:nvPr/>
        </p:nvPicPr>
        <p:blipFill>
          <a:blip r:embed="rId2"/>
          <a:stretch/>
        </p:blipFill>
        <p:spPr>
          <a:xfrm>
            <a:off x="9304200" y="7254360"/>
            <a:ext cx="619200" cy="272880"/>
          </a:xfrm>
          <a:prstGeom prst="rect">
            <a:avLst/>
          </a:prstGeom>
          <a:noFill/>
          <a:ln w="9525">
            <a:noFill/>
          </a:ln>
        </p:spPr>
      </p:pic>
      <p:sp>
        <p:nvSpPr>
          <p:cNvPr id="333"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34"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Default 6">
    <p:bg>
      <p:bgPr>
        <a:solidFill>
          <a:srgbClr val="6C9D30"/>
        </a:solidFill>
        <a:effectLst/>
      </p:bgPr>
    </p:bg>
    <p:spTree>
      <p:nvGrpSpPr>
        <p:cNvPr id="1" name=""/>
        <p:cNvGrpSpPr/>
        <p:nvPr/>
      </p:nvGrpSpPr>
      <p:grpSpPr>
        <a:xfrm>
          <a:off x="0" y="0"/>
          <a:ext cx="0" cy="0"/>
          <a:chOff x="0" y="0"/>
          <a:chExt cx="0" cy="0"/>
        </a:xfrm>
      </p:grpSpPr>
      <p:sp>
        <p:nvSpPr>
          <p:cNvPr id="33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37" name="Picture 24" descr="utdlogo"/>
          <p:cNvPicPr/>
          <p:nvPr/>
        </p:nvPicPr>
        <p:blipFill>
          <a:blip r:embed="rId2"/>
          <a:stretch/>
        </p:blipFill>
        <p:spPr>
          <a:xfrm>
            <a:off x="9304200" y="7254360"/>
            <a:ext cx="619200" cy="272880"/>
          </a:xfrm>
          <a:prstGeom prst="rect">
            <a:avLst/>
          </a:prstGeom>
          <a:noFill/>
          <a:ln w="9525">
            <a:noFill/>
          </a:ln>
        </p:spPr>
      </p:pic>
      <p:sp>
        <p:nvSpPr>
          <p:cNvPr id="33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0"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Default 7">
    <p:bg>
      <p:bgPr>
        <a:solidFill>
          <a:srgbClr val="6C9D30"/>
        </a:solidFill>
        <a:effectLst/>
      </p:bgPr>
    </p:bg>
    <p:spTree>
      <p:nvGrpSpPr>
        <p:cNvPr id="1" name=""/>
        <p:cNvGrpSpPr/>
        <p:nvPr/>
      </p:nvGrpSpPr>
      <p:grpSpPr>
        <a:xfrm>
          <a:off x="0" y="0"/>
          <a:ext cx="0" cy="0"/>
          <a:chOff x="0" y="0"/>
          <a:chExt cx="0" cy="0"/>
        </a:xfrm>
      </p:grpSpPr>
      <p:sp>
        <p:nvSpPr>
          <p:cNvPr id="34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3" name="Picture 24" descr="utdlogo"/>
          <p:cNvPicPr/>
          <p:nvPr/>
        </p:nvPicPr>
        <p:blipFill>
          <a:blip r:embed="rId2"/>
          <a:stretch/>
        </p:blipFill>
        <p:spPr>
          <a:xfrm>
            <a:off x="9304200" y="7254360"/>
            <a:ext cx="619200" cy="272880"/>
          </a:xfrm>
          <a:prstGeom prst="rect">
            <a:avLst/>
          </a:prstGeom>
          <a:noFill/>
          <a:ln w="9525">
            <a:noFill/>
          </a:ln>
        </p:spPr>
      </p:pic>
      <p:sp>
        <p:nvSpPr>
          <p:cNvPr id="34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5"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6"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Default 8">
    <p:bg>
      <p:bgPr>
        <a:solidFill>
          <a:srgbClr val="6C9D30"/>
        </a:solidFill>
        <a:effectLst/>
      </p:bgPr>
    </p:bg>
    <p:spTree>
      <p:nvGrpSpPr>
        <p:cNvPr id="1" name=""/>
        <p:cNvGrpSpPr/>
        <p:nvPr/>
      </p:nvGrpSpPr>
      <p:grpSpPr>
        <a:xfrm>
          <a:off x="0" y="0"/>
          <a:ext cx="0" cy="0"/>
          <a:chOff x="0" y="0"/>
          <a:chExt cx="0" cy="0"/>
        </a:xfrm>
      </p:grpSpPr>
      <p:sp>
        <p:nvSpPr>
          <p:cNvPr id="34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9" name="Picture 24" descr="utdlogo"/>
          <p:cNvPicPr/>
          <p:nvPr/>
        </p:nvPicPr>
        <p:blipFill>
          <a:blip r:embed="rId2"/>
          <a:stretch/>
        </p:blipFill>
        <p:spPr>
          <a:xfrm>
            <a:off x="9304200" y="7254360"/>
            <a:ext cx="619200" cy="272880"/>
          </a:xfrm>
          <a:prstGeom prst="rect">
            <a:avLst/>
          </a:prstGeom>
          <a:noFill/>
          <a:ln w="9525">
            <a:noFill/>
          </a:ln>
        </p:spPr>
      </p:pic>
      <p:sp>
        <p:nvSpPr>
          <p:cNvPr id="35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52"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3"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4"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Default 9">
    <p:bg>
      <p:bgPr>
        <a:solidFill>
          <a:srgbClr val="6C9D30"/>
        </a:solidFill>
        <a:effectLst/>
      </p:bgPr>
    </p:bg>
    <p:spTree>
      <p:nvGrpSpPr>
        <p:cNvPr id="1" name=""/>
        <p:cNvGrpSpPr/>
        <p:nvPr/>
      </p:nvGrpSpPr>
      <p:grpSpPr>
        <a:xfrm>
          <a:off x="0" y="0"/>
          <a:ext cx="0" cy="0"/>
          <a:chOff x="0" y="0"/>
          <a:chExt cx="0" cy="0"/>
        </a:xfrm>
      </p:grpSpPr>
      <p:sp>
        <p:nvSpPr>
          <p:cNvPr id="3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57" name="Picture 24" descr="utdlogo"/>
          <p:cNvPicPr/>
          <p:nvPr/>
        </p:nvPicPr>
        <p:blipFill>
          <a:blip r:embed="rId2"/>
          <a:stretch/>
        </p:blipFill>
        <p:spPr>
          <a:xfrm>
            <a:off x="9304200" y="7254360"/>
            <a:ext cx="619200" cy="272880"/>
          </a:xfrm>
          <a:prstGeom prst="rect">
            <a:avLst/>
          </a:prstGeom>
          <a:noFill/>
          <a:ln w="9525">
            <a:noFill/>
          </a:ln>
        </p:spPr>
      </p:pic>
      <p:sp>
        <p:nvSpPr>
          <p:cNvPr id="3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0"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Default 10">
    <p:bg>
      <p:bgPr>
        <a:solidFill>
          <a:srgbClr val="6C9D30"/>
        </a:solidFill>
        <a:effectLst/>
      </p:bgPr>
    </p:bg>
    <p:spTree>
      <p:nvGrpSpPr>
        <p:cNvPr id="1" name=""/>
        <p:cNvGrpSpPr/>
        <p:nvPr/>
      </p:nvGrpSpPr>
      <p:grpSpPr>
        <a:xfrm>
          <a:off x="0" y="0"/>
          <a:ext cx="0" cy="0"/>
          <a:chOff x="0" y="0"/>
          <a:chExt cx="0" cy="0"/>
        </a:xfrm>
      </p:grpSpPr>
      <p:sp>
        <p:nvSpPr>
          <p:cNvPr id="36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3" name="Picture 24" descr="utdlogo"/>
          <p:cNvPicPr/>
          <p:nvPr/>
        </p:nvPicPr>
        <p:blipFill>
          <a:blip r:embed="rId2"/>
          <a:stretch/>
        </p:blipFill>
        <p:spPr>
          <a:xfrm>
            <a:off x="9304200" y="7254360"/>
            <a:ext cx="619200" cy="272880"/>
          </a:xfrm>
          <a:prstGeom prst="rect">
            <a:avLst/>
          </a:prstGeom>
          <a:noFill/>
          <a:ln w="9525">
            <a:noFill/>
          </a:ln>
        </p:spPr>
      </p:pic>
      <p:sp>
        <p:nvSpPr>
          <p:cNvPr id="36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6"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6C9D30"/>
        </a:solidFill>
        <a:effectLst/>
      </p:bgPr>
    </p:bg>
    <p:spTree>
      <p:nvGrpSpPr>
        <p:cNvPr id="1" name=""/>
        <p:cNvGrpSpPr/>
        <p:nvPr/>
      </p:nvGrpSpPr>
      <p:grpSpPr>
        <a:xfrm>
          <a:off x="0" y="0"/>
          <a:ext cx="0" cy="0"/>
          <a:chOff x="0" y="0"/>
          <a:chExt cx="0" cy="0"/>
        </a:xfrm>
      </p:grpSpPr>
      <p:sp>
        <p:nvSpPr>
          <p:cNvPr id="36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9" name="Picture 24" descr="utdlogo"/>
          <p:cNvPicPr/>
          <p:nvPr/>
        </p:nvPicPr>
        <p:blipFill>
          <a:blip r:embed="rId2"/>
          <a:stretch/>
        </p:blipFill>
        <p:spPr>
          <a:xfrm>
            <a:off x="9304200" y="7254360"/>
            <a:ext cx="619200" cy="272880"/>
          </a:xfrm>
          <a:prstGeom prst="rect">
            <a:avLst/>
          </a:prstGeom>
          <a:noFill/>
          <a:ln w="9525">
            <a:noFill/>
          </a:ln>
        </p:spPr>
      </p:pic>
      <p:sp>
        <p:nvSpPr>
          <p:cNvPr id="37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1"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372"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fault 12">
    <p:bg>
      <p:bgPr>
        <a:solidFill>
          <a:srgbClr val="6C9D30"/>
        </a:solidFill>
        <a:effectLst/>
      </p:bgPr>
    </p:bg>
    <p:spTree>
      <p:nvGrpSpPr>
        <p:cNvPr id="1" name=""/>
        <p:cNvGrpSpPr/>
        <p:nvPr/>
      </p:nvGrpSpPr>
      <p:grpSpPr>
        <a:xfrm>
          <a:off x="0" y="0"/>
          <a:ext cx="0" cy="0"/>
          <a:chOff x="0" y="0"/>
          <a:chExt cx="0" cy="0"/>
        </a:xfrm>
      </p:grpSpPr>
      <p:sp>
        <p:nvSpPr>
          <p:cNvPr id="37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75" name="Picture 24" descr="utdlogo"/>
          <p:cNvPicPr/>
          <p:nvPr/>
        </p:nvPicPr>
        <p:blipFill>
          <a:blip r:embed="rId2"/>
          <a:stretch/>
        </p:blipFill>
        <p:spPr>
          <a:xfrm>
            <a:off x="9304200" y="7254360"/>
            <a:ext cx="619200" cy="272880"/>
          </a:xfrm>
          <a:prstGeom prst="rect">
            <a:avLst/>
          </a:prstGeom>
          <a:noFill/>
          <a:ln w="9525">
            <a:noFill/>
          </a:ln>
        </p:spPr>
      </p:pic>
      <p:sp>
        <p:nvSpPr>
          <p:cNvPr id="37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78"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379"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1828800"/>
            <a:ext cx="9052560" cy="146304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GPUs: From Graphics to AI</a:t>
            </a:r>
          </a:p>
        </p:txBody>
      </p:sp>
      <p:sp>
        <p:nvSpPr>
          <p:cNvPr id="901" name="TextBox 900"/>
          <p:cNvSpPr txBox="1"/>
          <p:nvPr/>
        </p:nvSpPr>
        <p:spPr>
          <a:xfrm>
            <a:off x="502920" y="3749039"/>
            <a:ext cx="9052560" cy="2743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800" b="0" i="0">
                <a:solidFill>
                  <a:srgbClr val="000000"/>
                </a:solidFill>
                <a:latin typeface="Cambria"/>
              </a:rPr>
              <a:t>Part 3:  The GPU as an AI Architecture</a:t>
            </a:r>
          </a:p>
          <a:p>
            <a:pPr algn="ctr">
              <a:spcBef>
                <a:spcPts val="1000"/>
              </a:spcBef>
              <a:tabLst>
                <a:tab pos="548640" algn="l"/>
                <a:tab pos="1097280" algn="l"/>
                <a:tab pos="1645919" algn="l"/>
                <a:tab pos="2194560" algn="l"/>
                <a:tab pos="2743200" algn="l"/>
                <a:tab pos="3291839" algn="l"/>
                <a:tab pos="3840480" algn="l"/>
                <a:tab pos="4389120" algn="l"/>
              </a:tabLst>
            </a:pPr>
            <a:r>
              <a:rPr sz="2800" b="0" i="0">
                <a:solidFill>
                  <a:srgbClr val="000000"/>
                </a:solidFill>
                <a:latin typeface="Cambria"/>
              </a:rPr>
              <a:t>MAC units and systolic arrays in SystemVerilog</a:t>
            </a:r>
          </a:p>
          <a:p>
            <a:pPr algn="ctr">
              <a:tabLst>
                <a:tab pos="548640" algn="l"/>
                <a:tab pos="1097280" algn="l"/>
                <a:tab pos="1645919" algn="l"/>
                <a:tab pos="2194560" algn="l"/>
                <a:tab pos="2743200" algn="l"/>
                <a:tab pos="3291839" algn="l"/>
                <a:tab pos="3840480" algn="l"/>
                <a:tab pos="4389120" algn="l"/>
              </a:tabLst>
            </a:pPr>
            <a:r>
              <a:rPr sz="1400">
                <a:latin typeface="Cambria"/>
              </a:rPr>
              <a:t> </a:t>
            </a:r>
          </a:p>
          <a:p>
            <a:pPr algn="ctr">
              <a:spcBef>
                <a:spcPts val="1000"/>
              </a:spcBef>
              <a:tabLst>
                <a:tab pos="548640" algn="l"/>
                <a:tab pos="1097280" algn="l"/>
                <a:tab pos="1645919" algn="l"/>
                <a:tab pos="2194560" algn="l"/>
                <a:tab pos="2743200" algn="l"/>
                <a:tab pos="3291839" algn="l"/>
                <a:tab pos="3840480" algn="l"/>
                <a:tab pos="4389120" algn="l"/>
              </a:tabLst>
            </a:pPr>
            <a:r>
              <a:rPr sz="2800" b="0" i="0">
                <a:solidFill>
                  <a:srgbClr val="000000"/>
                </a:solidFill>
                <a:latin typeface="Cambria"/>
              </a:rPr>
              <a:t>Hardware Description Languages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Review from Part 2</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Kernels are written for </a:t>
            </a:r>
            <a:r>
              <a:rPr sz="2600" b="1" i="0">
                <a:solidFill>
                  <a:srgbClr val="000000"/>
                </a:solidFill>
                <a:latin typeface="Cambria"/>
              </a:rPr>
              <a:t>one</a:t>
            </a:r>
            <a:r>
              <a:rPr sz="2600" b="0" i="0">
                <a:solidFill>
                  <a:srgbClr val="000000"/>
                </a:solidFill>
                <a:latin typeface="Cambria"/>
              </a:rPr>
              <a:t> thread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Warps of 32 threads share one instruction</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Matrix multiply:  </a:t>
            </a:r>
            <a:r>
              <a:rPr sz="2600" b="1" i="0">
                <a:solidFill>
                  <a:srgbClr val="000000"/>
                </a:solidFill>
                <a:latin typeface="Cambria"/>
              </a:rPr>
              <a:t>2 N³</a:t>
            </a:r>
            <a:r>
              <a:rPr sz="2600" b="0" i="0">
                <a:solidFill>
                  <a:srgbClr val="000000"/>
                </a:solidFill>
                <a:latin typeface="Cambria"/>
              </a:rPr>
              <a:t>  operations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Tiling reuses data from shared memory</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cuBLAS was much faster than our kernel.   </a:t>
            </a:r>
            <a:r>
              <a:rPr sz="2600" b="1" i="0">
                <a:solidFill>
                  <a:srgbClr val="000000"/>
                </a:solidFill>
                <a:latin typeface="Cambria"/>
              </a:rPr>
              <a:t>Why?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 Neural Network Layer</a:t>
            </a:r>
          </a:p>
        </p:txBody>
      </p:sp>
      <p:cxnSp>
        <p:nvCxnSpPr>
          <p:cNvPr id="901" name="Connector 900"/>
          <p:cNvCxnSpPr/>
          <p:nvPr/>
        </p:nvCxnSpPr>
        <p:spPr>
          <a:xfrm>
            <a:off x="2011680" y="2286000"/>
            <a:ext cx="2560320" cy="45720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02" name="Connector 901"/>
          <p:cNvCxnSpPr/>
          <p:nvPr/>
        </p:nvCxnSpPr>
        <p:spPr>
          <a:xfrm>
            <a:off x="2011680" y="2286000"/>
            <a:ext cx="2560320" cy="141732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a:off x="2011680" y="2286000"/>
            <a:ext cx="2560320" cy="237744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04" name="Connector 903"/>
          <p:cNvCxnSpPr/>
          <p:nvPr/>
        </p:nvCxnSpPr>
        <p:spPr>
          <a:xfrm flipV="1">
            <a:off x="2011680" y="2743200"/>
            <a:ext cx="2560320" cy="50292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05" name="Connector 904"/>
          <p:cNvCxnSpPr/>
          <p:nvPr/>
        </p:nvCxnSpPr>
        <p:spPr>
          <a:xfrm>
            <a:off x="2011680" y="3246120"/>
            <a:ext cx="2560320" cy="45720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a:off x="2011680" y="3246120"/>
            <a:ext cx="2560320" cy="141732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07" name="Connector 906"/>
          <p:cNvCxnSpPr/>
          <p:nvPr/>
        </p:nvCxnSpPr>
        <p:spPr>
          <a:xfrm flipV="1">
            <a:off x="2011680" y="2743200"/>
            <a:ext cx="2560320" cy="146304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08" name="Connector 907"/>
          <p:cNvCxnSpPr/>
          <p:nvPr/>
        </p:nvCxnSpPr>
        <p:spPr>
          <a:xfrm flipV="1">
            <a:off x="2011680" y="3703320"/>
            <a:ext cx="2560320" cy="50292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09" name="Connector 908"/>
          <p:cNvCxnSpPr/>
          <p:nvPr/>
        </p:nvCxnSpPr>
        <p:spPr>
          <a:xfrm>
            <a:off x="2011680" y="4206240"/>
            <a:ext cx="2560320" cy="45720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10" name="Connector 909"/>
          <p:cNvCxnSpPr/>
          <p:nvPr/>
        </p:nvCxnSpPr>
        <p:spPr>
          <a:xfrm flipV="1">
            <a:off x="2011680" y="2743200"/>
            <a:ext cx="2560320" cy="242316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11" name="Connector 910"/>
          <p:cNvCxnSpPr/>
          <p:nvPr/>
        </p:nvCxnSpPr>
        <p:spPr>
          <a:xfrm flipV="1">
            <a:off x="2011680" y="3703320"/>
            <a:ext cx="2560320" cy="146304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12" name="Connector 911"/>
          <p:cNvCxnSpPr/>
          <p:nvPr/>
        </p:nvCxnSpPr>
        <p:spPr>
          <a:xfrm flipV="1">
            <a:off x="2011680" y="4663440"/>
            <a:ext cx="2560320" cy="502920"/>
          </a:xfrm>
          <a:prstGeom prst="line">
            <a:avLst/>
          </a:prstGeom>
          <a:ln w="12700">
            <a:solidFill>
              <a:srgbClr val="A6A6A6"/>
            </a:solidFill>
          </a:ln>
        </p:spPr>
        <p:style>
          <a:lnRef idx="2">
            <a:schemeClr val="accent1"/>
          </a:lnRef>
          <a:fillRef idx="0">
            <a:schemeClr val="accent1"/>
          </a:fillRef>
          <a:effectRef idx="1">
            <a:schemeClr val="accent1"/>
          </a:effectRef>
          <a:fontRef idx="minor">
            <a:schemeClr val="tx1"/>
          </a:fontRef>
        </p:style>
      </p:cxnSp>
      <p:sp>
        <p:nvSpPr>
          <p:cNvPr id="913" name="Oval 912"/>
          <p:cNvSpPr/>
          <p:nvPr/>
        </p:nvSpPr>
        <p:spPr>
          <a:xfrm>
            <a:off x="1463040" y="2011680"/>
            <a:ext cx="548640" cy="54864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x0</a:t>
            </a:r>
          </a:p>
        </p:txBody>
      </p:sp>
      <p:sp>
        <p:nvSpPr>
          <p:cNvPr id="914" name="Oval 913"/>
          <p:cNvSpPr/>
          <p:nvPr/>
        </p:nvSpPr>
        <p:spPr>
          <a:xfrm>
            <a:off x="1463040" y="2971800"/>
            <a:ext cx="548640" cy="54864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x1</a:t>
            </a:r>
          </a:p>
        </p:txBody>
      </p:sp>
      <p:sp>
        <p:nvSpPr>
          <p:cNvPr id="915" name="Oval 914"/>
          <p:cNvSpPr/>
          <p:nvPr/>
        </p:nvSpPr>
        <p:spPr>
          <a:xfrm>
            <a:off x="1463040" y="3931920"/>
            <a:ext cx="548640" cy="54864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x2</a:t>
            </a:r>
          </a:p>
        </p:txBody>
      </p:sp>
      <p:sp>
        <p:nvSpPr>
          <p:cNvPr id="916" name="Oval 915"/>
          <p:cNvSpPr/>
          <p:nvPr/>
        </p:nvSpPr>
        <p:spPr>
          <a:xfrm>
            <a:off x="1463040" y="4892040"/>
            <a:ext cx="548640" cy="54864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x3</a:t>
            </a:r>
          </a:p>
        </p:txBody>
      </p:sp>
      <p:sp>
        <p:nvSpPr>
          <p:cNvPr id="917" name="Oval 916"/>
          <p:cNvSpPr/>
          <p:nvPr/>
        </p:nvSpPr>
        <p:spPr>
          <a:xfrm>
            <a:off x="4572000" y="2468880"/>
            <a:ext cx="548640" cy="548640"/>
          </a:xfrm>
          <a:prstGeom prst="ellipse">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y0</a:t>
            </a:r>
          </a:p>
        </p:txBody>
      </p:sp>
      <p:sp>
        <p:nvSpPr>
          <p:cNvPr id="918" name="Oval 917"/>
          <p:cNvSpPr/>
          <p:nvPr/>
        </p:nvSpPr>
        <p:spPr>
          <a:xfrm>
            <a:off x="4572000" y="3429000"/>
            <a:ext cx="548640" cy="548640"/>
          </a:xfrm>
          <a:prstGeom prst="ellipse">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y1</a:t>
            </a:r>
          </a:p>
        </p:txBody>
      </p:sp>
      <p:sp>
        <p:nvSpPr>
          <p:cNvPr id="919" name="Oval 918"/>
          <p:cNvSpPr/>
          <p:nvPr/>
        </p:nvSpPr>
        <p:spPr>
          <a:xfrm>
            <a:off x="4572000" y="4389120"/>
            <a:ext cx="548640" cy="548640"/>
          </a:xfrm>
          <a:prstGeom prst="ellipse">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y2</a:t>
            </a:r>
          </a:p>
        </p:txBody>
      </p:sp>
      <p:sp>
        <p:nvSpPr>
          <p:cNvPr id="920" name="TextBox 919"/>
          <p:cNvSpPr txBox="1"/>
          <p:nvPr/>
        </p:nvSpPr>
        <p:spPr>
          <a:xfrm>
            <a:off x="5760720" y="1828800"/>
            <a:ext cx="3749039" cy="43891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Every line is a </a:t>
            </a:r>
            <a:r>
              <a:rPr sz="2400" b="1" i="0">
                <a:solidFill>
                  <a:srgbClr val="000000"/>
                </a:solidFill>
                <a:latin typeface="Cambria"/>
              </a:rPr>
              <a:t>weight</a:t>
            </a:r>
          </a:p>
          <a:p>
            <a:pPr algn="l">
              <a:tabLst>
                <a:tab pos="548640" algn="l"/>
                <a:tab pos="1097280" algn="l"/>
                <a:tab pos="1645919" algn="l"/>
                <a:tab pos="2194560" algn="l"/>
                <a:tab pos="2743200" algn="l"/>
                <a:tab pos="3291839" algn="l"/>
                <a:tab pos="3840480" algn="l"/>
                <a:tab pos="4389120" algn="l"/>
              </a:tabLst>
            </a:pPr>
            <a:r>
              <a:rPr sz="12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Each output:</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	weight each input</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	add them up</a:t>
            </a:r>
          </a:p>
          <a:p>
            <a:pPr algn="l">
              <a:tabLst>
                <a:tab pos="548640" algn="l"/>
                <a:tab pos="1097280" algn="l"/>
                <a:tab pos="1645919" algn="l"/>
                <a:tab pos="2194560" algn="l"/>
                <a:tab pos="2743200" algn="l"/>
                <a:tab pos="3291839" algn="l"/>
                <a:tab pos="3840480" algn="l"/>
                <a:tab pos="4389120" algn="l"/>
              </a:tabLst>
            </a:pPr>
            <a:r>
              <a:rPr sz="12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400" b="1" i="0">
                <a:solidFill>
                  <a:srgbClr val="000000"/>
                </a:solidFill>
                <a:latin typeface="Cambria"/>
              </a:rPr>
              <a:t>y  =  W x  +  b</a:t>
            </a:r>
          </a:p>
        </p:txBody>
      </p:sp>
      <p:sp>
        <p:nvSpPr>
          <p:cNvPr id="921" name="TextBox 920"/>
          <p:cNvSpPr txBox="1"/>
          <p:nvPr/>
        </p:nvSpPr>
        <p:spPr>
          <a:xfrm>
            <a:off x="731520" y="6035040"/>
            <a:ext cx="8595360" cy="548640"/>
          </a:xfrm>
          <a:prstGeom prst="rect">
            <a:avLst/>
          </a:prstGeom>
          <a:noFill/>
        </p:spPr>
        <p:txBody>
          <a:bodyPr wrap="square" lIns="0" tIns="0" rIns="0" bIns="0" anchor="ctr">
            <a:spAutoFit/>
          </a:bodyPr>
          <a:lstStyle/>
          <a:p>
            <a:pPr algn="ctr"/>
            <a:r>
              <a:rPr sz="2200" b="0" i="1">
                <a:solidFill>
                  <a:srgbClr val="000000"/>
                </a:solidFill>
                <a:latin typeface="Cambria"/>
              </a:rPr>
              <a:t>A whole batch of inputs at once:   Y  =  W X   -   a matrix multiply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It All Comes Down to MAC</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Multiply-accumulate: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1" i="0">
                <a:solidFill>
                  <a:srgbClr val="000000"/>
                </a:solidFill>
                <a:latin typeface="Cambria"/>
              </a:rPr>
              <a:t>acc  &lt;=  acc  +  a × b</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One layer,  4096 × 4096 weights,  batch of 4096:</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4096³  ≈  </a:t>
            </a:r>
            <a:r>
              <a:rPr sz="2600" b="1" i="0">
                <a:solidFill>
                  <a:srgbClr val="000000"/>
                </a:solidFill>
                <a:latin typeface="Cambria"/>
              </a:rPr>
              <a:t>69 billion</a:t>
            </a:r>
            <a:r>
              <a:rPr sz="2600" b="0" i="0">
                <a:solidFill>
                  <a:srgbClr val="000000"/>
                </a:solidFill>
                <a:latin typeface="Cambria"/>
              </a:rPr>
              <a:t>  MACs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large model has hundreds of such layers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Make the MAC cheap and plentiful,  and you win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Arithmetic Intensity</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Intensity</a:t>
            </a:r>
            <a:r>
              <a:rPr sz="2600" b="0" i="0">
                <a:solidFill>
                  <a:srgbClr val="000000"/>
                </a:solidFill>
                <a:latin typeface="Cambria"/>
              </a:rPr>
              <a:t>  =  operations  /  bytes moved</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Vector add,  FP32:</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1 add  per  12 bytes   →   0.08  ops / byte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Matrix multiply,  N × N,  16-bit:</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2N³  ops  per  6N²  bytes   →   N / 3  ops / byte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N = 4096:   about  </a:t>
            </a:r>
            <a:r>
              <a:rPr sz="2600" b="1" i="0">
                <a:solidFill>
                  <a:srgbClr val="000000"/>
                </a:solidFill>
                <a:latin typeface="Cambria"/>
              </a:rPr>
              <a:t>1365</a:t>
            </a:r>
            <a:r>
              <a:rPr sz="2600" b="0" i="0">
                <a:solidFill>
                  <a:srgbClr val="000000"/>
                </a:solidFill>
                <a:latin typeface="Cambria"/>
              </a:rPr>
              <a:t>  ops / byte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Roofline</a:t>
            </a:r>
          </a:p>
        </p:txBody>
      </p:sp>
      <p:cxnSp>
        <p:nvCxnSpPr>
          <p:cNvPr id="901" name="Connector 900"/>
          <p:cNvCxnSpPr/>
          <p:nvPr/>
        </p:nvCxnSpPr>
        <p:spPr>
          <a:xfrm>
            <a:off x="1188720" y="5760720"/>
            <a:ext cx="768096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02" name="Connector 901"/>
          <p:cNvCxnSpPr/>
          <p:nvPr/>
        </p:nvCxnSpPr>
        <p:spPr>
          <a:xfrm flipV="1">
            <a:off x="1188720" y="2103120"/>
            <a:ext cx="0" cy="365760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1188720" y="2743200"/>
            <a:ext cx="3840480" cy="2834640"/>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904" name="Connector 903"/>
          <p:cNvCxnSpPr/>
          <p:nvPr/>
        </p:nvCxnSpPr>
        <p:spPr>
          <a:xfrm>
            <a:off x="5029200" y="2743200"/>
            <a:ext cx="3657600" cy="0"/>
          </a:xfrm>
          <a:prstGeom prst="line">
            <a:avLst/>
          </a:prstGeom>
          <a:ln w="38100">
            <a:solidFill>
              <a:srgbClr val="004600"/>
            </a:solidFill>
          </a:ln>
        </p:spPr>
        <p:style>
          <a:lnRef idx="2">
            <a:schemeClr val="accent1"/>
          </a:lnRef>
          <a:fillRef idx="0">
            <a:schemeClr val="accent1"/>
          </a:fillRef>
          <a:effectRef idx="1">
            <a:schemeClr val="accent1"/>
          </a:effectRef>
          <a:fontRef idx="minor">
            <a:schemeClr val="tx1"/>
          </a:fontRef>
        </p:style>
      </p:cxnSp>
      <p:sp>
        <p:nvSpPr>
          <p:cNvPr id="905" name="TextBox 904"/>
          <p:cNvSpPr txBox="1"/>
          <p:nvPr/>
        </p:nvSpPr>
        <p:spPr>
          <a:xfrm>
            <a:off x="1645920" y="3383279"/>
            <a:ext cx="2743200" cy="731520"/>
          </a:xfrm>
          <a:prstGeom prst="rect">
            <a:avLst/>
          </a:prstGeom>
          <a:noFill/>
        </p:spPr>
        <p:txBody>
          <a:bodyPr wrap="square" lIns="0" tIns="0" rIns="0" bIns="0" anchor="ctr">
            <a:spAutoFit/>
          </a:bodyPr>
          <a:lstStyle/>
          <a:p>
            <a:pPr algn="ctr"/>
            <a:r>
              <a:rPr sz="2000" b="1" i="0">
                <a:solidFill>
                  <a:srgbClr val="C00000"/>
                </a:solidFill>
                <a:latin typeface="Cambria"/>
              </a:rPr>
              <a:t>memory</a:t>
            </a:r>
          </a:p>
          <a:p>
            <a:pPr algn="ctr"/>
            <a:r>
              <a:rPr sz="2000" b="1" i="0">
                <a:solidFill>
                  <a:srgbClr val="C00000"/>
                </a:solidFill>
                <a:latin typeface="Cambria"/>
              </a:rPr>
              <a:t>bound</a:t>
            </a:r>
          </a:p>
        </p:txBody>
      </p:sp>
      <p:sp>
        <p:nvSpPr>
          <p:cNvPr id="906" name="TextBox 905"/>
          <p:cNvSpPr txBox="1"/>
          <p:nvPr/>
        </p:nvSpPr>
        <p:spPr>
          <a:xfrm>
            <a:off x="5577840" y="2148839"/>
            <a:ext cx="3108960" cy="457200"/>
          </a:xfrm>
          <a:prstGeom prst="rect">
            <a:avLst/>
          </a:prstGeom>
          <a:noFill/>
        </p:spPr>
        <p:txBody>
          <a:bodyPr wrap="square" lIns="0" tIns="0" rIns="0" bIns="0" anchor="ctr">
            <a:spAutoFit/>
          </a:bodyPr>
          <a:lstStyle/>
          <a:p>
            <a:pPr algn="ctr"/>
            <a:r>
              <a:rPr sz="2000" b="1" i="0">
                <a:solidFill>
                  <a:srgbClr val="004600"/>
                </a:solidFill>
                <a:latin typeface="Cambria"/>
              </a:rPr>
              <a:t>compute bound</a:t>
            </a:r>
          </a:p>
        </p:txBody>
      </p:sp>
      <p:sp>
        <p:nvSpPr>
          <p:cNvPr id="907" name="Oval 906"/>
          <p:cNvSpPr/>
          <p:nvPr/>
        </p:nvSpPr>
        <p:spPr>
          <a:xfrm>
            <a:off x="1691640" y="4892040"/>
            <a:ext cx="201168" cy="201168"/>
          </a:xfrm>
          <a:prstGeom prst="ellipse">
            <a:avLst/>
          </a:prstGeom>
          <a:solidFill>
            <a:srgbClr val="C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8" name="TextBox 907"/>
          <p:cNvSpPr txBox="1"/>
          <p:nvPr/>
        </p:nvSpPr>
        <p:spPr>
          <a:xfrm>
            <a:off x="2011680" y="5074920"/>
            <a:ext cx="1828800" cy="365760"/>
          </a:xfrm>
          <a:prstGeom prst="rect">
            <a:avLst/>
          </a:prstGeom>
          <a:noFill/>
        </p:spPr>
        <p:txBody>
          <a:bodyPr wrap="square" lIns="0" tIns="0" rIns="0" bIns="0" anchor="ctr">
            <a:spAutoFit/>
          </a:bodyPr>
          <a:lstStyle/>
          <a:p>
            <a:pPr algn="l"/>
            <a:r>
              <a:rPr sz="1600" b="0" i="0">
                <a:solidFill>
                  <a:srgbClr val="000000"/>
                </a:solidFill>
                <a:latin typeface="Cambria"/>
              </a:rPr>
              <a:t>vector add</a:t>
            </a:r>
          </a:p>
        </p:txBody>
      </p:sp>
      <p:sp>
        <p:nvSpPr>
          <p:cNvPr id="909" name="Oval 908"/>
          <p:cNvSpPr/>
          <p:nvPr/>
        </p:nvSpPr>
        <p:spPr>
          <a:xfrm>
            <a:off x="7040880" y="2642615"/>
            <a:ext cx="201168" cy="201168"/>
          </a:xfrm>
          <a:prstGeom prst="ellipse">
            <a:avLst/>
          </a:prstGeom>
          <a:solidFill>
            <a:srgbClr val="0046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0" name="TextBox 909"/>
          <p:cNvSpPr txBox="1"/>
          <p:nvPr/>
        </p:nvSpPr>
        <p:spPr>
          <a:xfrm>
            <a:off x="6309359" y="3017520"/>
            <a:ext cx="2194560" cy="365760"/>
          </a:xfrm>
          <a:prstGeom prst="rect">
            <a:avLst/>
          </a:prstGeom>
          <a:noFill/>
        </p:spPr>
        <p:txBody>
          <a:bodyPr wrap="square" lIns="0" tIns="0" rIns="0" bIns="0" anchor="ctr">
            <a:spAutoFit/>
          </a:bodyPr>
          <a:lstStyle/>
          <a:p>
            <a:pPr algn="ctr"/>
            <a:r>
              <a:rPr sz="1600" b="0" i="0">
                <a:solidFill>
                  <a:srgbClr val="000000"/>
                </a:solidFill>
                <a:latin typeface="Cambria"/>
              </a:rPr>
              <a:t>large matmul</a:t>
            </a:r>
          </a:p>
        </p:txBody>
      </p:sp>
      <p:sp>
        <p:nvSpPr>
          <p:cNvPr id="911" name="TextBox 910"/>
          <p:cNvSpPr txBox="1"/>
          <p:nvPr/>
        </p:nvSpPr>
        <p:spPr>
          <a:xfrm>
            <a:off x="1188720" y="5852159"/>
            <a:ext cx="7680960" cy="411480"/>
          </a:xfrm>
          <a:prstGeom prst="rect">
            <a:avLst/>
          </a:prstGeom>
          <a:noFill/>
        </p:spPr>
        <p:txBody>
          <a:bodyPr wrap="square" lIns="0" tIns="0" rIns="0" bIns="0" anchor="ctr">
            <a:spAutoFit/>
          </a:bodyPr>
          <a:lstStyle/>
          <a:p>
            <a:pPr algn="ctr"/>
            <a:r>
              <a:rPr sz="1800" b="0" i="0">
                <a:solidFill>
                  <a:srgbClr val="000000"/>
                </a:solidFill>
                <a:latin typeface="Cambria"/>
              </a:rPr>
              <a:t>arithmetic intensity  ( ops / byte,  log scale )</a:t>
            </a:r>
          </a:p>
        </p:txBody>
      </p:sp>
      <p:sp>
        <p:nvSpPr>
          <p:cNvPr id="912" name="TextBox 911"/>
          <p:cNvSpPr txBox="1"/>
          <p:nvPr/>
        </p:nvSpPr>
        <p:spPr>
          <a:xfrm>
            <a:off x="182880" y="2103120"/>
            <a:ext cx="914400" cy="1280160"/>
          </a:xfrm>
          <a:prstGeom prst="rect">
            <a:avLst/>
          </a:prstGeom>
          <a:noFill/>
        </p:spPr>
        <p:txBody>
          <a:bodyPr wrap="square" lIns="0" tIns="0" rIns="0" bIns="0" anchor="ctr">
            <a:spAutoFit/>
          </a:bodyPr>
          <a:lstStyle/>
          <a:p>
            <a:pPr algn="ctr"/>
            <a:r>
              <a:rPr sz="1600" b="0" i="0">
                <a:solidFill>
                  <a:srgbClr val="000000"/>
                </a:solidFill>
                <a:latin typeface="Cambria"/>
              </a:rPr>
              <a:t>ops</a:t>
            </a:r>
          </a:p>
          <a:p>
            <a:pPr algn="ctr"/>
            <a:r>
              <a:rPr sz="1600" b="0" i="0">
                <a:solidFill>
                  <a:srgbClr val="000000"/>
                </a:solidFill>
                <a:latin typeface="Cambria"/>
              </a:rPr>
              <a:t>per</a:t>
            </a:r>
          </a:p>
          <a:p>
            <a:pPr algn="ctr"/>
            <a:r>
              <a:rPr sz="1600" b="0" i="0">
                <a:solidFill>
                  <a:srgbClr val="000000"/>
                </a:solidFill>
                <a:latin typeface="Cambria"/>
              </a:rPr>
              <a:t>second</a:t>
            </a:r>
          </a:p>
        </p:txBody>
      </p:sp>
      <p:sp>
        <p:nvSpPr>
          <p:cNvPr id="913" name="TextBox 912"/>
          <p:cNvSpPr txBox="1"/>
          <p:nvPr/>
        </p:nvSpPr>
        <p:spPr>
          <a:xfrm>
            <a:off x="731520" y="6263640"/>
            <a:ext cx="8595360" cy="5486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000" b="0" i="0">
                <a:solidFill>
                  <a:srgbClr val="000000"/>
                </a:solidFill>
                <a:latin typeface="Cambria"/>
              </a:rPr>
              <a:t>H100 ridge point:  ~ 989 TFLOP/s  ÷  3.35 TB/s  ≈  </a:t>
            </a:r>
            <a:r>
              <a:rPr sz="2000" b="1" i="0">
                <a:solidFill>
                  <a:srgbClr val="000000"/>
                </a:solidFill>
                <a:latin typeface="Cambria"/>
              </a:rPr>
              <a:t>300</a:t>
            </a:r>
            <a:r>
              <a:rPr sz="2000" b="0" i="0">
                <a:solidFill>
                  <a:srgbClr val="000000"/>
                </a:solidFill>
                <a:latin typeface="Cambria"/>
              </a:rPr>
              <a:t> ops/byte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Tensor Cores</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hardware built for one operation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CUDA Core vs Tensor Core</a:t>
            </a:r>
          </a:p>
        </p:txBody>
      </p:sp>
      <p:sp>
        <p:nvSpPr>
          <p:cNvPr id="901" name="TextBox 900"/>
          <p:cNvSpPr txBox="1"/>
          <p:nvPr/>
        </p:nvSpPr>
        <p:spPr>
          <a:xfrm>
            <a:off x="731520" y="1691640"/>
            <a:ext cx="4114800" cy="457200"/>
          </a:xfrm>
          <a:prstGeom prst="rect">
            <a:avLst/>
          </a:prstGeom>
          <a:noFill/>
        </p:spPr>
        <p:txBody>
          <a:bodyPr wrap="square" lIns="0" tIns="0" rIns="0" bIns="0" anchor="ctr">
            <a:spAutoFit/>
          </a:bodyPr>
          <a:lstStyle/>
          <a:p>
            <a:pPr algn="ctr"/>
            <a:r>
              <a:rPr sz="2600" b="1" i="0">
                <a:solidFill>
                  <a:srgbClr val="004600"/>
                </a:solidFill>
                <a:latin typeface="Cambria"/>
              </a:rPr>
              <a:t>CUDA core</a:t>
            </a:r>
          </a:p>
        </p:txBody>
      </p:sp>
      <p:sp>
        <p:nvSpPr>
          <p:cNvPr id="902" name="TextBox 901"/>
          <p:cNvSpPr txBox="1"/>
          <p:nvPr/>
        </p:nvSpPr>
        <p:spPr>
          <a:xfrm>
            <a:off x="5212080" y="1691640"/>
            <a:ext cx="4114800" cy="457200"/>
          </a:xfrm>
          <a:prstGeom prst="rect">
            <a:avLst/>
          </a:prstGeom>
          <a:noFill/>
        </p:spPr>
        <p:txBody>
          <a:bodyPr wrap="square" lIns="0" tIns="0" rIns="0" bIns="0" anchor="ctr">
            <a:spAutoFit/>
          </a:bodyPr>
          <a:lstStyle/>
          <a:p>
            <a:pPr algn="ctr"/>
            <a:r>
              <a:rPr sz="2600" b="1" i="0">
                <a:solidFill>
                  <a:srgbClr val="C00000"/>
                </a:solidFill>
                <a:latin typeface="Cambria"/>
              </a:rPr>
              <a:t>Tensor core</a:t>
            </a:r>
          </a:p>
        </p:txBody>
      </p:sp>
      <p:sp>
        <p:nvSpPr>
          <p:cNvPr id="903" name="Rounded Rectangle 902"/>
          <p:cNvSpPr/>
          <p:nvPr/>
        </p:nvSpPr>
        <p:spPr>
          <a:xfrm>
            <a:off x="1463040" y="2468880"/>
            <a:ext cx="2651760" cy="118872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0">
                <a:solidFill>
                  <a:srgbClr val="000000"/>
                </a:solidFill>
                <a:latin typeface="Cambria"/>
              </a:rPr>
              <a:t>d = a × b + c</a:t>
            </a:r>
          </a:p>
        </p:txBody>
      </p:sp>
      <p:sp>
        <p:nvSpPr>
          <p:cNvPr id="904" name="TextBox 903"/>
          <p:cNvSpPr txBox="1"/>
          <p:nvPr/>
        </p:nvSpPr>
        <p:spPr>
          <a:xfrm>
            <a:off x="731520" y="3840480"/>
            <a:ext cx="4114800" cy="457200"/>
          </a:xfrm>
          <a:prstGeom prst="rect">
            <a:avLst/>
          </a:prstGeom>
          <a:noFill/>
        </p:spPr>
        <p:txBody>
          <a:bodyPr wrap="square" lIns="0" tIns="0" rIns="0" bIns="0" anchor="ctr">
            <a:spAutoFit/>
          </a:bodyPr>
          <a:lstStyle/>
          <a:p>
            <a:pPr algn="ctr"/>
            <a:r>
              <a:rPr sz="1800" b="0" i="1">
                <a:solidFill>
                  <a:srgbClr val="000000"/>
                </a:solidFill>
                <a:latin typeface="Cambria"/>
              </a:rPr>
              <a:t>one scalar FMA per instruction</a:t>
            </a:r>
          </a:p>
        </p:txBody>
      </p:sp>
      <p:sp>
        <p:nvSpPr>
          <p:cNvPr id="905" name="Rounded Rectangle 904"/>
          <p:cNvSpPr/>
          <p:nvPr/>
        </p:nvSpPr>
        <p:spPr>
          <a:xfrm>
            <a:off x="5486400" y="2468880"/>
            <a:ext cx="3566160" cy="1188720"/>
          </a:xfrm>
          <a:prstGeom prst="round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0">
                <a:solidFill>
                  <a:srgbClr val="000000"/>
                </a:solidFill>
                <a:latin typeface="Cambria"/>
              </a:rPr>
              <a:t>D = A × B + C</a:t>
            </a:r>
          </a:p>
          <a:p>
            <a:pPr algn="ctr"/>
            <a:r>
              <a:rPr sz="2200" b="0">
                <a:solidFill>
                  <a:srgbClr val="000000"/>
                </a:solidFill>
                <a:latin typeface="Cambria"/>
              </a:rPr>
              <a:t>on 4 × 4 matrices</a:t>
            </a:r>
          </a:p>
        </p:txBody>
      </p:sp>
      <p:sp>
        <p:nvSpPr>
          <p:cNvPr id="906" name="TextBox 905"/>
          <p:cNvSpPr txBox="1"/>
          <p:nvPr/>
        </p:nvSpPr>
        <p:spPr>
          <a:xfrm>
            <a:off x="5212080" y="3840480"/>
            <a:ext cx="4114800" cy="457200"/>
          </a:xfrm>
          <a:prstGeom prst="rect">
            <a:avLst/>
          </a:prstGeom>
          <a:noFill/>
        </p:spPr>
        <p:txBody>
          <a:bodyPr wrap="square" lIns="0" tIns="0" rIns="0" bIns="0" anchor="ctr">
            <a:spAutoFit/>
          </a:bodyPr>
          <a:lstStyle/>
          <a:p>
            <a:pPr algn="ctr"/>
            <a:r>
              <a:rPr sz="1800" b="0" i="1">
                <a:solidFill>
                  <a:srgbClr val="000000"/>
                </a:solidFill>
                <a:latin typeface="Cambria"/>
              </a:rPr>
              <a:t>64 FMAs per operation  ( Volta )</a:t>
            </a:r>
          </a:p>
        </p:txBody>
      </p:sp>
      <p:cxnSp>
        <p:nvCxnSpPr>
          <p:cNvPr id="907" name="Connector 906"/>
          <p:cNvCxnSpPr/>
          <p:nvPr/>
        </p:nvCxnSpPr>
        <p:spPr>
          <a:xfrm>
            <a:off x="5029200" y="1828800"/>
            <a:ext cx="0" cy="274320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908" name="TextBox 907"/>
          <p:cNvSpPr txBox="1"/>
          <p:nvPr/>
        </p:nvSpPr>
        <p:spPr>
          <a:xfrm>
            <a:off x="731520" y="4937760"/>
            <a:ext cx="8595360" cy="13716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Same fetch,  same decode,  same register traffic</a:t>
            </a:r>
          </a:p>
          <a:p>
            <a:pPr algn="ctr">
              <a:spcBef>
                <a:spcPts val="1000"/>
              </a:spcBef>
              <a:tabLst>
                <a:tab pos="548640" algn="l"/>
                <a:tab pos="1097280" algn="l"/>
                <a:tab pos="1645919" algn="l"/>
                <a:tab pos="2194560" algn="l"/>
                <a:tab pos="2743200" algn="l"/>
                <a:tab pos="3291839" algn="l"/>
                <a:tab pos="3840480" algn="l"/>
                <a:tab pos="4389120" algn="l"/>
              </a:tabLst>
            </a:pPr>
            <a:r>
              <a:rPr sz="2400" b="1" i="0">
                <a:solidFill>
                  <a:srgbClr val="000000"/>
                </a:solidFill>
                <a:latin typeface="Cambria"/>
              </a:rPr>
              <a:t>64 times the arithmetic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Inside One Tensor Core Operation</a:t>
            </a:r>
          </a:p>
        </p:txBody>
      </p:sp>
      <p:sp>
        <p:nvSpPr>
          <p:cNvPr id="901" name="Rectangle 900"/>
          <p:cNvSpPr/>
          <p:nvPr/>
        </p:nvSpPr>
        <p:spPr>
          <a:xfrm>
            <a:off x="731520" y="2103120"/>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2" name="Rectangle 901"/>
          <p:cNvSpPr/>
          <p:nvPr/>
        </p:nvSpPr>
        <p:spPr>
          <a:xfrm>
            <a:off x="1115568" y="2103120"/>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3" name="Rectangle 902"/>
          <p:cNvSpPr/>
          <p:nvPr/>
        </p:nvSpPr>
        <p:spPr>
          <a:xfrm>
            <a:off x="1499616" y="2103120"/>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4" name="Rectangle 903"/>
          <p:cNvSpPr/>
          <p:nvPr/>
        </p:nvSpPr>
        <p:spPr>
          <a:xfrm>
            <a:off x="1883664" y="2103120"/>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5" name="Rectangle 904"/>
          <p:cNvSpPr/>
          <p:nvPr/>
        </p:nvSpPr>
        <p:spPr>
          <a:xfrm>
            <a:off x="731520" y="2487168"/>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6" name="Rectangle 905"/>
          <p:cNvSpPr/>
          <p:nvPr/>
        </p:nvSpPr>
        <p:spPr>
          <a:xfrm>
            <a:off x="1115568" y="2487168"/>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7" name="Rectangle 906"/>
          <p:cNvSpPr/>
          <p:nvPr/>
        </p:nvSpPr>
        <p:spPr>
          <a:xfrm>
            <a:off x="1499616" y="2487168"/>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8" name="Rectangle 907"/>
          <p:cNvSpPr/>
          <p:nvPr/>
        </p:nvSpPr>
        <p:spPr>
          <a:xfrm>
            <a:off x="1883664" y="2487168"/>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9" name="Rectangle 908"/>
          <p:cNvSpPr/>
          <p:nvPr/>
        </p:nvSpPr>
        <p:spPr>
          <a:xfrm>
            <a:off x="731520" y="2871215"/>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0" name="Rectangle 909"/>
          <p:cNvSpPr/>
          <p:nvPr/>
        </p:nvSpPr>
        <p:spPr>
          <a:xfrm>
            <a:off x="1115568" y="2871215"/>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1" name="Rectangle 910"/>
          <p:cNvSpPr/>
          <p:nvPr/>
        </p:nvSpPr>
        <p:spPr>
          <a:xfrm>
            <a:off x="1499616" y="2871215"/>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2" name="Rectangle 911"/>
          <p:cNvSpPr/>
          <p:nvPr/>
        </p:nvSpPr>
        <p:spPr>
          <a:xfrm>
            <a:off x="1883664" y="2871215"/>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3" name="Rectangle 912"/>
          <p:cNvSpPr/>
          <p:nvPr/>
        </p:nvSpPr>
        <p:spPr>
          <a:xfrm>
            <a:off x="731520" y="3255263"/>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4" name="Rectangle 913"/>
          <p:cNvSpPr/>
          <p:nvPr/>
        </p:nvSpPr>
        <p:spPr>
          <a:xfrm>
            <a:off x="1115568" y="3255263"/>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5" name="Rectangle 914"/>
          <p:cNvSpPr/>
          <p:nvPr/>
        </p:nvSpPr>
        <p:spPr>
          <a:xfrm>
            <a:off x="1499616" y="3255263"/>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ectangle 915"/>
          <p:cNvSpPr/>
          <p:nvPr/>
        </p:nvSpPr>
        <p:spPr>
          <a:xfrm>
            <a:off x="1883664" y="3255263"/>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7" name="TextBox 916"/>
          <p:cNvSpPr txBox="1"/>
          <p:nvPr/>
        </p:nvSpPr>
        <p:spPr>
          <a:xfrm>
            <a:off x="731520" y="3685031"/>
            <a:ext cx="1536192" cy="365760"/>
          </a:xfrm>
          <a:prstGeom prst="rect">
            <a:avLst/>
          </a:prstGeom>
          <a:noFill/>
        </p:spPr>
        <p:txBody>
          <a:bodyPr wrap="square" lIns="0" tIns="0" rIns="0" bIns="0" anchor="ctr">
            <a:spAutoFit/>
          </a:bodyPr>
          <a:lstStyle/>
          <a:p>
            <a:pPr algn="ctr"/>
            <a:r>
              <a:rPr sz="2000" b="1" i="0">
                <a:solidFill>
                  <a:srgbClr val="000000"/>
                </a:solidFill>
                <a:latin typeface="Cambria"/>
              </a:rPr>
              <a:t>D</a:t>
            </a:r>
          </a:p>
        </p:txBody>
      </p:sp>
      <p:sp>
        <p:nvSpPr>
          <p:cNvPr id="918" name="TextBox 917"/>
          <p:cNvSpPr txBox="1"/>
          <p:nvPr/>
        </p:nvSpPr>
        <p:spPr>
          <a:xfrm>
            <a:off x="2377440" y="2651760"/>
            <a:ext cx="548640" cy="457200"/>
          </a:xfrm>
          <a:prstGeom prst="rect">
            <a:avLst/>
          </a:prstGeom>
          <a:noFill/>
        </p:spPr>
        <p:txBody>
          <a:bodyPr wrap="square" lIns="0" tIns="0" rIns="0" bIns="0" anchor="ctr">
            <a:spAutoFit/>
          </a:bodyPr>
          <a:lstStyle/>
          <a:p>
            <a:pPr algn="ctr"/>
            <a:r>
              <a:rPr sz="3000" b="1" i="0">
                <a:solidFill>
                  <a:srgbClr val="000000"/>
                </a:solidFill>
                <a:latin typeface="Cambria"/>
              </a:rPr>
              <a:t>=</a:t>
            </a:r>
          </a:p>
        </p:txBody>
      </p:sp>
      <p:sp>
        <p:nvSpPr>
          <p:cNvPr id="919" name="Rectangle 918"/>
          <p:cNvSpPr/>
          <p:nvPr/>
        </p:nvSpPr>
        <p:spPr>
          <a:xfrm>
            <a:off x="2926080" y="210312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0" name="Rectangle 919"/>
          <p:cNvSpPr/>
          <p:nvPr/>
        </p:nvSpPr>
        <p:spPr>
          <a:xfrm>
            <a:off x="3310128" y="210312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1" name="Rectangle 920"/>
          <p:cNvSpPr/>
          <p:nvPr/>
        </p:nvSpPr>
        <p:spPr>
          <a:xfrm>
            <a:off x="3694176" y="210312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2" name="Rectangle 921"/>
          <p:cNvSpPr/>
          <p:nvPr/>
        </p:nvSpPr>
        <p:spPr>
          <a:xfrm>
            <a:off x="4078224" y="210312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3" name="Rectangle 922"/>
          <p:cNvSpPr/>
          <p:nvPr/>
        </p:nvSpPr>
        <p:spPr>
          <a:xfrm>
            <a:off x="2926080" y="248716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4" name="Rectangle 923"/>
          <p:cNvSpPr/>
          <p:nvPr/>
        </p:nvSpPr>
        <p:spPr>
          <a:xfrm>
            <a:off x="3310128" y="248716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5" name="Rectangle 924"/>
          <p:cNvSpPr/>
          <p:nvPr/>
        </p:nvSpPr>
        <p:spPr>
          <a:xfrm>
            <a:off x="3694176" y="248716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6" name="Rectangle 925"/>
          <p:cNvSpPr/>
          <p:nvPr/>
        </p:nvSpPr>
        <p:spPr>
          <a:xfrm>
            <a:off x="4078224" y="248716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7" name="Rectangle 926"/>
          <p:cNvSpPr/>
          <p:nvPr/>
        </p:nvSpPr>
        <p:spPr>
          <a:xfrm>
            <a:off x="2926080" y="2871215"/>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8" name="Rectangle 927"/>
          <p:cNvSpPr/>
          <p:nvPr/>
        </p:nvSpPr>
        <p:spPr>
          <a:xfrm>
            <a:off x="3310128" y="2871215"/>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9" name="Rectangle 928"/>
          <p:cNvSpPr/>
          <p:nvPr/>
        </p:nvSpPr>
        <p:spPr>
          <a:xfrm>
            <a:off x="3694176" y="2871215"/>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0" name="Rectangle 929"/>
          <p:cNvSpPr/>
          <p:nvPr/>
        </p:nvSpPr>
        <p:spPr>
          <a:xfrm>
            <a:off x="4078224" y="2871215"/>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1" name="Rectangle 930"/>
          <p:cNvSpPr/>
          <p:nvPr/>
        </p:nvSpPr>
        <p:spPr>
          <a:xfrm>
            <a:off x="2926080" y="3255263"/>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2" name="Rectangle 931"/>
          <p:cNvSpPr/>
          <p:nvPr/>
        </p:nvSpPr>
        <p:spPr>
          <a:xfrm>
            <a:off x="3310128" y="3255263"/>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3" name="Rectangle 932"/>
          <p:cNvSpPr/>
          <p:nvPr/>
        </p:nvSpPr>
        <p:spPr>
          <a:xfrm>
            <a:off x="3694176" y="3255263"/>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4" name="Rectangle 933"/>
          <p:cNvSpPr/>
          <p:nvPr/>
        </p:nvSpPr>
        <p:spPr>
          <a:xfrm>
            <a:off x="4078224" y="3255263"/>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5" name="TextBox 934"/>
          <p:cNvSpPr txBox="1"/>
          <p:nvPr/>
        </p:nvSpPr>
        <p:spPr>
          <a:xfrm>
            <a:off x="2926080" y="3685031"/>
            <a:ext cx="1536192" cy="365760"/>
          </a:xfrm>
          <a:prstGeom prst="rect">
            <a:avLst/>
          </a:prstGeom>
          <a:noFill/>
        </p:spPr>
        <p:txBody>
          <a:bodyPr wrap="square" lIns="0" tIns="0" rIns="0" bIns="0" anchor="ctr">
            <a:spAutoFit/>
          </a:bodyPr>
          <a:lstStyle/>
          <a:p>
            <a:pPr algn="ctr"/>
            <a:r>
              <a:rPr sz="2000" b="1" i="0">
                <a:solidFill>
                  <a:srgbClr val="000000"/>
                </a:solidFill>
                <a:latin typeface="Cambria"/>
              </a:rPr>
              <a:t>A</a:t>
            </a:r>
          </a:p>
        </p:txBody>
      </p:sp>
      <p:sp>
        <p:nvSpPr>
          <p:cNvPr id="936" name="TextBox 935"/>
          <p:cNvSpPr txBox="1"/>
          <p:nvPr/>
        </p:nvSpPr>
        <p:spPr>
          <a:xfrm>
            <a:off x="4572000" y="2651760"/>
            <a:ext cx="548640" cy="457200"/>
          </a:xfrm>
          <a:prstGeom prst="rect">
            <a:avLst/>
          </a:prstGeom>
          <a:noFill/>
        </p:spPr>
        <p:txBody>
          <a:bodyPr wrap="square" lIns="0" tIns="0" rIns="0" bIns="0" anchor="ctr">
            <a:spAutoFit/>
          </a:bodyPr>
          <a:lstStyle/>
          <a:p>
            <a:pPr algn="ctr"/>
            <a:r>
              <a:rPr sz="3000" b="1" i="0">
                <a:solidFill>
                  <a:srgbClr val="000000"/>
                </a:solidFill>
                <a:latin typeface="Cambria"/>
              </a:rPr>
              <a:t>×</a:t>
            </a:r>
          </a:p>
        </p:txBody>
      </p:sp>
      <p:sp>
        <p:nvSpPr>
          <p:cNvPr id="937" name="Rectangle 936"/>
          <p:cNvSpPr/>
          <p:nvPr/>
        </p:nvSpPr>
        <p:spPr>
          <a:xfrm>
            <a:off x="5120640" y="210312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8" name="Rectangle 937"/>
          <p:cNvSpPr/>
          <p:nvPr/>
        </p:nvSpPr>
        <p:spPr>
          <a:xfrm>
            <a:off x="5504688" y="210312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9" name="Rectangle 938"/>
          <p:cNvSpPr/>
          <p:nvPr/>
        </p:nvSpPr>
        <p:spPr>
          <a:xfrm>
            <a:off x="5888736" y="210312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0" name="Rectangle 939"/>
          <p:cNvSpPr/>
          <p:nvPr/>
        </p:nvSpPr>
        <p:spPr>
          <a:xfrm>
            <a:off x="6272783" y="210312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1" name="Rectangle 940"/>
          <p:cNvSpPr/>
          <p:nvPr/>
        </p:nvSpPr>
        <p:spPr>
          <a:xfrm>
            <a:off x="5120640" y="248716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2" name="Rectangle 941"/>
          <p:cNvSpPr/>
          <p:nvPr/>
        </p:nvSpPr>
        <p:spPr>
          <a:xfrm>
            <a:off x="5504688" y="248716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3" name="Rectangle 942"/>
          <p:cNvSpPr/>
          <p:nvPr/>
        </p:nvSpPr>
        <p:spPr>
          <a:xfrm>
            <a:off x="5888736" y="248716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4" name="Rectangle 943"/>
          <p:cNvSpPr/>
          <p:nvPr/>
        </p:nvSpPr>
        <p:spPr>
          <a:xfrm>
            <a:off x="6272783" y="248716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5" name="Rectangle 944"/>
          <p:cNvSpPr/>
          <p:nvPr/>
        </p:nvSpPr>
        <p:spPr>
          <a:xfrm>
            <a:off x="5120640" y="2871215"/>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6" name="Rectangle 945"/>
          <p:cNvSpPr/>
          <p:nvPr/>
        </p:nvSpPr>
        <p:spPr>
          <a:xfrm>
            <a:off x="5504688" y="2871215"/>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7" name="Rectangle 946"/>
          <p:cNvSpPr/>
          <p:nvPr/>
        </p:nvSpPr>
        <p:spPr>
          <a:xfrm>
            <a:off x="5888736" y="2871215"/>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8" name="Rectangle 947"/>
          <p:cNvSpPr/>
          <p:nvPr/>
        </p:nvSpPr>
        <p:spPr>
          <a:xfrm>
            <a:off x="6272783" y="2871215"/>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9" name="Rectangle 948"/>
          <p:cNvSpPr/>
          <p:nvPr/>
        </p:nvSpPr>
        <p:spPr>
          <a:xfrm>
            <a:off x="5120640" y="3255263"/>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0" name="Rectangle 949"/>
          <p:cNvSpPr/>
          <p:nvPr/>
        </p:nvSpPr>
        <p:spPr>
          <a:xfrm>
            <a:off x="5504688" y="3255263"/>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1" name="Rectangle 950"/>
          <p:cNvSpPr/>
          <p:nvPr/>
        </p:nvSpPr>
        <p:spPr>
          <a:xfrm>
            <a:off x="5888736" y="3255263"/>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2" name="Rectangle 951"/>
          <p:cNvSpPr/>
          <p:nvPr/>
        </p:nvSpPr>
        <p:spPr>
          <a:xfrm>
            <a:off x="6272783" y="3255263"/>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3" name="TextBox 952"/>
          <p:cNvSpPr txBox="1"/>
          <p:nvPr/>
        </p:nvSpPr>
        <p:spPr>
          <a:xfrm>
            <a:off x="5120640" y="3685031"/>
            <a:ext cx="1536192" cy="365760"/>
          </a:xfrm>
          <a:prstGeom prst="rect">
            <a:avLst/>
          </a:prstGeom>
          <a:noFill/>
        </p:spPr>
        <p:txBody>
          <a:bodyPr wrap="square" lIns="0" tIns="0" rIns="0" bIns="0" anchor="ctr">
            <a:spAutoFit/>
          </a:bodyPr>
          <a:lstStyle/>
          <a:p>
            <a:pPr algn="ctr"/>
            <a:r>
              <a:rPr sz="2000" b="1" i="0">
                <a:solidFill>
                  <a:srgbClr val="000000"/>
                </a:solidFill>
                <a:latin typeface="Cambria"/>
              </a:rPr>
              <a:t>B</a:t>
            </a:r>
          </a:p>
        </p:txBody>
      </p:sp>
      <p:sp>
        <p:nvSpPr>
          <p:cNvPr id="954" name="TextBox 953"/>
          <p:cNvSpPr txBox="1"/>
          <p:nvPr/>
        </p:nvSpPr>
        <p:spPr>
          <a:xfrm>
            <a:off x="6766560" y="2651760"/>
            <a:ext cx="548640" cy="457200"/>
          </a:xfrm>
          <a:prstGeom prst="rect">
            <a:avLst/>
          </a:prstGeom>
          <a:noFill/>
        </p:spPr>
        <p:txBody>
          <a:bodyPr wrap="square" lIns="0" tIns="0" rIns="0" bIns="0" anchor="ctr">
            <a:spAutoFit/>
          </a:bodyPr>
          <a:lstStyle/>
          <a:p>
            <a:pPr algn="ctr"/>
            <a:r>
              <a:rPr sz="3000" b="1" i="0">
                <a:solidFill>
                  <a:srgbClr val="000000"/>
                </a:solidFill>
                <a:latin typeface="Cambria"/>
              </a:rPr>
              <a:t>+</a:t>
            </a:r>
          </a:p>
        </p:txBody>
      </p:sp>
      <p:sp>
        <p:nvSpPr>
          <p:cNvPr id="955" name="Rectangle 954"/>
          <p:cNvSpPr/>
          <p:nvPr/>
        </p:nvSpPr>
        <p:spPr>
          <a:xfrm>
            <a:off x="7315200" y="2103120"/>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6" name="Rectangle 955"/>
          <p:cNvSpPr/>
          <p:nvPr/>
        </p:nvSpPr>
        <p:spPr>
          <a:xfrm>
            <a:off x="7699248" y="2103120"/>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7" name="Rectangle 956"/>
          <p:cNvSpPr/>
          <p:nvPr/>
        </p:nvSpPr>
        <p:spPr>
          <a:xfrm>
            <a:off x="8083296" y="2103120"/>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8" name="Rectangle 957"/>
          <p:cNvSpPr/>
          <p:nvPr/>
        </p:nvSpPr>
        <p:spPr>
          <a:xfrm>
            <a:off x="8467344" y="2103120"/>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9" name="Rectangle 958"/>
          <p:cNvSpPr/>
          <p:nvPr/>
        </p:nvSpPr>
        <p:spPr>
          <a:xfrm>
            <a:off x="7315200" y="2487168"/>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0" name="Rectangle 959"/>
          <p:cNvSpPr/>
          <p:nvPr/>
        </p:nvSpPr>
        <p:spPr>
          <a:xfrm>
            <a:off x="7699248" y="2487168"/>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1" name="Rectangle 960"/>
          <p:cNvSpPr/>
          <p:nvPr/>
        </p:nvSpPr>
        <p:spPr>
          <a:xfrm>
            <a:off x="8083296" y="2487168"/>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2" name="Rectangle 961"/>
          <p:cNvSpPr/>
          <p:nvPr/>
        </p:nvSpPr>
        <p:spPr>
          <a:xfrm>
            <a:off x="8467344" y="2487168"/>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3" name="Rectangle 962"/>
          <p:cNvSpPr/>
          <p:nvPr/>
        </p:nvSpPr>
        <p:spPr>
          <a:xfrm>
            <a:off x="7315200" y="2871215"/>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4" name="Rectangle 963"/>
          <p:cNvSpPr/>
          <p:nvPr/>
        </p:nvSpPr>
        <p:spPr>
          <a:xfrm>
            <a:off x="7699248" y="2871215"/>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5" name="Rectangle 964"/>
          <p:cNvSpPr/>
          <p:nvPr/>
        </p:nvSpPr>
        <p:spPr>
          <a:xfrm>
            <a:off x="8083296" y="2871215"/>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6" name="Rectangle 965"/>
          <p:cNvSpPr/>
          <p:nvPr/>
        </p:nvSpPr>
        <p:spPr>
          <a:xfrm>
            <a:off x="8467344" y="2871215"/>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7" name="Rectangle 966"/>
          <p:cNvSpPr/>
          <p:nvPr/>
        </p:nvSpPr>
        <p:spPr>
          <a:xfrm>
            <a:off x="7315200" y="3255263"/>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8" name="Rectangle 967"/>
          <p:cNvSpPr/>
          <p:nvPr/>
        </p:nvSpPr>
        <p:spPr>
          <a:xfrm>
            <a:off x="7699248" y="3255263"/>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9" name="Rectangle 968"/>
          <p:cNvSpPr/>
          <p:nvPr/>
        </p:nvSpPr>
        <p:spPr>
          <a:xfrm>
            <a:off x="8083296" y="3255263"/>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0" name="Rectangle 969"/>
          <p:cNvSpPr/>
          <p:nvPr/>
        </p:nvSpPr>
        <p:spPr>
          <a:xfrm>
            <a:off x="8467344" y="3255263"/>
            <a:ext cx="384048" cy="384048"/>
          </a:xfrm>
          <a:prstGeom prst="rect">
            <a:avLst/>
          </a:prstGeom>
          <a:solidFill>
            <a:srgbClr val="D5EDD5"/>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1" name="TextBox 970"/>
          <p:cNvSpPr txBox="1"/>
          <p:nvPr/>
        </p:nvSpPr>
        <p:spPr>
          <a:xfrm>
            <a:off x="7315200" y="3685031"/>
            <a:ext cx="1536192" cy="365760"/>
          </a:xfrm>
          <a:prstGeom prst="rect">
            <a:avLst/>
          </a:prstGeom>
          <a:noFill/>
        </p:spPr>
        <p:txBody>
          <a:bodyPr wrap="square" lIns="0" tIns="0" rIns="0" bIns="0" anchor="ctr">
            <a:spAutoFit/>
          </a:bodyPr>
          <a:lstStyle/>
          <a:p>
            <a:pPr algn="ctr"/>
            <a:r>
              <a:rPr sz="2000" b="1" i="0">
                <a:solidFill>
                  <a:srgbClr val="000000"/>
                </a:solidFill>
                <a:latin typeface="Cambria"/>
              </a:rPr>
              <a:t>C</a:t>
            </a:r>
          </a:p>
        </p:txBody>
      </p:sp>
      <p:sp>
        <p:nvSpPr>
          <p:cNvPr id="972" name="TextBox 971"/>
          <p:cNvSpPr txBox="1"/>
          <p:nvPr/>
        </p:nvSpPr>
        <p:spPr>
          <a:xfrm>
            <a:off x="731520" y="4251960"/>
            <a:ext cx="8595360" cy="219456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A and B:  low precision  ( FP16,  BF16,  FP8 ... )</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C and D:  higher precision accumulator  ( FP32 )</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Inside:  64 multipliers feeding adder trees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Number Formats</a:t>
            </a:r>
          </a:p>
        </p:txBody>
      </p:sp>
      <p:sp>
        <p:nvSpPr>
          <p:cNvPr id="901" name="TextBox 900"/>
          <p:cNvSpPr txBox="1"/>
          <p:nvPr/>
        </p:nvSpPr>
        <p:spPr>
          <a:xfrm>
            <a:off x="548640" y="1783080"/>
            <a:ext cx="1417320" cy="457200"/>
          </a:xfrm>
          <a:prstGeom prst="rect">
            <a:avLst/>
          </a:prstGeom>
          <a:noFill/>
        </p:spPr>
        <p:txBody>
          <a:bodyPr wrap="square" lIns="0" tIns="0" rIns="0" bIns="0" anchor="ctr">
            <a:spAutoFit/>
          </a:bodyPr>
          <a:lstStyle/>
          <a:p>
            <a:pPr algn="l"/>
            <a:r>
              <a:rPr sz="1700" b="1" i="0">
                <a:solidFill>
                  <a:srgbClr val="000000"/>
                </a:solidFill>
                <a:latin typeface="Cambria"/>
              </a:rPr>
              <a:t>FP32</a:t>
            </a:r>
          </a:p>
        </p:txBody>
      </p:sp>
      <p:sp>
        <p:nvSpPr>
          <p:cNvPr id="902" name="Rectangle 901"/>
          <p:cNvSpPr/>
          <p:nvPr/>
        </p:nvSpPr>
        <p:spPr>
          <a:xfrm>
            <a:off x="2011680" y="1783080"/>
            <a:ext cx="187452" cy="457200"/>
          </a:xfrm>
          <a:prstGeom prst="rect">
            <a:avLst/>
          </a:prstGeom>
          <a:solidFill>
            <a:srgbClr val="C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3" name="Rectangle 902"/>
          <p:cNvSpPr/>
          <p:nvPr/>
        </p:nvSpPr>
        <p:spPr>
          <a:xfrm>
            <a:off x="2199132" y="1783080"/>
            <a:ext cx="1499616"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8</a:t>
            </a:r>
          </a:p>
        </p:txBody>
      </p:sp>
      <p:sp>
        <p:nvSpPr>
          <p:cNvPr id="904" name="Rectangle 903"/>
          <p:cNvSpPr/>
          <p:nvPr/>
        </p:nvSpPr>
        <p:spPr>
          <a:xfrm>
            <a:off x="3698748" y="1783080"/>
            <a:ext cx="4311396"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23</a:t>
            </a:r>
          </a:p>
        </p:txBody>
      </p:sp>
      <p:sp>
        <p:nvSpPr>
          <p:cNvPr id="905" name="TextBox 904"/>
          <p:cNvSpPr txBox="1"/>
          <p:nvPr/>
        </p:nvSpPr>
        <p:spPr>
          <a:xfrm>
            <a:off x="548640" y="2441448"/>
            <a:ext cx="1417320" cy="457200"/>
          </a:xfrm>
          <a:prstGeom prst="rect">
            <a:avLst/>
          </a:prstGeom>
          <a:noFill/>
        </p:spPr>
        <p:txBody>
          <a:bodyPr wrap="square" lIns="0" tIns="0" rIns="0" bIns="0" anchor="ctr">
            <a:spAutoFit/>
          </a:bodyPr>
          <a:lstStyle/>
          <a:p>
            <a:pPr algn="l"/>
            <a:r>
              <a:rPr sz="1700" b="1" i="0">
                <a:solidFill>
                  <a:srgbClr val="000000"/>
                </a:solidFill>
                <a:latin typeface="Cambria"/>
              </a:rPr>
              <a:t>TF32</a:t>
            </a:r>
          </a:p>
        </p:txBody>
      </p:sp>
      <p:sp>
        <p:nvSpPr>
          <p:cNvPr id="906" name="Rectangle 905"/>
          <p:cNvSpPr/>
          <p:nvPr/>
        </p:nvSpPr>
        <p:spPr>
          <a:xfrm>
            <a:off x="2011680" y="2441448"/>
            <a:ext cx="187452" cy="457200"/>
          </a:xfrm>
          <a:prstGeom prst="rect">
            <a:avLst/>
          </a:prstGeom>
          <a:solidFill>
            <a:srgbClr val="C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7" name="Rectangle 906"/>
          <p:cNvSpPr/>
          <p:nvPr/>
        </p:nvSpPr>
        <p:spPr>
          <a:xfrm>
            <a:off x="2199132" y="2441448"/>
            <a:ext cx="1499616"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8</a:t>
            </a:r>
          </a:p>
        </p:txBody>
      </p:sp>
      <p:sp>
        <p:nvSpPr>
          <p:cNvPr id="908" name="Rectangle 907"/>
          <p:cNvSpPr/>
          <p:nvPr/>
        </p:nvSpPr>
        <p:spPr>
          <a:xfrm>
            <a:off x="3698748" y="2441448"/>
            <a:ext cx="1874519"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10</a:t>
            </a:r>
          </a:p>
        </p:txBody>
      </p:sp>
      <p:sp>
        <p:nvSpPr>
          <p:cNvPr id="909" name="TextBox 908"/>
          <p:cNvSpPr txBox="1"/>
          <p:nvPr/>
        </p:nvSpPr>
        <p:spPr>
          <a:xfrm>
            <a:off x="548640" y="3099815"/>
            <a:ext cx="1417320" cy="457200"/>
          </a:xfrm>
          <a:prstGeom prst="rect">
            <a:avLst/>
          </a:prstGeom>
          <a:noFill/>
        </p:spPr>
        <p:txBody>
          <a:bodyPr wrap="square" lIns="0" tIns="0" rIns="0" bIns="0" anchor="ctr">
            <a:spAutoFit/>
          </a:bodyPr>
          <a:lstStyle/>
          <a:p>
            <a:pPr algn="l"/>
            <a:r>
              <a:rPr sz="1700" b="1" i="0">
                <a:solidFill>
                  <a:srgbClr val="000000"/>
                </a:solidFill>
                <a:latin typeface="Cambria"/>
              </a:rPr>
              <a:t>BF16</a:t>
            </a:r>
          </a:p>
        </p:txBody>
      </p:sp>
      <p:sp>
        <p:nvSpPr>
          <p:cNvPr id="910" name="Rectangle 909"/>
          <p:cNvSpPr/>
          <p:nvPr/>
        </p:nvSpPr>
        <p:spPr>
          <a:xfrm>
            <a:off x="2011680" y="3099815"/>
            <a:ext cx="187452" cy="457200"/>
          </a:xfrm>
          <a:prstGeom prst="rect">
            <a:avLst/>
          </a:prstGeom>
          <a:solidFill>
            <a:srgbClr val="C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1" name="Rectangle 910"/>
          <p:cNvSpPr/>
          <p:nvPr/>
        </p:nvSpPr>
        <p:spPr>
          <a:xfrm>
            <a:off x="2199132" y="3099815"/>
            <a:ext cx="1499616"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8</a:t>
            </a:r>
          </a:p>
        </p:txBody>
      </p:sp>
      <p:sp>
        <p:nvSpPr>
          <p:cNvPr id="912" name="Rectangle 911"/>
          <p:cNvSpPr/>
          <p:nvPr/>
        </p:nvSpPr>
        <p:spPr>
          <a:xfrm>
            <a:off x="3698748" y="3099815"/>
            <a:ext cx="1312163"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7</a:t>
            </a:r>
          </a:p>
        </p:txBody>
      </p:sp>
      <p:sp>
        <p:nvSpPr>
          <p:cNvPr id="913" name="TextBox 912"/>
          <p:cNvSpPr txBox="1"/>
          <p:nvPr/>
        </p:nvSpPr>
        <p:spPr>
          <a:xfrm>
            <a:off x="548640" y="3758184"/>
            <a:ext cx="1417320" cy="457200"/>
          </a:xfrm>
          <a:prstGeom prst="rect">
            <a:avLst/>
          </a:prstGeom>
          <a:noFill/>
        </p:spPr>
        <p:txBody>
          <a:bodyPr wrap="square" lIns="0" tIns="0" rIns="0" bIns="0" anchor="ctr">
            <a:spAutoFit/>
          </a:bodyPr>
          <a:lstStyle/>
          <a:p>
            <a:pPr algn="l"/>
            <a:r>
              <a:rPr sz="1700" b="1" i="0">
                <a:solidFill>
                  <a:srgbClr val="000000"/>
                </a:solidFill>
                <a:latin typeface="Cambria"/>
              </a:rPr>
              <a:t>FP16</a:t>
            </a:r>
          </a:p>
        </p:txBody>
      </p:sp>
      <p:sp>
        <p:nvSpPr>
          <p:cNvPr id="914" name="Rectangle 913"/>
          <p:cNvSpPr/>
          <p:nvPr/>
        </p:nvSpPr>
        <p:spPr>
          <a:xfrm>
            <a:off x="2011680" y="3758184"/>
            <a:ext cx="187452" cy="457200"/>
          </a:xfrm>
          <a:prstGeom prst="rect">
            <a:avLst/>
          </a:prstGeom>
          <a:solidFill>
            <a:srgbClr val="C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5" name="Rectangle 914"/>
          <p:cNvSpPr/>
          <p:nvPr/>
        </p:nvSpPr>
        <p:spPr>
          <a:xfrm>
            <a:off x="2199132" y="3758184"/>
            <a:ext cx="937259"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5</a:t>
            </a:r>
          </a:p>
        </p:txBody>
      </p:sp>
      <p:sp>
        <p:nvSpPr>
          <p:cNvPr id="916" name="Rectangle 915"/>
          <p:cNvSpPr/>
          <p:nvPr/>
        </p:nvSpPr>
        <p:spPr>
          <a:xfrm>
            <a:off x="3136392" y="3758184"/>
            <a:ext cx="1874519"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10</a:t>
            </a:r>
          </a:p>
        </p:txBody>
      </p:sp>
      <p:sp>
        <p:nvSpPr>
          <p:cNvPr id="917" name="TextBox 916"/>
          <p:cNvSpPr txBox="1"/>
          <p:nvPr/>
        </p:nvSpPr>
        <p:spPr>
          <a:xfrm>
            <a:off x="548640" y="4416552"/>
            <a:ext cx="1417320" cy="457200"/>
          </a:xfrm>
          <a:prstGeom prst="rect">
            <a:avLst/>
          </a:prstGeom>
          <a:noFill/>
        </p:spPr>
        <p:txBody>
          <a:bodyPr wrap="square" lIns="0" tIns="0" rIns="0" bIns="0" anchor="ctr">
            <a:spAutoFit/>
          </a:bodyPr>
          <a:lstStyle/>
          <a:p>
            <a:pPr algn="l"/>
            <a:r>
              <a:rPr sz="1700" b="1" i="0">
                <a:solidFill>
                  <a:srgbClr val="000000"/>
                </a:solidFill>
                <a:latin typeface="Cambria"/>
              </a:rPr>
              <a:t>FP8 E4M3</a:t>
            </a:r>
          </a:p>
        </p:txBody>
      </p:sp>
      <p:sp>
        <p:nvSpPr>
          <p:cNvPr id="918" name="Rectangle 917"/>
          <p:cNvSpPr/>
          <p:nvPr/>
        </p:nvSpPr>
        <p:spPr>
          <a:xfrm>
            <a:off x="2011680" y="4416552"/>
            <a:ext cx="187452" cy="457200"/>
          </a:xfrm>
          <a:prstGeom prst="rect">
            <a:avLst/>
          </a:prstGeom>
          <a:solidFill>
            <a:srgbClr val="C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9" name="Rectangle 918"/>
          <p:cNvSpPr/>
          <p:nvPr/>
        </p:nvSpPr>
        <p:spPr>
          <a:xfrm>
            <a:off x="2199132" y="4416552"/>
            <a:ext cx="749808"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4</a:t>
            </a:r>
          </a:p>
        </p:txBody>
      </p:sp>
      <p:sp>
        <p:nvSpPr>
          <p:cNvPr id="920" name="Rectangle 919"/>
          <p:cNvSpPr/>
          <p:nvPr/>
        </p:nvSpPr>
        <p:spPr>
          <a:xfrm>
            <a:off x="2948940" y="4416552"/>
            <a:ext cx="562356"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3</a:t>
            </a:r>
          </a:p>
        </p:txBody>
      </p:sp>
      <p:sp>
        <p:nvSpPr>
          <p:cNvPr id="921" name="TextBox 920"/>
          <p:cNvSpPr txBox="1"/>
          <p:nvPr/>
        </p:nvSpPr>
        <p:spPr>
          <a:xfrm>
            <a:off x="548640" y="5074920"/>
            <a:ext cx="1417320" cy="457200"/>
          </a:xfrm>
          <a:prstGeom prst="rect">
            <a:avLst/>
          </a:prstGeom>
          <a:noFill/>
        </p:spPr>
        <p:txBody>
          <a:bodyPr wrap="square" lIns="0" tIns="0" rIns="0" bIns="0" anchor="ctr">
            <a:spAutoFit/>
          </a:bodyPr>
          <a:lstStyle/>
          <a:p>
            <a:pPr algn="l"/>
            <a:r>
              <a:rPr sz="1700" b="1" i="0">
                <a:solidFill>
                  <a:srgbClr val="000000"/>
                </a:solidFill>
                <a:latin typeface="Cambria"/>
              </a:rPr>
              <a:t>FP4 E2M1</a:t>
            </a:r>
          </a:p>
        </p:txBody>
      </p:sp>
      <p:sp>
        <p:nvSpPr>
          <p:cNvPr id="922" name="Rectangle 921"/>
          <p:cNvSpPr/>
          <p:nvPr/>
        </p:nvSpPr>
        <p:spPr>
          <a:xfrm>
            <a:off x="2011680" y="5074920"/>
            <a:ext cx="187452" cy="457200"/>
          </a:xfrm>
          <a:prstGeom prst="rect">
            <a:avLst/>
          </a:prstGeom>
          <a:solidFill>
            <a:srgbClr val="C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3" name="Rectangle 922"/>
          <p:cNvSpPr/>
          <p:nvPr/>
        </p:nvSpPr>
        <p:spPr>
          <a:xfrm>
            <a:off x="2199132" y="5074920"/>
            <a:ext cx="374904"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2</a:t>
            </a:r>
          </a:p>
        </p:txBody>
      </p:sp>
      <p:sp>
        <p:nvSpPr>
          <p:cNvPr id="924" name="Rectangle 923"/>
          <p:cNvSpPr/>
          <p:nvPr/>
        </p:nvSpPr>
        <p:spPr>
          <a:xfrm>
            <a:off x="2574036" y="5074920"/>
            <a:ext cx="187452"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300" b="0">
                <a:solidFill>
                  <a:srgbClr val="000000"/>
                </a:solidFill>
                <a:latin typeface="Cambria"/>
              </a:rPr>
              <a:t>1</a:t>
            </a:r>
          </a:p>
        </p:txBody>
      </p:sp>
      <p:sp>
        <p:nvSpPr>
          <p:cNvPr id="925" name="TextBox 924"/>
          <p:cNvSpPr txBox="1"/>
          <p:nvPr/>
        </p:nvSpPr>
        <p:spPr>
          <a:xfrm>
            <a:off x="548640" y="5806440"/>
            <a:ext cx="8595360" cy="411480"/>
          </a:xfrm>
          <a:prstGeom prst="rect">
            <a:avLst/>
          </a:prstGeom>
          <a:noFill/>
        </p:spPr>
        <p:txBody>
          <a:bodyPr wrap="square" lIns="0" tIns="0" rIns="0" bIns="0" anchor="ctr">
            <a:spAutoFit/>
          </a:bodyPr>
          <a:lstStyle/>
          <a:p>
            <a:pPr algn="ctr"/>
            <a:r>
              <a:rPr sz="1600" b="0" i="1">
                <a:solidFill>
                  <a:srgbClr val="595959"/>
                </a:solidFill>
                <a:latin typeface="Cambria"/>
              </a:rPr>
              <a:t>red = sign      amber = exponent bits ( range )      green = mantissa bits ( precision )</a:t>
            </a:r>
          </a:p>
        </p:txBody>
      </p:sp>
      <p:sp>
        <p:nvSpPr>
          <p:cNvPr id="926" name="TextBox 925"/>
          <p:cNvSpPr txBox="1"/>
          <p:nvPr/>
        </p:nvSpPr>
        <p:spPr>
          <a:xfrm>
            <a:off x="731520" y="6217920"/>
            <a:ext cx="8595360" cy="54864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Fewer bits:  less memory,  smaller multipliers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Why Smaller Is So Much Cheaper</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An array multiplier for  m-bit  mantissas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has about  </a:t>
            </a:r>
            <a:r>
              <a:rPr sz="2600" b="1" i="0">
                <a:solidFill>
                  <a:srgbClr val="000000"/>
                </a:solidFill>
                <a:latin typeface="Cambria"/>
              </a:rPr>
              <a:t>m²</a:t>
            </a:r>
            <a:r>
              <a:rPr sz="2600" b="0" i="0">
                <a:solidFill>
                  <a:srgbClr val="000000"/>
                </a:solidFill>
                <a:latin typeface="Cambria"/>
              </a:rPr>
              <a:t>  partial-product cells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FP32	24 × 24	=  576</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BF16	8 × 8	=  64</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FP8 E4M3	4 × 4	=  16</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Roughly  </a:t>
            </a:r>
            <a:r>
              <a:rPr sz="2600" b="1" i="0">
                <a:solidFill>
                  <a:srgbClr val="000000"/>
                </a:solidFill>
                <a:latin typeface="Cambria"/>
              </a:rPr>
              <a:t>9 ×</a:t>
            </a:r>
            <a:r>
              <a:rPr sz="2600" b="0" i="0">
                <a:solidFill>
                  <a:srgbClr val="000000"/>
                </a:solidFill>
                <a:latin typeface="Cambria"/>
              </a:rPr>
              <a:t>  smaller going from FP32 to BF16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Very Small Numbers Need a Scale</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FP4 has only 16 patterns:  ±0,  0.5,  1,  1.5,  2,  3,  4,  6</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Real values span a much wider range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Block scaling</a:t>
            </a:r>
            <a:r>
              <a:rPr sz="2600" b="0" i="0">
                <a:solidFill>
                  <a:srgbClr val="000000"/>
                </a:solidFill>
                <a:latin typeface="Cambria"/>
              </a:rPr>
              <a:t>:  a small group of values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shares one scale factor</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Blackwell NVFP4:  every 16 values share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one 8-bit scale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Transformer Engine</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Hopper,  2022</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Hardware and software that track the range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of each layer's values as training runs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Choose  FP8  where it is safe,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16-bit where it is not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Scale values so they fit the small format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Build a MAC</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in SystemVerilog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MAC Unit</a:t>
            </a:r>
          </a:p>
        </p:txBody>
      </p:sp>
      <p:sp>
        <p:nvSpPr>
          <p:cNvPr id="901" name="TextBox 900"/>
          <p:cNvSpPr txBox="1"/>
          <p:nvPr/>
        </p:nvSpPr>
        <p:spPr>
          <a:xfrm>
            <a:off x="822960" y="2103120"/>
            <a:ext cx="548640" cy="365760"/>
          </a:xfrm>
          <a:prstGeom prst="rect">
            <a:avLst/>
          </a:prstGeom>
          <a:noFill/>
        </p:spPr>
        <p:txBody>
          <a:bodyPr wrap="square" lIns="0" tIns="0" rIns="0" bIns="0" anchor="ctr">
            <a:spAutoFit/>
          </a:bodyPr>
          <a:lstStyle/>
          <a:p>
            <a:pPr algn="ctr"/>
            <a:r>
              <a:rPr sz="2200" b="1" i="0">
                <a:solidFill>
                  <a:srgbClr val="000000"/>
                </a:solidFill>
                <a:latin typeface="Courier New"/>
              </a:rPr>
              <a:t>a</a:t>
            </a:r>
          </a:p>
        </p:txBody>
      </p:sp>
      <p:sp>
        <p:nvSpPr>
          <p:cNvPr id="902" name="TextBox 901"/>
          <p:cNvSpPr txBox="1"/>
          <p:nvPr/>
        </p:nvSpPr>
        <p:spPr>
          <a:xfrm>
            <a:off x="822960" y="3200400"/>
            <a:ext cx="548640" cy="365760"/>
          </a:xfrm>
          <a:prstGeom prst="rect">
            <a:avLst/>
          </a:prstGeom>
          <a:noFill/>
        </p:spPr>
        <p:txBody>
          <a:bodyPr wrap="square" lIns="0" tIns="0" rIns="0" bIns="0" anchor="ctr">
            <a:spAutoFit/>
          </a:bodyPr>
          <a:lstStyle/>
          <a:p>
            <a:pPr algn="ctr"/>
            <a:r>
              <a:rPr sz="2200" b="1" i="0">
                <a:solidFill>
                  <a:srgbClr val="000000"/>
                </a:solidFill>
                <a:latin typeface="Courier New"/>
              </a:rPr>
              <a:t>b</a:t>
            </a:r>
          </a:p>
        </p:txBody>
      </p:sp>
      <p:cxnSp>
        <p:nvCxnSpPr>
          <p:cNvPr id="903" name="Connector 902"/>
          <p:cNvCxnSpPr/>
          <p:nvPr/>
        </p:nvCxnSpPr>
        <p:spPr>
          <a:xfrm>
            <a:off x="1371600" y="2286000"/>
            <a:ext cx="914400" cy="36576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04" name="Connector 903"/>
          <p:cNvCxnSpPr/>
          <p:nvPr/>
        </p:nvCxnSpPr>
        <p:spPr>
          <a:xfrm flipV="1">
            <a:off x="1371600" y="3017520"/>
            <a:ext cx="914400" cy="36576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5" name="Oval 904"/>
          <p:cNvSpPr/>
          <p:nvPr/>
        </p:nvSpPr>
        <p:spPr>
          <a:xfrm>
            <a:off x="2286000" y="2377440"/>
            <a:ext cx="914400" cy="914400"/>
          </a:xfrm>
          <a:prstGeom prst="ellipse">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3200" b="1">
                <a:solidFill>
                  <a:srgbClr val="000000"/>
                </a:solidFill>
                <a:latin typeface="Cambria"/>
              </a:rPr>
              <a:t>×</a:t>
            </a:r>
          </a:p>
        </p:txBody>
      </p:sp>
      <p:cxnSp>
        <p:nvCxnSpPr>
          <p:cNvPr id="906" name="Connector 905"/>
          <p:cNvCxnSpPr/>
          <p:nvPr/>
        </p:nvCxnSpPr>
        <p:spPr>
          <a:xfrm>
            <a:off x="3200400" y="2834640"/>
            <a:ext cx="100584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7" name="TextBox 906"/>
          <p:cNvSpPr txBox="1"/>
          <p:nvPr/>
        </p:nvSpPr>
        <p:spPr>
          <a:xfrm>
            <a:off x="3200400" y="2377440"/>
            <a:ext cx="1005840" cy="365760"/>
          </a:xfrm>
          <a:prstGeom prst="rect">
            <a:avLst/>
          </a:prstGeom>
          <a:noFill/>
        </p:spPr>
        <p:txBody>
          <a:bodyPr wrap="square" lIns="0" tIns="0" rIns="0" bIns="0" anchor="ctr">
            <a:spAutoFit/>
          </a:bodyPr>
          <a:lstStyle/>
          <a:p>
            <a:pPr algn="ctr"/>
            <a:r>
              <a:rPr sz="1400" b="0" i="0">
                <a:solidFill>
                  <a:srgbClr val="595959"/>
                </a:solidFill>
                <a:latin typeface="Cambria"/>
              </a:rPr>
              <a:t>16 bit</a:t>
            </a:r>
          </a:p>
        </p:txBody>
      </p:sp>
      <p:sp>
        <p:nvSpPr>
          <p:cNvPr id="908" name="Oval 907"/>
          <p:cNvSpPr/>
          <p:nvPr/>
        </p:nvSpPr>
        <p:spPr>
          <a:xfrm>
            <a:off x="4206240" y="2377440"/>
            <a:ext cx="914400" cy="914400"/>
          </a:xfrm>
          <a:prstGeom prst="ellipse">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3200" b="1">
                <a:solidFill>
                  <a:srgbClr val="000000"/>
                </a:solidFill>
                <a:latin typeface="Cambria"/>
              </a:rPr>
              <a:t>+</a:t>
            </a:r>
          </a:p>
        </p:txBody>
      </p:sp>
      <p:cxnSp>
        <p:nvCxnSpPr>
          <p:cNvPr id="909" name="Connector 908"/>
          <p:cNvCxnSpPr/>
          <p:nvPr/>
        </p:nvCxnSpPr>
        <p:spPr>
          <a:xfrm>
            <a:off x="5120640" y="2834640"/>
            <a:ext cx="91440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0" name="Rectangle 909"/>
          <p:cNvSpPr/>
          <p:nvPr/>
        </p:nvSpPr>
        <p:spPr>
          <a:xfrm>
            <a:off x="6035040" y="2194560"/>
            <a:ext cx="1280160" cy="128016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acc</a:t>
            </a:r>
          </a:p>
          <a:p>
            <a:pPr algn="ctr"/>
            <a:r>
              <a:rPr sz="1800" b="1">
                <a:solidFill>
                  <a:srgbClr val="000000"/>
                </a:solidFill>
                <a:latin typeface="Cambria"/>
              </a:rPr>
              <a:t>register</a:t>
            </a:r>
          </a:p>
        </p:txBody>
      </p:sp>
      <p:cxnSp>
        <p:nvCxnSpPr>
          <p:cNvPr id="911" name="Connector 910"/>
          <p:cNvCxnSpPr/>
          <p:nvPr/>
        </p:nvCxnSpPr>
        <p:spPr>
          <a:xfrm>
            <a:off x="7315200" y="2834640"/>
            <a:ext cx="128016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8229600" y="2377440"/>
            <a:ext cx="1097280" cy="365760"/>
          </a:xfrm>
          <a:prstGeom prst="rect">
            <a:avLst/>
          </a:prstGeom>
          <a:noFill/>
        </p:spPr>
        <p:txBody>
          <a:bodyPr wrap="square" lIns="0" tIns="0" rIns="0" bIns="0" anchor="ctr">
            <a:spAutoFit/>
          </a:bodyPr>
          <a:lstStyle/>
          <a:p>
            <a:pPr algn="ctr"/>
            <a:r>
              <a:rPr sz="2200" b="1" i="0">
                <a:solidFill>
                  <a:srgbClr val="000000"/>
                </a:solidFill>
                <a:latin typeface="Courier New"/>
              </a:rPr>
              <a:t>acc</a:t>
            </a:r>
          </a:p>
        </p:txBody>
      </p:sp>
      <p:cxnSp>
        <p:nvCxnSpPr>
          <p:cNvPr id="913" name="Connector 912"/>
          <p:cNvCxnSpPr/>
          <p:nvPr/>
        </p:nvCxnSpPr>
        <p:spPr>
          <a:xfrm>
            <a:off x="7863840" y="2834640"/>
            <a:ext cx="0" cy="128016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14" name="Connector 913"/>
          <p:cNvCxnSpPr/>
          <p:nvPr/>
        </p:nvCxnSpPr>
        <p:spPr>
          <a:xfrm flipH="1">
            <a:off x="4663440" y="4114800"/>
            <a:ext cx="32004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15" name="Connector 914"/>
          <p:cNvCxnSpPr/>
          <p:nvPr/>
        </p:nvCxnSpPr>
        <p:spPr>
          <a:xfrm flipV="1">
            <a:off x="4663440" y="3291840"/>
            <a:ext cx="0" cy="82296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6" name="TextBox 915"/>
          <p:cNvSpPr txBox="1"/>
          <p:nvPr/>
        </p:nvSpPr>
        <p:spPr>
          <a:xfrm>
            <a:off x="4846320" y="4160520"/>
            <a:ext cx="2926080" cy="365760"/>
          </a:xfrm>
          <a:prstGeom prst="rect">
            <a:avLst/>
          </a:prstGeom>
          <a:noFill/>
        </p:spPr>
        <p:txBody>
          <a:bodyPr wrap="square" lIns="0" tIns="0" rIns="0" bIns="0" anchor="ctr">
            <a:spAutoFit/>
          </a:bodyPr>
          <a:lstStyle/>
          <a:p>
            <a:pPr algn="ctr"/>
            <a:r>
              <a:rPr sz="1400" b="0" i="0">
                <a:solidFill>
                  <a:srgbClr val="595959"/>
                </a:solidFill>
                <a:latin typeface="Cambria"/>
              </a:rPr>
              <a:t>32-bit feedback</a:t>
            </a:r>
          </a:p>
        </p:txBody>
      </p:sp>
      <p:sp>
        <p:nvSpPr>
          <p:cNvPr id="917" name="TextBox 916"/>
          <p:cNvSpPr txBox="1"/>
          <p:nvPr/>
        </p:nvSpPr>
        <p:spPr>
          <a:xfrm>
            <a:off x="731520" y="4846320"/>
            <a:ext cx="8595360" cy="14630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8-bit × 8-bit  →  16-bit product</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Accumulate in 32 bits so the sum does not overflow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MAC in SystemVerilog</a:t>
            </a:r>
          </a:p>
        </p:txBody>
      </p:sp>
      <p:sp>
        <p:nvSpPr>
          <p:cNvPr id="901" name="Rectangle 900"/>
          <p:cNvSpPr/>
          <p:nvPr/>
        </p:nvSpPr>
        <p:spPr>
          <a:xfrm>
            <a:off x="731520" y="1691640"/>
            <a:ext cx="8595360" cy="4752086"/>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module mac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parameter int AW = 8,       // input width</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parameter int CW = 32       // accumulator width</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input  logic                 clk, rst_n,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input  logic                 clear, en,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input  logic signed [AW-1:0] a,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output logic signed [CW-1:0] acc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logic signed [2*AW-1:0] prod;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assign prod = a *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always_ff @(posedge clk or negedge rst_n)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if (!rst_n)     acc &lt;=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else if (clear) acc &lt;=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else if (en)        acc &lt;= acc + CW'(prod);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endmodule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Testing the MAC</a:t>
            </a:r>
          </a:p>
        </p:txBody>
      </p:sp>
      <p:sp>
        <p:nvSpPr>
          <p:cNvPr id="901" name="Rectangle 900"/>
          <p:cNvSpPr/>
          <p:nvPr/>
        </p:nvSpPr>
        <p:spPr>
          <a:xfrm>
            <a:off x="731520" y="1691640"/>
            <a:ext cx="8595360" cy="5387339"/>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module tb_mac;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logic clk = 0, rst_n = 0, clear = 0, en =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logic signed [7:0]  a,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logic signed [31:0] acc;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int expected =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mac dut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always #5 clk = ~clk;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initial begin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@(negedge clk) rst_n = 1;</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repeat (100) begin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@(negedge clk);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a = $urandom;  b = $urandom;  en = 1;</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expected += a *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end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@(negedge clk) en =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if (acc == expected) $display("PASS  acc = %0d", acc);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else $display("FAIL  acc = %0d  expected %0d", acc, expected);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$finish;</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end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endmodule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Systolic Arrays</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a grid of MACs that passes data along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What Is a Systolic Array?</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grid of identical </a:t>
            </a:r>
            <a:r>
              <a:rPr sz="2600" b="1" i="0">
                <a:solidFill>
                  <a:srgbClr val="000000"/>
                </a:solidFill>
                <a:latin typeface="Cambria"/>
              </a:rPr>
              <a:t>processing elements</a:t>
            </a:r>
            <a:r>
              <a:rPr sz="2600" b="0" i="0">
                <a:solidFill>
                  <a:srgbClr val="000000"/>
                </a:solidFill>
                <a:latin typeface="Cambria"/>
              </a:rPr>
              <a:t>  ( PEs )</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Each PE:  one MAC,  plus registers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Data </a:t>
            </a:r>
            <a:r>
              <a:rPr sz="2600" b="1" i="0">
                <a:solidFill>
                  <a:srgbClr val="000000"/>
                </a:solidFill>
                <a:latin typeface="Cambria"/>
              </a:rPr>
              <a:t>pulses</a:t>
            </a:r>
            <a:r>
              <a:rPr sz="2600" b="0" i="0">
                <a:solidFill>
                  <a:srgbClr val="000000"/>
                </a:solidFill>
                <a:latin typeface="Cambria"/>
              </a:rPr>
              <a:t> through the grid,  neighbour to neighbour</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like blood through the heart:  systole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Each value fetched once,  used by a whole row or column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 4 × 4 Systolic Array</a:t>
            </a:r>
          </a:p>
        </p:txBody>
      </p:sp>
      <p:sp>
        <p:nvSpPr>
          <p:cNvPr id="901" name="Rounded Rectangle 900"/>
          <p:cNvSpPr/>
          <p:nvPr/>
        </p:nvSpPr>
        <p:spPr>
          <a:xfrm>
            <a:off x="2377440" y="25146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02" name="Connector 901"/>
          <p:cNvCxnSpPr/>
          <p:nvPr/>
        </p:nvCxnSpPr>
        <p:spPr>
          <a:xfrm>
            <a:off x="3063240" y="2857500"/>
            <a:ext cx="22860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a:off x="2720340" y="32004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04" name="Rounded Rectangle 903"/>
          <p:cNvSpPr/>
          <p:nvPr/>
        </p:nvSpPr>
        <p:spPr>
          <a:xfrm>
            <a:off x="3291840" y="25146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05" name="Connector 904"/>
          <p:cNvCxnSpPr/>
          <p:nvPr/>
        </p:nvCxnSpPr>
        <p:spPr>
          <a:xfrm>
            <a:off x="3977639" y="2857500"/>
            <a:ext cx="228601"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a:off x="3634740" y="32004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07" name="Rounded Rectangle 906"/>
          <p:cNvSpPr/>
          <p:nvPr/>
        </p:nvSpPr>
        <p:spPr>
          <a:xfrm>
            <a:off x="4206240" y="25146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08" name="Connector 907"/>
          <p:cNvCxnSpPr/>
          <p:nvPr/>
        </p:nvCxnSpPr>
        <p:spPr>
          <a:xfrm>
            <a:off x="4892040" y="2857500"/>
            <a:ext cx="22860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09" name="Connector 908"/>
          <p:cNvCxnSpPr/>
          <p:nvPr/>
        </p:nvCxnSpPr>
        <p:spPr>
          <a:xfrm>
            <a:off x="4549140" y="32004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10" name="Rounded Rectangle 909"/>
          <p:cNvSpPr/>
          <p:nvPr/>
        </p:nvSpPr>
        <p:spPr>
          <a:xfrm>
            <a:off x="5120640" y="25146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11" name="Connector 910"/>
          <p:cNvCxnSpPr/>
          <p:nvPr/>
        </p:nvCxnSpPr>
        <p:spPr>
          <a:xfrm>
            <a:off x="5463540" y="32004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cxnSp>
        <p:nvCxnSpPr>
          <p:cNvPr id="912" name="Connector 911"/>
          <p:cNvCxnSpPr/>
          <p:nvPr/>
        </p:nvCxnSpPr>
        <p:spPr>
          <a:xfrm>
            <a:off x="1828800" y="2857500"/>
            <a:ext cx="54864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13" name="TextBox 912"/>
          <p:cNvSpPr txBox="1"/>
          <p:nvPr/>
        </p:nvSpPr>
        <p:spPr>
          <a:xfrm>
            <a:off x="731520" y="2651760"/>
            <a:ext cx="1051560" cy="411480"/>
          </a:xfrm>
          <a:prstGeom prst="rect">
            <a:avLst/>
          </a:prstGeom>
          <a:noFill/>
        </p:spPr>
        <p:txBody>
          <a:bodyPr wrap="square" lIns="0" tIns="0" rIns="0" bIns="0" anchor="ctr">
            <a:spAutoFit/>
          </a:bodyPr>
          <a:lstStyle/>
          <a:p>
            <a:pPr algn="r"/>
            <a:r>
              <a:rPr sz="1500" b="0" i="0">
                <a:solidFill>
                  <a:srgbClr val="C00000"/>
                </a:solidFill>
                <a:latin typeface="Cambria"/>
              </a:rPr>
              <a:t>A row 0</a:t>
            </a:r>
          </a:p>
        </p:txBody>
      </p:sp>
      <p:sp>
        <p:nvSpPr>
          <p:cNvPr id="914" name="Rounded Rectangle 913"/>
          <p:cNvSpPr/>
          <p:nvPr/>
        </p:nvSpPr>
        <p:spPr>
          <a:xfrm>
            <a:off x="2377440" y="34290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15" name="Connector 914"/>
          <p:cNvCxnSpPr/>
          <p:nvPr/>
        </p:nvCxnSpPr>
        <p:spPr>
          <a:xfrm>
            <a:off x="3063240" y="3771900"/>
            <a:ext cx="22860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16" name="Connector 915"/>
          <p:cNvCxnSpPr/>
          <p:nvPr/>
        </p:nvCxnSpPr>
        <p:spPr>
          <a:xfrm>
            <a:off x="2720340" y="41148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17" name="Rounded Rectangle 916"/>
          <p:cNvSpPr/>
          <p:nvPr/>
        </p:nvSpPr>
        <p:spPr>
          <a:xfrm>
            <a:off x="3291840" y="34290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18" name="Connector 917"/>
          <p:cNvCxnSpPr/>
          <p:nvPr/>
        </p:nvCxnSpPr>
        <p:spPr>
          <a:xfrm>
            <a:off x="3977639" y="3771900"/>
            <a:ext cx="228601"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19" name="Connector 918"/>
          <p:cNvCxnSpPr/>
          <p:nvPr/>
        </p:nvCxnSpPr>
        <p:spPr>
          <a:xfrm>
            <a:off x="3634740" y="41148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20" name="Rounded Rectangle 919"/>
          <p:cNvSpPr/>
          <p:nvPr/>
        </p:nvSpPr>
        <p:spPr>
          <a:xfrm>
            <a:off x="4206240" y="34290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21" name="Connector 920"/>
          <p:cNvCxnSpPr/>
          <p:nvPr/>
        </p:nvCxnSpPr>
        <p:spPr>
          <a:xfrm>
            <a:off x="4892040" y="3771900"/>
            <a:ext cx="22860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22" name="Connector 921"/>
          <p:cNvCxnSpPr/>
          <p:nvPr/>
        </p:nvCxnSpPr>
        <p:spPr>
          <a:xfrm>
            <a:off x="4549140" y="41148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23" name="Rounded Rectangle 922"/>
          <p:cNvSpPr/>
          <p:nvPr/>
        </p:nvSpPr>
        <p:spPr>
          <a:xfrm>
            <a:off x="5120640" y="34290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24" name="Connector 923"/>
          <p:cNvCxnSpPr/>
          <p:nvPr/>
        </p:nvCxnSpPr>
        <p:spPr>
          <a:xfrm>
            <a:off x="5463540" y="41148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cxnSp>
        <p:nvCxnSpPr>
          <p:cNvPr id="925" name="Connector 924"/>
          <p:cNvCxnSpPr/>
          <p:nvPr/>
        </p:nvCxnSpPr>
        <p:spPr>
          <a:xfrm>
            <a:off x="1828800" y="3771900"/>
            <a:ext cx="54864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26" name="TextBox 925"/>
          <p:cNvSpPr txBox="1"/>
          <p:nvPr/>
        </p:nvSpPr>
        <p:spPr>
          <a:xfrm>
            <a:off x="731520" y="3566160"/>
            <a:ext cx="1051560" cy="411480"/>
          </a:xfrm>
          <a:prstGeom prst="rect">
            <a:avLst/>
          </a:prstGeom>
          <a:noFill/>
        </p:spPr>
        <p:txBody>
          <a:bodyPr wrap="square" lIns="0" tIns="0" rIns="0" bIns="0" anchor="ctr">
            <a:spAutoFit/>
          </a:bodyPr>
          <a:lstStyle/>
          <a:p>
            <a:pPr algn="r"/>
            <a:r>
              <a:rPr sz="1500" b="0" i="0">
                <a:solidFill>
                  <a:srgbClr val="C00000"/>
                </a:solidFill>
                <a:latin typeface="Cambria"/>
              </a:rPr>
              <a:t>A row 1</a:t>
            </a:r>
          </a:p>
        </p:txBody>
      </p:sp>
      <p:sp>
        <p:nvSpPr>
          <p:cNvPr id="927" name="Rounded Rectangle 926"/>
          <p:cNvSpPr/>
          <p:nvPr/>
        </p:nvSpPr>
        <p:spPr>
          <a:xfrm>
            <a:off x="2377440" y="43434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28" name="Connector 927"/>
          <p:cNvCxnSpPr/>
          <p:nvPr/>
        </p:nvCxnSpPr>
        <p:spPr>
          <a:xfrm>
            <a:off x="3063240" y="4686300"/>
            <a:ext cx="22860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29" name="Connector 928"/>
          <p:cNvCxnSpPr/>
          <p:nvPr/>
        </p:nvCxnSpPr>
        <p:spPr>
          <a:xfrm>
            <a:off x="2720340" y="50292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30" name="Rounded Rectangle 929"/>
          <p:cNvSpPr/>
          <p:nvPr/>
        </p:nvSpPr>
        <p:spPr>
          <a:xfrm>
            <a:off x="3291840" y="43434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31" name="Connector 930"/>
          <p:cNvCxnSpPr/>
          <p:nvPr/>
        </p:nvCxnSpPr>
        <p:spPr>
          <a:xfrm>
            <a:off x="3977639" y="4686300"/>
            <a:ext cx="228601"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32" name="Connector 931"/>
          <p:cNvCxnSpPr/>
          <p:nvPr/>
        </p:nvCxnSpPr>
        <p:spPr>
          <a:xfrm>
            <a:off x="3634740" y="50292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33" name="Rounded Rectangle 932"/>
          <p:cNvSpPr/>
          <p:nvPr/>
        </p:nvSpPr>
        <p:spPr>
          <a:xfrm>
            <a:off x="4206240" y="43434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34" name="Connector 933"/>
          <p:cNvCxnSpPr/>
          <p:nvPr/>
        </p:nvCxnSpPr>
        <p:spPr>
          <a:xfrm>
            <a:off x="4892040" y="4686300"/>
            <a:ext cx="22860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35" name="Connector 934"/>
          <p:cNvCxnSpPr/>
          <p:nvPr/>
        </p:nvCxnSpPr>
        <p:spPr>
          <a:xfrm>
            <a:off x="4549140" y="50292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36" name="Rounded Rectangle 935"/>
          <p:cNvSpPr/>
          <p:nvPr/>
        </p:nvSpPr>
        <p:spPr>
          <a:xfrm>
            <a:off x="5120640" y="43434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37" name="Connector 936"/>
          <p:cNvCxnSpPr/>
          <p:nvPr/>
        </p:nvCxnSpPr>
        <p:spPr>
          <a:xfrm>
            <a:off x="5463540" y="5029200"/>
            <a:ext cx="0" cy="22860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cxnSp>
        <p:nvCxnSpPr>
          <p:cNvPr id="938" name="Connector 937"/>
          <p:cNvCxnSpPr/>
          <p:nvPr/>
        </p:nvCxnSpPr>
        <p:spPr>
          <a:xfrm>
            <a:off x="1828800" y="4686300"/>
            <a:ext cx="54864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39" name="TextBox 938"/>
          <p:cNvSpPr txBox="1"/>
          <p:nvPr/>
        </p:nvSpPr>
        <p:spPr>
          <a:xfrm>
            <a:off x="731520" y="4480560"/>
            <a:ext cx="1051560" cy="411480"/>
          </a:xfrm>
          <a:prstGeom prst="rect">
            <a:avLst/>
          </a:prstGeom>
          <a:noFill/>
        </p:spPr>
        <p:txBody>
          <a:bodyPr wrap="square" lIns="0" tIns="0" rIns="0" bIns="0" anchor="ctr">
            <a:spAutoFit/>
          </a:bodyPr>
          <a:lstStyle/>
          <a:p>
            <a:pPr algn="r"/>
            <a:r>
              <a:rPr sz="1500" b="0" i="0">
                <a:solidFill>
                  <a:srgbClr val="C00000"/>
                </a:solidFill>
                <a:latin typeface="Cambria"/>
              </a:rPr>
              <a:t>A row 2</a:t>
            </a:r>
          </a:p>
        </p:txBody>
      </p:sp>
      <p:sp>
        <p:nvSpPr>
          <p:cNvPr id="940" name="Rounded Rectangle 939"/>
          <p:cNvSpPr/>
          <p:nvPr/>
        </p:nvSpPr>
        <p:spPr>
          <a:xfrm>
            <a:off x="2377440" y="52578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41" name="Connector 940"/>
          <p:cNvCxnSpPr/>
          <p:nvPr/>
        </p:nvCxnSpPr>
        <p:spPr>
          <a:xfrm>
            <a:off x="3063240" y="5600700"/>
            <a:ext cx="22860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42" name="Rounded Rectangle 941"/>
          <p:cNvSpPr/>
          <p:nvPr/>
        </p:nvSpPr>
        <p:spPr>
          <a:xfrm>
            <a:off x="3291840" y="52578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43" name="Connector 942"/>
          <p:cNvCxnSpPr/>
          <p:nvPr/>
        </p:nvCxnSpPr>
        <p:spPr>
          <a:xfrm>
            <a:off x="3977639" y="5600700"/>
            <a:ext cx="228601"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44" name="Rounded Rectangle 943"/>
          <p:cNvSpPr/>
          <p:nvPr/>
        </p:nvSpPr>
        <p:spPr>
          <a:xfrm>
            <a:off x="4206240" y="52578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45" name="Connector 944"/>
          <p:cNvCxnSpPr/>
          <p:nvPr/>
        </p:nvCxnSpPr>
        <p:spPr>
          <a:xfrm>
            <a:off x="4892040" y="5600700"/>
            <a:ext cx="22860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46" name="Rounded Rectangle 945"/>
          <p:cNvSpPr/>
          <p:nvPr/>
        </p:nvSpPr>
        <p:spPr>
          <a:xfrm>
            <a:off x="5120640" y="5257800"/>
            <a:ext cx="685800" cy="6858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PE</a:t>
            </a:r>
          </a:p>
        </p:txBody>
      </p:sp>
      <p:cxnSp>
        <p:nvCxnSpPr>
          <p:cNvPr id="947" name="Connector 946"/>
          <p:cNvCxnSpPr/>
          <p:nvPr/>
        </p:nvCxnSpPr>
        <p:spPr>
          <a:xfrm>
            <a:off x="1828800" y="5600700"/>
            <a:ext cx="54864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48" name="TextBox 947"/>
          <p:cNvSpPr txBox="1"/>
          <p:nvPr/>
        </p:nvSpPr>
        <p:spPr>
          <a:xfrm>
            <a:off x="731520" y="5394960"/>
            <a:ext cx="1051560" cy="411480"/>
          </a:xfrm>
          <a:prstGeom prst="rect">
            <a:avLst/>
          </a:prstGeom>
          <a:noFill/>
        </p:spPr>
        <p:txBody>
          <a:bodyPr wrap="square" lIns="0" tIns="0" rIns="0" bIns="0" anchor="ctr">
            <a:spAutoFit/>
          </a:bodyPr>
          <a:lstStyle/>
          <a:p>
            <a:pPr algn="r"/>
            <a:r>
              <a:rPr sz="1500" b="0" i="0">
                <a:solidFill>
                  <a:srgbClr val="C00000"/>
                </a:solidFill>
                <a:latin typeface="Cambria"/>
              </a:rPr>
              <a:t>A row 3</a:t>
            </a:r>
          </a:p>
        </p:txBody>
      </p:sp>
      <p:cxnSp>
        <p:nvCxnSpPr>
          <p:cNvPr id="949" name="Connector 948"/>
          <p:cNvCxnSpPr/>
          <p:nvPr/>
        </p:nvCxnSpPr>
        <p:spPr>
          <a:xfrm>
            <a:off x="2720340" y="2103120"/>
            <a:ext cx="0" cy="41148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50" name="TextBox 949"/>
          <p:cNvSpPr txBox="1"/>
          <p:nvPr/>
        </p:nvSpPr>
        <p:spPr>
          <a:xfrm>
            <a:off x="2286000" y="1737360"/>
            <a:ext cx="868680" cy="365760"/>
          </a:xfrm>
          <a:prstGeom prst="rect">
            <a:avLst/>
          </a:prstGeom>
          <a:noFill/>
        </p:spPr>
        <p:txBody>
          <a:bodyPr wrap="square" lIns="0" tIns="0" rIns="0" bIns="0" anchor="ctr">
            <a:spAutoFit/>
          </a:bodyPr>
          <a:lstStyle/>
          <a:p>
            <a:pPr algn="ctr"/>
            <a:r>
              <a:rPr sz="1500" b="0" i="0">
                <a:solidFill>
                  <a:srgbClr val="1F4E79"/>
                </a:solidFill>
                <a:latin typeface="Cambria"/>
              </a:rPr>
              <a:t>B col 0</a:t>
            </a:r>
          </a:p>
        </p:txBody>
      </p:sp>
      <p:cxnSp>
        <p:nvCxnSpPr>
          <p:cNvPr id="951" name="Connector 950"/>
          <p:cNvCxnSpPr/>
          <p:nvPr/>
        </p:nvCxnSpPr>
        <p:spPr>
          <a:xfrm>
            <a:off x="3634740" y="2103120"/>
            <a:ext cx="0" cy="41148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52" name="TextBox 951"/>
          <p:cNvSpPr txBox="1"/>
          <p:nvPr/>
        </p:nvSpPr>
        <p:spPr>
          <a:xfrm>
            <a:off x="3200400" y="1737360"/>
            <a:ext cx="868680" cy="365760"/>
          </a:xfrm>
          <a:prstGeom prst="rect">
            <a:avLst/>
          </a:prstGeom>
          <a:noFill/>
        </p:spPr>
        <p:txBody>
          <a:bodyPr wrap="square" lIns="0" tIns="0" rIns="0" bIns="0" anchor="ctr">
            <a:spAutoFit/>
          </a:bodyPr>
          <a:lstStyle/>
          <a:p>
            <a:pPr algn="ctr"/>
            <a:r>
              <a:rPr sz="1500" b="0" i="0">
                <a:solidFill>
                  <a:srgbClr val="1F4E79"/>
                </a:solidFill>
                <a:latin typeface="Cambria"/>
              </a:rPr>
              <a:t>B col 1</a:t>
            </a:r>
          </a:p>
        </p:txBody>
      </p:sp>
      <p:cxnSp>
        <p:nvCxnSpPr>
          <p:cNvPr id="953" name="Connector 952"/>
          <p:cNvCxnSpPr/>
          <p:nvPr/>
        </p:nvCxnSpPr>
        <p:spPr>
          <a:xfrm>
            <a:off x="4549140" y="2103120"/>
            <a:ext cx="0" cy="41148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54" name="TextBox 953"/>
          <p:cNvSpPr txBox="1"/>
          <p:nvPr/>
        </p:nvSpPr>
        <p:spPr>
          <a:xfrm>
            <a:off x="4114800" y="1737360"/>
            <a:ext cx="868680" cy="365760"/>
          </a:xfrm>
          <a:prstGeom prst="rect">
            <a:avLst/>
          </a:prstGeom>
          <a:noFill/>
        </p:spPr>
        <p:txBody>
          <a:bodyPr wrap="square" lIns="0" tIns="0" rIns="0" bIns="0" anchor="ctr">
            <a:spAutoFit/>
          </a:bodyPr>
          <a:lstStyle/>
          <a:p>
            <a:pPr algn="ctr"/>
            <a:r>
              <a:rPr sz="1500" b="0" i="0">
                <a:solidFill>
                  <a:srgbClr val="1F4E79"/>
                </a:solidFill>
                <a:latin typeface="Cambria"/>
              </a:rPr>
              <a:t>B col 2</a:t>
            </a:r>
          </a:p>
        </p:txBody>
      </p:sp>
      <p:cxnSp>
        <p:nvCxnSpPr>
          <p:cNvPr id="955" name="Connector 954"/>
          <p:cNvCxnSpPr/>
          <p:nvPr/>
        </p:nvCxnSpPr>
        <p:spPr>
          <a:xfrm>
            <a:off x="5463540" y="2103120"/>
            <a:ext cx="0" cy="411480"/>
          </a:xfrm>
          <a:prstGeom prst="line">
            <a:avLst/>
          </a:prstGeom>
          <a:ln w="1905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956" name="TextBox 955"/>
          <p:cNvSpPr txBox="1"/>
          <p:nvPr/>
        </p:nvSpPr>
        <p:spPr>
          <a:xfrm>
            <a:off x="5029200" y="1737360"/>
            <a:ext cx="868680" cy="365760"/>
          </a:xfrm>
          <a:prstGeom prst="rect">
            <a:avLst/>
          </a:prstGeom>
          <a:noFill/>
        </p:spPr>
        <p:txBody>
          <a:bodyPr wrap="square" lIns="0" tIns="0" rIns="0" bIns="0" anchor="ctr">
            <a:spAutoFit/>
          </a:bodyPr>
          <a:lstStyle/>
          <a:p>
            <a:pPr algn="ctr"/>
            <a:r>
              <a:rPr sz="1500" b="0" i="0">
                <a:solidFill>
                  <a:srgbClr val="1F4E79"/>
                </a:solidFill>
                <a:latin typeface="Cambria"/>
              </a:rPr>
              <a:t>B col 3</a:t>
            </a:r>
          </a:p>
        </p:txBody>
      </p:sp>
      <p:sp>
        <p:nvSpPr>
          <p:cNvPr id="957" name="TextBox 956"/>
          <p:cNvSpPr txBox="1"/>
          <p:nvPr/>
        </p:nvSpPr>
        <p:spPr>
          <a:xfrm>
            <a:off x="6583680" y="2514600"/>
            <a:ext cx="2926080" cy="402336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1" i="0">
                <a:solidFill>
                  <a:srgbClr val="000000"/>
                </a:solidFill>
                <a:latin typeface="Cambria"/>
              </a:rPr>
              <a:t>A</a:t>
            </a:r>
            <a:r>
              <a:rPr sz="2200" b="0" i="0">
                <a:solidFill>
                  <a:srgbClr val="000000"/>
                </a:solidFill>
                <a:latin typeface="Cambria"/>
              </a:rPr>
              <a:t> flows right</a:t>
            </a:r>
          </a:p>
          <a:p>
            <a:pPr algn="l">
              <a:tabLst>
                <a:tab pos="548640" algn="l"/>
                <a:tab pos="1097280" algn="l"/>
                <a:tab pos="1645919" algn="l"/>
                <a:tab pos="2194560" algn="l"/>
                <a:tab pos="2743200" algn="l"/>
                <a:tab pos="3291839" algn="l"/>
                <a:tab pos="3840480" algn="l"/>
                <a:tab pos="4389120" algn="l"/>
              </a:tabLst>
            </a:pPr>
            <a:r>
              <a:rPr sz="11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200" b="1" i="0">
                <a:solidFill>
                  <a:srgbClr val="000000"/>
                </a:solidFill>
                <a:latin typeface="Cambria"/>
              </a:rPr>
              <a:t>B</a:t>
            </a:r>
            <a:r>
              <a:rPr sz="2200" b="0" i="0">
                <a:solidFill>
                  <a:srgbClr val="000000"/>
                </a:solidFill>
                <a:latin typeface="Cambria"/>
              </a:rPr>
              <a:t> flows down</a:t>
            </a:r>
          </a:p>
          <a:p>
            <a:pPr algn="l">
              <a:tabLst>
                <a:tab pos="548640" algn="l"/>
                <a:tab pos="1097280" algn="l"/>
                <a:tab pos="1645919" algn="l"/>
                <a:tab pos="2194560" algn="l"/>
                <a:tab pos="2743200" algn="l"/>
                <a:tab pos="3291839" algn="l"/>
                <a:tab pos="3840480" algn="l"/>
                <a:tab pos="4389120" algn="l"/>
              </a:tabLst>
            </a:pPr>
            <a:r>
              <a:rPr sz="11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Each PE keeps its own</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C[r][c]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Processing Element</a:t>
            </a:r>
          </a:p>
        </p:txBody>
      </p:sp>
      <p:sp>
        <p:nvSpPr>
          <p:cNvPr id="901" name="Rectangle 900"/>
          <p:cNvSpPr/>
          <p:nvPr/>
        </p:nvSpPr>
        <p:spPr>
          <a:xfrm>
            <a:off x="731520" y="1691640"/>
            <a:ext cx="8595360" cy="4488687"/>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module pe #(parameter int AW = 8, CW = 32)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input  logic                 clk, rst_n, clear,</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input  logic signed [AW-1:0] a_in,      // from the left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input  logic signed [AW-1:0] b_in,      // from above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output logic signed [AW-1:0] a_out, // to the right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output logic signed [AW-1:0] b_out, // downward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output logic signed [CW-1:0] 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always_ff @(posedge clk or negedge rst_n)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if (!rst_n) begin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a_out &lt;= '0;  b_out &lt;= '0;  c &lt;=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end else begin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a_out &lt;= a_in;              // pass A along</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b_out &lt;= b_in;              // pass B along</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c     &lt;= clear ? '0 : c + a_in * b_in;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end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endmodule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Building the Array with  generate</a:t>
            </a:r>
          </a:p>
        </p:txBody>
      </p:sp>
      <p:sp>
        <p:nvSpPr>
          <p:cNvPr id="901" name="Rectangle 900"/>
          <p:cNvSpPr/>
          <p:nvPr/>
        </p:nvSpPr>
        <p:spPr>
          <a:xfrm>
            <a:off x="731520" y="1691640"/>
            <a:ext cx="8595360" cy="5480304"/>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module systolic #(parameter int N = 4, AW = 8, CW = 32)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input  logic                 clk, rst_n, clear,</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input  logic signed [AW-1:0] a_left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input  logic signed [AW-1:0] b_top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output logic signed [CW-1:0] c_out  [N][N]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logic signed [AW-1:0] a_h [N][N+1]; // horizontal wires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logic signed [AW-1:0] b_v [N+1][N]; // vertical wires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for (genvar i = 0; i &lt; N; i++) begin : g_edge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assign a_h[i][0] = a_left[i];</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assign b_v[0][i] = b_top[i];</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end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for (genvar r = 0; r &lt; N; r++) begin : g_row</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for (genvar c = 0; c &lt; N; c++) begin : g_col</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pe #(.AW(AW), .CW(CW)) u_pe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.clk, .rst_n, .clear,</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.a_in(a_h[r][c]),  .a_out(a_h[r][c+1]),</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.b_in(b_v[r][c]),  .b_out(b_v[r+1][c]),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.c(c_out[r][c]));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end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end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endmodule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Feeding the Array:  Skew</a:t>
            </a:r>
          </a:p>
        </p:txBody>
      </p:sp>
      <p:sp>
        <p:nvSpPr>
          <p:cNvPr id="901" name="TextBox 900"/>
          <p:cNvSpPr txBox="1"/>
          <p:nvPr/>
        </p:nvSpPr>
        <p:spPr>
          <a:xfrm>
            <a:off x="731520" y="1691640"/>
            <a:ext cx="8595360" cy="457200"/>
          </a:xfrm>
          <a:prstGeom prst="rect">
            <a:avLst/>
          </a:prstGeom>
          <a:noFill/>
        </p:spPr>
        <p:txBody>
          <a:bodyPr wrap="square" lIns="0" tIns="0" rIns="0" bIns="0" anchor="ctr">
            <a:spAutoFit/>
          </a:bodyPr>
          <a:lstStyle/>
          <a:p>
            <a:pPr algn="ctr"/>
            <a:r>
              <a:rPr sz="2000" b="1" i="0">
                <a:solidFill>
                  <a:srgbClr val="000000"/>
                </a:solidFill>
                <a:latin typeface="Cambria"/>
              </a:rPr>
              <a:t>Row r of A enters  r  cycles late;  column c of B enters  c  cycles late</a:t>
            </a:r>
          </a:p>
        </p:txBody>
      </p:sp>
      <p:sp>
        <p:nvSpPr>
          <p:cNvPr id="902" name="Rectangle 901"/>
          <p:cNvSpPr/>
          <p:nvPr/>
        </p:nvSpPr>
        <p:spPr>
          <a:xfrm>
            <a:off x="731520" y="2331720"/>
            <a:ext cx="141732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ambria"/>
              </a:rPr>
              <a:t>cycle</a:t>
            </a:r>
          </a:p>
        </p:txBody>
      </p:sp>
      <p:sp>
        <p:nvSpPr>
          <p:cNvPr id="903" name="Rectangle 902"/>
          <p:cNvSpPr/>
          <p:nvPr/>
        </p:nvSpPr>
        <p:spPr>
          <a:xfrm>
            <a:off x="2194560" y="2331720"/>
            <a:ext cx="96012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ambria"/>
              </a:rPr>
              <a:t>0</a:t>
            </a:r>
          </a:p>
        </p:txBody>
      </p:sp>
      <p:sp>
        <p:nvSpPr>
          <p:cNvPr id="904" name="Rectangle 903"/>
          <p:cNvSpPr/>
          <p:nvPr/>
        </p:nvSpPr>
        <p:spPr>
          <a:xfrm>
            <a:off x="3200400" y="2331720"/>
            <a:ext cx="96012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ambria"/>
              </a:rPr>
              <a:t>1</a:t>
            </a:r>
          </a:p>
        </p:txBody>
      </p:sp>
      <p:sp>
        <p:nvSpPr>
          <p:cNvPr id="905" name="Rectangle 904"/>
          <p:cNvSpPr/>
          <p:nvPr/>
        </p:nvSpPr>
        <p:spPr>
          <a:xfrm>
            <a:off x="4206240" y="2331720"/>
            <a:ext cx="96012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ambria"/>
              </a:rPr>
              <a:t>2</a:t>
            </a:r>
          </a:p>
        </p:txBody>
      </p:sp>
      <p:sp>
        <p:nvSpPr>
          <p:cNvPr id="906" name="Rectangle 905"/>
          <p:cNvSpPr/>
          <p:nvPr/>
        </p:nvSpPr>
        <p:spPr>
          <a:xfrm>
            <a:off x="5212080" y="2331720"/>
            <a:ext cx="96012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ambria"/>
              </a:rPr>
              <a:t>3</a:t>
            </a:r>
          </a:p>
        </p:txBody>
      </p:sp>
      <p:sp>
        <p:nvSpPr>
          <p:cNvPr id="907" name="Rectangle 906"/>
          <p:cNvSpPr/>
          <p:nvPr/>
        </p:nvSpPr>
        <p:spPr>
          <a:xfrm>
            <a:off x="6217920" y="2331720"/>
            <a:ext cx="96012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ambria"/>
              </a:rPr>
              <a:t>4</a:t>
            </a:r>
          </a:p>
        </p:txBody>
      </p:sp>
      <p:sp>
        <p:nvSpPr>
          <p:cNvPr id="908" name="Rectangle 907"/>
          <p:cNvSpPr/>
          <p:nvPr/>
        </p:nvSpPr>
        <p:spPr>
          <a:xfrm>
            <a:off x="7223760" y="2331720"/>
            <a:ext cx="96012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ambria"/>
              </a:rPr>
              <a:t>5</a:t>
            </a:r>
          </a:p>
        </p:txBody>
      </p:sp>
      <p:sp>
        <p:nvSpPr>
          <p:cNvPr id="909" name="Rectangle 908"/>
          <p:cNvSpPr/>
          <p:nvPr/>
        </p:nvSpPr>
        <p:spPr>
          <a:xfrm>
            <a:off x="8229600" y="2331720"/>
            <a:ext cx="96012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ambria"/>
              </a:rPr>
              <a:t>6</a:t>
            </a:r>
          </a:p>
        </p:txBody>
      </p:sp>
      <p:sp>
        <p:nvSpPr>
          <p:cNvPr id="910" name="Rectangle 909"/>
          <p:cNvSpPr/>
          <p:nvPr/>
        </p:nvSpPr>
        <p:spPr>
          <a:xfrm>
            <a:off x="731520" y="2834639"/>
            <a:ext cx="14173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ourier New"/>
              </a:rPr>
              <a:t>a_left[0]</a:t>
            </a:r>
          </a:p>
        </p:txBody>
      </p:sp>
      <p:sp>
        <p:nvSpPr>
          <p:cNvPr id="911" name="Rectangle 910"/>
          <p:cNvSpPr/>
          <p:nvPr/>
        </p:nvSpPr>
        <p:spPr>
          <a:xfrm>
            <a:off x="2194560" y="283463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A00</a:t>
            </a:r>
          </a:p>
        </p:txBody>
      </p:sp>
      <p:sp>
        <p:nvSpPr>
          <p:cNvPr id="912" name="Rectangle 911"/>
          <p:cNvSpPr/>
          <p:nvPr/>
        </p:nvSpPr>
        <p:spPr>
          <a:xfrm>
            <a:off x="3200400" y="283463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A01</a:t>
            </a:r>
          </a:p>
        </p:txBody>
      </p:sp>
      <p:sp>
        <p:nvSpPr>
          <p:cNvPr id="913" name="Rectangle 912"/>
          <p:cNvSpPr/>
          <p:nvPr/>
        </p:nvSpPr>
        <p:spPr>
          <a:xfrm>
            <a:off x="4206240" y="283463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A02</a:t>
            </a:r>
          </a:p>
        </p:txBody>
      </p:sp>
      <p:sp>
        <p:nvSpPr>
          <p:cNvPr id="914" name="Rectangle 913"/>
          <p:cNvSpPr/>
          <p:nvPr/>
        </p:nvSpPr>
        <p:spPr>
          <a:xfrm>
            <a:off x="5212080" y="283463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A03</a:t>
            </a:r>
          </a:p>
        </p:txBody>
      </p:sp>
      <p:sp>
        <p:nvSpPr>
          <p:cNvPr id="915" name="Rectangle 914"/>
          <p:cNvSpPr/>
          <p:nvPr/>
        </p:nvSpPr>
        <p:spPr>
          <a:xfrm>
            <a:off x="6217920" y="283463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ectangle 915"/>
          <p:cNvSpPr/>
          <p:nvPr/>
        </p:nvSpPr>
        <p:spPr>
          <a:xfrm>
            <a:off x="7223760" y="283463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7" name="Rectangle 916"/>
          <p:cNvSpPr/>
          <p:nvPr/>
        </p:nvSpPr>
        <p:spPr>
          <a:xfrm>
            <a:off x="8229600" y="283463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8" name="Rectangle 917"/>
          <p:cNvSpPr/>
          <p:nvPr/>
        </p:nvSpPr>
        <p:spPr>
          <a:xfrm>
            <a:off x="731520" y="3337559"/>
            <a:ext cx="14173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ourier New"/>
              </a:rPr>
              <a:t>a_left[1]</a:t>
            </a:r>
          </a:p>
        </p:txBody>
      </p:sp>
      <p:sp>
        <p:nvSpPr>
          <p:cNvPr id="919" name="Rectangle 918"/>
          <p:cNvSpPr/>
          <p:nvPr/>
        </p:nvSpPr>
        <p:spPr>
          <a:xfrm>
            <a:off x="2194560" y="333755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0" name="Rectangle 919"/>
          <p:cNvSpPr/>
          <p:nvPr/>
        </p:nvSpPr>
        <p:spPr>
          <a:xfrm>
            <a:off x="3200400" y="333755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A10</a:t>
            </a:r>
          </a:p>
        </p:txBody>
      </p:sp>
      <p:sp>
        <p:nvSpPr>
          <p:cNvPr id="921" name="Rectangle 920"/>
          <p:cNvSpPr/>
          <p:nvPr/>
        </p:nvSpPr>
        <p:spPr>
          <a:xfrm>
            <a:off x="4206240" y="333755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A11</a:t>
            </a:r>
          </a:p>
        </p:txBody>
      </p:sp>
      <p:sp>
        <p:nvSpPr>
          <p:cNvPr id="922" name="Rectangle 921"/>
          <p:cNvSpPr/>
          <p:nvPr/>
        </p:nvSpPr>
        <p:spPr>
          <a:xfrm>
            <a:off x="5212080" y="333755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A12</a:t>
            </a:r>
          </a:p>
        </p:txBody>
      </p:sp>
      <p:sp>
        <p:nvSpPr>
          <p:cNvPr id="923" name="Rectangle 922"/>
          <p:cNvSpPr/>
          <p:nvPr/>
        </p:nvSpPr>
        <p:spPr>
          <a:xfrm>
            <a:off x="6217920" y="333755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A13</a:t>
            </a:r>
          </a:p>
        </p:txBody>
      </p:sp>
      <p:sp>
        <p:nvSpPr>
          <p:cNvPr id="924" name="Rectangle 923"/>
          <p:cNvSpPr/>
          <p:nvPr/>
        </p:nvSpPr>
        <p:spPr>
          <a:xfrm>
            <a:off x="7223760" y="333755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5" name="Rectangle 924"/>
          <p:cNvSpPr/>
          <p:nvPr/>
        </p:nvSpPr>
        <p:spPr>
          <a:xfrm>
            <a:off x="8229600" y="333755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6" name="Rectangle 925"/>
          <p:cNvSpPr/>
          <p:nvPr/>
        </p:nvSpPr>
        <p:spPr>
          <a:xfrm>
            <a:off x="731520" y="3840479"/>
            <a:ext cx="14173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ourier New"/>
              </a:rPr>
              <a:t>a_left[2]</a:t>
            </a:r>
          </a:p>
        </p:txBody>
      </p:sp>
      <p:sp>
        <p:nvSpPr>
          <p:cNvPr id="927" name="Rectangle 926"/>
          <p:cNvSpPr/>
          <p:nvPr/>
        </p:nvSpPr>
        <p:spPr>
          <a:xfrm>
            <a:off x="2194560" y="384047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8" name="Rectangle 927"/>
          <p:cNvSpPr/>
          <p:nvPr/>
        </p:nvSpPr>
        <p:spPr>
          <a:xfrm>
            <a:off x="3200400" y="384047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9" name="Rectangle 928"/>
          <p:cNvSpPr/>
          <p:nvPr/>
        </p:nvSpPr>
        <p:spPr>
          <a:xfrm>
            <a:off x="4206240" y="384047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A20</a:t>
            </a:r>
          </a:p>
        </p:txBody>
      </p:sp>
      <p:sp>
        <p:nvSpPr>
          <p:cNvPr id="930" name="Rectangle 929"/>
          <p:cNvSpPr/>
          <p:nvPr/>
        </p:nvSpPr>
        <p:spPr>
          <a:xfrm>
            <a:off x="5212080" y="384047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A21</a:t>
            </a:r>
          </a:p>
        </p:txBody>
      </p:sp>
      <p:sp>
        <p:nvSpPr>
          <p:cNvPr id="931" name="Rectangle 930"/>
          <p:cNvSpPr/>
          <p:nvPr/>
        </p:nvSpPr>
        <p:spPr>
          <a:xfrm>
            <a:off x="6217920" y="384047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A22</a:t>
            </a:r>
          </a:p>
        </p:txBody>
      </p:sp>
      <p:sp>
        <p:nvSpPr>
          <p:cNvPr id="932" name="Rectangle 931"/>
          <p:cNvSpPr/>
          <p:nvPr/>
        </p:nvSpPr>
        <p:spPr>
          <a:xfrm>
            <a:off x="7223760" y="384047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A23</a:t>
            </a:r>
          </a:p>
        </p:txBody>
      </p:sp>
      <p:sp>
        <p:nvSpPr>
          <p:cNvPr id="933" name="Rectangle 932"/>
          <p:cNvSpPr/>
          <p:nvPr/>
        </p:nvSpPr>
        <p:spPr>
          <a:xfrm>
            <a:off x="8229600" y="384047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4" name="Rectangle 933"/>
          <p:cNvSpPr/>
          <p:nvPr/>
        </p:nvSpPr>
        <p:spPr>
          <a:xfrm>
            <a:off x="731520" y="4343399"/>
            <a:ext cx="14173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1">
                <a:solidFill>
                  <a:srgbClr val="000000"/>
                </a:solidFill>
                <a:latin typeface="Courier New"/>
              </a:rPr>
              <a:t>a_left[3]</a:t>
            </a:r>
          </a:p>
        </p:txBody>
      </p:sp>
      <p:sp>
        <p:nvSpPr>
          <p:cNvPr id="935" name="Rectangle 934"/>
          <p:cNvSpPr/>
          <p:nvPr/>
        </p:nvSpPr>
        <p:spPr>
          <a:xfrm>
            <a:off x="2194560" y="434339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6" name="Rectangle 935"/>
          <p:cNvSpPr/>
          <p:nvPr/>
        </p:nvSpPr>
        <p:spPr>
          <a:xfrm>
            <a:off x="3200400" y="434339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7" name="Rectangle 936"/>
          <p:cNvSpPr/>
          <p:nvPr/>
        </p:nvSpPr>
        <p:spPr>
          <a:xfrm>
            <a:off x="4206240" y="4343399"/>
            <a:ext cx="960120" cy="4572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8" name="Rectangle 937"/>
          <p:cNvSpPr/>
          <p:nvPr/>
        </p:nvSpPr>
        <p:spPr>
          <a:xfrm>
            <a:off x="5212080" y="434339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A30</a:t>
            </a:r>
          </a:p>
        </p:txBody>
      </p:sp>
      <p:sp>
        <p:nvSpPr>
          <p:cNvPr id="939" name="Rectangle 938"/>
          <p:cNvSpPr/>
          <p:nvPr/>
        </p:nvSpPr>
        <p:spPr>
          <a:xfrm>
            <a:off x="6217920" y="434339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A31</a:t>
            </a:r>
          </a:p>
        </p:txBody>
      </p:sp>
      <p:sp>
        <p:nvSpPr>
          <p:cNvPr id="940" name="Rectangle 939"/>
          <p:cNvSpPr/>
          <p:nvPr/>
        </p:nvSpPr>
        <p:spPr>
          <a:xfrm>
            <a:off x="7223760" y="434339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A32</a:t>
            </a:r>
          </a:p>
        </p:txBody>
      </p:sp>
      <p:sp>
        <p:nvSpPr>
          <p:cNvPr id="941" name="Rectangle 940"/>
          <p:cNvSpPr/>
          <p:nvPr/>
        </p:nvSpPr>
        <p:spPr>
          <a:xfrm>
            <a:off x="8229600" y="4343399"/>
            <a:ext cx="960120" cy="45720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A33</a:t>
            </a:r>
          </a:p>
        </p:txBody>
      </p:sp>
      <p:sp>
        <p:nvSpPr>
          <p:cNvPr id="942" name="TextBox 941"/>
          <p:cNvSpPr txBox="1"/>
          <p:nvPr/>
        </p:nvSpPr>
        <p:spPr>
          <a:xfrm>
            <a:off x="731520" y="5029200"/>
            <a:ext cx="8595360" cy="14630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PE ( r, c ) sees  A[r][k]  and  B[k][c]  at cycle  r + c + k</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Last result ready after  </a:t>
            </a:r>
            <a:r>
              <a:rPr sz="2200" b="1" i="0">
                <a:solidFill>
                  <a:srgbClr val="000000"/>
                </a:solidFill>
                <a:latin typeface="Cambria"/>
              </a:rPr>
              <a:t>3N − 2</a:t>
            </a:r>
            <a:r>
              <a:rPr sz="2200" b="0" i="0">
                <a:solidFill>
                  <a:srgbClr val="000000"/>
                </a:solidFill>
                <a:latin typeface="Cambria"/>
              </a:rPr>
              <a:t>  cycles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Output vs Weight Stationary</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Output stationary</a:t>
            </a:r>
            <a:r>
              <a:rPr sz="2600" b="0" i="0">
                <a:solidFill>
                  <a:srgbClr val="000000"/>
                </a:solidFill>
                <a:latin typeface="Cambria"/>
              </a:rPr>
              <a:t>  ( ours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each PE keeps one  C  value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 and B both move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Weight stationary</a:t>
            </a:r>
            <a:r>
              <a:rPr sz="2600" b="0" i="0">
                <a:solidFill>
                  <a:srgbClr val="000000"/>
                </a:solidFill>
                <a:latin typeface="Cambria"/>
              </a:rPr>
              <a:t>  ( Google TPU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each PE holds one </a:t>
            </a:r>
            <a:r>
              <a:rPr sz="2600" b="1" i="0">
                <a:solidFill>
                  <a:srgbClr val="000000"/>
                </a:solidFill>
                <a:latin typeface="Cambria"/>
              </a:rPr>
              <a:t>weight</a:t>
            </a:r>
            <a:r>
              <a:rPr sz="2600" b="0" i="0">
                <a:solidFill>
                  <a:srgbClr val="000000"/>
                </a:solidFill>
                <a:latin typeface="Cambria"/>
              </a:rPr>
              <a:t>,  preloaded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inputs move,  partial sums move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Choose by which data you most want to reuse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Two Ways to Build an AI Chip</a:t>
            </a:r>
          </a:p>
        </p:txBody>
      </p:sp>
      <p:sp>
        <p:nvSpPr>
          <p:cNvPr id="901" name="TextBox 900"/>
          <p:cNvSpPr txBox="1"/>
          <p:nvPr/>
        </p:nvSpPr>
        <p:spPr>
          <a:xfrm>
            <a:off x="731520" y="1691640"/>
            <a:ext cx="4114800" cy="548640"/>
          </a:xfrm>
          <a:prstGeom prst="rect">
            <a:avLst/>
          </a:prstGeom>
          <a:noFill/>
        </p:spPr>
        <p:txBody>
          <a:bodyPr wrap="square" lIns="0" tIns="0" rIns="0" bIns="0" anchor="ctr">
            <a:spAutoFit/>
          </a:bodyPr>
          <a:lstStyle/>
          <a:p>
            <a:pPr algn="ctr"/>
            <a:r>
              <a:rPr sz="2800" b="1" i="0">
                <a:solidFill>
                  <a:srgbClr val="004600"/>
                </a:solidFill>
                <a:latin typeface="Cambria"/>
              </a:rPr>
              <a:t>GPU</a:t>
            </a:r>
          </a:p>
        </p:txBody>
      </p:sp>
      <p:sp>
        <p:nvSpPr>
          <p:cNvPr id="902" name="TextBox 901"/>
          <p:cNvSpPr txBox="1"/>
          <p:nvPr/>
        </p:nvSpPr>
        <p:spPr>
          <a:xfrm>
            <a:off x="5212080" y="1691640"/>
            <a:ext cx="4114800" cy="548640"/>
          </a:xfrm>
          <a:prstGeom prst="rect">
            <a:avLst/>
          </a:prstGeom>
          <a:noFill/>
        </p:spPr>
        <p:txBody>
          <a:bodyPr wrap="square" lIns="0" tIns="0" rIns="0" bIns="0" anchor="ctr">
            <a:spAutoFit/>
          </a:bodyPr>
          <a:lstStyle/>
          <a:p>
            <a:pPr algn="ctr"/>
            <a:r>
              <a:rPr sz="2800" b="1" i="0">
                <a:solidFill>
                  <a:srgbClr val="C00000"/>
                </a:solidFill>
                <a:latin typeface="Cambria"/>
              </a:rPr>
              <a:t>Systolic accelerator</a:t>
            </a:r>
          </a:p>
        </p:txBody>
      </p:sp>
      <p:sp>
        <p:nvSpPr>
          <p:cNvPr id="903" name="TextBox 902"/>
          <p:cNvSpPr txBox="1"/>
          <p:nvPr/>
        </p:nvSpPr>
        <p:spPr>
          <a:xfrm>
            <a:off x="731520" y="2286000"/>
            <a:ext cx="4206240" cy="42062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Many </a:t>
            </a:r>
            <a:r>
              <a:rPr sz="2200" b="1" i="0">
                <a:solidFill>
                  <a:srgbClr val="000000"/>
                </a:solidFill>
                <a:latin typeface="Cambria"/>
              </a:rPr>
              <a:t>small</a:t>
            </a:r>
            <a:r>
              <a:rPr sz="2200" b="0" i="0">
                <a:solidFill>
                  <a:srgbClr val="000000"/>
                </a:solidFill>
                <a:latin typeface="Cambria"/>
              </a:rPr>
              <a:t> tensor cores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inside each SM</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Surrounded by general</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programmable cores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Runs graphics,  HPC,  AI</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Flexible</a:t>
            </a:r>
          </a:p>
        </p:txBody>
      </p:sp>
      <p:sp>
        <p:nvSpPr>
          <p:cNvPr id="904" name="TextBox 903"/>
          <p:cNvSpPr txBox="1"/>
          <p:nvPr/>
        </p:nvSpPr>
        <p:spPr>
          <a:xfrm>
            <a:off x="5212080" y="2286000"/>
            <a:ext cx="4206240" cy="42062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One or a few </a:t>
            </a:r>
            <a:r>
              <a:rPr sz="2200" b="1" i="0">
                <a:solidFill>
                  <a:srgbClr val="000000"/>
                </a:solidFill>
                <a:latin typeface="Cambria"/>
              </a:rPr>
              <a:t>huge</a:t>
            </a:r>
            <a:r>
              <a:rPr sz="2200" b="0" i="0">
                <a:solidFill>
                  <a:srgbClr val="000000"/>
                </a:solidFill>
                <a:latin typeface="Cambria"/>
              </a:rPr>
              <a:t> arrays</a:t>
            </a:r>
          </a:p>
          <a:p>
            <a:pPr algn="l">
              <a:tabLst>
                <a:tab pos="548640" algn="l"/>
                <a:tab pos="1097280" algn="l"/>
                <a:tab pos="1645919" algn="l"/>
                <a:tab pos="2194560" algn="l"/>
                <a:tab pos="2743200" algn="l"/>
                <a:tab pos="3291839" algn="l"/>
                <a:tab pos="3840480" algn="l"/>
                <a:tab pos="4389120" algn="l"/>
              </a:tabLst>
            </a:pPr>
            <a:r>
              <a:rPr sz="11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Little general-purpose</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logic</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Built mostly for AI</a:t>
            </a:r>
          </a:p>
          <a:p>
            <a:pPr algn="l">
              <a:tabLst>
                <a:tab pos="548640" algn="l"/>
                <a:tab pos="1097280" algn="l"/>
                <a:tab pos="1645919" algn="l"/>
                <a:tab pos="2194560" algn="l"/>
                <a:tab pos="2743200" algn="l"/>
                <a:tab pos="3291839" algn="l"/>
                <a:tab pos="3840480" algn="l"/>
                <a:tab pos="4389120" algn="l"/>
              </a:tabLst>
            </a:pPr>
            <a:r>
              <a:rPr sz="11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More MACs per mm²</a:t>
            </a:r>
          </a:p>
        </p:txBody>
      </p:sp>
      <p:cxnSp>
        <p:nvCxnSpPr>
          <p:cNvPr id="905" name="Connector 904"/>
          <p:cNvCxnSpPr/>
          <p:nvPr/>
        </p:nvCxnSpPr>
        <p:spPr>
          <a:xfrm>
            <a:off x="5029200" y="1828800"/>
            <a:ext cx="0" cy="448056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Beyond the Core</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memory and scale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High Bandwidth Memory</a:t>
            </a:r>
          </a:p>
        </p:txBody>
      </p:sp>
      <p:sp>
        <p:nvSpPr>
          <p:cNvPr id="901" name="Rectangle 900"/>
          <p:cNvSpPr/>
          <p:nvPr/>
        </p:nvSpPr>
        <p:spPr>
          <a:xfrm>
            <a:off x="731520" y="4937760"/>
            <a:ext cx="859536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silicon interposer</a:t>
            </a:r>
          </a:p>
        </p:txBody>
      </p:sp>
      <p:sp>
        <p:nvSpPr>
          <p:cNvPr id="902" name="Rectangle 901"/>
          <p:cNvSpPr/>
          <p:nvPr/>
        </p:nvSpPr>
        <p:spPr>
          <a:xfrm>
            <a:off x="3291840" y="3108960"/>
            <a:ext cx="3474720" cy="18288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400" b="1">
                <a:solidFill>
                  <a:srgbClr val="000000"/>
                </a:solidFill>
                <a:latin typeface="Cambria"/>
              </a:rPr>
              <a:t>GPU die</a:t>
            </a:r>
          </a:p>
        </p:txBody>
      </p:sp>
      <p:sp>
        <p:nvSpPr>
          <p:cNvPr id="903" name="Rectangle 902"/>
          <p:cNvSpPr/>
          <p:nvPr/>
        </p:nvSpPr>
        <p:spPr>
          <a:xfrm>
            <a:off x="822960" y="4663440"/>
            <a:ext cx="914400" cy="2743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4" name="Rectangle 903"/>
          <p:cNvSpPr/>
          <p:nvPr/>
        </p:nvSpPr>
        <p:spPr>
          <a:xfrm>
            <a:off x="822960" y="4370831"/>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5" name="Rectangle 904"/>
          <p:cNvSpPr/>
          <p:nvPr/>
        </p:nvSpPr>
        <p:spPr>
          <a:xfrm>
            <a:off x="822960" y="4078224"/>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6" name="Rectangle 905"/>
          <p:cNvSpPr/>
          <p:nvPr/>
        </p:nvSpPr>
        <p:spPr>
          <a:xfrm>
            <a:off x="822960" y="3785615"/>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7" name="Rectangle 906"/>
          <p:cNvSpPr/>
          <p:nvPr/>
        </p:nvSpPr>
        <p:spPr>
          <a:xfrm>
            <a:off x="822960" y="3493007"/>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8" name="Rectangle 907"/>
          <p:cNvSpPr/>
          <p:nvPr/>
        </p:nvSpPr>
        <p:spPr>
          <a:xfrm>
            <a:off x="822960" y="3200399"/>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9" name="Rectangle 908"/>
          <p:cNvSpPr/>
          <p:nvPr/>
        </p:nvSpPr>
        <p:spPr>
          <a:xfrm>
            <a:off x="2011680" y="4663440"/>
            <a:ext cx="914400" cy="2743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0" name="Rectangle 909"/>
          <p:cNvSpPr/>
          <p:nvPr/>
        </p:nvSpPr>
        <p:spPr>
          <a:xfrm>
            <a:off x="2011680" y="4370831"/>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1" name="Rectangle 910"/>
          <p:cNvSpPr/>
          <p:nvPr/>
        </p:nvSpPr>
        <p:spPr>
          <a:xfrm>
            <a:off x="2011680" y="4078224"/>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2" name="Rectangle 911"/>
          <p:cNvSpPr/>
          <p:nvPr/>
        </p:nvSpPr>
        <p:spPr>
          <a:xfrm>
            <a:off x="2011680" y="3785615"/>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3" name="Rectangle 912"/>
          <p:cNvSpPr/>
          <p:nvPr/>
        </p:nvSpPr>
        <p:spPr>
          <a:xfrm>
            <a:off x="2011680" y="3493007"/>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4" name="Rectangle 913"/>
          <p:cNvSpPr/>
          <p:nvPr/>
        </p:nvSpPr>
        <p:spPr>
          <a:xfrm>
            <a:off x="2011680" y="3200399"/>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5" name="Rectangle 914"/>
          <p:cNvSpPr/>
          <p:nvPr/>
        </p:nvSpPr>
        <p:spPr>
          <a:xfrm>
            <a:off x="7040880" y="4663440"/>
            <a:ext cx="914400" cy="2743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ectangle 915"/>
          <p:cNvSpPr/>
          <p:nvPr/>
        </p:nvSpPr>
        <p:spPr>
          <a:xfrm>
            <a:off x="7040880" y="4370831"/>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7" name="Rectangle 916"/>
          <p:cNvSpPr/>
          <p:nvPr/>
        </p:nvSpPr>
        <p:spPr>
          <a:xfrm>
            <a:off x="7040880" y="4078224"/>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8" name="Rectangle 917"/>
          <p:cNvSpPr/>
          <p:nvPr/>
        </p:nvSpPr>
        <p:spPr>
          <a:xfrm>
            <a:off x="7040880" y="3785615"/>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9" name="Rectangle 918"/>
          <p:cNvSpPr/>
          <p:nvPr/>
        </p:nvSpPr>
        <p:spPr>
          <a:xfrm>
            <a:off x="7040880" y="3493007"/>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0" name="Rectangle 919"/>
          <p:cNvSpPr/>
          <p:nvPr/>
        </p:nvSpPr>
        <p:spPr>
          <a:xfrm>
            <a:off x="7040880" y="3200399"/>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1" name="Rectangle 920"/>
          <p:cNvSpPr/>
          <p:nvPr/>
        </p:nvSpPr>
        <p:spPr>
          <a:xfrm>
            <a:off x="8229600" y="4663440"/>
            <a:ext cx="914400" cy="2743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2" name="Rectangle 921"/>
          <p:cNvSpPr/>
          <p:nvPr/>
        </p:nvSpPr>
        <p:spPr>
          <a:xfrm>
            <a:off x="8229600" y="4370831"/>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3" name="Rectangle 922"/>
          <p:cNvSpPr/>
          <p:nvPr/>
        </p:nvSpPr>
        <p:spPr>
          <a:xfrm>
            <a:off x="8229600" y="4078224"/>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4" name="Rectangle 923"/>
          <p:cNvSpPr/>
          <p:nvPr/>
        </p:nvSpPr>
        <p:spPr>
          <a:xfrm>
            <a:off x="8229600" y="3785615"/>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5" name="Rectangle 924"/>
          <p:cNvSpPr/>
          <p:nvPr/>
        </p:nvSpPr>
        <p:spPr>
          <a:xfrm>
            <a:off x="8229600" y="3493007"/>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6" name="Rectangle 925"/>
          <p:cNvSpPr/>
          <p:nvPr/>
        </p:nvSpPr>
        <p:spPr>
          <a:xfrm>
            <a:off x="8229600" y="3200399"/>
            <a:ext cx="914400" cy="2743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7" name="TextBox 926"/>
          <p:cNvSpPr txBox="1"/>
          <p:nvPr/>
        </p:nvSpPr>
        <p:spPr>
          <a:xfrm>
            <a:off x="822960" y="2697480"/>
            <a:ext cx="2103120" cy="365760"/>
          </a:xfrm>
          <a:prstGeom prst="rect">
            <a:avLst/>
          </a:prstGeom>
          <a:noFill/>
        </p:spPr>
        <p:txBody>
          <a:bodyPr wrap="square" lIns="0" tIns="0" rIns="0" bIns="0" anchor="ctr">
            <a:spAutoFit/>
          </a:bodyPr>
          <a:lstStyle/>
          <a:p>
            <a:pPr algn="ctr"/>
            <a:r>
              <a:rPr sz="1800" b="1" i="0">
                <a:solidFill>
                  <a:srgbClr val="1F4E79"/>
                </a:solidFill>
                <a:latin typeface="Cambria"/>
              </a:rPr>
              <a:t>HBM stacks</a:t>
            </a:r>
          </a:p>
        </p:txBody>
      </p:sp>
      <p:sp>
        <p:nvSpPr>
          <p:cNvPr id="928" name="TextBox 927"/>
          <p:cNvSpPr txBox="1"/>
          <p:nvPr/>
        </p:nvSpPr>
        <p:spPr>
          <a:xfrm>
            <a:off x="7040880" y="2697480"/>
            <a:ext cx="2103120" cy="365760"/>
          </a:xfrm>
          <a:prstGeom prst="rect">
            <a:avLst/>
          </a:prstGeom>
          <a:noFill/>
        </p:spPr>
        <p:txBody>
          <a:bodyPr wrap="square" lIns="0" tIns="0" rIns="0" bIns="0" anchor="ctr">
            <a:spAutoFit/>
          </a:bodyPr>
          <a:lstStyle/>
          <a:p>
            <a:pPr algn="ctr"/>
            <a:r>
              <a:rPr sz="1800" b="1" i="0">
                <a:solidFill>
                  <a:srgbClr val="1F4E79"/>
                </a:solidFill>
                <a:latin typeface="Cambria"/>
              </a:rPr>
              <a:t>HBM stacks</a:t>
            </a:r>
          </a:p>
        </p:txBody>
      </p:sp>
      <p:sp>
        <p:nvSpPr>
          <p:cNvPr id="929" name="TextBox 928"/>
          <p:cNvSpPr txBox="1"/>
          <p:nvPr/>
        </p:nvSpPr>
        <p:spPr>
          <a:xfrm>
            <a:off x="731520" y="5623560"/>
            <a:ext cx="8595360" cy="11887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000" b="0" i="0">
                <a:solidFill>
                  <a:srgbClr val="000000"/>
                </a:solidFill>
                <a:latin typeface="Cambria"/>
              </a:rPr>
              <a:t>DRAM dies </a:t>
            </a:r>
            <a:r>
              <a:rPr sz="2000" b="1" i="0">
                <a:solidFill>
                  <a:srgbClr val="000000"/>
                </a:solidFill>
                <a:latin typeface="Cambria"/>
              </a:rPr>
              <a:t>stacked</a:t>
            </a:r>
            <a:r>
              <a:rPr sz="2000" b="0" i="0">
                <a:solidFill>
                  <a:srgbClr val="000000"/>
                </a:solidFill>
                <a:latin typeface="Cambria"/>
              </a:rPr>
              <a:t> and wired vertically,  millimetres from the GPU</a:t>
            </a:r>
          </a:p>
          <a:p>
            <a:pPr algn="l">
              <a:spcBef>
                <a:spcPts val="1000"/>
              </a:spcBef>
              <a:tabLst>
                <a:tab pos="548640" algn="l"/>
                <a:tab pos="1097280" algn="l"/>
                <a:tab pos="1645919" algn="l"/>
                <a:tab pos="2194560" algn="l"/>
                <a:tab pos="2743200" algn="l"/>
                <a:tab pos="3291839" algn="l"/>
                <a:tab pos="3840480" algn="l"/>
                <a:tab pos="4389120" algn="l"/>
              </a:tabLst>
            </a:pPr>
            <a:r>
              <a:rPr sz="2000" b="0" i="0">
                <a:solidFill>
                  <a:srgbClr val="000000"/>
                </a:solidFill>
                <a:latin typeface="Cambria"/>
              </a:rPr>
              <a:t>Very wide bus:  thousands of wires instead of 64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Scaling Out</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biggest models do not fit on one GPU</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NVLink</a:t>
            </a:r>
            <a:r>
              <a:rPr sz="2600" b="0" i="0">
                <a:solidFill>
                  <a:srgbClr val="000000"/>
                </a:solidFill>
                <a:latin typeface="Cambria"/>
              </a:rPr>
              <a:t> connects GPUs directly</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Blackwell:  1.8 TB/s per GPU</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Rubin:  3.6 TB/s per GPU</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Rack-scale systems:  72 GPUs act as one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Now the interconnect is part of the architecture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Using Tensor Cores</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from PyTorch down to the hardware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PyTorch Mixed Precision</a:t>
            </a:r>
          </a:p>
        </p:txBody>
      </p:sp>
      <p:sp>
        <p:nvSpPr>
          <p:cNvPr id="901" name="Rectangle 900"/>
          <p:cNvSpPr/>
          <p:nvPr/>
        </p:nvSpPr>
        <p:spPr>
          <a:xfrm>
            <a:off x="731520" y="1691640"/>
            <a:ext cx="8595360" cy="3621023"/>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import torch</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model = MyNet().cuda()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opt   = torch.optim.AdamW(model.parameters())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for x, y in loader:</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x, y = x.cuda(), y.cuda()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with torch.autocast("cuda", dtype=torch.bfloat16):</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loss = loss_fn(model(x), y)</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loss.backward()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opt.step()</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opt.zero_grad()</a:t>
            </a:r>
          </a:p>
        </p:txBody>
      </p:sp>
      <p:sp>
        <p:nvSpPr>
          <p:cNvPr id="902" name="TextBox 901"/>
          <p:cNvSpPr txBox="1"/>
          <p:nvPr/>
        </p:nvSpPr>
        <p:spPr>
          <a:xfrm>
            <a:off x="731520" y="5404103"/>
            <a:ext cx="8595360" cy="457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1800" b="0" i="1">
                <a:solidFill>
                  <a:srgbClr val="000000"/>
                </a:solidFill>
                <a:latin typeface="Cambria"/>
              </a:rPr>
              <a:t>Matrix multiplies in BF16 on tensor cores;  weights kept in FP32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Tensor Cores from CUDA:  WMMA</a:t>
            </a:r>
          </a:p>
        </p:txBody>
      </p:sp>
      <p:sp>
        <p:nvSpPr>
          <p:cNvPr id="901" name="Rectangle 900"/>
          <p:cNvSpPr/>
          <p:nvPr/>
        </p:nvSpPr>
        <p:spPr>
          <a:xfrm>
            <a:off x="731520" y="1691640"/>
            <a:ext cx="8595360" cy="3961891"/>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#include &lt;mma.h&gt;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using namespace nvcuda;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__global__ void wmma_16x16(const half *a, const half *b, float *c)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wmma::fragment&lt;wmma::matrix_a, 16, 16, 16, half, wmma::row_major&gt; fa;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wmma::fragment&lt;wmma::matrix_b, 16, 16, 16, half, wmma::row_major&gt; fb;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wmma::fragment&lt;wmma::accumulator, 16, 16, 16, float&gt; fc;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wmma::fill_fragment(fc, 0.0f);</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wmma::load_matrix_sync(fa, a, 16);</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wmma::load_matrix_sync(fb, b, 16);</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wmma::mma_sync(fc, fa, fb, fc);     // D = A x B + 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wmma::store_matrix_sync(c, fc, 16, wmma::mem_row_major);</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400">
                <a:solidFill>
                  <a:srgbClr val="000000"/>
                </a:solidFill>
                <a:latin typeface="Courier New"/>
              </a:rPr>
              <a:t>wmma_16x16&lt;&lt;&lt;1, 32&gt;&gt;&gt;(d_a, d_b, d_c);   // one warp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One Operation,  Four Levels</a:t>
            </a:r>
          </a:p>
        </p:txBody>
      </p:sp>
      <p:sp>
        <p:nvSpPr>
          <p:cNvPr id="901" name="Rectangle 900"/>
          <p:cNvSpPr/>
          <p:nvPr/>
        </p:nvSpPr>
        <p:spPr>
          <a:xfrm>
            <a:off x="731520" y="1783080"/>
            <a:ext cx="3108960" cy="86868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1">
                <a:solidFill>
                  <a:srgbClr val="000000"/>
                </a:solidFill>
                <a:latin typeface="Cambria"/>
              </a:rPr>
              <a:t>PyTorch</a:t>
            </a:r>
          </a:p>
        </p:txBody>
      </p:sp>
      <p:sp>
        <p:nvSpPr>
          <p:cNvPr id="902" name="TextBox 901"/>
          <p:cNvSpPr txBox="1"/>
          <p:nvPr/>
        </p:nvSpPr>
        <p:spPr>
          <a:xfrm>
            <a:off x="4114800" y="1783080"/>
            <a:ext cx="5303520" cy="868680"/>
          </a:xfrm>
          <a:prstGeom prst="rect">
            <a:avLst/>
          </a:prstGeom>
          <a:noFill/>
        </p:spPr>
        <p:txBody>
          <a:bodyPr wrap="square" lIns="0" tIns="0" rIns="0" bIns="0" anchor="ctr">
            <a:spAutoFit/>
          </a:bodyPr>
          <a:lstStyle/>
          <a:p>
            <a:pPr algn="l"/>
            <a:r>
              <a:rPr sz="2000" b="0" i="0">
                <a:solidFill>
                  <a:srgbClr val="000000"/>
                </a:solidFill>
                <a:latin typeface="Courier New"/>
              </a:rPr>
              <a:t>c = a @ b</a:t>
            </a:r>
          </a:p>
        </p:txBody>
      </p:sp>
      <p:cxnSp>
        <p:nvCxnSpPr>
          <p:cNvPr id="903" name="Connector 902"/>
          <p:cNvCxnSpPr/>
          <p:nvPr/>
        </p:nvCxnSpPr>
        <p:spPr>
          <a:xfrm>
            <a:off x="2286000" y="2651760"/>
            <a:ext cx="0" cy="22860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4" name="Rectangle 903"/>
          <p:cNvSpPr/>
          <p:nvPr/>
        </p:nvSpPr>
        <p:spPr>
          <a:xfrm>
            <a:off x="731520" y="2880360"/>
            <a:ext cx="3108960" cy="86868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1">
                <a:solidFill>
                  <a:srgbClr val="000000"/>
                </a:solidFill>
                <a:latin typeface="Cambria"/>
              </a:rPr>
              <a:t>cuBLAS / CUTLASS</a:t>
            </a:r>
          </a:p>
        </p:txBody>
      </p:sp>
      <p:sp>
        <p:nvSpPr>
          <p:cNvPr id="905" name="TextBox 904"/>
          <p:cNvSpPr txBox="1"/>
          <p:nvPr/>
        </p:nvSpPr>
        <p:spPr>
          <a:xfrm>
            <a:off x="4114800" y="2880360"/>
            <a:ext cx="5303520" cy="868680"/>
          </a:xfrm>
          <a:prstGeom prst="rect">
            <a:avLst/>
          </a:prstGeom>
          <a:noFill/>
        </p:spPr>
        <p:txBody>
          <a:bodyPr wrap="square" lIns="0" tIns="0" rIns="0" bIns="0" anchor="ctr">
            <a:spAutoFit/>
          </a:bodyPr>
          <a:lstStyle/>
          <a:p>
            <a:pPr algn="l"/>
            <a:r>
              <a:rPr sz="2000" b="0" i="0">
                <a:solidFill>
                  <a:srgbClr val="000000"/>
                </a:solidFill>
                <a:latin typeface="Courier New"/>
              </a:rPr>
              <a:t>tiled GEMM kernel</a:t>
            </a:r>
          </a:p>
        </p:txBody>
      </p:sp>
      <p:cxnSp>
        <p:nvCxnSpPr>
          <p:cNvPr id="906" name="Connector 905"/>
          <p:cNvCxnSpPr/>
          <p:nvPr/>
        </p:nvCxnSpPr>
        <p:spPr>
          <a:xfrm>
            <a:off x="2286000" y="3749039"/>
            <a:ext cx="0" cy="22860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7" name="Rectangle 906"/>
          <p:cNvSpPr/>
          <p:nvPr/>
        </p:nvSpPr>
        <p:spPr>
          <a:xfrm>
            <a:off x="731520" y="3977639"/>
            <a:ext cx="3108960" cy="8686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1">
                <a:solidFill>
                  <a:srgbClr val="000000"/>
                </a:solidFill>
                <a:latin typeface="Cambria"/>
              </a:rPr>
              <a:t>CUDA  WMMA / mma</a:t>
            </a:r>
          </a:p>
        </p:txBody>
      </p:sp>
      <p:sp>
        <p:nvSpPr>
          <p:cNvPr id="908" name="TextBox 907"/>
          <p:cNvSpPr txBox="1"/>
          <p:nvPr/>
        </p:nvSpPr>
        <p:spPr>
          <a:xfrm>
            <a:off x="4114800" y="3977639"/>
            <a:ext cx="5303520" cy="868680"/>
          </a:xfrm>
          <a:prstGeom prst="rect">
            <a:avLst/>
          </a:prstGeom>
          <a:noFill/>
        </p:spPr>
        <p:txBody>
          <a:bodyPr wrap="square" lIns="0" tIns="0" rIns="0" bIns="0" anchor="ctr">
            <a:spAutoFit/>
          </a:bodyPr>
          <a:lstStyle/>
          <a:p>
            <a:pPr algn="l"/>
            <a:r>
              <a:rPr sz="2000" b="0" i="0">
                <a:solidFill>
                  <a:srgbClr val="000000"/>
                </a:solidFill>
                <a:latin typeface="Courier New"/>
              </a:rPr>
              <a:t>mma_sync( D, A, B, C )</a:t>
            </a:r>
          </a:p>
        </p:txBody>
      </p:sp>
      <p:cxnSp>
        <p:nvCxnSpPr>
          <p:cNvPr id="909" name="Connector 908"/>
          <p:cNvCxnSpPr/>
          <p:nvPr/>
        </p:nvCxnSpPr>
        <p:spPr>
          <a:xfrm>
            <a:off x="2286000" y="4846320"/>
            <a:ext cx="0" cy="22860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0" name="Rectangle 909"/>
          <p:cNvSpPr/>
          <p:nvPr/>
        </p:nvSpPr>
        <p:spPr>
          <a:xfrm>
            <a:off x="731520" y="5074920"/>
            <a:ext cx="3108960" cy="86868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1">
                <a:solidFill>
                  <a:srgbClr val="000000"/>
                </a:solidFill>
                <a:latin typeface="Cambria"/>
              </a:rPr>
              <a:t>Hardware</a:t>
            </a:r>
          </a:p>
        </p:txBody>
      </p:sp>
      <p:sp>
        <p:nvSpPr>
          <p:cNvPr id="911" name="TextBox 910"/>
          <p:cNvSpPr txBox="1"/>
          <p:nvPr/>
        </p:nvSpPr>
        <p:spPr>
          <a:xfrm>
            <a:off x="4114800" y="5074920"/>
            <a:ext cx="5303520" cy="868680"/>
          </a:xfrm>
          <a:prstGeom prst="rect">
            <a:avLst/>
          </a:prstGeom>
          <a:noFill/>
        </p:spPr>
        <p:txBody>
          <a:bodyPr wrap="square" lIns="0" tIns="0" rIns="0" bIns="0" anchor="ctr">
            <a:spAutoFit/>
          </a:bodyPr>
          <a:lstStyle/>
          <a:p>
            <a:pPr algn="l"/>
            <a:r>
              <a:rPr sz="2000" b="0" i="0">
                <a:solidFill>
                  <a:srgbClr val="000000"/>
                </a:solidFill>
                <a:latin typeface="Courier New"/>
              </a:rPr>
              <a:t>array of MACs:  acc &lt;= acc + a × b</a:t>
            </a:r>
          </a:p>
        </p:txBody>
      </p:sp>
      <p:sp>
        <p:nvSpPr>
          <p:cNvPr id="912" name="TextBox 911"/>
          <p:cNvSpPr txBox="1"/>
          <p:nvPr/>
        </p:nvSpPr>
        <p:spPr>
          <a:xfrm>
            <a:off x="731520" y="6263640"/>
            <a:ext cx="8595360" cy="54864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200" b="0" i="1">
                <a:solidFill>
                  <a:srgbClr val="000000"/>
                </a:solidFill>
                <a:latin typeface="Cambria"/>
              </a:rPr>
              <a:t>You wrote the bottom level yourself</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Key Ideas from Part 3</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AI is mostly matrix multiply,  which is mostly </a:t>
            </a:r>
            <a:r>
              <a:rPr sz="2600" b="1" i="0">
                <a:solidFill>
                  <a:srgbClr val="000000"/>
                </a:solidFill>
                <a:latin typeface="Cambria"/>
              </a:rPr>
              <a:t>MAC</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Tensor cores:  a whole matrix operation per instruction</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Fewer bits  →  smaller multipliers,  less bandwidth</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Systolic arrays reuse each value across a row or column</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Bandwidth and interconnect matter as much as ALUs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Whole Story</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Part 1</a:t>
            </a:r>
            <a:r>
              <a:rPr sz="2600" b="0" i="0">
                <a:solidFill>
                  <a:srgbClr val="000000"/>
                </a:solidFill>
                <a:latin typeface="Cambria"/>
              </a:rPr>
              <a:t>   throughput beats latency for parallel work</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Part 2</a:t>
            </a:r>
            <a:r>
              <a:rPr sz="2600" b="0" i="0">
                <a:solidFill>
                  <a:srgbClr val="000000"/>
                </a:solidFill>
                <a:latin typeface="Cambria"/>
              </a:rPr>
              <a:t>   CUDA:  write it for one thread,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run it on millions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Part 3</a:t>
            </a:r>
            <a:r>
              <a:rPr sz="2600" b="0" i="0">
                <a:solidFill>
                  <a:srgbClr val="000000"/>
                </a:solidFill>
                <a:latin typeface="Cambria"/>
              </a:rPr>
              <a:t>   the AI GPU is a sea of MACs,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fed by very wide memory</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Every level of it starts as an HDL description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Let's Build an Array</a:t>
            </a:r>
          </a:p>
        </p:txBody>
      </p:sp>
      <p:sp>
        <p:nvSpPr>
          <p:cNvPr id="901" name="TextBox 900"/>
          <p:cNvSpPr txBox="1"/>
          <p:nvPr/>
        </p:nvSpPr>
        <p:spPr>
          <a:xfrm>
            <a:off x="731520" y="1691640"/>
            <a:ext cx="8595360" cy="731520"/>
          </a:xfrm>
          <a:prstGeom prst="rect">
            <a:avLst/>
          </a:prstGeom>
          <a:noFill/>
        </p:spPr>
        <p:txBody>
          <a:bodyPr wrap="square" lIns="0" tIns="0" rIns="0" bIns="0" anchor="ctr">
            <a:spAutoFit/>
          </a:bodyPr>
          <a:lstStyle/>
          <a:p>
            <a:pPr algn="ctr"/>
            <a:r>
              <a:rPr sz="3600" b="0" i="0">
                <a:solidFill>
                  <a:srgbClr val="000000"/>
                </a:solidFill>
                <a:latin typeface="Calibri"/>
              </a:rPr>
              <a:t>Exercise:  4 × 4 Systolic Matrix Multiply</a:t>
            </a:r>
          </a:p>
        </p:txBody>
      </p:sp>
      <p:sp>
        <p:nvSpPr>
          <p:cNvPr id="902" name="TextBox 901"/>
          <p:cNvSpPr txBox="1"/>
          <p:nvPr/>
        </p:nvSpPr>
        <p:spPr>
          <a:xfrm>
            <a:off x="731520" y="251460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1.	Type in  pe  and  systolic  with  N = 4</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2.	Write a testbench that skews the rows of  A</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and the columns of  B  as on the timing slide</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3.	Compare  c_out  with a software matrix multiply</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for 20 random signed 8-bit matrices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4.	Count the cycles.   Do you get  3N − 2 ?</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5.	Set  N = 8.   What changes in your RTL?   ( nothing!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57901</TotalTime>
  <Words>3549</Words>
  <Application>Microsoft Office PowerPoint</Application>
  <PresentationFormat>Custom</PresentationFormat>
  <Paragraphs>458</Paragraphs>
  <Slides>35</Slides>
  <Notes>35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35</vt:i4>
      </vt:variant>
    </vt:vector>
  </HeadingPairs>
  <TitlesOfParts>
    <vt:vector size="49" baseType="lpstr">
      <vt:lpstr>ＭＳ Ｐゴシック</vt:lpstr>
      <vt:lpstr>Arial</vt:lpstr>
      <vt:lpstr>Calibri</vt:lpstr>
      <vt:lpstr>Cambria</vt:lpstr>
      <vt:lpstr>Courier New</vt:lpstr>
      <vt:lpstr>DejaVu Sans</vt:lpstr>
      <vt:lpstr>OpenSymbol</vt:lpstr>
      <vt:lpstr>Osaka</vt:lpstr>
      <vt:lpstr>Symbol</vt:lpstr>
      <vt:lpstr>Times New Roman</vt:lpstr>
      <vt:lpstr>Wingdings</vt:lpstr>
      <vt:lpstr>Office Theme</vt:lpstr>
      <vt:lpstr>Theme1</vt:lpstr>
      <vt:lpstr>1_Theme1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dc:title>
  <dc:subject/>
  <dc:creator>Bill Swartz</dc:creator>
  <dc:description/>
  <cp:lastModifiedBy>Bill Swartz</cp:lastModifiedBy>
  <cp:revision>561</cp:revision>
  <dcterms:created xsi:type="dcterms:W3CDTF">2013-08-28T11:36:20Z</dcterms:created>
  <dcterms:modified xsi:type="dcterms:W3CDTF">2026-10-05T05:22:30Z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2012-08-29T00:00:00Z</vt:filetime>
  </property>
  <property fmtid="{D5CDD505-2E9C-101B-9397-08002B2CF9AE}" pid="3" name="LastSaved">
    <vt:filetime>2013-08-28T00:00:00Z</vt:filetime>
  </property>
  <property fmtid="{D5CDD505-2E9C-101B-9397-08002B2CF9AE}" pid="4" name="Notes">
    <vt:i4>8</vt:i4>
  </property>
  <property fmtid="{D5CDD505-2E9C-101B-9397-08002B2CF9AE}" pid="5" name="PresentationFormat">
    <vt:lpwstr>Custom</vt:lpwstr>
  </property>
  <property fmtid="{D5CDD505-2E9C-101B-9397-08002B2CF9AE}" pid="6" name="Slides">
    <vt:i4>8</vt:i4>
  </property>
</Properties>
</file>