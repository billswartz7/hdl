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59"/>
  </p:notesMasterIdLst>
  <p:sldIdLst>
    <p:sldId id="256" r:id="rId4"/>
    <p:sldId id="257" r:id="rId5"/>
    <p:sldId id="258" r:id="rId6"/>
    <p:sldId id="259" r:id="rId7"/>
    <p:sldId id="260" r:id="rId8"/>
    <p:sldId id="261" r:id="rId9"/>
    <p:sldId id="262" r:id="rId10"/>
    <p:sldId id="263" r:id="rId11"/>
    <p:sldId id="264" r:id="rId12"/>
    <p:sldId id="265" r:id="rId13"/>
    <p:sldId id="299" r:id="rId14"/>
    <p:sldId id="266" r:id="rId15"/>
    <p:sldId id="267" r:id="rId16"/>
    <p:sldId id="268" r:id="rId17"/>
    <p:sldId id="269" r:id="rId18"/>
    <p:sldId id="270" r:id="rId19"/>
    <p:sldId id="271" r:id="rId20"/>
    <p:sldId id="30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302" r:id="rId44"/>
    <p:sldId id="303" r:id="rId45"/>
    <p:sldId id="304" r:id="rId46"/>
    <p:sldId id="305" r:id="rId47"/>
    <p:sldId id="306" r:id="rId48"/>
    <p:sldId id="307" r:id="rId49"/>
    <p:sldId id="308" r:id="rId50"/>
    <p:sldId id="309" r:id="rId51"/>
    <p:sldId id="310" r:id="rId52"/>
    <p:sldId id="301" r:id="rId53"/>
    <p:sldId id="294" r:id="rId54"/>
    <p:sldId id="295" r:id="rId55"/>
    <p:sldId id="296" r:id="rId56"/>
    <p:sldId id="297" r:id="rId57"/>
    <p:sldId id="298" r:id="rId58"/>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92"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60"/>
  </p:normalViewPr>
  <p:slideViewPr>
    <p:cSldViewPr snapToGrid="0" showGuides="1">
      <p:cViewPr varScale="1">
        <p:scale>
          <a:sx n="97" d="100"/>
          <a:sy n="97" d="100"/>
        </p:scale>
        <p:origin x="1122" y="72"/>
      </p:cViewPr>
      <p:guideLst>
        <p:guide orient="horz" pos="4392"/>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Session 2 of 3. Last time: why a GPU trades latency for throughput. Today: how you actually write code for it, from a first kernel up to matrix multiply, and then the libraries most people use instead of writing kernels.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43653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Two-minute recap. Today we see those groups of threads from the programmer's side.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77760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vocabulary: host is the CPU and its memory, device is the GPU and its memory. A pointer from one is meaningless on the other. The PCIe link is the narrowest pipe in the picture, an order of magnitude slower than HBM, so minimizing copies is the first performance rule.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685037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five-step skeleton is the same in every CUDA program you will write in this class. Steps 2 and 4 are where beginners lose all their speedup.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71293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mental shift: you do not write the loop. You write the body of the loop for one index, and the launch supplies the indices. Other qualifiers: __device__ for functions called from GPU code, __host__ for CPU code; both together compiles twice.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02578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Amber boxes are threads. A block holds up to 1024 threads. Threads in a block share fast on-chip memory and can synchronize. Blocks cannot depend on each other, which lets the hardware run them in any order on any number of SMs.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76512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These are the only way a thread knows which piece of data it owns. They are hardware special registers, filled in at launch.</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44191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one line appears in almost every 1-D kernel. It is just a mixed-radix number: block index is the high digit, thread index the low digit, base blockDim.x.</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43711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baseline. One thread walks the loop from 0 to n - 1. Ask: which iterations depend on each other? None of them. That is the signal that the loop can go to a GPU.</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88441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Put the two side by side. The for loop is gone. The loop index is replaced by the computed global index. The if replaces the loop bound. The body is identical.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53690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Put the two side by side. The for loop is gone. The loop index is replaced by the computed global index. The if replaces the loop bound. The body is identical.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79991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Convention: h_ for host pointers, d_ for device pointers. The compiler will not stop you from dereferencing d_a on the CPU, it will just crash, so the prefix is your protection. cudaMalloc takes a pointer to the pointer because it writes the device address into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74734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triple angle brackets are the launch configuration: number of blocks, threads per block. (n + threads - 1) / threads is integer ceiling division, so there are always enough threads. The launch is asynchronous: control returns to the CPU immediately. The cudaMemcpy after it waits for the kernel to finish.</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04135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classic bug: the program works for n = 1 &lt;&lt; 20 and corrupts memory for n = 1000. The bounds check costs almost nothing.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09073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Why a multiple of 32 becomes clear in a few slides: the hardware runs threads in warps of 32. Optional third and fourth arguments are dynamic shared memory size and a stream.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77969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nvcc is a driver program. It splits the .cu file: host code goes to the system C++ compiler, device code goes to PTX, a virtual instruction set, and then ptxas turns PTX into SASS, the real machine code for a specific GPU generation. Both are packed into one executable. Keeping PTX lets the driver recompile for newer GPUs.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6854746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CUDA calls fail silently: they return an error code and if you ignore it the next call fails with a confusing message. A kernel launch returns nothing, so check cudaGetLastError for configuration errors and cudaDeviceSynchronize for errors during execution. The do / while(0) wrapper makes the macro behave like one statement after an if. Same advice as the rest of the course: use the debugger, cuda-gdb and compute-sanitizer, rather than print statements.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115972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CUDA calls fail silently: they return an error code and if you ignore it the next call fails with a confusing message. A kernel launch returns nothing, so check cudaGetLastError for configuration errors and cudaDeviceSynchronize for errors during execution. The do / while(0) wrapper makes the macro behave like one statement after an if. Same advice as the rest of the course: use the debugger, cuda-gdb and compute-sanitizer, rather than print statements.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16670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One pointer valid on both sides. The driver migrates pages on demand. Easier to write, but you lose control of when copies happen, so it can be slower. Note the explicit cudaDeviceSynchronize: without it the CPU reads c before the kernel has finished.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17427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Now look underneath the launch. What does the hardware do with a grid of blocks?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974198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SM is the GPU's equivalent of a core. Each block is assigned to one SM and stays there. An SM can hold several blocks at once. H100 SXM numbers from NVIDIA's Hopper whitepaper: 132 SMs, 128 FP32 units per SM (16,896 total), 4 fourth-generation tensor cores per SM, 65,536 32-bit registers per SM, up to 64 warps resident. The diagram shows 4 quadrants, each with its own warp scheduler.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243617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scalability contract of CUDA. Because you promised blocks do not depend on each other, the same binary runs on a laptop GPU with 20 SMs and a data-center GPU with 132.</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18539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warp is the real unit of execution. Threads 0 to 31 are warp 0, 32 to 63 warp 1, and so on. This is the SIMD hardware from part 1, with 32 lanes. It is why block sizes should be multiples of 32: a block of 100 threads still occupies 4 warps, wasting 28 lanes.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317658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Inside one warp, half the threads take each branch. The hardware cannot run two different instructions in one warp at the same time, so it runs the if side with the odd lanes masked off, then the else side with the even lanes masked off. Twice the time. If the condition were blockIdx.x % 2 instead, whole warps would agree and there would be no penalty.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199669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Latencies are order-of-magnitude figures; exact numbers vary by generation. The programmer controls registers (local variables) and shared memory (declared __shared__) directly. Shared memory is a scratchpad you manage by hand, which is the key to the tiled matrix multiply later.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603720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Memory is read in aligned segments of 32 or more bytes. If the 32 threads of a warp read 32 consecutive floats, that is 128 bytes, four 32-byte segments, very efficient. With a stride of 8 floats, each thread lands in a different segment and most of each segment is thrown away.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722706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Tie back to part 1: latency hiding needs many warps to choose from. Using lots of registers per thread means fewer threads fit on the SM. Nsight Compute reports achieved occupancy. High occupancy is a means, not the goal; the goal is keeping the ALUs and memory busy.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69857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Matrix multiply is the workload that matters most for part 3. Build it up in three steps: CPU, naive GPU, tiled GPU.</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228698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2 x 4096 cubed = 137.4 billion, counting the multiply and the add separately as is the convention for FLOPs. All N squared outputs are independent, so there is plenty of parallelism.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139771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Row-major storage: element (r, c) is at r * N + c. The outer two loops are independent; the inner k loop is a reduction. On the GPU the outer two loops disappear, just as the loop did in vector add.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613857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One thread per output element, using 2-D indices. Notice col comes from x: consecutive threads in a warp have consecutive col, so reads of B and the write of C are coalesced. Reads of A are the same address for the whole warp, which the hardware broadcasts.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03359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dim3 is a three-component struct; unspecified components default to 1. The block covers a 16 x 16 tile of C, and the grid covers the whole matrix.</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533400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idea of arithmetic intensity, which part 3 makes formal: FLOPs per byte moved. The naive kernel does about one FLOP per 4 bytes, far too low to keep a GPU busy.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989967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orange 2 x 2 tile of C needs the blue strips of A and B. Instead of every thread fetching its own copy from global memory, the block cooperatively loads a TILE x TILE chunk of each strip into shared memory, uses it TILE times, and moves along. Global traffic falls by a factor of TILE.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735252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two __shared__ arrays live in the SM's on-chip shared memory and are visible to every thread in the block, unlike sum, which is a private register. row and col are the same as in the naive kernel, with TILE as the block size. Launch with dim3 threads(TILE, TILE).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676995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Each trip around the loop, every thread loads exactly one element of each tile, padding with zero past the edge of the matrix. Then every thread does TILE multiply-adds entirely out of shared memory. Each global value is now loaded once per tile instead of once per thread: TILE times less traffic.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31715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Remove either barrier and the kernel gives wrong answers, but only sometimes, which is the worst kind of bug. In HDL terms, this is a handshake: the barrier is the point where every producer has written and every consumer may read.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566907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Almost nobody writes their own matrix multiply in production. Here is what sits on top of CUDA.</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530829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cuBLAS is linear algebra (BLAS on the GPU), cuDNN is deep-learning primitives such as convolution and attention, CUTLASS is NVIDIA's open-source C++ template library for writing fast matrix multiplies, and Triton is a Python-embedded language for writing kernels. PyTorch calls down into all of them.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861712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Sgemm computes C = alpha A B + beta C in single precision. cuBLAS follows Fortran's column-major convention. A row-major matrix read as column-major is its transpose, so passing B first and A second yields the row-major product we want with no copies. Link with -lcublas. This call is typically several times faster than our tiled kernel because it uses tensor cores, register tiling and double buffering.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9931768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Sgemm computes C = alpha A B + beta C in single precision. cuBLAS follows Fortran's column-major convention. A row-major matrix read as column-major is its transpose, so passing B first and A second yields the row-major product we want with no copies. Link with -lcublas. This call is typically several times faster than our tiled kernel because it uses tensor cores, register tiling and double buffering.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587783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Sgemm computes C = alpha A B + beta C in single precision. cuBLAS follows Fortran's column-major convention. A row-major matrix read as column-major is its transpose, so passing B first and A second yields the row-major product we want with no copies. Link with -lcublas. This call is typically several times faster than our tiled kernel because it uses tensor cores, register tiling and double buffering.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442799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Each generation adds smaller number formats. Fewer bits per number means smaller multipliers, so more fit on the die, and less memory traffic per number. Neural networks tolerate the reduced precision surprisingly well.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745446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Each generation adds smaller number formats. Fewer bits per number means smaller multipliers, so more fit on the die, and less memory traffic per number. Neural networks tolerate the reduced precision surprisingly well.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299309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Each generation adds smaller number formats. Fewer bits per number means smaller multipliers, so more fit on the die, and less memory traffic per number. Neural networks tolerate the reduced precision surprisingly well.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132083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err="1"/>
              <a:t>Sgemm</a:t>
            </a:r>
            <a:r>
              <a:rPr dirty="0"/>
              <a:t> computes C = alpha A B + beta C in single precision. </a:t>
            </a:r>
            <a:r>
              <a:rPr dirty="0" err="1"/>
              <a:t>cuBLAS</a:t>
            </a:r>
            <a:r>
              <a:rPr dirty="0"/>
              <a:t> follows Fortran's column-major convention. A row-major matrix read as column-major is its transpose, so passing B first and A second yields the row-major product we want with no copies. Link with -</a:t>
            </a:r>
            <a:r>
              <a:rPr dirty="0" err="1"/>
              <a:t>lcublas</a:t>
            </a:r>
            <a:r>
              <a:rPr dirty="0"/>
              <a:t>. This call is typically several times faster than our tiled kernel because it uses tensor cores, register tiling and double buffering.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372896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err="1"/>
              <a:t>Sgemm</a:t>
            </a:r>
            <a:r>
              <a:rPr dirty="0"/>
              <a:t> computes C = alpha A B + beta C in single precision. </a:t>
            </a:r>
            <a:r>
              <a:rPr dirty="0" err="1"/>
              <a:t>cuBLAS</a:t>
            </a:r>
            <a:r>
              <a:rPr dirty="0"/>
              <a:t> follows Fortran's column-major convention. A row-major matrix read as column-major is its transpose, so passing B first and A second yields the row-major product we want with no copies. Link with -</a:t>
            </a:r>
            <a:r>
              <a:rPr dirty="0" err="1"/>
              <a:t>lcublas</a:t>
            </a:r>
            <a:r>
              <a:rPr dirty="0"/>
              <a:t>. This call is typically several times faster than our tiled kernel because it uses tensor cores, register tiling and double buffering.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607985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err="1"/>
              <a:t>Sgemm</a:t>
            </a:r>
            <a:r>
              <a:rPr dirty="0"/>
              <a:t> computes C = alpha A B + beta C in single precision. </a:t>
            </a:r>
            <a:r>
              <a:rPr dirty="0" err="1"/>
              <a:t>cuBLAS</a:t>
            </a:r>
            <a:r>
              <a:rPr dirty="0"/>
              <a:t> follows Fortran's column-major convention. A row-major matrix read as column-major is its transpose, so passing B first and A second yields the row-major product we want with no copies. Link with -</a:t>
            </a:r>
            <a:r>
              <a:rPr dirty="0" err="1"/>
              <a:t>lcublas</a:t>
            </a:r>
            <a:r>
              <a:rPr dirty="0"/>
              <a:t>. This call is typically several times faster than our tiled kernel because it uses tensor cores, register tiling and double buffering.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939433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err="1"/>
              <a:t>Sgemm</a:t>
            </a:r>
            <a:r>
              <a:rPr dirty="0"/>
              <a:t> computes C = alpha A B + beta C in single precision. </a:t>
            </a:r>
            <a:r>
              <a:rPr dirty="0" err="1"/>
              <a:t>cuBLAS</a:t>
            </a:r>
            <a:r>
              <a:rPr dirty="0"/>
              <a:t> follows Fortran's column-major convention. A row-major matrix read as column-major is its transpose, so passing B first and A second yields the row-major product we want with no copies. Link with -</a:t>
            </a:r>
            <a:r>
              <a:rPr dirty="0" err="1"/>
              <a:t>lcublas</a:t>
            </a:r>
            <a:r>
              <a:rPr dirty="0"/>
              <a:t>. This call is typically several times faster than our tiled kernel because it uses tensor cores, register tiling and double buffering.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85004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Sgemm computes C = alpha A B + beta C in single precision. cuBLAS follows Fortran's column-major convention. A row-major matrix read as column-major is its transpose, so passing B first and A second yields the row-major product we want with no copies. Link with -lcublas. This call is typically several times faster than our tiled kernel because it uses tensor cores, register tiling and double buffering.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778425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device=cuda allocates directly in GPU memory, the cudaMalloc step. The @ operator dispatches to cuBLAS. PyTorch launches are asynchronous too, which is why timing PyTorch code without synchronize gives nonsense numbers.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428847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Triton programs a whole block at once rather than one thread: tl.arange makes a vector of offsets. The compiler handles warps, coalescing and shared memory. Many PyTorch kernels are generated in Triton by torch.compile. Point out the one-to-one match with the CUDA vector add.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471232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Learning CUDA transfers. HIP is close enough that AMD ships a tool, hipify, that translates CUDA source mechanically.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872857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Recap before the exercise.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899126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For timing: cudaEventCreate start and stop, cudaEventRecord before and after the launch, cudaEventSynchronize(stop), cudaEventElapsedTime. Run once to warm up before timing. Expect roughly: naive slowest, tiled a few times faster, cuBLAS much faster again. TILE = 32 gives 1024 threads per block, the maximum.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097491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hyperlink" Target="https://www.emergentmind.com/topics/mxfp8-e4m3-floating-point-for" TargetMode="External"/><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1828800"/>
            <a:ext cx="9052560" cy="146304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GPUs: From Graphics to AI</a:t>
            </a:r>
          </a:p>
        </p:txBody>
      </p:sp>
      <p:sp>
        <p:nvSpPr>
          <p:cNvPr id="901" name="TextBox 900"/>
          <p:cNvSpPr txBox="1"/>
          <p:nvPr/>
        </p:nvSpPr>
        <p:spPr>
          <a:xfrm>
            <a:off x="502920" y="3749039"/>
            <a:ext cx="9052560" cy="2743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800" b="0" i="0">
                <a:solidFill>
                  <a:srgbClr val="000000"/>
                </a:solidFill>
                <a:latin typeface="Cambria"/>
              </a:rPr>
              <a:t>Part 2:  Programming the GPU</a:t>
            </a:r>
          </a:p>
          <a:p>
            <a:pPr algn="ctr">
              <a:spcBef>
                <a:spcPts val="1000"/>
              </a:spcBef>
              <a:tabLst>
                <a:tab pos="548640" algn="l"/>
                <a:tab pos="1097280" algn="l"/>
                <a:tab pos="1645919" algn="l"/>
                <a:tab pos="2194560" algn="l"/>
                <a:tab pos="2743200" algn="l"/>
                <a:tab pos="3291839" algn="l"/>
                <a:tab pos="3840480" algn="l"/>
                <a:tab pos="4389120" algn="l"/>
              </a:tabLst>
            </a:pPr>
            <a:r>
              <a:rPr sz="2800" b="0" i="0">
                <a:solidFill>
                  <a:srgbClr val="000000"/>
                </a:solidFill>
                <a:latin typeface="Cambria"/>
              </a:rPr>
              <a:t>CUDA C++ and the libraries above it</a:t>
            </a:r>
          </a:p>
          <a:p>
            <a:pPr algn="ctr">
              <a:tabLst>
                <a:tab pos="548640" algn="l"/>
                <a:tab pos="1097280" algn="l"/>
                <a:tab pos="1645919" algn="l"/>
                <a:tab pos="2194560" algn="l"/>
                <a:tab pos="2743200" algn="l"/>
                <a:tab pos="3291839" algn="l"/>
                <a:tab pos="3840480" algn="l"/>
                <a:tab pos="4389120" algn="l"/>
              </a:tabLst>
            </a:pPr>
            <a:r>
              <a:rPr sz="1400">
                <a:latin typeface="Cambria"/>
              </a:rPr>
              <a:t> </a:t>
            </a:r>
          </a:p>
          <a:p>
            <a:pPr algn="ctr">
              <a:spcBef>
                <a:spcPts val="1000"/>
              </a:spcBef>
              <a:tabLst>
                <a:tab pos="548640" algn="l"/>
                <a:tab pos="1097280" algn="l"/>
                <a:tab pos="1645919" algn="l"/>
                <a:tab pos="2194560" algn="l"/>
                <a:tab pos="2743200" algn="l"/>
                <a:tab pos="3291839" algn="l"/>
                <a:tab pos="3840480" algn="l"/>
                <a:tab pos="4389120" algn="l"/>
              </a:tabLst>
            </a:pPr>
            <a:r>
              <a:rPr sz="2800" b="0" i="0">
                <a:solidFill>
                  <a:srgbClr val="000000"/>
                </a:solidFill>
                <a:latin typeface="Cambria"/>
              </a:rPr>
              <a:t>Hardware Description Languages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Review from Part 1</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CPU:  a few big cores,  low </a:t>
            </a:r>
            <a:r>
              <a:rPr sz="2600" b="1" i="0">
                <a:solidFill>
                  <a:srgbClr val="000000"/>
                </a:solidFill>
                <a:latin typeface="Cambria"/>
              </a:rPr>
              <a:t>latency</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GPU:  thousands of small lanes,  high </a:t>
            </a:r>
            <a:r>
              <a:rPr sz="2600" b="1" i="0">
                <a:solidFill>
                  <a:srgbClr val="000000"/>
                </a:solidFill>
                <a:latin typeface="Cambria"/>
              </a:rPr>
              <a:t>throughput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SIMD:  one instruction drives many lanes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GPU hides memory latency by</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switching between groups of threads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Host and Device</a:t>
            </a:r>
          </a:p>
        </p:txBody>
      </p:sp>
      <p:sp>
        <p:nvSpPr>
          <p:cNvPr id="901" name="Rounded Rectangle 900"/>
          <p:cNvSpPr/>
          <p:nvPr/>
        </p:nvSpPr>
        <p:spPr>
          <a:xfrm>
            <a:off x="822960" y="1920240"/>
            <a:ext cx="3291840" cy="1463040"/>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400" b="1">
                <a:solidFill>
                  <a:srgbClr val="000000"/>
                </a:solidFill>
                <a:latin typeface="Cambria"/>
              </a:rPr>
              <a:t>Host</a:t>
            </a:r>
          </a:p>
          <a:p>
            <a:pPr algn="ctr"/>
            <a:r>
              <a:rPr sz="2400" b="1">
                <a:solidFill>
                  <a:srgbClr val="000000"/>
                </a:solidFill>
                <a:latin typeface="Cambria"/>
              </a:rPr>
              <a:t>CPU</a:t>
            </a:r>
          </a:p>
        </p:txBody>
      </p:sp>
      <p:sp>
        <p:nvSpPr>
          <p:cNvPr id="902" name="Rounded Rectangle 901"/>
          <p:cNvSpPr/>
          <p:nvPr/>
        </p:nvSpPr>
        <p:spPr>
          <a:xfrm>
            <a:off x="5760720" y="1920240"/>
            <a:ext cx="3291840" cy="146304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400" b="1">
                <a:solidFill>
                  <a:srgbClr val="000000"/>
                </a:solidFill>
                <a:latin typeface="Cambria"/>
              </a:rPr>
              <a:t>Device</a:t>
            </a:r>
          </a:p>
          <a:p>
            <a:pPr algn="ctr"/>
            <a:r>
              <a:rPr sz="2400" b="1">
                <a:solidFill>
                  <a:srgbClr val="000000"/>
                </a:solidFill>
                <a:latin typeface="Cambria"/>
              </a:rPr>
              <a:t>GPU</a:t>
            </a:r>
          </a:p>
        </p:txBody>
      </p:sp>
      <p:sp>
        <p:nvSpPr>
          <p:cNvPr id="903" name="Rectangle 902"/>
          <p:cNvSpPr/>
          <p:nvPr/>
        </p:nvSpPr>
        <p:spPr>
          <a:xfrm>
            <a:off x="822960" y="3931920"/>
            <a:ext cx="3291840" cy="9144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0">
                <a:solidFill>
                  <a:srgbClr val="000000"/>
                </a:solidFill>
                <a:latin typeface="Cambria"/>
              </a:rPr>
              <a:t>Host memory  ( DDR )</a:t>
            </a:r>
          </a:p>
        </p:txBody>
      </p:sp>
      <p:sp>
        <p:nvSpPr>
          <p:cNvPr id="904" name="Rectangle 903"/>
          <p:cNvSpPr/>
          <p:nvPr/>
        </p:nvSpPr>
        <p:spPr>
          <a:xfrm>
            <a:off x="5760720" y="3931920"/>
            <a:ext cx="3291840" cy="9144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0">
                <a:solidFill>
                  <a:srgbClr val="000000"/>
                </a:solidFill>
                <a:latin typeface="Cambria"/>
              </a:rPr>
              <a:t>Device memory  ( HBM / GDDR )</a:t>
            </a:r>
          </a:p>
        </p:txBody>
      </p:sp>
      <p:cxnSp>
        <p:nvCxnSpPr>
          <p:cNvPr id="905" name="Connector 904"/>
          <p:cNvCxnSpPr/>
          <p:nvPr/>
        </p:nvCxnSpPr>
        <p:spPr>
          <a:xfrm>
            <a:off x="2468880" y="3383280"/>
            <a:ext cx="0" cy="548640"/>
          </a:xfrm>
          <a:prstGeom prst="line">
            <a:avLst/>
          </a:prstGeom>
          <a:ln w="25400">
            <a:solidFill>
              <a:srgbClr val="0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a:off x="7406640" y="3383280"/>
            <a:ext cx="0" cy="548640"/>
          </a:xfrm>
          <a:prstGeom prst="line">
            <a:avLst/>
          </a:prstGeom>
          <a:ln w="25400">
            <a:solidFill>
              <a:srgbClr val="0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07" name="Connector 906"/>
          <p:cNvCxnSpPr/>
          <p:nvPr/>
        </p:nvCxnSpPr>
        <p:spPr>
          <a:xfrm>
            <a:off x="4114800" y="4389120"/>
            <a:ext cx="1645920" cy="0"/>
          </a:xfrm>
          <a:prstGeom prst="line">
            <a:avLst/>
          </a:prstGeom>
          <a:ln w="3810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08" name="TextBox 907"/>
          <p:cNvSpPr txBox="1"/>
          <p:nvPr/>
        </p:nvSpPr>
        <p:spPr>
          <a:xfrm>
            <a:off x="4114800" y="4892040"/>
            <a:ext cx="1645920" cy="548640"/>
          </a:xfrm>
          <a:prstGeom prst="rect">
            <a:avLst/>
          </a:prstGeom>
          <a:noFill/>
        </p:spPr>
        <p:txBody>
          <a:bodyPr wrap="square" lIns="0" tIns="0" rIns="0" bIns="0" anchor="ctr">
            <a:spAutoFit/>
          </a:bodyPr>
          <a:lstStyle/>
          <a:p>
            <a:pPr algn="ctr"/>
            <a:r>
              <a:rPr sz="1600" b="1" i="0">
                <a:solidFill>
                  <a:srgbClr val="C00000"/>
                </a:solidFill>
                <a:latin typeface="Cambria"/>
              </a:rPr>
              <a:t>PCIe or</a:t>
            </a:r>
          </a:p>
          <a:p>
            <a:pPr algn="ctr"/>
            <a:r>
              <a:rPr sz="1600" b="1" i="0">
                <a:solidFill>
                  <a:srgbClr val="C00000"/>
                </a:solidFill>
                <a:latin typeface="Cambria"/>
              </a:rPr>
              <a:t>NVLink</a:t>
            </a:r>
          </a:p>
        </p:txBody>
      </p:sp>
      <p:sp>
        <p:nvSpPr>
          <p:cNvPr id="909" name="TextBox 908"/>
          <p:cNvSpPr txBox="1"/>
          <p:nvPr/>
        </p:nvSpPr>
        <p:spPr>
          <a:xfrm>
            <a:off x="731520" y="5623560"/>
            <a:ext cx="8595360" cy="11887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Two processors,  </a:t>
            </a:r>
            <a:r>
              <a:rPr sz="2200" b="1" i="0">
                <a:solidFill>
                  <a:srgbClr val="000000"/>
                </a:solidFill>
                <a:latin typeface="Cambria"/>
              </a:rPr>
              <a:t>two separate memories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Data must be copied across  -  and that copy is slow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Every CUDA Program</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1.	Allocate memory on the device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2.	Copy inputs  host  →  device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3.	</a:t>
            </a:r>
            <a:r>
              <a:rPr sz="2600" b="1" i="0">
                <a:solidFill>
                  <a:srgbClr val="000000"/>
                </a:solidFill>
                <a:latin typeface="Cambria"/>
              </a:rPr>
              <a:t>Launch a kernel</a:t>
            </a:r>
            <a:r>
              <a:rPr sz="2600" b="0" i="0">
                <a:solidFill>
                  <a:srgbClr val="000000"/>
                </a:solidFill>
                <a:latin typeface="Cambria"/>
              </a:rPr>
              <a:t>  on many threads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4.	Copy results  device  →  host</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5.	Free device memory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What Is a Kernel?</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function that runs </a:t>
            </a:r>
            <a:r>
              <a:rPr sz="2600" b="1" i="0">
                <a:solidFill>
                  <a:srgbClr val="000000"/>
                </a:solidFill>
                <a:latin typeface="Cambria"/>
              </a:rPr>
              <a:t>on the GPU</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Marked with  </a:t>
            </a:r>
            <a:r>
              <a:rPr sz="2600" b="0" i="0">
                <a:solidFill>
                  <a:srgbClr val="000000"/>
                </a:solidFill>
                <a:latin typeface="Courier New"/>
              </a:rPr>
              <a:t>__global__</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called from the host,  runs on the device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Written for </a:t>
            </a:r>
            <a:r>
              <a:rPr sz="2600" b="1" i="0">
                <a:solidFill>
                  <a:srgbClr val="000000"/>
                </a:solidFill>
                <a:latin typeface="Cambria"/>
              </a:rPr>
              <a:t>one</a:t>
            </a:r>
            <a:r>
              <a:rPr sz="2600" b="0" i="0">
                <a:solidFill>
                  <a:srgbClr val="000000"/>
                </a:solidFill>
                <a:latin typeface="Cambria"/>
              </a:rPr>
              <a:t> thread</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hardware runs it on </a:t>
            </a:r>
            <a:r>
              <a:rPr sz="2600" b="1" i="0">
                <a:solidFill>
                  <a:srgbClr val="000000"/>
                </a:solidFill>
                <a:latin typeface="Cambria"/>
              </a:rPr>
              <a:t>thousands</a:t>
            </a:r>
            <a:r>
              <a:rPr sz="2600" b="0" i="0">
                <a:solidFill>
                  <a:srgbClr val="000000"/>
                </a:solidFill>
                <a:latin typeface="Cambria"/>
              </a:rPr>
              <a:t> at once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Grid,  Block,  Thread</a:t>
            </a:r>
          </a:p>
        </p:txBody>
      </p:sp>
      <p:sp>
        <p:nvSpPr>
          <p:cNvPr id="901" name="Rectangle 900"/>
          <p:cNvSpPr/>
          <p:nvPr/>
        </p:nvSpPr>
        <p:spPr>
          <a:xfrm>
            <a:off x="731520" y="1691640"/>
            <a:ext cx="8595360" cy="3931920"/>
          </a:xfrm>
          <a:prstGeom prst="rect">
            <a:avLst/>
          </a:prstGeom>
          <a:solidFill>
            <a:srgbClr val="D5EDD5"/>
          </a:solidFill>
          <a:ln w="19050">
            <a:solidFill>
              <a:srgbClr val="0046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2" name="TextBox 901"/>
          <p:cNvSpPr txBox="1"/>
          <p:nvPr/>
        </p:nvSpPr>
        <p:spPr>
          <a:xfrm>
            <a:off x="868680" y="1737360"/>
            <a:ext cx="2743200" cy="411480"/>
          </a:xfrm>
          <a:prstGeom prst="rect">
            <a:avLst/>
          </a:prstGeom>
          <a:noFill/>
        </p:spPr>
        <p:txBody>
          <a:bodyPr wrap="square" lIns="0" tIns="0" rIns="0" bIns="0" anchor="ctr">
            <a:spAutoFit/>
          </a:bodyPr>
          <a:lstStyle/>
          <a:p>
            <a:pPr algn="l"/>
            <a:r>
              <a:rPr sz="2000" b="1" i="0">
                <a:solidFill>
                  <a:srgbClr val="004600"/>
                </a:solidFill>
                <a:latin typeface="Cambria"/>
              </a:rPr>
              <a:t>Grid</a:t>
            </a:r>
          </a:p>
        </p:txBody>
      </p:sp>
      <p:sp>
        <p:nvSpPr>
          <p:cNvPr id="903" name="Rectangle 902"/>
          <p:cNvSpPr/>
          <p:nvPr/>
        </p:nvSpPr>
        <p:spPr>
          <a:xfrm>
            <a:off x="960120" y="2240280"/>
            <a:ext cx="2560320" cy="15087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4" name="TextBox 903"/>
          <p:cNvSpPr txBox="1"/>
          <p:nvPr/>
        </p:nvSpPr>
        <p:spPr>
          <a:xfrm>
            <a:off x="1051560" y="2286000"/>
            <a:ext cx="2377440" cy="320040"/>
          </a:xfrm>
          <a:prstGeom prst="rect">
            <a:avLst/>
          </a:prstGeom>
          <a:noFill/>
        </p:spPr>
        <p:txBody>
          <a:bodyPr wrap="square" lIns="0" tIns="0" rIns="0" bIns="0" anchor="ctr">
            <a:spAutoFit/>
          </a:bodyPr>
          <a:lstStyle/>
          <a:p>
            <a:pPr algn="l"/>
            <a:r>
              <a:rPr sz="1400" b="1" i="0">
                <a:solidFill>
                  <a:srgbClr val="000000"/>
                </a:solidFill>
                <a:latin typeface="Cambria"/>
              </a:rPr>
              <a:t>Block (0,0)</a:t>
            </a:r>
          </a:p>
        </p:txBody>
      </p:sp>
      <p:sp>
        <p:nvSpPr>
          <p:cNvPr id="905" name="Rounded Rectangle 904"/>
          <p:cNvSpPr/>
          <p:nvPr/>
        </p:nvSpPr>
        <p:spPr>
          <a:xfrm>
            <a:off x="1069848"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6" name="Rounded Rectangle 905"/>
          <p:cNvSpPr/>
          <p:nvPr/>
        </p:nvSpPr>
        <p:spPr>
          <a:xfrm>
            <a:off x="1673352"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7" name="Rounded Rectangle 906"/>
          <p:cNvSpPr/>
          <p:nvPr/>
        </p:nvSpPr>
        <p:spPr>
          <a:xfrm>
            <a:off x="2276856"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Rounded Rectangle 907"/>
          <p:cNvSpPr/>
          <p:nvPr/>
        </p:nvSpPr>
        <p:spPr>
          <a:xfrm>
            <a:off x="2880360"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Rounded Rectangle 908"/>
          <p:cNvSpPr/>
          <p:nvPr/>
        </p:nvSpPr>
        <p:spPr>
          <a:xfrm>
            <a:off x="1069848"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0" name="Rounded Rectangle 909"/>
          <p:cNvSpPr/>
          <p:nvPr/>
        </p:nvSpPr>
        <p:spPr>
          <a:xfrm>
            <a:off x="1673352"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1" name="Rounded Rectangle 910"/>
          <p:cNvSpPr/>
          <p:nvPr/>
        </p:nvSpPr>
        <p:spPr>
          <a:xfrm>
            <a:off x="2276856"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Rounded Rectangle 911"/>
          <p:cNvSpPr/>
          <p:nvPr/>
        </p:nvSpPr>
        <p:spPr>
          <a:xfrm>
            <a:off x="2880360"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3" name="Rectangle 912"/>
          <p:cNvSpPr/>
          <p:nvPr/>
        </p:nvSpPr>
        <p:spPr>
          <a:xfrm>
            <a:off x="960120" y="3931920"/>
            <a:ext cx="2560320" cy="15087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TextBox 913"/>
          <p:cNvSpPr txBox="1"/>
          <p:nvPr/>
        </p:nvSpPr>
        <p:spPr>
          <a:xfrm>
            <a:off x="1051560" y="3977640"/>
            <a:ext cx="2377440" cy="320040"/>
          </a:xfrm>
          <a:prstGeom prst="rect">
            <a:avLst/>
          </a:prstGeom>
          <a:noFill/>
        </p:spPr>
        <p:txBody>
          <a:bodyPr wrap="square" lIns="0" tIns="0" rIns="0" bIns="0" anchor="ctr">
            <a:spAutoFit/>
          </a:bodyPr>
          <a:lstStyle/>
          <a:p>
            <a:pPr algn="l"/>
            <a:r>
              <a:rPr sz="1400" b="1" i="0">
                <a:solidFill>
                  <a:srgbClr val="000000"/>
                </a:solidFill>
                <a:latin typeface="Cambria"/>
              </a:rPr>
              <a:t>Block (0,1)</a:t>
            </a:r>
          </a:p>
        </p:txBody>
      </p:sp>
      <p:sp>
        <p:nvSpPr>
          <p:cNvPr id="915" name="Rounded Rectangle 914"/>
          <p:cNvSpPr/>
          <p:nvPr/>
        </p:nvSpPr>
        <p:spPr>
          <a:xfrm>
            <a:off x="1069848"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ounded Rectangle 915"/>
          <p:cNvSpPr/>
          <p:nvPr/>
        </p:nvSpPr>
        <p:spPr>
          <a:xfrm>
            <a:off x="1673352"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Rounded Rectangle 916"/>
          <p:cNvSpPr/>
          <p:nvPr/>
        </p:nvSpPr>
        <p:spPr>
          <a:xfrm>
            <a:off x="2276856"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8" name="Rounded Rectangle 917"/>
          <p:cNvSpPr/>
          <p:nvPr/>
        </p:nvSpPr>
        <p:spPr>
          <a:xfrm>
            <a:off x="2880360"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9" name="Rounded Rectangle 918"/>
          <p:cNvSpPr/>
          <p:nvPr/>
        </p:nvSpPr>
        <p:spPr>
          <a:xfrm>
            <a:off x="1069848"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0" name="Rounded Rectangle 919"/>
          <p:cNvSpPr/>
          <p:nvPr/>
        </p:nvSpPr>
        <p:spPr>
          <a:xfrm>
            <a:off x="1673352"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1" name="Rounded Rectangle 920"/>
          <p:cNvSpPr/>
          <p:nvPr/>
        </p:nvSpPr>
        <p:spPr>
          <a:xfrm>
            <a:off x="2276856"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2" name="Rounded Rectangle 921"/>
          <p:cNvSpPr/>
          <p:nvPr/>
        </p:nvSpPr>
        <p:spPr>
          <a:xfrm>
            <a:off x="2880360"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3" name="Rectangle 922"/>
          <p:cNvSpPr/>
          <p:nvPr/>
        </p:nvSpPr>
        <p:spPr>
          <a:xfrm>
            <a:off x="3749039" y="2240280"/>
            <a:ext cx="2560320" cy="15087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4" name="TextBox 923"/>
          <p:cNvSpPr txBox="1"/>
          <p:nvPr/>
        </p:nvSpPr>
        <p:spPr>
          <a:xfrm>
            <a:off x="3840479" y="2286000"/>
            <a:ext cx="2377440" cy="320040"/>
          </a:xfrm>
          <a:prstGeom prst="rect">
            <a:avLst/>
          </a:prstGeom>
          <a:noFill/>
        </p:spPr>
        <p:txBody>
          <a:bodyPr wrap="square" lIns="0" tIns="0" rIns="0" bIns="0" anchor="ctr">
            <a:spAutoFit/>
          </a:bodyPr>
          <a:lstStyle/>
          <a:p>
            <a:pPr algn="l"/>
            <a:r>
              <a:rPr sz="1400" b="1" i="0">
                <a:solidFill>
                  <a:srgbClr val="000000"/>
                </a:solidFill>
                <a:latin typeface="Cambria"/>
              </a:rPr>
              <a:t>Block (1,0)</a:t>
            </a:r>
          </a:p>
        </p:txBody>
      </p:sp>
      <p:sp>
        <p:nvSpPr>
          <p:cNvPr id="925" name="Rounded Rectangle 924"/>
          <p:cNvSpPr/>
          <p:nvPr/>
        </p:nvSpPr>
        <p:spPr>
          <a:xfrm>
            <a:off x="3858768"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6" name="Rounded Rectangle 925"/>
          <p:cNvSpPr/>
          <p:nvPr/>
        </p:nvSpPr>
        <p:spPr>
          <a:xfrm>
            <a:off x="4462272"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7" name="Rounded Rectangle 926"/>
          <p:cNvSpPr/>
          <p:nvPr/>
        </p:nvSpPr>
        <p:spPr>
          <a:xfrm>
            <a:off x="5065776"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8" name="Rounded Rectangle 927"/>
          <p:cNvSpPr/>
          <p:nvPr/>
        </p:nvSpPr>
        <p:spPr>
          <a:xfrm>
            <a:off x="5669279"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9" name="Rounded Rectangle 928"/>
          <p:cNvSpPr/>
          <p:nvPr/>
        </p:nvSpPr>
        <p:spPr>
          <a:xfrm>
            <a:off x="3858768"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0" name="Rounded Rectangle 929"/>
          <p:cNvSpPr/>
          <p:nvPr/>
        </p:nvSpPr>
        <p:spPr>
          <a:xfrm>
            <a:off x="4462272"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1" name="Rounded Rectangle 930"/>
          <p:cNvSpPr/>
          <p:nvPr/>
        </p:nvSpPr>
        <p:spPr>
          <a:xfrm>
            <a:off x="5065776"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2" name="Rounded Rectangle 931"/>
          <p:cNvSpPr/>
          <p:nvPr/>
        </p:nvSpPr>
        <p:spPr>
          <a:xfrm>
            <a:off x="5669279"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3" name="Rectangle 932"/>
          <p:cNvSpPr/>
          <p:nvPr/>
        </p:nvSpPr>
        <p:spPr>
          <a:xfrm>
            <a:off x="3749039" y="3931920"/>
            <a:ext cx="2560320" cy="15087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4" name="TextBox 933"/>
          <p:cNvSpPr txBox="1"/>
          <p:nvPr/>
        </p:nvSpPr>
        <p:spPr>
          <a:xfrm>
            <a:off x="3840479" y="3977640"/>
            <a:ext cx="2377440" cy="320040"/>
          </a:xfrm>
          <a:prstGeom prst="rect">
            <a:avLst/>
          </a:prstGeom>
          <a:noFill/>
        </p:spPr>
        <p:txBody>
          <a:bodyPr wrap="square" lIns="0" tIns="0" rIns="0" bIns="0" anchor="ctr">
            <a:spAutoFit/>
          </a:bodyPr>
          <a:lstStyle/>
          <a:p>
            <a:pPr algn="l"/>
            <a:r>
              <a:rPr sz="1400" b="1" i="0">
                <a:solidFill>
                  <a:srgbClr val="000000"/>
                </a:solidFill>
                <a:latin typeface="Cambria"/>
              </a:rPr>
              <a:t>Block (1,1)</a:t>
            </a:r>
          </a:p>
        </p:txBody>
      </p:sp>
      <p:sp>
        <p:nvSpPr>
          <p:cNvPr id="935" name="Rounded Rectangle 934"/>
          <p:cNvSpPr/>
          <p:nvPr/>
        </p:nvSpPr>
        <p:spPr>
          <a:xfrm>
            <a:off x="3858768"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6" name="Rounded Rectangle 935"/>
          <p:cNvSpPr/>
          <p:nvPr/>
        </p:nvSpPr>
        <p:spPr>
          <a:xfrm>
            <a:off x="4462272"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7" name="Rounded Rectangle 936"/>
          <p:cNvSpPr/>
          <p:nvPr/>
        </p:nvSpPr>
        <p:spPr>
          <a:xfrm>
            <a:off x="5065776"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8" name="Rounded Rectangle 937"/>
          <p:cNvSpPr/>
          <p:nvPr/>
        </p:nvSpPr>
        <p:spPr>
          <a:xfrm>
            <a:off x="5669279"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9" name="Rounded Rectangle 938"/>
          <p:cNvSpPr/>
          <p:nvPr/>
        </p:nvSpPr>
        <p:spPr>
          <a:xfrm>
            <a:off x="3858768"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0" name="Rounded Rectangle 939"/>
          <p:cNvSpPr/>
          <p:nvPr/>
        </p:nvSpPr>
        <p:spPr>
          <a:xfrm>
            <a:off x="4462272"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1" name="Rounded Rectangle 940"/>
          <p:cNvSpPr/>
          <p:nvPr/>
        </p:nvSpPr>
        <p:spPr>
          <a:xfrm>
            <a:off x="5065776"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2" name="Rounded Rectangle 941"/>
          <p:cNvSpPr/>
          <p:nvPr/>
        </p:nvSpPr>
        <p:spPr>
          <a:xfrm>
            <a:off x="5669279"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3" name="Rectangle 942"/>
          <p:cNvSpPr/>
          <p:nvPr/>
        </p:nvSpPr>
        <p:spPr>
          <a:xfrm>
            <a:off x="6537959" y="2240280"/>
            <a:ext cx="2560320" cy="15087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4" name="TextBox 943"/>
          <p:cNvSpPr txBox="1"/>
          <p:nvPr/>
        </p:nvSpPr>
        <p:spPr>
          <a:xfrm>
            <a:off x="6629399" y="2286000"/>
            <a:ext cx="2377440" cy="320040"/>
          </a:xfrm>
          <a:prstGeom prst="rect">
            <a:avLst/>
          </a:prstGeom>
          <a:noFill/>
        </p:spPr>
        <p:txBody>
          <a:bodyPr wrap="square" lIns="0" tIns="0" rIns="0" bIns="0" anchor="ctr">
            <a:spAutoFit/>
          </a:bodyPr>
          <a:lstStyle/>
          <a:p>
            <a:pPr algn="l"/>
            <a:r>
              <a:rPr sz="1400" b="1" i="0">
                <a:solidFill>
                  <a:srgbClr val="000000"/>
                </a:solidFill>
                <a:latin typeface="Cambria"/>
              </a:rPr>
              <a:t>Block (2,0)</a:t>
            </a:r>
          </a:p>
        </p:txBody>
      </p:sp>
      <p:sp>
        <p:nvSpPr>
          <p:cNvPr id="945" name="Rounded Rectangle 944"/>
          <p:cNvSpPr/>
          <p:nvPr/>
        </p:nvSpPr>
        <p:spPr>
          <a:xfrm>
            <a:off x="6647688"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6" name="Rounded Rectangle 945"/>
          <p:cNvSpPr/>
          <p:nvPr/>
        </p:nvSpPr>
        <p:spPr>
          <a:xfrm>
            <a:off x="7251192"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7" name="Rounded Rectangle 946"/>
          <p:cNvSpPr/>
          <p:nvPr/>
        </p:nvSpPr>
        <p:spPr>
          <a:xfrm>
            <a:off x="7854696"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8" name="Rounded Rectangle 947"/>
          <p:cNvSpPr/>
          <p:nvPr/>
        </p:nvSpPr>
        <p:spPr>
          <a:xfrm>
            <a:off x="8458200" y="269748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9" name="Rounded Rectangle 948"/>
          <p:cNvSpPr/>
          <p:nvPr/>
        </p:nvSpPr>
        <p:spPr>
          <a:xfrm>
            <a:off x="6647688"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0" name="Rounded Rectangle 949"/>
          <p:cNvSpPr/>
          <p:nvPr/>
        </p:nvSpPr>
        <p:spPr>
          <a:xfrm>
            <a:off x="7251192"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1" name="Rounded Rectangle 950"/>
          <p:cNvSpPr/>
          <p:nvPr/>
        </p:nvSpPr>
        <p:spPr>
          <a:xfrm>
            <a:off x="7854696"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2" name="Rounded Rectangle 951"/>
          <p:cNvSpPr/>
          <p:nvPr/>
        </p:nvSpPr>
        <p:spPr>
          <a:xfrm>
            <a:off x="8458200" y="320040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3" name="Rectangle 952"/>
          <p:cNvSpPr/>
          <p:nvPr/>
        </p:nvSpPr>
        <p:spPr>
          <a:xfrm>
            <a:off x="6537959" y="3931920"/>
            <a:ext cx="2560320" cy="15087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4" name="TextBox 953"/>
          <p:cNvSpPr txBox="1"/>
          <p:nvPr/>
        </p:nvSpPr>
        <p:spPr>
          <a:xfrm>
            <a:off x="6629399" y="3977640"/>
            <a:ext cx="2377440" cy="320040"/>
          </a:xfrm>
          <a:prstGeom prst="rect">
            <a:avLst/>
          </a:prstGeom>
          <a:noFill/>
        </p:spPr>
        <p:txBody>
          <a:bodyPr wrap="square" lIns="0" tIns="0" rIns="0" bIns="0" anchor="ctr">
            <a:spAutoFit/>
          </a:bodyPr>
          <a:lstStyle/>
          <a:p>
            <a:pPr algn="l"/>
            <a:r>
              <a:rPr sz="1400" b="1" i="0">
                <a:solidFill>
                  <a:srgbClr val="000000"/>
                </a:solidFill>
                <a:latin typeface="Cambria"/>
              </a:rPr>
              <a:t>Block (2,1)</a:t>
            </a:r>
          </a:p>
        </p:txBody>
      </p:sp>
      <p:sp>
        <p:nvSpPr>
          <p:cNvPr id="955" name="Rounded Rectangle 954"/>
          <p:cNvSpPr/>
          <p:nvPr/>
        </p:nvSpPr>
        <p:spPr>
          <a:xfrm>
            <a:off x="6647688"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6" name="Rounded Rectangle 955"/>
          <p:cNvSpPr/>
          <p:nvPr/>
        </p:nvSpPr>
        <p:spPr>
          <a:xfrm>
            <a:off x="7251192"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7" name="Rounded Rectangle 956"/>
          <p:cNvSpPr/>
          <p:nvPr/>
        </p:nvSpPr>
        <p:spPr>
          <a:xfrm>
            <a:off x="7854696"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8" name="Rounded Rectangle 957"/>
          <p:cNvSpPr/>
          <p:nvPr/>
        </p:nvSpPr>
        <p:spPr>
          <a:xfrm>
            <a:off x="8458200" y="438912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9" name="Rounded Rectangle 958"/>
          <p:cNvSpPr/>
          <p:nvPr/>
        </p:nvSpPr>
        <p:spPr>
          <a:xfrm>
            <a:off x="6647688"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0" name="Rounded Rectangle 959"/>
          <p:cNvSpPr/>
          <p:nvPr/>
        </p:nvSpPr>
        <p:spPr>
          <a:xfrm>
            <a:off x="7251192"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1" name="Rounded Rectangle 960"/>
          <p:cNvSpPr/>
          <p:nvPr/>
        </p:nvSpPr>
        <p:spPr>
          <a:xfrm>
            <a:off x="7854696"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2" name="Rounded Rectangle 961"/>
          <p:cNvSpPr/>
          <p:nvPr/>
        </p:nvSpPr>
        <p:spPr>
          <a:xfrm>
            <a:off x="8458200" y="4892040"/>
            <a:ext cx="475488" cy="384048"/>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3" name="TextBox 962"/>
          <p:cNvSpPr txBox="1"/>
          <p:nvPr/>
        </p:nvSpPr>
        <p:spPr>
          <a:xfrm>
            <a:off x="731520" y="5760720"/>
            <a:ext cx="8595360" cy="109728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A </a:t>
            </a:r>
            <a:r>
              <a:rPr sz="2100" b="1" i="0">
                <a:solidFill>
                  <a:srgbClr val="000000"/>
                </a:solidFill>
                <a:latin typeface="Cambria"/>
              </a:rPr>
              <a:t>grid</a:t>
            </a:r>
            <a:r>
              <a:rPr sz="2100" b="0" i="0">
                <a:solidFill>
                  <a:srgbClr val="000000"/>
                </a:solidFill>
                <a:latin typeface="Cambria"/>
              </a:rPr>
              <a:t> of </a:t>
            </a:r>
            <a:r>
              <a:rPr sz="2100" b="1" i="0">
                <a:solidFill>
                  <a:srgbClr val="000000"/>
                </a:solidFill>
                <a:latin typeface="Cambria"/>
              </a:rPr>
              <a:t>blocks</a:t>
            </a:r>
            <a:r>
              <a:rPr sz="2100" b="0" i="0">
                <a:solidFill>
                  <a:srgbClr val="000000"/>
                </a:solidFill>
                <a:latin typeface="Cambria"/>
              </a:rPr>
              <a:t>,  each block a group of </a:t>
            </a:r>
            <a:r>
              <a:rPr sz="2100" b="1" i="0">
                <a:solidFill>
                  <a:srgbClr val="000000"/>
                </a:solidFill>
                <a:latin typeface="Cambria"/>
              </a:rPr>
              <a:t>threads</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Threads in one block can cooperate;  blocks are independent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Who Am I?</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Every thread reads built-in variables: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0" i="0">
                <a:solidFill>
                  <a:srgbClr val="000000"/>
                </a:solidFill>
                <a:latin typeface="Courier New"/>
              </a:rPr>
              <a:t>threadIdx</a:t>
            </a:r>
            <a:r>
              <a:rPr sz="2600" b="0" i="0">
                <a:solidFill>
                  <a:srgbClr val="000000"/>
                </a:solidFill>
                <a:latin typeface="Cambria"/>
              </a:rPr>
              <a:t>		my index inside the block</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0" i="0">
                <a:solidFill>
                  <a:srgbClr val="000000"/>
                </a:solidFill>
                <a:latin typeface="Courier New"/>
              </a:rPr>
              <a:t>blockIdx</a:t>
            </a:r>
            <a:r>
              <a:rPr sz="2600" b="0" i="0">
                <a:solidFill>
                  <a:srgbClr val="000000"/>
                </a:solidFill>
                <a:latin typeface="Cambria"/>
              </a:rPr>
              <a:t>		my block's index in the grid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0" i="0">
                <a:solidFill>
                  <a:srgbClr val="000000"/>
                </a:solidFill>
                <a:latin typeface="Courier New"/>
              </a:rPr>
              <a:t>blockDim</a:t>
            </a:r>
            <a:r>
              <a:rPr sz="2600" b="0" i="0">
                <a:solidFill>
                  <a:srgbClr val="000000"/>
                </a:solidFill>
                <a:latin typeface="Cambria"/>
              </a:rPr>
              <a:t>		threads per block</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0" i="0">
                <a:solidFill>
                  <a:srgbClr val="000000"/>
                </a:solidFill>
                <a:latin typeface="Courier New"/>
              </a:rPr>
              <a:t>gridDim</a:t>
            </a:r>
            <a:r>
              <a:rPr sz="2600" b="0" i="0">
                <a:solidFill>
                  <a:srgbClr val="000000"/>
                </a:solidFill>
                <a:latin typeface="Cambria"/>
              </a:rPr>
              <a:t>		blocks in the grid</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Each has  </a:t>
            </a:r>
            <a:r>
              <a:rPr sz="2600" b="0" i="0">
                <a:solidFill>
                  <a:srgbClr val="000000"/>
                </a:solidFill>
                <a:latin typeface="Courier New"/>
              </a:rPr>
              <a:t>.x</a:t>
            </a:r>
            <a:r>
              <a:rPr sz="2600" b="0" i="0">
                <a:solidFill>
                  <a:srgbClr val="000000"/>
                </a:solidFill>
                <a:latin typeface="Cambria"/>
              </a:rPr>
              <a:t>  </a:t>
            </a:r>
            <a:r>
              <a:rPr sz="2600" b="0" i="0">
                <a:solidFill>
                  <a:srgbClr val="000000"/>
                </a:solidFill>
                <a:latin typeface="Courier New"/>
              </a:rPr>
              <a:t>.y</a:t>
            </a:r>
            <a:r>
              <a:rPr sz="2600" b="0" i="0">
                <a:solidFill>
                  <a:srgbClr val="000000"/>
                </a:solidFill>
                <a:latin typeface="Cambria"/>
              </a:rPr>
              <a:t>  </a:t>
            </a:r>
            <a:r>
              <a:rPr sz="2600" b="0" i="0">
                <a:solidFill>
                  <a:srgbClr val="000000"/>
                </a:solidFill>
                <a:latin typeface="Courier New"/>
              </a:rPr>
              <a:t>.z</a:t>
            </a:r>
            <a:r>
              <a:rPr sz="2600" b="0" i="0">
                <a:solidFill>
                  <a:srgbClr val="000000"/>
                </a:solidFill>
                <a:latin typeface="Cambria"/>
              </a:rPr>
              <a:t>  for 1-D,  2-D,  3-D problems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From Block and Thread to  i</a:t>
            </a:r>
          </a:p>
        </p:txBody>
      </p:sp>
      <p:sp>
        <p:nvSpPr>
          <p:cNvPr id="901" name="Rectangle 900"/>
          <p:cNvSpPr/>
          <p:nvPr/>
        </p:nvSpPr>
        <p:spPr>
          <a:xfrm>
            <a:off x="731520" y="1691640"/>
            <a:ext cx="8595360" cy="54864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int i = blockIdx.x * blockDim.x + threadIdx.x;</a:t>
            </a:r>
          </a:p>
        </p:txBody>
      </p:sp>
      <p:sp>
        <p:nvSpPr>
          <p:cNvPr id="902" name="TextBox 901"/>
          <p:cNvSpPr txBox="1"/>
          <p:nvPr/>
        </p:nvSpPr>
        <p:spPr>
          <a:xfrm>
            <a:off x="731520" y="2514600"/>
            <a:ext cx="2743200" cy="365760"/>
          </a:xfrm>
          <a:prstGeom prst="rect">
            <a:avLst/>
          </a:prstGeom>
          <a:noFill/>
        </p:spPr>
        <p:txBody>
          <a:bodyPr wrap="square" lIns="0" tIns="0" rIns="0" bIns="0" anchor="ctr">
            <a:spAutoFit/>
          </a:bodyPr>
          <a:lstStyle/>
          <a:p>
            <a:pPr algn="ctr"/>
            <a:r>
              <a:rPr sz="1800" b="1" i="0">
                <a:solidFill>
                  <a:srgbClr val="000000"/>
                </a:solidFill>
                <a:latin typeface="Cambria"/>
              </a:rPr>
              <a:t>blockIdx.x = 0</a:t>
            </a:r>
          </a:p>
        </p:txBody>
      </p:sp>
      <p:sp>
        <p:nvSpPr>
          <p:cNvPr id="903" name="Rectangle 902"/>
          <p:cNvSpPr/>
          <p:nvPr/>
        </p:nvSpPr>
        <p:spPr>
          <a:xfrm>
            <a:off x="73152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0</a:t>
            </a:r>
          </a:p>
        </p:txBody>
      </p:sp>
      <p:sp>
        <p:nvSpPr>
          <p:cNvPr id="904" name="Rectangle 903"/>
          <p:cNvSpPr/>
          <p:nvPr/>
        </p:nvSpPr>
        <p:spPr>
          <a:xfrm>
            <a:off x="73152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0</a:t>
            </a:r>
          </a:p>
        </p:txBody>
      </p:sp>
      <p:cxnSp>
        <p:nvCxnSpPr>
          <p:cNvPr id="905" name="Connector 904"/>
          <p:cNvCxnSpPr/>
          <p:nvPr/>
        </p:nvCxnSpPr>
        <p:spPr>
          <a:xfrm>
            <a:off x="105156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06" name="Rectangle 905"/>
          <p:cNvSpPr/>
          <p:nvPr/>
        </p:nvSpPr>
        <p:spPr>
          <a:xfrm>
            <a:off x="141732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1</a:t>
            </a:r>
          </a:p>
        </p:txBody>
      </p:sp>
      <p:sp>
        <p:nvSpPr>
          <p:cNvPr id="907" name="Rectangle 906"/>
          <p:cNvSpPr/>
          <p:nvPr/>
        </p:nvSpPr>
        <p:spPr>
          <a:xfrm>
            <a:off x="141732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1</a:t>
            </a:r>
          </a:p>
        </p:txBody>
      </p:sp>
      <p:cxnSp>
        <p:nvCxnSpPr>
          <p:cNvPr id="908" name="Connector 907"/>
          <p:cNvCxnSpPr/>
          <p:nvPr/>
        </p:nvCxnSpPr>
        <p:spPr>
          <a:xfrm>
            <a:off x="173736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09" name="Rectangle 908"/>
          <p:cNvSpPr/>
          <p:nvPr/>
        </p:nvSpPr>
        <p:spPr>
          <a:xfrm>
            <a:off x="210312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2</a:t>
            </a:r>
          </a:p>
        </p:txBody>
      </p:sp>
      <p:sp>
        <p:nvSpPr>
          <p:cNvPr id="910" name="Rectangle 909"/>
          <p:cNvSpPr/>
          <p:nvPr/>
        </p:nvSpPr>
        <p:spPr>
          <a:xfrm>
            <a:off x="210312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2</a:t>
            </a:r>
          </a:p>
        </p:txBody>
      </p:sp>
      <p:cxnSp>
        <p:nvCxnSpPr>
          <p:cNvPr id="911" name="Connector 910"/>
          <p:cNvCxnSpPr/>
          <p:nvPr/>
        </p:nvCxnSpPr>
        <p:spPr>
          <a:xfrm>
            <a:off x="242316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12" name="Rectangle 911"/>
          <p:cNvSpPr/>
          <p:nvPr/>
        </p:nvSpPr>
        <p:spPr>
          <a:xfrm>
            <a:off x="278892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3</a:t>
            </a:r>
          </a:p>
        </p:txBody>
      </p:sp>
      <p:sp>
        <p:nvSpPr>
          <p:cNvPr id="913" name="Rectangle 912"/>
          <p:cNvSpPr/>
          <p:nvPr/>
        </p:nvSpPr>
        <p:spPr>
          <a:xfrm>
            <a:off x="278892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3</a:t>
            </a:r>
          </a:p>
        </p:txBody>
      </p:sp>
      <p:cxnSp>
        <p:nvCxnSpPr>
          <p:cNvPr id="914" name="Connector 913"/>
          <p:cNvCxnSpPr/>
          <p:nvPr/>
        </p:nvCxnSpPr>
        <p:spPr>
          <a:xfrm>
            <a:off x="310896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15" name="TextBox 914"/>
          <p:cNvSpPr txBox="1"/>
          <p:nvPr/>
        </p:nvSpPr>
        <p:spPr>
          <a:xfrm>
            <a:off x="3611880" y="2514600"/>
            <a:ext cx="2743200" cy="365760"/>
          </a:xfrm>
          <a:prstGeom prst="rect">
            <a:avLst/>
          </a:prstGeom>
          <a:noFill/>
        </p:spPr>
        <p:txBody>
          <a:bodyPr wrap="square" lIns="0" tIns="0" rIns="0" bIns="0" anchor="ctr">
            <a:spAutoFit/>
          </a:bodyPr>
          <a:lstStyle/>
          <a:p>
            <a:pPr algn="ctr"/>
            <a:r>
              <a:rPr sz="1800" b="1" i="0">
                <a:solidFill>
                  <a:srgbClr val="000000"/>
                </a:solidFill>
                <a:latin typeface="Cambria"/>
              </a:rPr>
              <a:t>blockIdx.x = 1</a:t>
            </a:r>
          </a:p>
        </p:txBody>
      </p:sp>
      <p:sp>
        <p:nvSpPr>
          <p:cNvPr id="916" name="Rectangle 915"/>
          <p:cNvSpPr/>
          <p:nvPr/>
        </p:nvSpPr>
        <p:spPr>
          <a:xfrm>
            <a:off x="361188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0</a:t>
            </a:r>
          </a:p>
        </p:txBody>
      </p:sp>
      <p:sp>
        <p:nvSpPr>
          <p:cNvPr id="917" name="Rectangle 916"/>
          <p:cNvSpPr/>
          <p:nvPr/>
        </p:nvSpPr>
        <p:spPr>
          <a:xfrm>
            <a:off x="361188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4</a:t>
            </a:r>
          </a:p>
        </p:txBody>
      </p:sp>
      <p:cxnSp>
        <p:nvCxnSpPr>
          <p:cNvPr id="918" name="Connector 917"/>
          <p:cNvCxnSpPr/>
          <p:nvPr/>
        </p:nvCxnSpPr>
        <p:spPr>
          <a:xfrm>
            <a:off x="393192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19" name="Rectangle 918"/>
          <p:cNvSpPr/>
          <p:nvPr/>
        </p:nvSpPr>
        <p:spPr>
          <a:xfrm>
            <a:off x="429768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1</a:t>
            </a:r>
          </a:p>
        </p:txBody>
      </p:sp>
      <p:sp>
        <p:nvSpPr>
          <p:cNvPr id="920" name="Rectangle 919"/>
          <p:cNvSpPr/>
          <p:nvPr/>
        </p:nvSpPr>
        <p:spPr>
          <a:xfrm>
            <a:off x="429768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5</a:t>
            </a:r>
          </a:p>
        </p:txBody>
      </p:sp>
      <p:cxnSp>
        <p:nvCxnSpPr>
          <p:cNvPr id="921" name="Connector 920"/>
          <p:cNvCxnSpPr/>
          <p:nvPr/>
        </p:nvCxnSpPr>
        <p:spPr>
          <a:xfrm>
            <a:off x="461772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22" name="Rectangle 921"/>
          <p:cNvSpPr/>
          <p:nvPr/>
        </p:nvSpPr>
        <p:spPr>
          <a:xfrm>
            <a:off x="498348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2</a:t>
            </a:r>
          </a:p>
        </p:txBody>
      </p:sp>
      <p:sp>
        <p:nvSpPr>
          <p:cNvPr id="923" name="Rectangle 922"/>
          <p:cNvSpPr/>
          <p:nvPr/>
        </p:nvSpPr>
        <p:spPr>
          <a:xfrm>
            <a:off x="498348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6</a:t>
            </a:r>
          </a:p>
        </p:txBody>
      </p:sp>
      <p:cxnSp>
        <p:nvCxnSpPr>
          <p:cNvPr id="924" name="Connector 923"/>
          <p:cNvCxnSpPr/>
          <p:nvPr/>
        </p:nvCxnSpPr>
        <p:spPr>
          <a:xfrm>
            <a:off x="530352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25" name="Rectangle 924"/>
          <p:cNvSpPr/>
          <p:nvPr/>
        </p:nvSpPr>
        <p:spPr>
          <a:xfrm>
            <a:off x="566928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3</a:t>
            </a:r>
          </a:p>
        </p:txBody>
      </p:sp>
      <p:sp>
        <p:nvSpPr>
          <p:cNvPr id="926" name="Rectangle 925"/>
          <p:cNvSpPr/>
          <p:nvPr/>
        </p:nvSpPr>
        <p:spPr>
          <a:xfrm>
            <a:off x="566928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7</a:t>
            </a:r>
          </a:p>
        </p:txBody>
      </p:sp>
      <p:cxnSp>
        <p:nvCxnSpPr>
          <p:cNvPr id="927" name="Connector 926"/>
          <p:cNvCxnSpPr/>
          <p:nvPr/>
        </p:nvCxnSpPr>
        <p:spPr>
          <a:xfrm>
            <a:off x="598932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28" name="TextBox 927"/>
          <p:cNvSpPr txBox="1"/>
          <p:nvPr/>
        </p:nvSpPr>
        <p:spPr>
          <a:xfrm>
            <a:off x="6492240" y="2514600"/>
            <a:ext cx="2743200" cy="365760"/>
          </a:xfrm>
          <a:prstGeom prst="rect">
            <a:avLst/>
          </a:prstGeom>
          <a:noFill/>
        </p:spPr>
        <p:txBody>
          <a:bodyPr wrap="square" lIns="0" tIns="0" rIns="0" bIns="0" anchor="ctr">
            <a:spAutoFit/>
          </a:bodyPr>
          <a:lstStyle/>
          <a:p>
            <a:pPr algn="ctr"/>
            <a:r>
              <a:rPr sz="1800" b="1" i="0">
                <a:solidFill>
                  <a:srgbClr val="000000"/>
                </a:solidFill>
                <a:latin typeface="Cambria"/>
              </a:rPr>
              <a:t>blockIdx.x = 2</a:t>
            </a:r>
          </a:p>
        </p:txBody>
      </p:sp>
      <p:sp>
        <p:nvSpPr>
          <p:cNvPr id="929" name="Rectangle 928"/>
          <p:cNvSpPr/>
          <p:nvPr/>
        </p:nvSpPr>
        <p:spPr>
          <a:xfrm>
            <a:off x="649224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0</a:t>
            </a:r>
          </a:p>
        </p:txBody>
      </p:sp>
      <p:sp>
        <p:nvSpPr>
          <p:cNvPr id="930" name="Rectangle 929"/>
          <p:cNvSpPr/>
          <p:nvPr/>
        </p:nvSpPr>
        <p:spPr>
          <a:xfrm>
            <a:off x="649224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8</a:t>
            </a:r>
          </a:p>
        </p:txBody>
      </p:sp>
      <p:cxnSp>
        <p:nvCxnSpPr>
          <p:cNvPr id="931" name="Connector 930"/>
          <p:cNvCxnSpPr/>
          <p:nvPr/>
        </p:nvCxnSpPr>
        <p:spPr>
          <a:xfrm>
            <a:off x="6812279"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32" name="Rectangle 931"/>
          <p:cNvSpPr/>
          <p:nvPr/>
        </p:nvSpPr>
        <p:spPr>
          <a:xfrm>
            <a:off x="717804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1</a:t>
            </a:r>
          </a:p>
        </p:txBody>
      </p:sp>
      <p:sp>
        <p:nvSpPr>
          <p:cNvPr id="933" name="Rectangle 932"/>
          <p:cNvSpPr/>
          <p:nvPr/>
        </p:nvSpPr>
        <p:spPr>
          <a:xfrm>
            <a:off x="717804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9</a:t>
            </a:r>
          </a:p>
        </p:txBody>
      </p:sp>
      <p:cxnSp>
        <p:nvCxnSpPr>
          <p:cNvPr id="934" name="Connector 933"/>
          <p:cNvCxnSpPr/>
          <p:nvPr/>
        </p:nvCxnSpPr>
        <p:spPr>
          <a:xfrm>
            <a:off x="7498079"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35" name="Rectangle 934"/>
          <p:cNvSpPr/>
          <p:nvPr/>
        </p:nvSpPr>
        <p:spPr>
          <a:xfrm>
            <a:off x="786384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2</a:t>
            </a:r>
          </a:p>
        </p:txBody>
      </p:sp>
      <p:sp>
        <p:nvSpPr>
          <p:cNvPr id="936" name="Rectangle 935"/>
          <p:cNvSpPr/>
          <p:nvPr/>
        </p:nvSpPr>
        <p:spPr>
          <a:xfrm>
            <a:off x="786384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10</a:t>
            </a:r>
          </a:p>
        </p:txBody>
      </p:sp>
      <p:cxnSp>
        <p:nvCxnSpPr>
          <p:cNvPr id="937" name="Connector 936"/>
          <p:cNvCxnSpPr/>
          <p:nvPr/>
        </p:nvCxnSpPr>
        <p:spPr>
          <a:xfrm>
            <a:off x="8183879"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38" name="Rectangle 937"/>
          <p:cNvSpPr/>
          <p:nvPr/>
        </p:nvSpPr>
        <p:spPr>
          <a:xfrm>
            <a:off x="8549640" y="2971800"/>
            <a:ext cx="640080" cy="5486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3</a:t>
            </a:r>
          </a:p>
        </p:txBody>
      </p:sp>
      <p:sp>
        <p:nvSpPr>
          <p:cNvPr id="939" name="Rectangle 938"/>
          <p:cNvSpPr/>
          <p:nvPr/>
        </p:nvSpPr>
        <p:spPr>
          <a:xfrm>
            <a:off x="8549640" y="3977639"/>
            <a:ext cx="640080" cy="5486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1">
                <a:solidFill>
                  <a:srgbClr val="000000"/>
                </a:solidFill>
                <a:latin typeface="Cambria"/>
              </a:rPr>
              <a:t>11</a:t>
            </a:r>
          </a:p>
        </p:txBody>
      </p:sp>
      <p:cxnSp>
        <p:nvCxnSpPr>
          <p:cNvPr id="940" name="Connector 939"/>
          <p:cNvCxnSpPr/>
          <p:nvPr/>
        </p:nvCxnSpPr>
        <p:spPr>
          <a:xfrm>
            <a:off x="8869680" y="3520440"/>
            <a:ext cx="0" cy="457199"/>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41" name="TextBox 940"/>
          <p:cNvSpPr txBox="1"/>
          <p:nvPr/>
        </p:nvSpPr>
        <p:spPr>
          <a:xfrm>
            <a:off x="731520" y="4617720"/>
            <a:ext cx="8595360" cy="365760"/>
          </a:xfrm>
          <a:prstGeom prst="rect">
            <a:avLst/>
          </a:prstGeom>
          <a:noFill/>
        </p:spPr>
        <p:txBody>
          <a:bodyPr wrap="square" lIns="0" tIns="0" rIns="0" bIns="0" anchor="ctr">
            <a:spAutoFit/>
          </a:bodyPr>
          <a:lstStyle/>
          <a:p>
            <a:pPr algn="ctr"/>
            <a:r>
              <a:rPr sz="1600" b="0" i="1">
                <a:solidFill>
                  <a:srgbClr val="595959"/>
                </a:solidFill>
                <a:latin typeface="Cambria"/>
              </a:rPr>
              <a:t>amber = threadIdx.x          green = global index  i</a:t>
            </a:r>
          </a:p>
        </p:txBody>
      </p:sp>
      <p:sp>
        <p:nvSpPr>
          <p:cNvPr id="942" name="TextBox 941"/>
          <p:cNvSpPr txBox="1"/>
          <p:nvPr/>
        </p:nvSpPr>
        <p:spPr>
          <a:xfrm>
            <a:off x="731520" y="5120640"/>
            <a:ext cx="8595360" cy="14630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With  blockDim.x = 4:   block 2,  thread 1   →   i = 2 · 4 + 1 = </a:t>
            </a:r>
            <a:r>
              <a:rPr sz="2200" b="1" i="0">
                <a:solidFill>
                  <a:srgbClr val="000000"/>
                </a:solidFill>
                <a:latin typeface="Cambria"/>
              </a:rPr>
              <a:t>9</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Every thread gets a </a:t>
            </a:r>
            <a:r>
              <a:rPr sz="2200" b="1" i="0">
                <a:solidFill>
                  <a:srgbClr val="000000"/>
                </a:solidFill>
                <a:latin typeface="Cambria"/>
              </a:rPr>
              <a:t>unique</a:t>
            </a:r>
            <a:r>
              <a:rPr sz="2200" b="0" i="0">
                <a:solidFill>
                  <a:srgbClr val="000000"/>
                </a:solidFill>
                <a:latin typeface="Cambria"/>
              </a:rPr>
              <a:t>  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Vector Add on the CPU</a:t>
            </a:r>
          </a:p>
        </p:txBody>
      </p:sp>
      <p:sp>
        <p:nvSpPr>
          <p:cNvPr id="901" name="Rectangle 900"/>
          <p:cNvSpPr/>
          <p:nvPr/>
        </p:nvSpPr>
        <p:spPr>
          <a:xfrm>
            <a:off x="731520" y="1691640"/>
            <a:ext cx="8595360" cy="213359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void vec_add(const float *a, const float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float *c, int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for (int i = 0; i &lt; n; i++)</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c[i] = a[i] + b[i];</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a:t>
            </a:r>
          </a:p>
        </p:txBody>
      </p:sp>
      <p:sp>
        <p:nvSpPr>
          <p:cNvPr id="902" name="TextBox 901"/>
          <p:cNvSpPr txBox="1"/>
          <p:nvPr/>
        </p:nvSpPr>
        <p:spPr>
          <a:xfrm>
            <a:off x="731520" y="3916680"/>
            <a:ext cx="8595360" cy="457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1800" b="0" i="1">
                <a:solidFill>
                  <a:srgbClr val="000000"/>
                </a:solidFill>
                <a:latin typeface="Cambria"/>
              </a:rPr>
              <a:t>One thread does all  n  additions,  one after another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Vector Add on the GPU</a:t>
            </a:r>
          </a:p>
        </p:txBody>
      </p:sp>
      <p:sp>
        <p:nvSpPr>
          <p:cNvPr id="901" name="Rectangle 900"/>
          <p:cNvSpPr/>
          <p:nvPr/>
        </p:nvSpPr>
        <p:spPr>
          <a:xfrm>
            <a:off x="731520" y="1691640"/>
            <a:ext cx="8595360" cy="306323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__global__</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void vec_add(const float *a, const float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float *c, int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int i = blockIdx.x * blockDim.x + threadIdx.x;</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if (i &lt;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c[i] = a[i] + b[i];</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a:t>
            </a:r>
          </a:p>
        </p:txBody>
      </p:sp>
      <p:sp>
        <p:nvSpPr>
          <p:cNvPr id="902" name="TextBox 901"/>
          <p:cNvSpPr txBox="1"/>
          <p:nvPr/>
        </p:nvSpPr>
        <p:spPr>
          <a:xfrm>
            <a:off x="731520" y="4846319"/>
            <a:ext cx="8595360" cy="457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1800" b="0" i="1">
                <a:solidFill>
                  <a:srgbClr val="000000"/>
                </a:solidFill>
                <a:latin typeface="Cambria"/>
              </a:rPr>
              <a:t>The loop is gone:  each thread does  one  addition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Vortex </a:t>
            </a:r>
            <a:r>
              <a:rPr lang="en-US" sz="4400" b="1" dirty="0" err="1" smtClean="0">
                <a:solidFill>
                  <a:srgbClr val="FFFFFF"/>
                </a:solidFill>
                <a:latin typeface="Arial"/>
                <a:cs typeface="Arial"/>
              </a:rPr>
              <a:t>Example:Relu</a:t>
            </a:r>
            <a:endParaRPr lang="en-US" sz="4400" b="1" dirty="0">
              <a:solidFill>
                <a:srgbClr val="FFFFFF"/>
              </a:solidFill>
              <a:latin typeface="Arial"/>
              <a:cs typeface="Arial"/>
            </a:endParaRPr>
          </a:p>
        </p:txBody>
      </p:sp>
      <p:sp>
        <p:nvSpPr>
          <p:cNvPr id="901" name="Rectangle 900"/>
          <p:cNvSpPr/>
          <p:nvPr/>
        </p:nvSpPr>
        <p:spPr>
          <a:xfrm>
            <a:off x="502920" y="1848956"/>
            <a:ext cx="9181854" cy="566288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include &lt;vx_spawn2.h</a:t>
            </a:r>
            <a:r>
              <a:rPr lang="en-US" dirty="0" smtClean="0">
                <a:solidFill>
                  <a:srgbClr val="000000"/>
                </a:solidFill>
                <a:latin typeface="Courier New"/>
              </a:rPr>
              <a:t>&gt; // rectified linear unit RELU</a:t>
            </a:r>
            <a:endParaRPr lang="en-US" dirty="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#include "</a:t>
            </a:r>
            <a:r>
              <a:rPr lang="en-US" dirty="0" err="1">
                <a:solidFill>
                  <a:srgbClr val="000000"/>
                </a:solidFill>
                <a:latin typeface="Courier New"/>
              </a:rPr>
              <a:t>common.h</a:t>
            </a:r>
            <a:r>
              <a:rPr lang="en-US" dirty="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__kernel void </a:t>
            </a:r>
            <a:r>
              <a:rPr lang="en-US" dirty="0" err="1">
                <a:solidFill>
                  <a:srgbClr val="000000"/>
                </a:solidFill>
                <a:latin typeface="Courier New"/>
              </a:rPr>
              <a:t>kernel_main</a:t>
            </a:r>
            <a:r>
              <a:rPr lang="en-US" dirty="0">
                <a:solidFill>
                  <a:srgbClr val="000000"/>
                </a:solidFill>
                <a:latin typeface="Courier New"/>
              </a:rPr>
              <a:t>(</a:t>
            </a:r>
            <a:r>
              <a:rPr lang="en-US" dirty="0" err="1">
                <a:solidFill>
                  <a:srgbClr val="000000"/>
                </a:solidFill>
                <a:latin typeface="Courier New"/>
              </a:rPr>
              <a:t>kernel_arg_t</a:t>
            </a:r>
            <a:r>
              <a:rPr lang="en-US" dirty="0">
                <a:solidFill>
                  <a:srgbClr val="000000"/>
                </a:solidFill>
                <a:latin typeface="Courier New"/>
              </a:rPr>
              <a:t>* __UNIFORM__ </a:t>
            </a:r>
            <a:r>
              <a:rPr lang="en-US" dirty="0" err="1">
                <a:solidFill>
                  <a:srgbClr val="000000"/>
                </a:solidFill>
                <a:latin typeface="Courier New"/>
              </a:rPr>
              <a:t>arg</a:t>
            </a:r>
            <a:r>
              <a:rPr lang="en-US" dirty="0">
                <a:solidFill>
                  <a:srgbClr val="000000"/>
                </a:solidFill>
                <a:latin typeface="Courier New"/>
              </a:rPr>
              <a:t>) {</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        auto src0_ptr = </a:t>
            </a:r>
            <a:r>
              <a:rPr lang="en-US" dirty="0" err="1">
                <a:solidFill>
                  <a:srgbClr val="000000"/>
                </a:solidFill>
                <a:latin typeface="Courier New"/>
              </a:rPr>
              <a:t>reinterpret_cast</a:t>
            </a:r>
            <a:r>
              <a:rPr lang="en-US" dirty="0">
                <a:solidFill>
                  <a:srgbClr val="000000"/>
                </a:solidFill>
                <a:latin typeface="Courier New"/>
              </a:rPr>
              <a:t>&lt;TYPE*&gt;(</a:t>
            </a:r>
            <a:r>
              <a:rPr lang="en-US" dirty="0" err="1">
                <a:solidFill>
                  <a:srgbClr val="000000"/>
                </a:solidFill>
                <a:latin typeface="Courier New"/>
              </a:rPr>
              <a:t>arg</a:t>
            </a:r>
            <a:r>
              <a:rPr lang="en-US" dirty="0">
                <a:solidFill>
                  <a:srgbClr val="000000"/>
                </a:solidFill>
                <a:latin typeface="Courier New"/>
              </a:rPr>
              <a:t>-&gt;src0_addr);</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        auto </a:t>
            </a:r>
            <a:r>
              <a:rPr lang="en-US" dirty="0" err="1">
                <a:solidFill>
                  <a:srgbClr val="000000"/>
                </a:solidFill>
                <a:latin typeface="Courier New"/>
              </a:rPr>
              <a:t>dst_ptr</a:t>
            </a:r>
            <a:r>
              <a:rPr lang="en-US" dirty="0">
                <a:solidFill>
                  <a:srgbClr val="000000"/>
                </a:solidFill>
                <a:latin typeface="Courier New"/>
              </a:rPr>
              <a:t>  = </a:t>
            </a:r>
            <a:r>
              <a:rPr lang="en-US" dirty="0" err="1">
                <a:solidFill>
                  <a:srgbClr val="000000"/>
                </a:solidFill>
                <a:latin typeface="Courier New"/>
              </a:rPr>
              <a:t>reinterpret_cast</a:t>
            </a:r>
            <a:r>
              <a:rPr lang="en-US" dirty="0">
                <a:solidFill>
                  <a:srgbClr val="000000"/>
                </a:solidFill>
                <a:latin typeface="Courier New"/>
              </a:rPr>
              <a:t>&lt;TYPE*&gt;(</a:t>
            </a:r>
            <a:r>
              <a:rPr lang="en-US" dirty="0" err="1">
                <a:solidFill>
                  <a:srgbClr val="000000"/>
                </a:solidFill>
                <a:latin typeface="Courier New"/>
              </a:rPr>
              <a:t>arg</a:t>
            </a:r>
            <a:r>
              <a:rPr lang="en-US" dirty="0">
                <a:solidFill>
                  <a:srgbClr val="000000"/>
                </a:solidFill>
                <a:latin typeface="Courier New"/>
              </a:rPr>
              <a:t>-&gt;</a:t>
            </a:r>
            <a:r>
              <a:rPr lang="en-US" dirty="0" err="1">
                <a:solidFill>
                  <a:srgbClr val="000000"/>
                </a:solidFill>
                <a:latin typeface="Courier New"/>
              </a:rPr>
              <a:t>dst_addr</a:t>
            </a:r>
            <a:r>
              <a:rPr lang="en-US" dirty="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        uint32_t </a:t>
            </a:r>
            <a:r>
              <a:rPr lang="en-US" dirty="0" err="1">
                <a:solidFill>
                  <a:srgbClr val="000000"/>
                </a:solidFill>
                <a:latin typeface="Courier New"/>
              </a:rPr>
              <a:t>gid</a:t>
            </a:r>
            <a:r>
              <a:rPr lang="en-US" dirty="0">
                <a:solidFill>
                  <a:srgbClr val="000000"/>
                </a:solidFill>
                <a:latin typeface="Courier New"/>
              </a:rPr>
              <a:t> = </a:t>
            </a:r>
            <a:r>
              <a:rPr lang="en-US" dirty="0" err="1">
                <a:solidFill>
                  <a:srgbClr val="000000"/>
                </a:solidFill>
                <a:latin typeface="Courier New"/>
              </a:rPr>
              <a:t>blockIdx.x</a:t>
            </a:r>
            <a:r>
              <a:rPr lang="en-US" dirty="0">
                <a:solidFill>
                  <a:srgbClr val="000000"/>
                </a:solidFill>
                <a:latin typeface="Courier New"/>
              </a:rPr>
              <a:t> * </a:t>
            </a:r>
            <a:r>
              <a:rPr lang="en-US" dirty="0" err="1">
                <a:solidFill>
                  <a:srgbClr val="000000"/>
                </a:solidFill>
                <a:latin typeface="Courier New"/>
              </a:rPr>
              <a:t>blockDim.x</a:t>
            </a:r>
            <a:r>
              <a:rPr lang="en-US" dirty="0">
                <a:solidFill>
                  <a:srgbClr val="000000"/>
                </a:solidFill>
                <a:latin typeface="Courier New"/>
              </a:rPr>
              <a:t> + </a:t>
            </a:r>
            <a:r>
              <a:rPr lang="en-US" dirty="0" err="1">
                <a:solidFill>
                  <a:srgbClr val="000000"/>
                </a:solidFill>
                <a:latin typeface="Courier New"/>
              </a:rPr>
              <a:t>threadIdx.x</a:t>
            </a:r>
            <a:r>
              <a:rPr lang="en-US" dirty="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        TYPE value = src0_ptr[</a:t>
            </a:r>
            <a:r>
              <a:rPr lang="en-US" dirty="0" err="1">
                <a:solidFill>
                  <a:srgbClr val="000000"/>
                </a:solidFill>
                <a:latin typeface="Courier New"/>
              </a:rPr>
              <a:t>gid</a:t>
            </a:r>
            <a:r>
              <a:rPr lang="en-US" dirty="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        </a:t>
            </a:r>
            <a:r>
              <a:rPr lang="en-US" dirty="0" err="1">
                <a:solidFill>
                  <a:srgbClr val="000000"/>
                </a:solidFill>
                <a:latin typeface="Courier New"/>
              </a:rPr>
              <a:t>dst_ptr</a:t>
            </a:r>
            <a:r>
              <a:rPr lang="en-US" dirty="0">
                <a:solidFill>
                  <a:srgbClr val="000000"/>
                </a:solidFill>
                <a:latin typeface="Courier New"/>
              </a:rPr>
              <a:t>[</a:t>
            </a:r>
            <a:r>
              <a:rPr lang="en-US" dirty="0" err="1">
                <a:solidFill>
                  <a:srgbClr val="000000"/>
                </a:solidFill>
                <a:latin typeface="Courier New"/>
              </a:rPr>
              <a:t>gid</a:t>
            </a:r>
            <a:r>
              <a:rPr lang="en-US" dirty="0">
                <a:solidFill>
                  <a:srgbClr val="000000"/>
                </a:solidFill>
                <a:latin typeface="Courier New"/>
              </a:rPr>
              <a:t>] = (value &lt; 0) ? TYPE(0) : value;</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C </a:t>
            </a:r>
            <a:r>
              <a:rPr lang="en-US" dirty="0" err="1" smtClean="0">
                <a:solidFill>
                  <a:srgbClr val="000000"/>
                </a:solidFill>
                <a:latin typeface="Courier New"/>
              </a:rPr>
              <a:t>ommon.h</a:t>
            </a:r>
            <a:r>
              <a:rPr lang="en-US" dirty="0" smtClean="0">
                <a:solidFill>
                  <a:srgbClr val="000000"/>
                </a:solidFill>
                <a:latin typeface="Courier New"/>
              </a:rPr>
              <a:t>:</a:t>
            </a:r>
            <a:endParaRPr lang="en-US" dirty="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600" dirty="0">
                <a:solidFill>
                  <a:srgbClr val="000000"/>
                </a:solidFill>
                <a:latin typeface="Courier New"/>
              </a:rPr>
              <a:t>#</a:t>
            </a:r>
            <a:r>
              <a:rPr lang="en-US" sz="1600" dirty="0" err="1">
                <a:solidFill>
                  <a:srgbClr val="000000"/>
                </a:solidFill>
                <a:latin typeface="Courier New"/>
              </a:rPr>
              <a:t>ifndef</a:t>
            </a:r>
            <a:r>
              <a:rPr lang="en-US" sz="1600" dirty="0">
                <a:solidFill>
                  <a:srgbClr val="000000"/>
                </a:solidFill>
                <a:latin typeface="Courier New"/>
              </a:rPr>
              <a:t> TYPE</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600" dirty="0">
                <a:solidFill>
                  <a:srgbClr val="000000"/>
                </a:solidFill>
                <a:latin typeface="Courier New"/>
              </a:rPr>
              <a:t>#define TYPE float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600" dirty="0">
                <a:solidFill>
                  <a:srgbClr val="000000"/>
                </a:solidFill>
                <a:latin typeface="Courier New"/>
              </a:rPr>
              <a:t>#</a:t>
            </a:r>
            <a:r>
              <a:rPr lang="en-US" sz="1600" dirty="0" err="1">
                <a:solidFill>
                  <a:srgbClr val="000000"/>
                </a:solidFill>
                <a:latin typeface="Courier New"/>
              </a:rPr>
              <a:t>endif</a:t>
            </a:r>
            <a:endParaRPr lang="en-US" sz="1600" dirty="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sz="1600" dirty="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600" dirty="0" err="1">
                <a:solidFill>
                  <a:srgbClr val="000000"/>
                </a:solidFill>
                <a:latin typeface="Courier New"/>
              </a:rPr>
              <a:t>typedef</a:t>
            </a:r>
            <a:r>
              <a:rPr lang="en-US" sz="1600" dirty="0">
                <a:solidFill>
                  <a:srgbClr val="000000"/>
                </a:solidFill>
                <a:latin typeface="Courier New"/>
              </a:rPr>
              <a:t> </a:t>
            </a:r>
            <a:r>
              <a:rPr lang="en-US" sz="1600" dirty="0" err="1">
                <a:solidFill>
                  <a:srgbClr val="000000"/>
                </a:solidFill>
                <a:latin typeface="Courier New"/>
              </a:rPr>
              <a:t>struct</a:t>
            </a:r>
            <a:r>
              <a:rPr lang="en-US" sz="1600" dirty="0">
                <a:solidFill>
                  <a:srgbClr val="000000"/>
                </a:solidFill>
                <a:latin typeface="Courier New"/>
              </a:rPr>
              <a:t> {</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600" dirty="0">
                <a:solidFill>
                  <a:srgbClr val="000000"/>
                </a:solidFill>
                <a:latin typeface="Courier New"/>
              </a:rPr>
              <a:t>  uint32_t </a:t>
            </a:r>
            <a:r>
              <a:rPr lang="en-US" sz="1600" dirty="0" err="1">
                <a:solidFill>
                  <a:srgbClr val="000000"/>
                </a:solidFill>
                <a:latin typeface="Courier New"/>
              </a:rPr>
              <a:t>num_points</a:t>
            </a:r>
            <a:r>
              <a:rPr lang="en-US" sz="1600" dirty="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600" dirty="0">
                <a:solidFill>
                  <a:srgbClr val="000000"/>
                </a:solidFill>
                <a:latin typeface="Courier New"/>
              </a:rPr>
              <a:t>  uint64_t src0_addr;</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600" dirty="0">
                <a:solidFill>
                  <a:srgbClr val="000000"/>
                </a:solidFill>
                <a:latin typeface="Courier New"/>
              </a:rPr>
              <a:t>  uint64_t </a:t>
            </a:r>
            <a:r>
              <a:rPr lang="en-US" sz="1600" dirty="0" err="1">
                <a:solidFill>
                  <a:srgbClr val="000000"/>
                </a:solidFill>
                <a:latin typeface="Courier New"/>
              </a:rPr>
              <a:t>dst_addr</a:t>
            </a:r>
            <a:r>
              <a:rPr lang="en-US" sz="1600" dirty="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600" dirty="0">
                <a:solidFill>
                  <a:srgbClr val="000000"/>
                </a:solidFill>
                <a:latin typeface="Courier New"/>
              </a:rPr>
              <a:t>} </a:t>
            </a:r>
            <a:r>
              <a:rPr lang="en-US" sz="1600" dirty="0" err="1">
                <a:solidFill>
                  <a:srgbClr val="000000"/>
                </a:solidFill>
                <a:latin typeface="Courier New"/>
              </a:rPr>
              <a:t>kernel_arg_t</a:t>
            </a:r>
            <a:r>
              <a:rPr lang="en-US" sz="1600" dirty="0">
                <a:solidFill>
                  <a:srgbClr val="000000"/>
                </a:solidFill>
                <a:latin typeface="Courier New"/>
              </a:rPr>
              <a:t>;</a:t>
            </a:r>
            <a:endParaRPr lang="en-US" sz="1600" dirty="0" smtClean="0">
              <a:solidFill>
                <a:srgbClr val="000000"/>
              </a:solidFill>
              <a:latin typeface="Courier New"/>
            </a:endParaRPr>
          </a:p>
        </p:txBody>
      </p:sp>
    </p:spTree>
    <p:extLst>
      <p:ext uri="{BB962C8B-B14F-4D97-AF65-F5344CB8AC3E}">
        <p14:creationId xmlns:p14="http://schemas.microsoft.com/office/powerpoint/2010/main" val="826835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Host Code:  Setup</a:t>
            </a:r>
          </a:p>
        </p:txBody>
      </p:sp>
      <p:sp>
        <p:nvSpPr>
          <p:cNvPr id="901" name="Rectangle 900"/>
          <p:cNvSpPr/>
          <p:nvPr/>
        </p:nvSpPr>
        <p:spPr>
          <a:xfrm>
            <a:off x="731520" y="1691640"/>
            <a:ext cx="8595360" cy="4488687"/>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int main(void)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const int n = 1 &lt;&lt; 20;          // 1 M elements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size_t bytes = n * sizeof(float);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float *h_a = (float *) malloc(bytes);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float *h_b = (float *) malloc(bytes);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float *h_c = (float *) malloc(bytes);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 ... fill h_a and h_b ...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float *d_a, *d_b, *d_c;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cudaMalloc(&amp;d_a, 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cudaMalloc(&amp;d_b, 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cudaMalloc(&amp;d_c, 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cudaMemcpy(d_a, h_a, bytes, cudaMemcpyHostToDevice);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cudaMemcpy(d_b, h_b, bytes, cudaMemcpyHostToDevice);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Host Code:  Launch and Clean Up</a:t>
            </a:r>
          </a:p>
        </p:txBody>
      </p:sp>
      <p:sp>
        <p:nvSpPr>
          <p:cNvPr id="901" name="Rectangle 900"/>
          <p:cNvSpPr/>
          <p:nvPr/>
        </p:nvSpPr>
        <p:spPr>
          <a:xfrm>
            <a:off x="731520" y="1691640"/>
            <a:ext cx="8595360" cy="3342132"/>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int threads = 256;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int blocks  = (n + threads - 1) / threads;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vec_add&lt;&lt;&lt;blocks, threads&gt;&gt;&gt;(d_a, d_b, d_c,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cudaMemcpy(h_c, d_c, bytes, cudaMemcpyDeviceToHost);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cudaFree(d_a);  cudaFree(d_b);  cudaFree(d_c);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free(h_a);  free(h_b);  free(h_c);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return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Why  if (i &lt; n) ?</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Blocks come in whole units of 256 threads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 = 1000:</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blocks  =  ( 1000 + 255 ) / 256  =  4</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threads  =  4 × 256  =  </a:t>
            </a:r>
            <a:r>
              <a:rPr sz="2600" b="1" i="0">
                <a:solidFill>
                  <a:srgbClr val="000000"/>
                </a:solidFill>
                <a:latin typeface="Cambria"/>
              </a:rPr>
              <a:t>1024</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Threads 1000 .. 1023 have no element</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without the check they write past the array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&lt;&lt;&lt; &gt;&gt;&gt;  Launch</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ourier New"/>
              </a:rPr>
              <a:t>kernel&lt;&lt;&lt;blocks, threads&gt;&gt;&gt;(args);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threads</a:t>
            </a:r>
            <a:r>
              <a:rPr sz="2600" b="0" i="0">
                <a:solidFill>
                  <a:srgbClr val="000000"/>
                </a:solidFill>
                <a:latin typeface="Cambria"/>
              </a:rPr>
              <a:t> per block:  a multiple of 32,  at most 1024</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128 or 256 is a good default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blocks</a:t>
            </a:r>
            <a:r>
              <a:rPr sz="2600" b="0" i="0">
                <a:solidFill>
                  <a:srgbClr val="000000"/>
                </a:solidFill>
                <a:latin typeface="Cambria"/>
              </a:rPr>
              <a:t>:  enough to cover the data</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many more blocks than SMs is fine  -  and good</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launch </a:t>
            </a:r>
            <a:r>
              <a:rPr sz="2600" b="1" i="0">
                <a:solidFill>
                  <a:srgbClr val="000000"/>
                </a:solidFill>
                <a:latin typeface="Cambria"/>
              </a:rPr>
              <a:t>returns immediately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Compiling:  nvcc</a:t>
            </a:r>
          </a:p>
        </p:txBody>
      </p:sp>
      <p:sp>
        <p:nvSpPr>
          <p:cNvPr id="901" name="Rectangle 900"/>
          <p:cNvSpPr/>
          <p:nvPr/>
        </p:nvSpPr>
        <p:spPr>
          <a:xfrm>
            <a:off x="731520" y="1691640"/>
            <a:ext cx="8595360" cy="54864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nvcc -O2 -o vec_add vec_add.cu</a:t>
            </a:r>
          </a:p>
        </p:txBody>
      </p:sp>
      <p:sp>
        <p:nvSpPr>
          <p:cNvPr id="902" name="Rectangle 901"/>
          <p:cNvSpPr/>
          <p:nvPr/>
        </p:nvSpPr>
        <p:spPr>
          <a:xfrm>
            <a:off x="3657600" y="2560320"/>
            <a:ext cx="2743200" cy="7315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vec_add.cu</a:t>
            </a:r>
          </a:p>
        </p:txBody>
      </p:sp>
      <p:cxnSp>
        <p:nvCxnSpPr>
          <p:cNvPr id="903" name="Connector 902"/>
          <p:cNvCxnSpPr/>
          <p:nvPr/>
        </p:nvCxnSpPr>
        <p:spPr>
          <a:xfrm flipH="1">
            <a:off x="2377440" y="3291840"/>
            <a:ext cx="2651760" cy="54864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04" name="Connector 903"/>
          <p:cNvCxnSpPr/>
          <p:nvPr/>
        </p:nvCxnSpPr>
        <p:spPr>
          <a:xfrm>
            <a:off x="5029200" y="3291840"/>
            <a:ext cx="2651760" cy="54864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5" name="Rectangle 904"/>
          <p:cNvSpPr/>
          <p:nvPr/>
        </p:nvSpPr>
        <p:spPr>
          <a:xfrm>
            <a:off x="914400" y="3840480"/>
            <a:ext cx="2926080" cy="73152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host code  →  g++</a:t>
            </a:r>
          </a:p>
        </p:txBody>
      </p:sp>
      <p:sp>
        <p:nvSpPr>
          <p:cNvPr id="906" name="Rectangle 905"/>
          <p:cNvSpPr/>
          <p:nvPr/>
        </p:nvSpPr>
        <p:spPr>
          <a:xfrm>
            <a:off x="6217920" y="3840480"/>
            <a:ext cx="2926080" cy="7315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device code  →  PTX</a:t>
            </a:r>
          </a:p>
        </p:txBody>
      </p:sp>
      <p:cxnSp>
        <p:nvCxnSpPr>
          <p:cNvPr id="907" name="Connector 906"/>
          <p:cNvCxnSpPr/>
          <p:nvPr/>
        </p:nvCxnSpPr>
        <p:spPr>
          <a:xfrm>
            <a:off x="7680960" y="4572000"/>
            <a:ext cx="0" cy="36576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8" name="Rectangle 907"/>
          <p:cNvSpPr/>
          <p:nvPr/>
        </p:nvSpPr>
        <p:spPr>
          <a:xfrm>
            <a:off x="6217920" y="4937760"/>
            <a:ext cx="2926080" cy="7315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PTX  →  SASS  ( machine code )</a:t>
            </a:r>
          </a:p>
        </p:txBody>
      </p:sp>
      <p:cxnSp>
        <p:nvCxnSpPr>
          <p:cNvPr id="909" name="Connector 908"/>
          <p:cNvCxnSpPr/>
          <p:nvPr/>
        </p:nvCxnSpPr>
        <p:spPr>
          <a:xfrm>
            <a:off x="2377440" y="4572000"/>
            <a:ext cx="2194560" cy="132588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10" name="Connector 909"/>
          <p:cNvCxnSpPr/>
          <p:nvPr/>
        </p:nvCxnSpPr>
        <p:spPr>
          <a:xfrm flipH="1">
            <a:off x="5486400" y="5669280"/>
            <a:ext cx="2194560" cy="22860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1" name="Rectangle 910"/>
          <p:cNvSpPr/>
          <p:nvPr/>
        </p:nvSpPr>
        <p:spPr>
          <a:xfrm>
            <a:off x="3657600" y="5897880"/>
            <a:ext cx="2743200" cy="73152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one executable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Always Check for Errors</a:t>
            </a:r>
          </a:p>
        </p:txBody>
      </p:sp>
      <p:sp>
        <p:nvSpPr>
          <p:cNvPr id="901" name="Rectangle 900"/>
          <p:cNvSpPr/>
          <p:nvPr/>
        </p:nvSpPr>
        <p:spPr>
          <a:xfrm>
            <a:off x="731520" y="1691640"/>
            <a:ext cx="8595360" cy="352805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#define CUDA_CHECK(call)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do {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cudaError_t err = (call);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if (err != cudaSuccess) {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fprintf(stderr, "%s:%d  %s\n", __FILE__,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__LINE__, cudaGetErrorString(err));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exit(EXIT_FAILURE);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while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CUDA_CHECK(cudaMalloc(&amp;d_a, 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vec_add&lt;&lt;&lt;blocks, threads&gt;&gt;&gt;(d_a, d_b, d_c,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CUDA_CHECK(cudaGetLastError());     // bad launch?</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CUDA_CHECK(cudaDeviceSynchronize());    // crashed?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Always Check for Errors</a:t>
            </a:r>
          </a:p>
        </p:txBody>
      </p:sp>
      <p:sp>
        <p:nvSpPr>
          <p:cNvPr id="901" name="Rectangle 900"/>
          <p:cNvSpPr/>
          <p:nvPr/>
        </p:nvSpPr>
        <p:spPr>
          <a:xfrm>
            <a:off x="731520" y="1691640"/>
            <a:ext cx="8595360" cy="352805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#define </a:t>
            </a:r>
            <a:r>
              <a:rPr sz="1500" dirty="0" smtClean="0">
                <a:solidFill>
                  <a:srgbClr val="000000"/>
                </a:solidFill>
                <a:latin typeface="Courier New"/>
              </a:rPr>
              <a:t>CUDA_CHECK(</a:t>
            </a:r>
            <a:r>
              <a:rPr sz="1500" b="1" dirty="0" err="1" smtClean="0">
                <a:solidFill>
                  <a:srgbClr val="000000"/>
                </a:solidFill>
                <a:latin typeface="Courier New"/>
              </a:rPr>
              <a:t>call</a:t>
            </a:r>
            <a:r>
              <a:rPr lang="en-US" sz="1500" b="1" dirty="0" err="1">
                <a:solidFill>
                  <a:srgbClr val="000000"/>
                </a:solidFill>
                <a:latin typeface="Courier New"/>
              </a:rPr>
              <a:t>_</a:t>
            </a:r>
            <a:r>
              <a:rPr lang="en-US" sz="1500" b="1" dirty="0" err="1" smtClean="0">
                <a:solidFill>
                  <a:srgbClr val="000000"/>
                </a:solidFill>
                <a:latin typeface="Courier New"/>
              </a:rPr>
              <a:t>xz</a:t>
            </a:r>
            <a:r>
              <a:rPr sz="1500" dirty="0" smtClean="0">
                <a:solidFill>
                  <a:srgbClr val="000000"/>
                </a:solidFill>
                <a:latin typeface="Courier New"/>
              </a:rPr>
              <a:t>)   </a:t>
            </a:r>
            <a:r>
              <a:rPr lang="en-US" sz="1500" dirty="0" smtClean="0">
                <a:solidFill>
                  <a:srgbClr val="000000"/>
                </a:solidFill>
                <a:latin typeface="Courier New"/>
              </a:rPr>
              <a:t>\</a:t>
            </a:r>
            <a:r>
              <a:rPr sz="1500" dirty="0" smtClean="0">
                <a:solidFill>
                  <a:srgbClr val="000000"/>
                </a:solidFill>
                <a:latin typeface="Courier New"/>
              </a:rPr>
              <a:t>   </a:t>
            </a:r>
            <a:r>
              <a:rPr lang="en-US" sz="1500" b="1" dirty="0" smtClean="0">
                <a:solidFill>
                  <a:srgbClr val="FF0000"/>
                </a:solidFill>
                <a:latin typeface="Courier New"/>
              </a:rPr>
              <a:t>Add suffix to prevent conflicts</a:t>
            </a:r>
            <a:endParaRPr sz="1500" b="1" dirty="0">
              <a:solidFill>
                <a:srgbClr val="FF0000"/>
              </a:solidFill>
              <a:latin typeface="Courier New"/>
            </a:endParaRP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do {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    </a:t>
            </a:r>
            <a:r>
              <a:rPr sz="1500" dirty="0" err="1">
                <a:solidFill>
                  <a:srgbClr val="000000"/>
                </a:solidFill>
                <a:latin typeface="Courier New"/>
              </a:rPr>
              <a:t>cudaError_t</a:t>
            </a:r>
            <a:r>
              <a:rPr sz="1500" dirty="0">
                <a:solidFill>
                  <a:srgbClr val="000000"/>
                </a:solidFill>
                <a:latin typeface="Courier New"/>
              </a:rPr>
              <a:t> err = (</a:t>
            </a:r>
            <a:r>
              <a:rPr sz="1500" b="1" dirty="0" err="1" smtClean="0">
                <a:solidFill>
                  <a:srgbClr val="000000"/>
                </a:solidFill>
                <a:latin typeface="Courier New"/>
              </a:rPr>
              <a:t>call</a:t>
            </a:r>
            <a:r>
              <a:rPr lang="en-US" sz="1500" b="1" dirty="0" err="1" smtClean="0">
                <a:solidFill>
                  <a:srgbClr val="000000"/>
                </a:solidFill>
                <a:latin typeface="Courier New"/>
              </a:rPr>
              <a:t>_xz</a:t>
            </a:r>
            <a:r>
              <a:rPr sz="1500" dirty="0" smtClean="0">
                <a:solidFill>
                  <a:srgbClr val="000000"/>
                </a:solidFill>
                <a:latin typeface="Courier New"/>
              </a:rPr>
              <a:t>);                     </a:t>
            </a:r>
            <a:r>
              <a:rPr sz="15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    if (err != </a:t>
            </a:r>
            <a:r>
              <a:rPr sz="1500" dirty="0" err="1">
                <a:solidFill>
                  <a:srgbClr val="000000"/>
                </a:solidFill>
                <a:latin typeface="Courier New"/>
              </a:rPr>
              <a:t>cudaSuccess</a:t>
            </a:r>
            <a:r>
              <a:rPr sz="1500" dirty="0">
                <a:solidFill>
                  <a:srgbClr val="000000"/>
                </a:solidFill>
                <a:latin typeface="Courier New"/>
              </a:rPr>
              <a:t>) {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        </a:t>
            </a:r>
            <a:r>
              <a:rPr sz="1500" dirty="0" err="1">
                <a:solidFill>
                  <a:srgbClr val="000000"/>
                </a:solidFill>
                <a:latin typeface="Courier New"/>
              </a:rPr>
              <a:t>fprintf</a:t>
            </a:r>
            <a:r>
              <a:rPr sz="1500" dirty="0">
                <a:solidFill>
                  <a:srgbClr val="000000"/>
                </a:solidFill>
                <a:latin typeface="Courier New"/>
              </a:rPr>
              <a:t>(</a:t>
            </a:r>
            <a:r>
              <a:rPr sz="1500" dirty="0" err="1">
                <a:solidFill>
                  <a:srgbClr val="000000"/>
                </a:solidFill>
                <a:latin typeface="Courier New"/>
              </a:rPr>
              <a:t>stderr</a:t>
            </a:r>
            <a:r>
              <a:rPr sz="1500" dirty="0">
                <a:solidFill>
                  <a:srgbClr val="000000"/>
                </a:solidFill>
                <a:latin typeface="Courier New"/>
              </a:rPr>
              <a:t>, "%s:%d  %s\n", __FILE__,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                __LINE__, </a:t>
            </a:r>
            <a:r>
              <a:rPr sz="1500" dirty="0" err="1">
                <a:solidFill>
                  <a:srgbClr val="000000"/>
                </a:solidFill>
                <a:latin typeface="Courier New"/>
              </a:rPr>
              <a:t>cudaGetErrorString</a:t>
            </a:r>
            <a:r>
              <a:rPr sz="1500" dirty="0">
                <a:solidFill>
                  <a:srgbClr val="000000"/>
                </a:solidFill>
                <a:latin typeface="Courier New"/>
              </a:rPr>
              <a:t>(err));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        exit(EXIT_FAILURE);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    }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 while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CUDA_CHECK(</a:t>
            </a:r>
            <a:r>
              <a:rPr sz="1500" dirty="0" err="1">
                <a:solidFill>
                  <a:srgbClr val="000000"/>
                </a:solidFill>
                <a:latin typeface="Courier New"/>
              </a:rPr>
              <a:t>cudaMalloc</a:t>
            </a:r>
            <a:r>
              <a:rPr sz="1500" dirty="0">
                <a:solidFill>
                  <a:srgbClr val="000000"/>
                </a:solidFill>
                <a:latin typeface="Courier New"/>
              </a:rPr>
              <a:t>(&amp;</a:t>
            </a:r>
            <a:r>
              <a:rPr sz="1500" dirty="0" err="1">
                <a:solidFill>
                  <a:srgbClr val="000000"/>
                </a:solidFill>
                <a:latin typeface="Courier New"/>
              </a:rPr>
              <a:t>d_a</a:t>
            </a:r>
            <a:r>
              <a:rPr sz="1500" dirty="0">
                <a:solidFill>
                  <a:srgbClr val="000000"/>
                </a:solidFill>
                <a:latin typeface="Courier New"/>
              </a:rPr>
              <a:t>, 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err="1">
                <a:solidFill>
                  <a:srgbClr val="000000"/>
                </a:solidFill>
                <a:latin typeface="Courier New"/>
              </a:rPr>
              <a:t>vec_add</a:t>
            </a:r>
            <a:r>
              <a:rPr sz="1500" dirty="0">
                <a:solidFill>
                  <a:srgbClr val="000000"/>
                </a:solidFill>
                <a:latin typeface="Courier New"/>
              </a:rPr>
              <a:t>&lt;&lt;&lt;blocks, threads&gt;&gt;&gt;(</a:t>
            </a:r>
            <a:r>
              <a:rPr sz="1500" dirty="0" err="1">
                <a:solidFill>
                  <a:srgbClr val="000000"/>
                </a:solidFill>
                <a:latin typeface="Courier New"/>
              </a:rPr>
              <a:t>d_a</a:t>
            </a:r>
            <a:r>
              <a:rPr sz="1500" dirty="0">
                <a:solidFill>
                  <a:srgbClr val="000000"/>
                </a:solidFill>
                <a:latin typeface="Courier New"/>
              </a:rPr>
              <a:t>, </a:t>
            </a:r>
            <a:r>
              <a:rPr sz="1500" dirty="0" err="1">
                <a:solidFill>
                  <a:srgbClr val="000000"/>
                </a:solidFill>
                <a:latin typeface="Courier New"/>
              </a:rPr>
              <a:t>d_b</a:t>
            </a:r>
            <a:r>
              <a:rPr sz="1500" dirty="0">
                <a:solidFill>
                  <a:srgbClr val="000000"/>
                </a:solidFill>
                <a:latin typeface="Courier New"/>
              </a:rPr>
              <a:t>, </a:t>
            </a:r>
            <a:r>
              <a:rPr sz="1500" dirty="0" err="1">
                <a:solidFill>
                  <a:srgbClr val="000000"/>
                </a:solidFill>
                <a:latin typeface="Courier New"/>
              </a:rPr>
              <a:t>d_c</a:t>
            </a:r>
            <a:r>
              <a:rPr sz="1500" dirty="0">
                <a:solidFill>
                  <a:srgbClr val="000000"/>
                </a:solidFill>
                <a:latin typeface="Courier New"/>
              </a:rPr>
              <a: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CUDA_CHECK(</a:t>
            </a:r>
            <a:r>
              <a:rPr sz="1500" dirty="0" err="1">
                <a:solidFill>
                  <a:srgbClr val="000000"/>
                </a:solidFill>
                <a:latin typeface="Courier New"/>
              </a:rPr>
              <a:t>cudaGetLastError</a:t>
            </a:r>
            <a:r>
              <a:rPr sz="1500" dirty="0">
                <a:solidFill>
                  <a:srgbClr val="000000"/>
                </a:solidFill>
                <a:latin typeface="Courier New"/>
              </a:rPr>
              <a:t>());     // bad launch?</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dirty="0">
                <a:solidFill>
                  <a:srgbClr val="000000"/>
                </a:solidFill>
                <a:latin typeface="Courier New"/>
              </a:rPr>
              <a:t>CUDA_CHECK(</a:t>
            </a:r>
            <a:r>
              <a:rPr sz="1500" dirty="0" err="1">
                <a:solidFill>
                  <a:srgbClr val="000000"/>
                </a:solidFill>
                <a:latin typeface="Courier New"/>
              </a:rPr>
              <a:t>cudaDeviceSynchronize</a:t>
            </a:r>
            <a:r>
              <a:rPr sz="1500" dirty="0">
                <a:solidFill>
                  <a:srgbClr val="000000"/>
                </a:solidFill>
                <a:latin typeface="Courier New"/>
              </a:rPr>
              <a:t>());    // crashed?</a:t>
            </a:r>
          </a:p>
        </p:txBody>
      </p:sp>
    </p:spTree>
    <p:extLst>
      <p:ext uri="{BB962C8B-B14F-4D97-AF65-F5344CB8AC3E}">
        <p14:creationId xmlns:p14="http://schemas.microsoft.com/office/powerpoint/2010/main" val="3822837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Unified Memory</a:t>
            </a:r>
          </a:p>
        </p:txBody>
      </p:sp>
      <p:sp>
        <p:nvSpPr>
          <p:cNvPr id="901" name="Rectangle 900"/>
          <p:cNvSpPr/>
          <p:nvPr/>
        </p:nvSpPr>
        <p:spPr>
          <a:xfrm>
            <a:off x="731520" y="1691640"/>
            <a:ext cx="8595360" cy="3621023"/>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float *a, *b, *c;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cudaMallocManaged(&amp;a, 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cudaMallocManaged(&amp;b, 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cudaMallocManaged(&amp;c, bytes);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for (int i = 0; i &lt; n; i++) {   // CPU writes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a[i] = 1.0f;</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b[i] = 2.0f;</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vec_add&lt;&lt;&lt;blocks, threads&gt;&gt;&gt;(a, b, c,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cudaDeviceSynchronize();        // wait for GPU</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printf("%f\n", c[0]);           // CPU reads</a:t>
            </a:r>
          </a:p>
        </p:txBody>
      </p:sp>
      <p:sp>
        <p:nvSpPr>
          <p:cNvPr id="902" name="TextBox 901"/>
          <p:cNvSpPr txBox="1"/>
          <p:nvPr/>
        </p:nvSpPr>
        <p:spPr>
          <a:xfrm>
            <a:off x="731520" y="5404103"/>
            <a:ext cx="8595360" cy="457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1800" b="0" i="1">
                <a:solidFill>
                  <a:srgbClr val="000000"/>
                </a:solidFill>
                <a:latin typeface="Cambria"/>
              </a:rPr>
              <a:t>One pointer works on both sides;  pages move automatically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How the Hardware Runs It</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streaming multiprocessors and warps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The Streaming Multiprocessor</a:t>
            </a:r>
          </a:p>
        </p:txBody>
      </p:sp>
      <p:sp>
        <p:nvSpPr>
          <p:cNvPr id="901" name="Rectangle 900"/>
          <p:cNvSpPr/>
          <p:nvPr/>
        </p:nvSpPr>
        <p:spPr>
          <a:xfrm>
            <a:off x="731520" y="1691640"/>
            <a:ext cx="5120640" cy="4572000"/>
          </a:xfrm>
          <a:prstGeom prst="rect">
            <a:avLst/>
          </a:prstGeom>
          <a:solidFill>
            <a:srgbClr val="D5EDD5"/>
          </a:solidFill>
          <a:ln w="19050">
            <a:solidFill>
              <a:srgbClr val="0046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2" name="TextBox 901"/>
          <p:cNvSpPr txBox="1"/>
          <p:nvPr/>
        </p:nvSpPr>
        <p:spPr>
          <a:xfrm>
            <a:off x="868680" y="1737360"/>
            <a:ext cx="4846320" cy="411480"/>
          </a:xfrm>
          <a:prstGeom prst="rect">
            <a:avLst/>
          </a:prstGeom>
          <a:noFill/>
        </p:spPr>
        <p:txBody>
          <a:bodyPr wrap="square" lIns="0" tIns="0" rIns="0" bIns="0" anchor="ctr">
            <a:spAutoFit/>
          </a:bodyPr>
          <a:lstStyle/>
          <a:p>
            <a:pPr algn="ctr"/>
            <a:r>
              <a:rPr sz="2000" b="1" i="0">
                <a:solidFill>
                  <a:srgbClr val="004600"/>
                </a:solidFill>
                <a:latin typeface="Cambria"/>
              </a:rPr>
              <a:t>One SM</a:t>
            </a:r>
          </a:p>
        </p:txBody>
      </p:sp>
      <p:sp>
        <p:nvSpPr>
          <p:cNvPr id="903" name="Rectangle 902"/>
          <p:cNvSpPr/>
          <p:nvPr/>
        </p:nvSpPr>
        <p:spPr>
          <a:xfrm>
            <a:off x="914400" y="2240280"/>
            <a:ext cx="2286000" cy="146304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4" name="Rectangle 903"/>
          <p:cNvSpPr/>
          <p:nvPr/>
        </p:nvSpPr>
        <p:spPr>
          <a:xfrm>
            <a:off x="1005840" y="2313432"/>
            <a:ext cx="2103120" cy="3200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000000"/>
                </a:solidFill>
                <a:latin typeface="Cambria"/>
              </a:rPr>
              <a:t>warp scheduler</a:t>
            </a:r>
          </a:p>
        </p:txBody>
      </p:sp>
      <p:sp>
        <p:nvSpPr>
          <p:cNvPr id="905" name="Rectangle 904"/>
          <p:cNvSpPr/>
          <p:nvPr/>
        </p:nvSpPr>
        <p:spPr>
          <a:xfrm>
            <a:off x="1005840"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6" name="Rectangle 905"/>
          <p:cNvSpPr/>
          <p:nvPr/>
        </p:nvSpPr>
        <p:spPr>
          <a:xfrm>
            <a:off x="1271016"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7" name="Rectangle 906"/>
          <p:cNvSpPr/>
          <p:nvPr/>
        </p:nvSpPr>
        <p:spPr>
          <a:xfrm>
            <a:off x="1536192"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Rectangle 907"/>
          <p:cNvSpPr/>
          <p:nvPr/>
        </p:nvSpPr>
        <p:spPr>
          <a:xfrm>
            <a:off x="1801368"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Rectangle 908"/>
          <p:cNvSpPr/>
          <p:nvPr/>
        </p:nvSpPr>
        <p:spPr>
          <a:xfrm>
            <a:off x="2066543"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0" name="Rectangle 909"/>
          <p:cNvSpPr/>
          <p:nvPr/>
        </p:nvSpPr>
        <p:spPr>
          <a:xfrm>
            <a:off x="2331720"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1" name="Rectangle 910"/>
          <p:cNvSpPr/>
          <p:nvPr/>
        </p:nvSpPr>
        <p:spPr>
          <a:xfrm>
            <a:off x="2596896"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Rectangle 911"/>
          <p:cNvSpPr/>
          <p:nvPr/>
        </p:nvSpPr>
        <p:spPr>
          <a:xfrm>
            <a:off x="2862072"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3" name="Rectangle 912"/>
          <p:cNvSpPr/>
          <p:nvPr/>
        </p:nvSpPr>
        <p:spPr>
          <a:xfrm>
            <a:off x="1005840"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Rectangle 913"/>
          <p:cNvSpPr/>
          <p:nvPr/>
        </p:nvSpPr>
        <p:spPr>
          <a:xfrm>
            <a:off x="1271016"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Rectangle 914"/>
          <p:cNvSpPr/>
          <p:nvPr/>
        </p:nvSpPr>
        <p:spPr>
          <a:xfrm>
            <a:off x="1536192"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1801368"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Rectangle 916"/>
          <p:cNvSpPr/>
          <p:nvPr/>
        </p:nvSpPr>
        <p:spPr>
          <a:xfrm>
            <a:off x="2066543"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8" name="Rectangle 917"/>
          <p:cNvSpPr/>
          <p:nvPr/>
        </p:nvSpPr>
        <p:spPr>
          <a:xfrm>
            <a:off x="2331720"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9" name="Rectangle 918"/>
          <p:cNvSpPr/>
          <p:nvPr/>
        </p:nvSpPr>
        <p:spPr>
          <a:xfrm>
            <a:off x="2596896"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0" name="Rectangle 919"/>
          <p:cNvSpPr/>
          <p:nvPr/>
        </p:nvSpPr>
        <p:spPr>
          <a:xfrm>
            <a:off x="2862072"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1" name="Rectangle 920"/>
          <p:cNvSpPr/>
          <p:nvPr/>
        </p:nvSpPr>
        <p:spPr>
          <a:xfrm>
            <a:off x="1005840" y="3291840"/>
            <a:ext cx="2103120" cy="32004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000000"/>
                </a:solidFill>
                <a:latin typeface="Cambria"/>
              </a:rPr>
              <a:t>tensor core</a:t>
            </a:r>
          </a:p>
        </p:txBody>
      </p:sp>
      <p:sp>
        <p:nvSpPr>
          <p:cNvPr id="922" name="Rectangle 921"/>
          <p:cNvSpPr/>
          <p:nvPr/>
        </p:nvSpPr>
        <p:spPr>
          <a:xfrm>
            <a:off x="3383280" y="2240280"/>
            <a:ext cx="2286000" cy="146304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3" name="Rectangle 922"/>
          <p:cNvSpPr/>
          <p:nvPr/>
        </p:nvSpPr>
        <p:spPr>
          <a:xfrm>
            <a:off x="3474720" y="2313432"/>
            <a:ext cx="2103120" cy="3200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000000"/>
                </a:solidFill>
                <a:latin typeface="Cambria"/>
              </a:rPr>
              <a:t>warp scheduler</a:t>
            </a:r>
          </a:p>
        </p:txBody>
      </p:sp>
      <p:sp>
        <p:nvSpPr>
          <p:cNvPr id="924" name="Rectangle 923"/>
          <p:cNvSpPr/>
          <p:nvPr/>
        </p:nvSpPr>
        <p:spPr>
          <a:xfrm>
            <a:off x="3474720"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5" name="Rectangle 924"/>
          <p:cNvSpPr/>
          <p:nvPr/>
        </p:nvSpPr>
        <p:spPr>
          <a:xfrm>
            <a:off x="3739896"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6" name="Rectangle 925"/>
          <p:cNvSpPr/>
          <p:nvPr/>
        </p:nvSpPr>
        <p:spPr>
          <a:xfrm>
            <a:off x="4005072"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7" name="Rectangle 926"/>
          <p:cNvSpPr/>
          <p:nvPr/>
        </p:nvSpPr>
        <p:spPr>
          <a:xfrm>
            <a:off x="4270248"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8" name="Rectangle 927"/>
          <p:cNvSpPr/>
          <p:nvPr/>
        </p:nvSpPr>
        <p:spPr>
          <a:xfrm>
            <a:off x="4535424"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9" name="Rectangle 928"/>
          <p:cNvSpPr/>
          <p:nvPr/>
        </p:nvSpPr>
        <p:spPr>
          <a:xfrm>
            <a:off x="4800600"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0" name="Rectangle 929"/>
          <p:cNvSpPr/>
          <p:nvPr/>
        </p:nvSpPr>
        <p:spPr>
          <a:xfrm>
            <a:off x="5065776"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1" name="Rectangle 930"/>
          <p:cNvSpPr/>
          <p:nvPr/>
        </p:nvSpPr>
        <p:spPr>
          <a:xfrm>
            <a:off x="5330952" y="27157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2" name="Rectangle 931"/>
          <p:cNvSpPr/>
          <p:nvPr/>
        </p:nvSpPr>
        <p:spPr>
          <a:xfrm>
            <a:off x="3474720"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3" name="Rectangle 932"/>
          <p:cNvSpPr/>
          <p:nvPr/>
        </p:nvSpPr>
        <p:spPr>
          <a:xfrm>
            <a:off x="3739896"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4" name="Rectangle 933"/>
          <p:cNvSpPr/>
          <p:nvPr/>
        </p:nvSpPr>
        <p:spPr>
          <a:xfrm>
            <a:off x="4005072"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5" name="Rectangle 934"/>
          <p:cNvSpPr/>
          <p:nvPr/>
        </p:nvSpPr>
        <p:spPr>
          <a:xfrm>
            <a:off x="4270248"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6" name="Rectangle 935"/>
          <p:cNvSpPr/>
          <p:nvPr/>
        </p:nvSpPr>
        <p:spPr>
          <a:xfrm>
            <a:off x="4535424"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7" name="Rectangle 936"/>
          <p:cNvSpPr/>
          <p:nvPr/>
        </p:nvSpPr>
        <p:spPr>
          <a:xfrm>
            <a:off x="4800600"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8" name="Rectangle 937"/>
          <p:cNvSpPr/>
          <p:nvPr/>
        </p:nvSpPr>
        <p:spPr>
          <a:xfrm>
            <a:off x="5065776"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9" name="Rectangle 938"/>
          <p:cNvSpPr/>
          <p:nvPr/>
        </p:nvSpPr>
        <p:spPr>
          <a:xfrm>
            <a:off x="5330952" y="29900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0" name="Rectangle 939"/>
          <p:cNvSpPr/>
          <p:nvPr/>
        </p:nvSpPr>
        <p:spPr>
          <a:xfrm>
            <a:off x="3474720" y="3291840"/>
            <a:ext cx="2103120" cy="32004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000000"/>
                </a:solidFill>
                <a:latin typeface="Cambria"/>
              </a:rPr>
              <a:t>tensor core</a:t>
            </a:r>
          </a:p>
        </p:txBody>
      </p:sp>
      <p:sp>
        <p:nvSpPr>
          <p:cNvPr id="941" name="Rectangle 940"/>
          <p:cNvSpPr/>
          <p:nvPr/>
        </p:nvSpPr>
        <p:spPr>
          <a:xfrm>
            <a:off x="914400" y="3840480"/>
            <a:ext cx="2286000" cy="146304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2" name="Rectangle 941"/>
          <p:cNvSpPr/>
          <p:nvPr/>
        </p:nvSpPr>
        <p:spPr>
          <a:xfrm>
            <a:off x="1005840" y="3913632"/>
            <a:ext cx="2103120" cy="3200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000000"/>
                </a:solidFill>
                <a:latin typeface="Cambria"/>
              </a:rPr>
              <a:t>warp scheduler</a:t>
            </a:r>
          </a:p>
        </p:txBody>
      </p:sp>
      <p:sp>
        <p:nvSpPr>
          <p:cNvPr id="943" name="Rectangle 942"/>
          <p:cNvSpPr/>
          <p:nvPr/>
        </p:nvSpPr>
        <p:spPr>
          <a:xfrm>
            <a:off x="1005840"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4" name="Rectangle 943"/>
          <p:cNvSpPr/>
          <p:nvPr/>
        </p:nvSpPr>
        <p:spPr>
          <a:xfrm>
            <a:off x="1271016"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5" name="Rectangle 944"/>
          <p:cNvSpPr/>
          <p:nvPr/>
        </p:nvSpPr>
        <p:spPr>
          <a:xfrm>
            <a:off x="1536192"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6" name="Rectangle 945"/>
          <p:cNvSpPr/>
          <p:nvPr/>
        </p:nvSpPr>
        <p:spPr>
          <a:xfrm>
            <a:off x="1801368"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7" name="Rectangle 946"/>
          <p:cNvSpPr/>
          <p:nvPr/>
        </p:nvSpPr>
        <p:spPr>
          <a:xfrm>
            <a:off x="2066543"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8" name="Rectangle 947"/>
          <p:cNvSpPr/>
          <p:nvPr/>
        </p:nvSpPr>
        <p:spPr>
          <a:xfrm>
            <a:off x="2331720"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9" name="Rectangle 948"/>
          <p:cNvSpPr/>
          <p:nvPr/>
        </p:nvSpPr>
        <p:spPr>
          <a:xfrm>
            <a:off x="2596896"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0" name="Rectangle 949"/>
          <p:cNvSpPr/>
          <p:nvPr/>
        </p:nvSpPr>
        <p:spPr>
          <a:xfrm>
            <a:off x="2862072"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1" name="Rectangle 950"/>
          <p:cNvSpPr/>
          <p:nvPr/>
        </p:nvSpPr>
        <p:spPr>
          <a:xfrm>
            <a:off x="1005840"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2" name="Rectangle 951"/>
          <p:cNvSpPr/>
          <p:nvPr/>
        </p:nvSpPr>
        <p:spPr>
          <a:xfrm>
            <a:off x="1271016"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3" name="Rectangle 952"/>
          <p:cNvSpPr/>
          <p:nvPr/>
        </p:nvSpPr>
        <p:spPr>
          <a:xfrm>
            <a:off x="1536192"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4" name="Rectangle 953"/>
          <p:cNvSpPr/>
          <p:nvPr/>
        </p:nvSpPr>
        <p:spPr>
          <a:xfrm>
            <a:off x="1801368"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5" name="Rectangle 954"/>
          <p:cNvSpPr/>
          <p:nvPr/>
        </p:nvSpPr>
        <p:spPr>
          <a:xfrm>
            <a:off x="2066543"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6" name="Rectangle 955"/>
          <p:cNvSpPr/>
          <p:nvPr/>
        </p:nvSpPr>
        <p:spPr>
          <a:xfrm>
            <a:off x="2331720"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7" name="Rectangle 956"/>
          <p:cNvSpPr/>
          <p:nvPr/>
        </p:nvSpPr>
        <p:spPr>
          <a:xfrm>
            <a:off x="2596896"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8" name="Rectangle 957"/>
          <p:cNvSpPr/>
          <p:nvPr/>
        </p:nvSpPr>
        <p:spPr>
          <a:xfrm>
            <a:off x="2862072"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9" name="Rectangle 958"/>
          <p:cNvSpPr/>
          <p:nvPr/>
        </p:nvSpPr>
        <p:spPr>
          <a:xfrm>
            <a:off x="1005840" y="4892040"/>
            <a:ext cx="2103120" cy="32004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000000"/>
                </a:solidFill>
                <a:latin typeface="Cambria"/>
              </a:rPr>
              <a:t>tensor core</a:t>
            </a:r>
          </a:p>
        </p:txBody>
      </p:sp>
      <p:sp>
        <p:nvSpPr>
          <p:cNvPr id="960" name="Rectangle 959"/>
          <p:cNvSpPr/>
          <p:nvPr/>
        </p:nvSpPr>
        <p:spPr>
          <a:xfrm>
            <a:off x="3383280" y="3840480"/>
            <a:ext cx="2286000" cy="146304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1" name="Rectangle 960"/>
          <p:cNvSpPr/>
          <p:nvPr/>
        </p:nvSpPr>
        <p:spPr>
          <a:xfrm>
            <a:off x="3474720" y="3913632"/>
            <a:ext cx="2103120" cy="3200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000000"/>
                </a:solidFill>
                <a:latin typeface="Cambria"/>
              </a:rPr>
              <a:t>warp scheduler</a:t>
            </a:r>
          </a:p>
        </p:txBody>
      </p:sp>
      <p:sp>
        <p:nvSpPr>
          <p:cNvPr id="962" name="Rectangle 961"/>
          <p:cNvSpPr/>
          <p:nvPr/>
        </p:nvSpPr>
        <p:spPr>
          <a:xfrm>
            <a:off x="3474720"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3" name="Rectangle 962"/>
          <p:cNvSpPr/>
          <p:nvPr/>
        </p:nvSpPr>
        <p:spPr>
          <a:xfrm>
            <a:off x="3739896"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4" name="Rectangle 963"/>
          <p:cNvSpPr/>
          <p:nvPr/>
        </p:nvSpPr>
        <p:spPr>
          <a:xfrm>
            <a:off x="4005072"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5" name="Rectangle 964"/>
          <p:cNvSpPr/>
          <p:nvPr/>
        </p:nvSpPr>
        <p:spPr>
          <a:xfrm>
            <a:off x="4270248"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6" name="Rectangle 965"/>
          <p:cNvSpPr/>
          <p:nvPr/>
        </p:nvSpPr>
        <p:spPr>
          <a:xfrm>
            <a:off x="4535424"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7" name="Rectangle 966"/>
          <p:cNvSpPr/>
          <p:nvPr/>
        </p:nvSpPr>
        <p:spPr>
          <a:xfrm>
            <a:off x="4800600"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8" name="Rectangle 967"/>
          <p:cNvSpPr/>
          <p:nvPr/>
        </p:nvSpPr>
        <p:spPr>
          <a:xfrm>
            <a:off x="5065776"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9" name="Rectangle 968"/>
          <p:cNvSpPr/>
          <p:nvPr/>
        </p:nvSpPr>
        <p:spPr>
          <a:xfrm>
            <a:off x="5330952" y="431596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0" name="Rectangle 969"/>
          <p:cNvSpPr/>
          <p:nvPr/>
        </p:nvSpPr>
        <p:spPr>
          <a:xfrm>
            <a:off x="3474720"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1" name="Rectangle 970"/>
          <p:cNvSpPr/>
          <p:nvPr/>
        </p:nvSpPr>
        <p:spPr>
          <a:xfrm>
            <a:off x="3739896"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2" name="Rectangle 971"/>
          <p:cNvSpPr/>
          <p:nvPr/>
        </p:nvSpPr>
        <p:spPr>
          <a:xfrm>
            <a:off x="4005072"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3" name="Rectangle 972"/>
          <p:cNvSpPr/>
          <p:nvPr/>
        </p:nvSpPr>
        <p:spPr>
          <a:xfrm>
            <a:off x="4270248"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4" name="Rectangle 973"/>
          <p:cNvSpPr/>
          <p:nvPr/>
        </p:nvSpPr>
        <p:spPr>
          <a:xfrm>
            <a:off x="4535424"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5" name="Rectangle 974"/>
          <p:cNvSpPr/>
          <p:nvPr/>
        </p:nvSpPr>
        <p:spPr>
          <a:xfrm>
            <a:off x="4800600"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6" name="Rectangle 975"/>
          <p:cNvSpPr/>
          <p:nvPr/>
        </p:nvSpPr>
        <p:spPr>
          <a:xfrm>
            <a:off x="5065776"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7" name="Rectangle 976"/>
          <p:cNvSpPr/>
          <p:nvPr/>
        </p:nvSpPr>
        <p:spPr>
          <a:xfrm>
            <a:off x="5330952" y="4590288"/>
            <a:ext cx="228600" cy="2286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8" name="Rectangle 977"/>
          <p:cNvSpPr/>
          <p:nvPr/>
        </p:nvSpPr>
        <p:spPr>
          <a:xfrm>
            <a:off x="3474720" y="4892040"/>
            <a:ext cx="2103120" cy="32004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000000"/>
                </a:solidFill>
                <a:latin typeface="Cambria"/>
              </a:rPr>
              <a:t>tensor core</a:t>
            </a:r>
          </a:p>
        </p:txBody>
      </p:sp>
      <p:sp>
        <p:nvSpPr>
          <p:cNvPr id="979" name="Rectangle 978"/>
          <p:cNvSpPr/>
          <p:nvPr/>
        </p:nvSpPr>
        <p:spPr>
          <a:xfrm>
            <a:off x="914400" y="5486400"/>
            <a:ext cx="4754880" cy="59436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500" b="0">
                <a:solidFill>
                  <a:srgbClr val="000000"/>
                </a:solidFill>
                <a:latin typeface="Cambria"/>
              </a:rPr>
              <a:t>registers   +   shared memory / L1</a:t>
            </a:r>
          </a:p>
        </p:txBody>
      </p:sp>
      <p:sp>
        <p:nvSpPr>
          <p:cNvPr id="980" name="TextBox 979"/>
          <p:cNvSpPr txBox="1"/>
          <p:nvPr/>
        </p:nvSpPr>
        <p:spPr>
          <a:xfrm>
            <a:off x="6035040" y="1691640"/>
            <a:ext cx="3474720" cy="475488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000" b="1" i="0">
                <a:solidFill>
                  <a:srgbClr val="000000"/>
                </a:solidFill>
                <a:latin typeface="Cambria"/>
              </a:rPr>
              <a:t>H100</a:t>
            </a:r>
            <a:r>
              <a:rPr sz="2000" b="0" i="0">
                <a:solidFill>
                  <a:srgbClr val="000000"/>
                </a:solidFill>
                <a:latin typeface="Cambria"/>
              </a:rPr>
              <a:t> has  </a:t>
            </a:r>
            <a:r>
              <a:rPr sz="2000" b="1" i="0">
                <a:solidFill>
                  <a:srgbClr val="000000"/>
                </a:solidFill>
                <a:latin typeface="Cambria"/>
              </a:rPr>
              <a:t>132</a:t>
            </a:r>
            <a:r>
              <a:rPr sz="2000" b="0" i="0">
                <a:solidFill>
                  <a:srgbClr val="000000"/>
                </a:solidFill>
                <a:latin typeface="Cambria"/>
              </a:rPr>
              <a:t>  SMs</a:t>
            </a:r>
          </a:p>
          <a:p>
            <a:pPr algn="l">
              <a:tabLst>
                <a:tab pos="548640" algn="l"/>
                <a:tab pos="1097280" algn="l"/>
                <a:tab pos="1645919" algn="l"/>
                <a:tab pos="2194560" algn="l"/>
                <a:tab pos="2743200" algn="l"/>
                <a:tab pos="3291839" algn="l"/>
                <a:tab pos="3840480" algn="l"/>
                <a:tab pos="4389120" algn="l"/>
              </a:tabLst>
            </a:pPr>
            <a:r>
              <a:rPr sz="10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000" b="0" i="0">
                <a:solidFill>
                  <a:srgbClr val="000000"/>
                </a:solidFill>
                <a:latin typeface="Cambria"/>
              </a:rPr>
              <a:t>Each SM:</a:t>
            </a:r>
          </a:p>
          <a:p>
            <a:pPr algn="l">
              <a:spcBef>
                <a:spcPts val="1000"/>
              </a:spcBef>
              <a:tabLst>
                <a:tab pos="548640" algn="l"/>
                <a:tab pos="1097280" algn="l"/>
                <a:tab pos="1645919" algn="l"/>
                <a:tab pos="2194560" algn="l"/>
                <a:tab pos="2743200" algn="l"/>
                <a:tab pos="3291839" algn="l"/>
                <a:tab pos="3840480" algn="l"/>
                <a:tab pos="4389120" algn="l"/>
              </a:tabLst>
            </a:pPr>
            <a:r>
              <a:rPr sz="2000" b="0" i="0">
                <a:solidFill>
                  <a:srgbClr val="000000"/>
                </a:solidFill>
                <a:latin typeface="Cambria"/>
              </a:rPr>
              <a:t>	128  FP32 lanes</a:t>
            </a:r>
          </a:p>
          <a:p>
            <a:pPr algn="l">
              <a:spcBef>
                <a:spcPts val="1000"/>
              </a:spcBef>
              <a:tabLst>
                <a:tab pos="548640" algn="l"/>
                <a:tab pos="1097280" algn="l"/>
                <a:tab pos="1645919" algn="l"/>
                <a:tab pos="2194560" algn="l"/>
                <a:tab pos="2743200" algn="l"/>
                <a:tab pos="3291839" algn="l"/>
                <a:tab pos="3840480" algn="l"/>
                <a:tab pos="4389120" algn="l"/>
              </a:tabLst>
            </a:pPr>
            <a:r>
              <a:rPr sz="2000" b="0" i="0">
                <a:solidFill>
                  <a:srgbClr val="000000"/>
                </a:solidFill>
                <a:latin typeface="Cambria"/>
              </a:rPr>
              <a:t>	4  tensor cores</a:t>
            </a:r>
          </a:p>
          <a:p>
            <a:pPr algn="l">
              <a:spcBef>
                <a:spcPts val="1000"/>
              </a:spcBef>
              <a:tabLst>
                <a:tab pos="548640" algn="l"/>
                <a:tab pos="1097280" algn="l"/>
                <a:tab pos="1645919" algn="l"/>
                <a:tab pos="2194560" algn="l"/>
                <a:tab pos="2743200" algn="l"/>
                <a:tab pos="3291839" algn="l"/>
                <a:tab pos="3840480" algn="l"/>
                <a:tab pos="4389120" algn="l"/>
              </a:tabLst>
            </a:pPr>
            <a:r>
              <a:rPr sz="2000" b="0" i="0">
                <a:solidFill>
                  <a:srgbClr val="000000"/>
                </a:solidFill>
                <a:latin typeface="Cambria"/>
              </a:rPr>
              <a:t>	up to 2048 threads</a:t>
            </a:r>
          </a:p>
          <a:p>
            <a:pPr algn="l">
              <a:spcBef>
                <a:spcPts val="1000"/>
              </a:spcBef>
              <a:tabLst>
                <a:tab pos="548640" algn="l"/>
                <a:tab pos="1097280" algn="l"/>
                <a:tab pos="1645919" algn="l"/>
                <a:tab pos="2194560" algn="l"/>
                <a:tab pos="2743200" algn="l"/>
                <a:tab pos="3291839" algn="l"/>
                <a:tab pos="3840480" algn="l"/>
                <a:tab pos="4389120" algn="l"/>
              </a:tabLst>
            </a:pPr>
            <a:r>
              <a:rPr sz="2000" b="0" i="0">
                <a:solidFill>
                  <a:srgbClr val="000000"/>
                </a:solidFill>
                <a:latin typeface="Cambria"/>
              </a:rPr>
              <a:t>	256 KB registers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Blocks Go to SMs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hardware hands blocks to SMs as they free up</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Small GPU:  few SMs,  blocks run in more rounds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Big GPU:  many SMs,  blocks run in fewer rounds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Same program,  no recompiling</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This is why blocks must be independent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Warps:  32 Threads in Lockstep</a:t>
            </a:r>
          </a:p>
        </p:txBody>
      </p:sp>
      <p:sp>
        <p:nvSpPr>
          <p:cNvPr id="901" name="TextBox 900"/>
          <p:cNvSpPr txBox="1"/>
          <p:nvPr/>
        </p:nvSpPr>
        <p:spPr>
          <a:xfrm>
            <a:off x="731520" y="1691640"/>
            <a:ext cx="8595360" cy="411480"/>
          </a:xfrm>
          <a:prstGeom prst="rect">
            <a:avLst/>
          </a:prstGeom>
          <a:noFill/>
        </p:spPr>
        <p:txBody>
          <a:bodyPr wrap="square" lIns="0" tIns="0" rIns="0" bIns="0" anchor="ctr">
            <a:spAutoFit/>
          </a:bodyPr>
          <a:lstStyle/>
          <a:p>
            <a:pPr algn="ctr"/>
            <a:r>
              <a:rPr sz="2200" b="1" i="0">
                <a:solidFill>
                  <a:srgbClr val="000000"/>
                </a:solidFill>
                <a:latin typeface="Cambria"/>
              </a:rPr>
              <a:t>A block of 128 threads  =  4 warps</a:t>
            </a:r>
          </a:p>
        </p:txBody>
      </p:sp>
      <p:sp>
        <p:nvSpPr>
          <p:cNvPr id="902" name="TextBox 901"/>
          <p:cNvSpPr txBox="1"/>
          <p:nvPr/>
        </p:nvSpPr>
        <p:spPr>
          <a:xfrm>
            <a:off x="731520" y="2286000"/>
            <a:ext cx="1280160" cy="502920"/>
          </a:xfrm>
          <a:prstGeom prst="rect">
            <a:avLst/>
          </a:prstGeom>
          <a:noFill/>
        </p:spPr>
        <p:txBody>
          <a:bodyPr wrap="square" lIns="0" tIns="0" rIns="0" bIns="0" anchor="ctr">
            <a:spAutoFit/>
          </a:bodyPr>
          <a:lstStyle/>
          <a:p>
            <a:pPr algn="l"/>
            <a:r>
              <a:rPr sz="1800" b="0" i="0">
                <a:solidFill>
                  <a:srgbClr val="000000"/>
                </a:solidFill>
                <a:latin typeface="Cambria"/>
              </a:rPr>
              <a:t>warp 0</a:t>
            </a:r>
          </a:p>
        </p:txBody>
      </p:sp>
      <p:sp>
        <p:nvSpPr>
          <p:cNvPr id="903" name="Rectangle 902"/>
          <p:cNvSpPr/>
          <p:nvPr/>
        </p:nvSpPr>
        <p:spPr>
          <a:xfrm>
            <a:off x="19202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4" name="Rectangle 903"/>
          <p:cNvSpPr/>
          <p:nvPr/>
        </p:nvSpPr>
        <p:spPr>
          <a:xfrm>
            <a:off x="21488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5" name="Rectangle 904"/>
          <p:cNvSpPr/>
          <p:nvPr/>
        </p:nvSpPr>
        <p:spPr>
          <a:xfrm>
            <a:off x="23774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6" name="Rectangle 905"/>
          <p:cNvSpPr/>
          <p:nvPr/>
        </p:nvSpPr>
        <p:spPr>
          <a:xfrm>
            <a:off x="26060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7" name="Rectangle 906"/>
          <p:cNvSpPr/>
          <p:nvPr/>
        </p:nvSpPr>
        <p:spPr>
          <a:xfrm>
            <a:off x="28346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Rectangle 907"/>
          <p:cNvSpPr/>
          <p:nvPr/>
        </p:nvSpPr>
        <p:spPr>
          <a:xfrm>
            <a:off x="30632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Rectangle 908"/>
          <p:cNvSpPr/>
          <p:nvPr/>
        </p:nvSpPr>
        <p:spPr>
          <a:xfrm>
            <a:off x="32918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0" name="Rectangle 909"/>
          <p:cNvSpPr/>
          <p:nvPr/>
        </p:nvSpPr>
        <p:spPr>
          <a:xfrm>
            <a:off x="35204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1" name="Rectangle 910"/>
          <p:cNvSpPr/>
          <p:nvPr/>
        </p:nvSpPr>
        <p:spPr>
          <a:xfrm>
            <a:off x="3749039"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Rectangle 911"/>
          <p:cNvSpPr/>
          <p:nvPr/>
        </p:nvSpPr>
        <p:spPr>
          <a:xfrm>
            <a:off x="3977639"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3" name="Rectangle 912"/>
          <p:cNvSpPr/>
          <p:nvPr/>
        </p:nvSpPr>
        <p:spPr>
          <a:xfrm>
            <a:off x="42062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Rectangle 913"/>
          <p:cNvSpPr/>
          <p:nvPr/>
        </p:nvSpPr>
        <p:spPr>
          <a:xfrm>
            <a:off x="44348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Rectangle 914"/>
          <p:cNvSpPr/>
          <p:nvPr/>
        </p:nvSpPr>
        <p:spPr>
          <a:xfrm>
            <a:off x="46634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48920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Rectangle 916"/>
          <p:cNvSpPr/>
          <p:nvPr/>
        </p:nvSpPr>
        <p:spPr>
          <a:xfrm>
            <a:off x="51206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8" name="Rectangle 917"/>
          <p:cNvSpPr/>
          <p:nvPr/>
        </p:nvSpPr>
        <p:spPr>
          <a:xfrm>
            <a:off x="53492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9" name="Rectangle 918"/>
          <p:cNvSpPr/>
          <p:nvPr/>
        </p:nvSpPr>
        <p:spPr>
          <a:xfrm>
            <a:off x="55778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0" name="Rectangle 919"/>
          <p:cNvSpPr/>
          <p:nvPr/>
        </p:nvSpPr>
        <p:spPr>
          <a:xfrm>
            <a:off x="58064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1" name="Rectangle 920"/>
          <p:cNvSpPr/>
          <p:nvPr/>
        </p:nvSpPr>
        <p:spPr>
          <a:xfrm>
            <a:off x="60350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2" name="Rectangle 921"/>
          <p:cNvSpPr/>
          <p:nvPr/>
        </p:nvSpPr>
        <p:spPr>
          <a:xfrm>
            <a:off x="62636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3" name="Rectangle 922"/>
          <p:cNvSpPr/>
          <p:nvPr/>
        </p:nvSpPr>
        <p:spPr>
          <a:xfrm>
            <a:off x="64922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4" name="Rectangle 923"/>
          <p:cNvSpPr/>
          <p:nvPr/>
        </p:nvSpPr>
        <p:spPr>
          <a:xfrm>
            <a:off x="67208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5" name="Rectangle 924"/>
          <p:cNvSpPr/>
          <p:nvPr/>
        </p:nvSpPr>
        <p:spPr>
          <a:xfrm>
            <a:off x="69494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6" name="Rectangle 925"/>
          <p:cNvSpPr/>
          <p:nvPr/>
        </p:nvSpPr>
        <p:spPr>
          <a:xfrm>
            <a:off x="71780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7" name="Rectangle 926"/>
          <p:cNvSpPr/>
          <p:nvPr/>
        </p:nvSpPr>
        <p:spPr>
          <a:xfrm>
            <a:off x="74066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8" name="Rectangle 927"/>
          <p:cNvSpPr/>
          <p:nvPr/>
        </p:nvSpPr>
        <p:spPr>
          <a:xfrm>
            <a:off x="76352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9" name="Rectangle 928"/>
          <p:cNvSpPr/>
          <p:nvPr/>
        </p:nvSpPr>
        <p:spPr>
          <a:xfrm>
            <a:off x="78638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0" name="Rectangle 929"/>
          <p:cNvSpPr/>
          <p:nvPr/>
        </p:nvSpPr>
        <p:spPr>
          <a:xfrm>
            <a:off x="80924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1" name="Rectangle 930"/>
          <p:cNvSpPr/>
          <p:nvPr/>
        </p:nvSpPr>
        <p:spPr>
          <a:xfrm>
            <a:off x="83210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2" name="Rectangle 931"/>
          <p:cNvSpPr/>
          <p:nvPr/>
        </p:nvSpPr>
        <p:spPr>
          <a:xfrm>
            <a:off x="85496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3" name="Rectangle 932"/>
          <p:cNvSpPr/>
          <p:nvPr/>
        </p:nvSpPr>
        <p:spPr>
          <a:xfrm>
            <a:off x="87782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4" name="Rectangle 933"/>
          <p:cNvSpPr/>
          <p:nvPr/>
        </p:nvSpPr>
        <p:spPr>
          <a:xfrm>
            <a:off x="9006840" y="22860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5" name="TextBox 934"/>
          <p:cNvSpPr txBox="1"/>
          <p:nvPr/>
        </p:nvSpPr>
        <p:spPr>
          <a:xfrm>
            <a:off x="1920240" y="2788920"/>
            <a:ext cx="7315200" cy="182880"/>
          </a:xfrm>
          <a:prstGeom prst="rect">
            <a:avLst/>
          </a:prstGeom>
          <a:noFill/>
        </p:spPr>
        <p:txBody>
          <a:bodyPr wrap="square" lIns="0" tIns="0" rIns="0" bIns="0" anchor="ctr">
            <a:spAutoFit/>
          </a:bodyPr>
          <a:lstStyle/>
          <a:p>
            <a:pPr algn="ctr"/>
            <a:endParaRPr/>
          </a:p>
        </p:txBody>
      </p:sp>
      <p:sp>
        <p:nvSpPr>
          <p:cNvPr id="936" name="TextBox 935"/>
          <p:cNvSpPr txBox="1"/>
          <p:nvPr/>
        </p:nvSpPr>
        <p:spPr>
          <a:xfrm>
            <a:off x="731520" y="2971800"/>
            <a:ext cx="1280160" cy="502920"/>
          </a:xfrm>
          <a:prstGeom prst="rect">
            <a:avLst/>
          </a:prstGeom>
          <a:noFill/>
        </p:spPr>
        <p:txBody>
          <a:bodyPr wrap="square" lIns="0" tIns="0" rIns="0" bIns="0" anchor="ctr">
            <a:spAutoFit/>
          </a:bodyPr>
          <a:lstStyle/>
          <a:p>
            <a:pPr algn="l"/>
            <a:r>
              <a:rPr sz="1800" b="0" i="0">
                <a:solidFill>
                  <a:srgbClr val="000000"/>
                </a:solidFill>
                <a:latin typeface="Cambria"/>
              </a:rPr>
              <a:t>warp 1</a:t>
            </a:r>
          </a:p>
        </p:txBody>
      </p:sp>
      <p:sp>
        <p:nvSpPr>
          <p:cNvPr id="937" name="Rectangle 936"/>
          <p:cNvSpPr/>
          <p:nvPr/>
        </p:nvSpPr>
        <p:spPr>
          <a:xfrm>
            <a:off x="19202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8" name="Rectangle 937"/>
          <p:cNvSpPr/>
          <p:nvPr/>
        </p:nvSpPr>
        <p:spPr>
          <a:xfrm>
            <a:off x="21488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9" name="Rectangle 938"/>
          <p:cNvSpPr/>
          <p:nvPr/>
        </p:nvSpPr>
        <p:spPr>
          <a:xfrm>
            <a:off x="23774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0" name="Rectangle 939"/>
          <p:cNvSpPr/>
          <p:nvPr/>
        </p:nvSpPr>
        <p:spPr>
          <a:xfrm>
            <a:off x="26060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1" name="Rectangle 940"/>
          <p:cNvSpPr/>
          <p:nvPr/>
        </p:nvSpPr>
        <p:spPr>
          <a:xfrm>
            <a:off x="28346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2" name="Rectangle 941"/>
          <p:cNvSpPr/>
          <p:nvPr/>
        </p:nvSpPr>
        <p:spPr>
          <a:xfrm>
            <a:off x="30632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3" name="Rectangle 942"/>
          <p:cNvSpPr/>
          <p:nvPr/>
        </p:nvSpPr>
        <p:spPr>
          <a:xfrm>
            <a:off x="32918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4" name="Rectangle 943"/>
          <p:cNvSpPr/>
          <p:nvPr/>
        </p:nvSpPr>
        <p:spPr>
          <a:xfrm>
            <a:off x="35204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5" name="Rectangle 944"/>
          <p:cNvSpPr/>
          <p:nvPr/>
        </p:nvSpPr>
        <p:spPr>
          <a:xfrm>
            <a:off x="3749039"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6" name="Rectangle 945"/>
          <p:cNvSpPr/>
          <p:nvPr/>
        </p:nvSpPr>
        <p:spPr>
          <a:xfrm>
            <a:off x="3977639"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7" name="Rectangle 946"/>
          <p:cNvSpPr/>
          <p:nvPr/>
        </p:nvSpPr>
        <p:spPr>
          <a:xfrm>
            <a:off x="42062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8" name="Rectangle 947"/>
          <p:cNvSpPr/>
          <p:nvPr/>
        </p:nvSpPr>
        <p:spPr>
          <a:xfrm>
            <a:off x="44348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9" name="Rectangle 948"/>
          <p:cNvSpPr/>
          <p:nvPr/>
        </p:nvSpPr>
        <p:spPr>
          <a:xfrm>
            <a:off x="46634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0" name="Rectangle 949"/>
          <p:cNvSpPr/>
          <p:nvPr/>
        </p:nvSpPr>
        <p:spPr>
          <a:xfrm>
            <a:off x="48920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1" name="Rectangle 950"/>
          <p:cNvSpPr/>
          <p:nvPr/>
        </p:nvSpPr>
        <p:spPr>
          <a:xfrm>
            <a:off x="51206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2" name="Rectangle 951"/>
          <p:cNvSpPr/>
          <p:nvPr/>
        </p:nvSpPr>
        <p:spPr>
          <a:xfrm>
            <a:off x="53492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3" name="Rectangle 952"/>
          <p:cNvSpPr/>
          <p:nvPr/>
        </p:nvSpPr>
        <p:spPr>
          <a:xfrm>
            <a:off x="55778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4" name="Rectangle 953"/>
          <p:cNvSpPr/>
          <p:nvPr/>
        </p:nvSpPr>
        <p:spPr>
          <a:xfrm>
            <a:off x="58064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5" name="Rectangle 954"/>
          <p:cNvSpPr/>
          <p:nvPr/>
        </p:nvSpPr>
        <p:spPr>
          <a:xfrm>
            <a:off x="60350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6" name="Rectangle 955"/>
          <p:cNvSpPr/>
          <p:nvPr/>
        </p:nvSpPr>
        <p:spPr>
          <a:xfrm>
            <a:off x="62636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7" name="Rectangle 956"/>
          <p:cNvSpPr/>
          <p:nvPr/>
        </p:nvSpPr>
        <p:spPr>
          <a:xfrm>
            <a:off x="64922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8" name="Rectangle 957"/>
          <p:cNvSpPr/>
          <p:nvPr/>
        </p:nvSpPr>
        <p:spPr>
          <a:xfrm>
            <a:off x="67208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9" name="Rectangle 958"/>
          <p:cNvSpPr/>
          <p:nvPr/>
        </p:nvSpPr>
        <p:spPr>
          <a:xfrm>
            <a:off x="69494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0" name="Rectangle 959"/>
          <p:cNvSpPr/>
          <p:nvPr/>
        </p:nvSpPr>
        <p:spPr>
          <a:xfrm>
            <a:off x="71780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1" name="Rectangle 960"/>
          <p:cNvSpPr/>
          <p:nvPr/>
        </p:nvSpPr>
        <p:spPr>
          <a:xfrm>
            <a:off x="74066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2" name="Rectangle 961"/>
          <p:cNvSpPr/>
          <p:nvPr/>
        </p:nvSpPr>
        <p:spPr>
          <a:xfrm>
            <a:off x="76352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3" name="Rectangle 962"/>
          <p:cNvSpPr/>
          <p:nvPr/>
        </p:nvSpPr>
        <p:spPr>
          <a:xfrm>
            <a:off x="78638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4" name="Rectangle 963"/>
          <p:cNvSpPr/>
          <p:nvPr/>
        </p:nvSpPr>
        <p:spPr>
          <a:xfrm>
            <a:off x="80924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5" name="Rectangle 964"/>
          <p:cNvSpPr/>
          <p:nvPr/>
        </p:nvSpPr>
        <p:spPr>
          <a:xfrm>
            <a:off x="83210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6" name="Rectangle 965"/>
          <p:cNvSpPr/>
          <p:nvPr/>
        </p:nvSpPr>
        <p:spPr>
          <a:xfrm>
            <a:off x="85496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7" name="Rectangle 966"/>
          <p:cNvSpPr/>
          <p:nvPr/>
        </p:nvSpPr>
        <p:spPr>
          <a:xfrm>
            <a:off x="87782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8" name="Rectangle 967"/>
          <p:cNvSpPr/>
          <p:nvPr/>
        </p:nvSpPr>
        <p:spPr>
          <a:xfrm>
            <a:off x="9006840" y="2971800"/>
            <a:ext cx="201168" cy="5029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9" name="TextBox 968"/>
          <p:cNvSpPr txBox="1"/>
          <p:nvPr/>
        </p:nvSpPr>
        <p:spPr>
          <a:xfrm>
            <a:off x="1920240" y="3474720"/>
            <a:ext cx="7315200" cy="182880"/>
          </a:xfrm>
          <a:prstGeom prst="rect">
            <a:avLst/>
          </a:prstGeom>
          <a:noFill/>
        </p:spPr>
        <p:txBody>
          <a:bodyPr wrap="square" lIns="0" tIns="0" rIns="0" bIns="0" anchor="ctr">
            <a:spAutoFit/>
          </a:bodyPr>
          <a:lstStyle/>
          <a:p>
            <a:pPr algn="ctr"/>
            <a:endParaRPr/>
          </a:p>
        </p:txBody>
      </p:sp>
      <p:sp>
        <p:nvSpPr>
          <p:cNvPr id="970" name="TextBox 969"/>
          <p:cNvSpPr txBox="1"/>
          <p:nvPr/>
        </p:nvSpPr>
        <p:spPr>
          <a:xfrm>
            <a:off x="731520" y="3657600"/>
            <a:ext cx="1280160" cy="502920"/>
          </a:xfrm>
          <a:prstGeom prst="rect">
            <a:avLst/>
          </a:prstGeom>
          <a:noFill/>
        </p:spPr>
        <p:txBody>
          <a:bodyPr wrap="square" lIns="0" tIns="0" rIns="0" bIns="0" anchor="ctr">
            <a:spAutoFit/>
          </a:bodyPr>
          <a:lstStyle/>
          <a:p>
            <a:pPr algn="l"/>
            <a:r>
              <a:rPr sz="1800" b="0" i="0">
                <a:solidFill>
                  <a:srgbClr val="000000"/>
                </a:solidFill>
                <a:latin typeface="Cambria"/>
              </a:rPr>
              <a:t>warp 2</a:t>
            </a:r>
          </a:p>
        </p:txBody>
      </p:sp>
      <p:sp>
        <p:nvSpPr>
          <p:cNvPr id="971" name="Rectangle 970"/>
          <p:cNvSpPr/>
          <p:nvPr/>
        </p:nvSpPr>
        <p:spPr>
          <a:xfrm>
            <a:off x="19202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2" name="Rectangle 971"/>
          <p:cNvSpPr/>
          <p:nvPr/>
        </p:nvSpPr>
        <p:spPr>
          <a:xfrm>
            <a:off x="21488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3" name="Rectangle 972"/>
          <p:cNvSpPr/>
          <p:nvPr/>
        </p:nvSpPr>
        <p:spPr>
          <a:xfrm>
            <a:off x="23774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4" name="Rectangle 973"/>
          <p:cNvSpPr/>
          <p:nvPr/>
        </p:nvSpPr>
        <p:spPr>
          <a:xfrm>
            <a:off x="26060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5" name="Rectangle 974"/>
          <p:cNvSpPr/>
          <p:nvPr/>
        </p:nvSpPr>
        <p:spPr>
          <a:xfrm>
            <a:off x="28346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6" name="Rectangle 975"/>
          <p:cNvSpPr/>
          <p:nvPr/>
        </p:nvSpPr>
        <p:spPr>
          <a:xfrm>
            <a:off x="30632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7" name="Rectangle 976"/>
          <p:cNvSpPr/>
          <p:nvPr/>
        </p:nvSpPr>
        <p:spPr>
          <a:xfrm>
            <a:off x="32918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8" name="Rectangle 977"/>
          <p:cNvSpPr/>
          <p:nvPr/>
        </p:nvSpPr>
        <p:spPr>
          <a:xfrm>
            <a:off x="35204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9" name="Rectangle 978"/>
          <p:cNvSpPr/>
          <p:nvPr/>
        </p:nvSpPr>
        <p:spPr>
          <a:xfrm>
            <a:off x="3749039"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0" name="Rectangle 979"/>
          <p:cNvSpPr/>
          <p:nvPr/>
        </p:nvSpPr>
        <p:spPr>
          <a:xfrm>
            <a:off x="3977639"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1" name="Rectangle 980"/>
          <p:cNvSpPr/>
          <p:nvPr/>
        </p:nvSpPr>
        <p:spPr>
          <a:xfrm>
            <a:off x="42062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2" name="Rectangle 981"/>
          <p:cNvSpPr/>
          <p:nvPr/>
        </p:nvSpPr>
        <p:spPr>
          <a:xfrm>
            <a:off x="44348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3" name="Rectangle 982"/>
          <p:cNvSpPr/>
          <p:nvPr/>
        </p:nvSpPr>
        <p:spPr>
          <a:xfrm>
            <a:off x="46634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4" name="Rectangle 983"/>
          <p:cNvSpPr/>
          <p:nvPr/>
        </p:nvSpPr>
        <p:spPr>
          <a:xfrm>
            <a:off x="48920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5" name="Rectangle 984"/>
          <p:cNvSpPr/>
          <p:nvPr/>
        </p:nvSpPr>
        <p:spPr>
          <a:xfrm>
            <a:off x="51206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6" name="Rectangle 985"/>
          <p:cNvSpPr/>
          <p:nvPr/>
        </p:nvSpPr>
        <p:spPr>
          <a:xfrm>
            <a:off x="53492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7" name="Rectangle 986"/>
          <p:cNvSpPr/>
          <p:nvPr/>
        </p:nvSpPr>
        <p:spPr>
          <a:xfrm>
            <a:off x="55778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8" name="Rectangle 987"/>
          <p:cNvSpPr/>
          <p:nvPr/>
        </p:nvSpPr>
        <p:spPr>
          <a:xfrm>
            <a:off x="58064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9" name="Rectangle 988"/>
          <p:cNvSpPr/>
          <p:nvPr/>
        </p:nvSpPr>
        <p:spPr>
          <a:xfrm>
            <a:off x="60350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0" name="Rectangle 989"/>
          <p:cNvSpPr/>
          <p:nvPr/>
        </p:nvSpPr>
        <p:spPr>
          <a:xfrm>
            <a:off x="62636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1" name="Rectangle 990"/>
          <p:cNvSpPr/>
          <p:nvPr/>
        </p:nvSpPr>
        <p:spPr>
          <a:xfrm>
            <a:off x="64922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2" name="Rectangle 991"/>
          <p:cNvSpPr/>
          <p:nvPr/>
        </p:nvSpPr>
        <p:spPr>
          <a:xfrm>
            <a:off x="67208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3" name="Rectangle 992"/>
          <p:cNvSpPr/>
          <p:nvPr/>
        </p:nvSpPr>
        <p:spPr>
          <a:xfrm>
            <a:off x="69494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4" name="Rectangle 993"/>
          <p:cNvSpPr/>
          <p:nvPr/>
        </p:nvSpPr>
        <p:spPr>
          <a:xfrm>
            <a:off x="71780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5" name="Rectangle 994"/>
          <p:cNvSpPr/>
          <p:nvPr/>
        </p:nvSpPr>
        <p:spPr>
          <a:xfrm>
            <a:off x="74066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6" name="Rectangle 995"/>
          <p:cNvSpPr/>
          <p:nvPr/>
        </p:nvSpPr>
        <p:spPr>
          <a:xfrm>
            <a:off x="76352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7" name="Rectangle 996"/>
          <p:cNvSpPr/>
          <p:nvPr/>
        </p:nvSpPr>
        <p:spPr>
          <a:xfrm>
            <a:off x="78638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8" name="Rectangle 997"/>
          <p:cNvSpPr/>
          <p:nvPr/>
        </p:nvSpPr>
        <p:spPr>
          <a:xfrm>
            <a:off x="80924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9" name="Rectangle 998"/>
          <p:cNvSpPr/>
          <p:nvPr/>
        </p:nvSpPr>
        <p:spPr>
          <a:xfrm>
            <a:off x="83210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0" name="Rectangle 999"/>
          <p:cNvSpPr/>
          <p:nvPr/>
        </p:nvSpPr>
        <p:spPr>
          <a:xfrm>
            <a:off x="85496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1" name="Rectangle 1000"/>
          <p:cNvSpPr/>
          <p:nvPr/>
        </p:nvSpPr>
        <p:spPr>
          <a:xfrm>
            <a:off x="87782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2" name="Rectangle 1001"/>
          <p:cNvSpPr/>
          <p:nvPr/>
        </p:nvSpPr>
        <p:spPr>
          <a:xfrm>
            <a:off x="9006840" y="36576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3" name="TextBox 1002"/>
          <p:cNvSpPr txBox="1"/>
          <p:nvPr/>
        </p:nvSpPr>
        <p:spPr>
          <a:xfrm>
            <a:off x="1920240" y="4160520"/>
            <a:ext cx="7315200" cy="182880"/>
          </a:xfrm>
          <a:prstGeom prst="rect">
            <a:avLst/>
          </a:prstGeom>
          <a:noFill/>
        </p:spPr>
        <p:txBody>
          <a:bodyPr wrap="square" lIns="0" tIns="0" rIns="0" bIns="0" anchor="ctr">
            <a:spAutoFit/>
          </a:bodyPr>
          <a:lstStyle/>
          <a:p>
            <a:pPr algn="ctr"/>
            <a:endParaRPr/>
          </a:p>
        </p:txBody>
      </p:sp>
      <p:sp>
        <p:nvSpPr>
          <p:cNvPr id="1004" name="TextBox 1003"/>
          <p:cNvSpPr txBox="1"/>
          <p:nvPr/>
        </p:nvSpPr>
        <p:spPr>
          <a:xfrm>
            <a:off x="731520" y="4343400"/>
            <a:ext cx="1280160" cy="502920"/>
          </a:xfrm>
          <a:prstGeom prst="rect">
            <a:avLst/>
          </a:prstGeom>
          <a:noFill/>
        </p:spPr>
        <p:txBody>
          <a:bodyPr wrap="square" lIns="0" tIns="0" rIns="0" bIns="0" anchor="ctr">
            <a:spAutoFit/>
          </a:bodyPr>
          <a:lstStyle/>
          <a:p>
            <a:pPr algn="l"/>
            <a:r>
              <a:rPr sz="1800" b="0" i="0">
                <a:solidFill>
                  <a:srgbClr val="000000"/>
                </a:solidFill>
                <a:latin typeface="Cambria"/>
              </a:rPr>
              <a:t>warp 3</a:t>
            </a:r>
          </a:p>
        </p:txBody>
      </p:sp>
      <p:sp>
        <p:nvSpPr>
          <p:cNvPr id="1005" name="Rectangle 1004"/>
          <p:cNvSpPr/>
          <p:nvPr/>
        </p:nvSpPr>
        <p:spPr>
          <a:xfrm>
            <a:off x="19202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6" name="Rectangle 1005"/>
          <p:cNvSpPr/>
          <p:nvPr/>
        </p:nvSpPr>
        <p:spPr>
          <a:xfrm>
            <a:off x="21488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7" name="Rectangle 1006"/>
          <p:cNvSpPr/>
          <p:nvPr/>
        </p:nvSpPr>
        <p:spPr>
          <a:xfrm>
            <a:off x="23774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8" name="Rectangle 1007"/>
          <p:cNvSpPr/>
          <p:nvPr/>
        </p:nvSpPr>
        <p:spPr>
          <a:xfrm>
            <a:off x="26060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9" name="Rectangle 1008"/>
          <p:cNvSpPr/>
          <p:nvPr/>
        </p:nvSpPr>
        <p:spPr>
          <a:xfrm>
            <a:off x="28346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0" name="Rectangle 1009"/>
          <p:cNvSpPr/>
          <p:nvPr/>
        </p:nvSpPr>
        <p:spPr>
          <a:xfrm>
            <a:off x="30632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1" name="Rectangle 1010"/>
          <p:cNvSpPr/>
          <p:nvPr/>
        </p:nvSpPr>
        <p:spPr>
          <a:xfrm>
            <a:off x="32918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2" name="Rectangle 1011"/>
          <p:cNvSpPr/>
          <p:nvPr/>
        </p:nvSpPr>
        <p:spPr>
          <a:xfrm>
            <a:off x="35204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3" name="Rectangle 1012"/>
          <p:cNvSpPr/>
          <p:nvPr/>
        </p:nvSpPr>
        <p:spPr>
          <a:xfrm>
            <a:off x="3749039"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4" name="Rectangle 1013"/>
          <p:cNvSpPr/>
          <p:nvPr/>
        </p:nvSpPr>
        <p:spPr>
          <a:xfrm>
            <a:off x="3977639"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5" name="Rectangle 1014"/>
          <p:cNvSpPr/>
          <p:nvPr/>
        </p:nvSpPr>
        <p:spPr>
          <a:xfrm>
            <a:off x="42062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6" name="Rectangle 1015"/>
          <p:cNvSpPr/>
          <p:nvPr/>
        </p:nvSpPr>
        <p:spPr>
          <a:xfrm>
            <a:off x="44348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7" name="Rectangle 1016"/>
          <p:cNvSpPr/>
          <p:nvPr/>
        </p:nvSpPr>
        <p:spPr>
          <a:xfrm>
            <a:off x="46634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8" name="Rectangle 1017"/>
          <p:cNvSpPr/>
          <p:nvPr/>
        </p:nvSpPr>
        <p:spPr>
          <a:xfrm>
            <a:off x="48920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9" name="Rectangle 1018"/>
          <p:cNvSpPr/>
          <p:nvPr/>
        </p:nvSpPr>
        <p:spPr>
          <a:xfrm>
            <a:off x="51206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0" name="Rectangle 1019"/>
          <p:cNvSpPr/>
          <p:nvPr/>
        </p:nvSpPr>
        <p:spPr>
          <a:xfrm>
            <a:off x="53492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1" name="Rectangle 1020"/>
          <p:cNvSpPr/>
          <p:nvPr/>
        </p:nvSpPr>
        <p:spPr>
          <a:xfrm>
            <a:off x="55778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2" name="Rectangle 1021"/>
          <p:cNvSpPr/>
          <p:nvPr/>
        </p:nvSpPr>
        <p:spPr>
          <a:xfrm>
            <a:off x="58064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3" name="Rectangle 1022"/>
          <p:cNvSpPr/>
          <p:nvPr/>
        </p:nvSpPr>
        <p:spPr>
          <a:xfrm>
            <a:off x="60350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4" name="Rectangle 1023"/>
          <p:cNvSpPr/>
          <p:nvPr/>
        </p:nvSpPr>
        <p:spPr>
          <a:xfrm>
            <a:off x="62636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5" name="Rectangle 1024"/>
          <p:cNvSpPr/>
          <p:nvPr/>
        </p:nvSpPr>
        <p:spPr>
          <a:xfrm>
            <a:off x="64922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6" name="Rectangle 1025"/>
          <p:cNvSpPr/>
          <p:nvPr/>
        </p:nvSpPr>
        <p:spPr>
          <a:xfrm>
            <a:off x="67208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7" name="Rectangle 1026"/>
          <p:cNvSpPr/>
          <p:nvPr/>
        </p:nvSpPr>
        <p:spPr>
          <a:xfrm>
            <a:off x="69494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8" name="Rectangle 1027"/>
          <p:cNvSpPr/>
          <p:nvPr/>
        </p:nvSpPr>
        <p:spPr>
          <a:xfrm>
            <a:off x="71780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9" name="Rectangle 1028"/>
          <p:cNvSpPr/>
          <p:nvPr/>
        </p:nvSpPr>
        <p:spPr>
          <a:xfrm>
            <a:off x="74066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30" name="Rectangle 1029"/>
          <p:cNvSpPr/>
          <p:nvPr/>
        </p:nvSpPr>
        <p:spPr>
          <a:xfrm>
            <a:off x="76352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31" name="Rectangle 1030"/>
          <p:cNvSpPr/>
          <p:nvPr/>
        </p:nvSpPr>
        <p:spPr>
          <a:xfrm>
            <a:off x="78638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32" name="Rectangle 1031"/>
          <p:cNvSpPr/>
          <p:nvPr/>
        </p:nvSpPr>
        <p:spPr>
          <a:xfrm>
            <a:off x="80924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33" name="Rectangle 1032"/>
          <p:cNvSpPr/>
          <p:nvPr/>
        </p:nvSpPr>
        <p:spPr>
          <a:xfrm>
            <a:off x="83210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34" name="Rectangle 1033"/>
          <p:cNvSpPr/>
          <p:nvPr/>
        </p:nvSpPr>
        <p:spPr>
          <a:xfrm>
            <a:off x="85496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35" name="Rectangle 1034"/>
          <p:cNvSpPr/>
          <p:nvPr/>
        </p:nvSpPr>
        <p:spPr>
          <a:xfrm>
            <a:off x="87782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36" name="Rectangle 1035"/>
          <p:cNvSpPr/>
          <p:nvPr/>
        </p:nvSpPr>
        <p:spPr>
          <a:xfrm>
            <a:off x="9006840" y="4343400"/>
            <a:ext cx="201168" cy="50292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37" name="TextBox 1036"/>
          <p:cNvSpPr txBox="1"/>
          <p:nvPr/>
        </p:nvSpPr>
        <p:spPr>
          <a:xfrm>
            <a:off x="1920240" y="4846320"/>
            <a:ext cx="7315200" cy="182880"/>
          </a:xfrm>
          <a:prstGeom prst="rect">
            <a:avLst/>
          </a:prstGeom>
          <a:noFill/>
        </p:spPr>
        <p:txBody>
          <a:bodyPr wrap="square" lIns="0" tIns="0" rIns="0" bIns="0" anchor="ctr">
            <a:spAutoFit/>
          </a:bodyPr>
          <a:lstStyle/>
          <a:p>
            <a:pPr algn="ctr"/>
            <a:endParaRPr/>
          </a:p>
        </p:txBody>
      </p:sp>
      <p:sp>
        <p:nvSpPr>
          <p:cNvPr id="1038" name="TextBox 1037"/>
          <p:cNvSpPr txBox="1"/>
          <p:nvPr/>
        </p:nvSpPr>
        <p:spPr>
          <a:xfrm>
            <a:off x="1920240" y="5029200"/>
            <a:ext cx="7315200" cy="365760"/>
          </a:xfrm>
          <a:prstGeom prst="rect">
            <a:avLst/>
          </a:prstGeom>
          <a:noFill/>
        </p:spPr>
        <p:txBody>
          <a:bodyPr wrap="square" lIns="0" tIns="0" rIns="0" bIns="0" anchor="ctr">
            <a:spAutoFit/>
          </a:bodyPr>
          <a:lstStyle/>
          <a:p>
            <a:pPr algn="l"/>
            <a:r>
              <a:rPr sz="1600" b="0" i="1">
                <a:solidFill>
                  <a:srgbClr val="595959"/>
                </a:solidFill>
                <a:latin typeface="Cambria"/>
              </a:rPr>
              <a:t>amber:  warp 1  =  threads 32 .. 63,  one instruction for all</a:t>
            </a:r>
          </a:p>
        </p:txBody>
      </p:sp>
      <p:sp>
        <p:nvSpPr>
          <p:cNvPr id="1039" name="TextBox 1038"/>
          <p:cNvSpPr txBox="1"/>
          <p:nvPr/>
        </p:nvSpPr>
        <p:spPr>
          <a:xfrm>
            <a:off x="731520" y="5486400"/>
            <a:ext cx="8595360" cy="11887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The SM issues </a:t>
            </a:r>
            <a:r>
              <a:rPr sz="2200" b="1" i="0">
                <a:solidFill>
                  <a:srgbClr val="000000"/>
                </a:solidFill>
                <a:latin typeface="Cambria"/>
              </a:rPr>
              <a:t>one instruction per warp</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All 32 threads execute it together:  this is </a:t>
            </a:r>
            <a:r>
              <a:rPr sz="2200" b="1" i="0">
                <a:solidFill>
                  <a:srgbClr val="000000"/>
                </a:solidFill>
                <a:latin typeface="Cambria"/>
              </a:rPr>
              <a:t>SIMT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Branch Divergence</a:t>
            </a:r>
          </a:p>
        </p:txBody>
      </p:sp>
      <p:sp>
        <p:nvSpPr>
          <p:cNvPr id="901" name="Rectangle 900"/>
          <p:cNvSpPr/>
          <p:nvPr/>
        </p:nvSpPr>
        <p:spPr>
          <a:xfrm>
            <a:off x="731520" y="1691640"/>
            <a:ext cx="8595360" cy="213359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int i = blockIdx.x * blockDim.x + threadIdx.x;</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if (threadIdx.x % 2 == 0)</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y[i] = a[i] * 2.0f;     // even threads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else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y[i] = a[i] + 1.0f;     // odd threads</a:t>
            </a:r>
          </a:p>
        </p:txBody>
      </p:sp>
      <p:sp>
        <p:nvSpPr>
          <p:cNvPr id="902" name="TextBox 901"/>
          <p:cNvSpPr txBox="1"/>
          <p:nvPr/>
        </p:nvSpPr>
        <p:spPr>
          <a:xfrm>
            <a:off x="731520" y="3916680"/>
            <a:ext cx="8595360" cy="457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1800" b="0" i="1">
                <a:solidFill>
                  <a:srgbClr val="000000"/>
                </a:solidFill>
                <a:latin typeface="Cambria"/>
              </a:rPr>
              <a:t>One warp runs both paths,  with half its lanes switched off each time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Memory Hierarchy</a:t>
            </a:r>
          </a:p>
        </p:txBody>
      </p:sp>
      <p:sp>
        <p:nvSpPr>
          <p:cNvPr id="901" name="Rectangle 900"/>
          <p:cNvSpPr/>
          <p:nvPr/>
        </p:nvSpPr>
        <p:spPr>
          <a:xfrm>
            <a:off x="2926080" y="1783080"/>
            <a:ext cx="2743200" cy="8686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Registers</a:t>
            </a:r>
          </a:p>
          <a:p>
            <a:pPr algn="ctr"/>
            <a:r>
              <a:rPr sz="1600" b="0">
                <a:solidFill>
                  <a:srgbClr val="000000"/>
                </a:solidFill>
                <a:latin typeface="Cambria"/>
              </a:rPr>
              <a:t>per thread</a:t>
            </a:r>
          </a:p>
        </p:txBody>
      </p:sp>
      <p:sp>
        <p:nvSpPr>
          <p:cNvPr id="902" name="TextBox 901"/>
          <p:cNvSpPr txBox="1"/>
          <p:nvPr/>
        </p:nvSpPr>
        <p:spPr>
          <a:xfrm>
            <a:off x="8092440" y="1783080"/>
            <a:ext cx="1371600" cy="868680"/>
          </a:xfrm>
          <a:prstGeom prst="rect">
            <a:avLst/>
          </a:prstGeom>
          <a:noFill/>
        </p:spPr>
        <p:txBody>
          <a:bodyPr wrap="square" lIns="0" tIns="0" rIns="0" bIns="0" anchor="ctr">
            <a:spAutoFit/>
          </a:bodyPr>
          <a:lstStyle/>
          <a:p>
            <a:pPr algn="ctr"/>
            <a:r>
              <a:rPr sz="2200" b="1" i="0">
                <a:solidFill>
                  <a:srgbClr val="000000"/>
                </a:solidFill>
                <a:latin typeface="Cambria"/>
              </a:rPr>
              <a:t>~1</a:t>
            </a:r>
          </a:p>
        </p:txBody>
      </p:sp>
      <p:sp>
        <p:nvSpPr>
          <p:cNvPr id="903" name="Rectangle 902"/>
          <p:cNvSpPr/>
          <p:nvPr/>
        </p:nvSpPr>
        <p:spPr>
          <a:xfrm>
            <a:off x="2194560" y="2834639"/>
            <a:ext cx="4206240" cy="86868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Shared memory / L1</a:t>
            </a:r>
          </a:p>
          <a:p>
            <a:pPr algn="ctr"/>
            <a:r>
              <a:rPr sz="1600" b="0">
                <a:solidFill>
                  <a:srgbClr val="000000"/>
                </a:solidFill>
                <a:latin typeface="Cambria"/>
              </a:rPr>
              <a:t>per block</a:t>
            </a:r>
          </a:p>
        </p:txBody>
      </p:sp>
      <p:sp>
        <p:nvSpPr>
          <p:cNvPr id="904" name="TextBox 903"/>
          <p:cNvSpPr txBox="1"/>
          <p:nvPr/>
        </p:nvSpPr>
        <p:spPr>
          <a:xfrm>
            <a:off x="8092440" y="2834639"/>
            <a:ext cx="1371600" cy="868680"/>
          </a:xfrm>
          <a:prstGeom prst="rect">
            <a:avLst/>
          </a:prstGeom>
          <a:noFill/>
        </p:spPr>
        <p:txBody>
          <a:bodyPr wrap="square" lIns="0" tIns="0" rIns="0" bIns="0" anchor="ctr">
            <a:spAutoFit/>
          </a:bodyPr>
          <a:lstStyle/>
          <a:p>
            <a:pPr algn="ctr"/>
            <a:r>
              <a:rPr sz="2200" b="1" i="0">
                <a:solidFill>
                  <a:srgbClr val="000000"/>
                </a:solidFill>
                <a:latin typeface="Cambria"/>
              </a:rPr>
              <a:t>~30</a:t>
            </a:r>
          </a:p>
        </p:txBody>
      </p:sp>
      <p:sp>
        <p:nvSpPr>
          <p:cNvPr id="905" name="Rectangle 904"/>
          <p:cNvSpPr/>
          <p:nvPr/>
        </p:nvSpPr>
        <p:spPr>
          <a:xfrm>
            <a:off x="1463039" y="3886200"/>
            <a:ext cx="5669280" cy="86868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L2 cache</a:t>
            </a:r>
          </a:p>
          <a:p>
            <a:pPr algn="ctr"/>
            <a:r>
              <a:rPr sz="1600" b="0">
                <a:solidFill>
                  <a:srgbClr val="000000"/>
                </a:solidFill>
                <a:latin typeface="Cambria"/>
              </a:rPr>
              <a:t>whole GPU</a:t>
            </a:r>
          </a:p>
        </p:txBody>
      </p:sp>
      <p:sp>
        <p:nvSpPr>
          <p:cNvPr id="906" name="TextBox 905"/>
          <p:cNvSpPr txBox="1"/>
          <p:nvPr/>
        </p:nvSpPr>
        <p:spPr>
          <a:xfrm>
            <a:off x="8092440" y="3886200"/>
            <a:ext cx="1371600" cy="868680"/>
          </a:xfrm>
          <a:prstGeom prst="rect">
            <a:avLst/>
          </a:prstGeom>
          <a:noFill/>
        </p:spPr>
        <p:txBody>
          <a:bodyPr wrap="square" lIns="0" tIns="0" rIns="0" bIns="0" anchor="ctr">
            <a:spAutoFit/>
          </a:bodyPr>
          <a:lstStyle/>
          <a:p>
            <a:pPr algn="ctr"/>
            <a:r>
              <a:rPr sz="2200" b="1" i="0">
                <a:solidFill>
                  <a:srgbClr val="000000"/>
                </a:solidFill>
                <a:latin typeface="Cambria"/>
              </a:rPr>
              <a:t>~200</a:t>
            </a:r>
          </a:p>
        </p:txBody>
      </p:sp>
      <p:sp>
        <p:nvSpPr>
          <p:cNvPr id="907" name="Rectangle 906"/>
          <p:cNvSpPr/>
          <p:nvPr/>
        </p:nvSpPr>
        <p:spPr>
          <a:xfrm>
            <a:off x="731520" y="4937759"/>
            <a:ext cx="7132320" cy="86868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Global memory ( HBM )</a:t>
            </a:r>
          </a:p>
          <a:p>
            <a:pPr algn="ctr"/>
            <a:r>
              <a:rPr sz="1600" b="0">
                <a:solidFill>
                  <a:srgbClr val="000000"/>
                </a:solidFill>
                <a:latin typeface="Cambria"/>
              </a:rPr>
              <a:t>whole GPU + host copies</a:t>
            </a:r>
          </a:p>
        </p:txBody>
      </p:sp>
      <p:sp>
        <p:nvSpPr>
          <p:cNvPr id="908" name="TextBox 907"/>
          <p:cNvSpPr txBox="1"/>
          <p:nvPr/>
        </p:nvSpPr>
        <p:spPr>
          <a:xfrm>
            <a:off x="8092440" y="4937759"/>
            <a:ext cx="1371600" cy="868680"/>
          </a:xfrm>
          <a:prstGeom prst="rect">
            <a:avLst/>
          </a:prstGeom>
          <a:noFill/>
        </p:spPr>
        <p:txBody>
          <a:bodyPr wrap="square" lIns="0" tIns="0" rIns="0" bIns="0" anchor="ctr">
            <a:spAutoFit/>
          </a:bodyPr>
          <a:lstStyle/>
          <a:p>
            <a:pPr algn="ctr"/>
            <a:r>
              <a:rPr sz="2200" b="1" i="0">
                <a:solidFill>
                  <a:srgbClr val="000000"/>
                </a:solidFill>
                <a:latin typeface="Cambria"/>
              </a:rPr>
              <a:t>~500</a:t>
            </a:r>
          </a:p>
        </p:txBody>
      </p:sp>
      <p:sp>
        <p:nvSpPr>
          <p:cNvPr id="909" name="TextBox 908"/>
          <p:cNvSpPr txBox="1"/>
          <p:nvPr/>
        </p:nvSpPr>
        <p:spPr>
          <a:xfrm>
            <a:off x="7863840" y="6035040"/>
            <a:ext cx="1828800" cy="548640"/>
          </a:xfrm>
          <a:prstGeom prst="rect">
            <a:avLst/>
          </a:prstGeom>
          <a:noFill/>
        </p:spPr>
        <p:txBody>
          <a:bodyPr wrap="square" lIns="0" tIns="0" rIns="0" bIns="0" anchor="ctr">
            <a:spAutoFit/>
          </a:bodyPr>
          <a:lstStyle/>
          <a:p>
            <a:pPr algn="ctr"/>
            <a:r>
              <a:rPr sz="1400" b="0" i="0">
                <a:solidFill>
                  <a:srgbClr val="595959"/>
                </a:solidFill>
                <a:latin typeface="Cambria"/>
              </a:rPr>
              <a:t>cycles</a:t>
            </a:r>
          </a:p>
          <a:p>
            <a:pPr algn="ctr"/>
            <a:r>
              <a:rPr sz="1400" b="0" i="0">
                <a:solidFill>
                  <a:srgbClr val="595959"/>
                </a:solidFill>
                <a:latin typeface="Cambria"/>
              </a:rPr>
              <a:t>( approx. )</a:t>
            </a:r>
          </a:p>
        </p:txBody>
      </p:sp>
      <p:sp>
        <p:nvSpPr>
          <p:cNvPr id="910" name="TextBox 909"/>
          <p:cNvSpPr txBox="1"/>
          <p:nvPr/>
        </p:nvSpPr>
        <p:spPr>
          <a:xfrm>
            <a:off x="731520" y="6035040"/>
            <a:ext cx="7132320" cy="54864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000" b="0" i="1">
                <a:solidFill>
                  <a:srgbClr val="000000"/>
                </a:solidFill>
                <a:latin typeface="Cambria"/>
              </a:rPr>
              <a:t>Faster and smaller at the top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Coalesced Memory Access</a:t>
            </a:r>
          </a:p>
        </p:txBody>
      </p:sp>
      <p:sp>
        <p:nvSpPr>
          <p:cNvPr id="901" name="TextBox 900"/>
          <p:cNvSpPr txBox="1"/>
          <p:nvPr/>
        </p:nvSpPr>
        <p:spPr>
          <a:xfrm>
            <a:off x="731520" y="1691640"/>
            <a:ext cx="4114800" cy="411480"/>
          </a:xfrm>
          <a:prstGeom prst="rect">
            <a:avLst/>
          </a:prstGeom>
          <a:noFill/>
        </p:spPr>
        <p:txBody>
          <a:bodyPr wrap="square" lIns="0" tIns="0" rIns="0" bIns="0" anchor="ctr">
            <a:spAutoFit/>
          </a:bodyPr>
          <a:lstStyle/>
          <a:p>
            <a:pPr algn="l"/>
            <a:r>
              <a:rPr sz="2200" b="1" i="0">
                <a:solidFill>
                  <a:srgbClr val="004600"/>
                </a:solidFill>
                <a:latin typeface="Cambria"/>
              </a:rPr>
              <a:t>Good:  c[i]</a:t>
            </a:r>
          </a:p>
        </p:txBody>
      </p:sp>
      <p:sp>
        <p:nvSpPr>
          <p:cNvPr id="902" name="TextBox 901"/>
          <p:cNvSpPr txBox="1"/>
          <p:nvPr/>
        </p:nvSpPr>
        <p:spPr>
          <a:xfrm>
            <a:off x="5212080" y="1691640"/>
            <a:ext cx="4114800" cy="411480"/>
          </a:xfrm>
          <a:prstGeom prst="rect">
            <a:avLst/>
          </a:prstGeom>
          <a:noFill/>
        </p:spPr>
        <p:txBody>
          <a:bodyPr wrap="square" lIns="0" tIns="0" rIns="0" bIns="0" anchor="ctr">
            <a:spAutoFit/>
          </a:bodyPr>
          <a:lstStyle/>
          <a:p>
            <a:pPr algn="l"/>
            <a:r>
              <a:rPr sz="2200" b="1" i="0">
                <a:solidFill>
                  <a:srgbClr val="C00000"/>
                </a:solidFill>
                <a:latin typeface="Cambria"/>
              </a:rPr>
              <a:t>Bad:  c[i * 8]</a:t>
            </a:r>
          </a:p>
        </p:txBody>
      </p:sp>
      <p:sp>
        <p:nvSpPr>
          <p:cNvPr id="903" name="Rectangle 902"/>
          <p:cNvSpPr/>
          <p:nvPr/>
        </p:nvSpPr>
        <p:spPr>
          <a:xfrm>
            <a:off x="822960"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t0</a:t>
            </a:r>
          </a:p>
        </p:txBody>
      </p:sp>
      <p:sp>
        <p:nvSpPr>
          <p:cNvPr id="904" name="Rectangle 903"/>
          <p:cNvSpPr/>
          <p:nvPr/>
        </p:nvSpPr>
        <p:spPr>
          <a:xfrm>
            <a:off x="822960" y="3657600"/>
            <a:ext cx="54864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05" name="Connector 904"/>
          <p:cNvCxnSpPr/>
          <p:nvPr/>
        </p:nvCxnSpPr>
        <p:spPr>
          <a:xfrm>
            <a:off x="1097280" y="2743200"/>
            <a:ext cx="0"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6" name="Rectangle 905"/>
          <p:cNvSpPr/>
          <p:nvPr/>
        </p:nvSpPr>
        <p:spPr>
          <a:xfrm>
            <a:off x="5303520"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t0</a:t>
            </a:r>
          </a:p>
        </p:txBody>
      </p:sp>
      <p:sp>
        <p:nvSpPr>
          <p:cNvPr id="907" name="Rectangle 906"/>
          <p:cNvSpPr/>
          <p:nvPr/>
        </p:nvSpPr>
        <p:spPr>
          <a:xfrm>
            <a:off x="1463040"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t1</a:t>
            </a:r>
          </a:p>
        </p:txBody>
      </p:sp>
      <p:sp>
        <p:nvSpPr>
          <p:cNvPr id="908" name="Rectangle 907"/>
          <p:cNvSpPr/>
          <p:nvPr/>
        </p:nvSpPr>
        <p:spPr>
          <a:xfrm>
            <a:off x="1463040" y="3657600"/>
            <a:ext cx="54864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09" name="Connector 908"/>
          <p:cNvCxnSpPr/>
          <p:nvPr/>
        </p:nvCxnSpPr>
        <p:spPr>
          <a:xfrm>
            <a:off x="1737360" y="2743200"/>
            <a:ext cx="0"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0" name="Rectangle 909"/>
          <p:cNvSpPr/>
          <p:nvPr/>
        </p:nvSpPr>
        <p:spPr>
          <a:xfrm>
            <a:off x="5943600"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t1</a:t>
            </a:r>
          </a:p>
        </p:txBody>
      </p:sp>
      <p:sp>
        <p:nvSpPr>
          <p:cNvPr id="911" name="Rectangle 910"/>
          <p:cNvSpPr/>
          <p:nvPr/>
        </p:nvSpPr>
        <p:spPr>
          <a:xfrm>
            <a:off x="2103120"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t2</a:t>
            </a:r>
          </a:p>
        </p:txBody>
      </p:sp>
      <p:sp>
        <p:nvSpPr>
          <p:cNvPr id="912" name="Rectangle 911"/>
          <p:cNvSpPr/>
          <p:nvPr/>
        </p:nvSpPr>
        <p:spPr>
          <a:xfrm>
            <a:off x="2103120" y="3657600"/>
            <a:ext cx="54864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13" name="Connector 912"/>
          <p:cNvCxnSpPr/>
          <p:nvPr/>
        </p:nvCxnSpPr>
        <p:spPr>
          <a:xfrm>
            <a:off x="2377439" y="2743200"/>
            <a:ext cx="0"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4" name="Rectangle 913"/>
          <p:cNvSpPr/>
          <p:nvPr/>
        </p:nvSpPr>
        <p:spPr>
          <a:xfrm>
            <a:off x="6583679"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t2</a:t>
            </a:r>
          </a:p>
        </p:txBody>
      </p:sp>
      <p:sp>
        <p:nvSpPr>
          <p:cNvPr id="915" name="Rectangle 914"/>
          <p:cNvSpPr/>
          <p:nvPr/>
        </p:nvSpPr>
        <p:spPr>
          <a:xfrm>
            <a:off x="2743199"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t3</a:t>
            </a:r>
          </a:p>
        </p:txBody>
      </p:sp>
      <p:sp>
        <p:nvSpPr>
          <p:cNvPr id="916" name="Rectangle 915"/>
          <p:cNvSpPr/>
          <p:nvPr/>
        </p:nvSpPr>
        <p:spPr>
          <a:xfrm>
            <a:off x="2743199" y="3657600"/>
            <a:ext cx="54864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17" name="Connector 916"/>
          <p:cNvCxnSpPr/>
          <p:nvPr/>
        </p:nvCxnSpPr>
        <p:spPr>
          <a:xfrm>
            <a:off x="3017520" y="2743200"/>
            <a:ext cx="0"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8" name="Rectangle 917"/>
          <p:cNvSpPr/>
          <p:nvPr/>
        </p:nvSpPr>
        <p:spPr>
          <a:xfrm>
            <a:off x="7223759"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t3</a:t>
            </a:r>
          </a:p>
        </p:txBody>
      </p:sp>
      <p:sp>
        <p:nvSpPr>
          <p:cNvPr id="919" name="Rectangle 918"/>
          <p:cNvSpPr/>
          <p:nvPr/>
        </p:nvSpPr>
        <p:spPr>
          <a:xfrm>
            <a:off x="3383279"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t4</a:t>
            </a:r>
          </a:p>
        </p:txBody>
      </p:sp>
      <p:sp>
        <p:nvSpPr>
          <p:cNvPr id="920" name="Rectangle 919"/>
          <p:cNvSpPr/>
          <p:nvPr/>
        </p:nvSpPr>
        <p:spPr>
          <a:xfrm>
            <a:off x="3383279" y="3657600"/>
            <a:ext cx="54864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21" name="Connector 920"/>
          <p:cNvCxnSpPr/>
          <p:nvPr/>
        </p:nvCxnSpPr>
        <p:spPr>
          <a:xfrm>
            <a:off x="3657600" y="2743200"/>
            <a:ext cx="0"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22" name="Rectangle 921"/>
          <p:cNvSpPr/>
          <p:nvPr/>
        </p:nvSpPr>
        <p:spPr>
          <a:xfrm>
            <a:off x="7863840"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t4</a:t>
            </a:r>
          </a:p>
        </p:txBody>
      </p:sp>
      <p:sp>
        <p:nvSpPr>
          <p:cNvPr id="923" name="Rectangle 922"/>
          <p:cNvSpPr/>
          <p:nvPr/>
        </p:nvSpPr>
        <p:spPr>
          <a:xfrm>
            <a:off x="4023360"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t5</a:t>
            </a:r>
          </a:p>
        </p:txBody>
      </p:sp>
      <p:sp>
        <p:nvSpPr>
          <p:cNvPr id="924" name="Rectangle 923"/>
          <p:cNvSpPr/>
          <p:nvPr/>
        </p:nvSpPr>
        <p:spPr>
          <a:xfrm>
            <a:off x="4023360" y="3657600"/>
            <a:ext cx="54864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25" name="Connector 924"/>
          <p:cNvCxnSpPr/>
          <p:nvPr/>
        </p:nvCxnSpPr>
        <p:spPr>
          <a:xfrm>
            <a:off x="4297680" y="2743200"/>
            <a:ext cx="0"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26" name="Rectangle 925"/>
          <p:cNvSpPr/>
          <p:nvPr/>
        </p:nvSpPr>
        <p:spPr>
          <a:xfrm>
            <a:off x="8503920" y="2286000"/>
            <a:ext cx="548640" cy="4572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t5</a:t>
            </a:r>
          </a:p>
        </p:txBody>
      </p:sp>
      <p:sp>
        <p:nvSpPr>
          <p:cNvPr id="927" name="Rectangle 926"/>
          <p:cNvSpPr/>
          <p:nvPr/>
        </p:nvSpPr>
        <p:spPr>
          <a:xfrm>
            <a:off x="5303520" y="3657600"/>
            <a:ext cx="146304"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8" name="Rectangle 927"/>
          <p:cNvSpPr/>
          <p:nvPr/>
        </p:nvSpPr>
        <p:spPr>
          <a:xfrm>
            <a:off x="5468112"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9" name="Rectangle 928"/>
          <p:cNvSpPr/>
          <p:nvPr/>
        </p:nvSpPr>
        <p:spPr>
          <a:xfrm>
            <a:off x="5632704"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0" name="Rectangle 929"/>
          <p:cNvSpPr/>
          <p:nvPr/>
        </p:nvSpPr>
        <p:spPr>
          <a:xfrm>
            <a:off x="5797296"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1" name="Rectangle 930"/>
          <p:cNvSpPr/>
          <p:nvPr/>
        </p:nvSpPr>
        <p:spPr>
          <a:xfrm>
            <a:off x="5961888" y="3657600"/>
            <a:ext cx="146304"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2" name="Rectangle 931"/>
          <p:cNvSpPr/>
          <p:nvPr/>
        </p:nvSpPr>
        <p:spPr>
          <a:xfrm>
            <a:off x="6126479"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3" name="Rectangle 932"/>
          <p:cNvSpPr/>
          <p:nvPr/>
        </p:nvSpPr>
        <p:spPr>
          <a:xfrm>
            <a:off x="6291072"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4" name="Rectangle 933"/>
          <p:cNvSpPr/>
          <p:nvPr/>
        </p:nvSpPr>
        <p:spPr>
          <a:xfrm>
            <a:off x="6455664"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5" name="Rectangle 934"/>
          <p:cNvSpPr/>
          <p:nvPr/>
        </p:nvSpPr>
        <p:spPr>
          <a:xfrm>
            <a:off x="6620256" y="3657600"/>
            <a:ext cx="146304"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6" name="Rectangle 935"/>
          <p:cNvSpPr/>
          <p:nvPr/>
        </p:nvSpPr>
        <p:spPr>
          <a:xfrm>
            <a:off x="6784848"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7" name="Rectangle 936"/>
          <p:cNvSpPr/>
          <p:nvPr/>
        </p:nvSpPr>
        <p:spPr>
          <a:xfrm>
            <a:off x="6949440"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8" name="Rectangle 937"/>
          <p:cNvSpPr/>
          <p:nvPr/>
        </p:nvSpPr>
        <p:spPr>
          <a:xfrm>
            <a:off x="7114031"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9" name="Rectangle 938"/>
          <p:cNvSpPr/>
          <p:nvPr/>
        </p:nvSpPr>
        <p:spPr>
          <a:xfrm>
            <a:off x="7278624" y="3657600"/>
            <a:ext cx="146304"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0" name="Rectangle 939"/>
          <p:cNvSpPr/>
          <p:nvPr/>
        </p:nvSpPr>
        <p:spPr>
          <a:xfrm>
            <a:off x="7443216"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1" name="Rectangle 940"/>
          <p:cNvSpPr/>
          <p:nvPr/>
        </p:nvSpPr>
        <p:spPr>
          <a:xfrm>
            <a:off x="7607808"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2" name="Rectangle 941"/>
          <p:cNvSpPr/>
          <p:nvPr/>
        </p:nvSpPr>
        <p:spPr>
          <a:xfrm>
            <a:off x="7772400"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3" name="Rectangle 942"/>
          <p:cNvSpPr/>
          <p:nvPr/>
        </p:nvSpPr>
        <p:spPr>
          <a:xfrm>
            <a:off x="7936992" y="3657600"/>
            <a:ext cx="146304"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4" name="Rectangle 943"/>
          <p:cNvSpPr/>
          <p:nvPr/>
        </p:nvSpPr>
        <p:spPr>
          <a:xfrm>
            <a:off x="8101583"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5" name="Rectangle 944"/>
          <p:cNvSpPr/>
          <p:nvPr/>
        </p:nvSpPr>
        <p:spPr>
          <a:xfrm>
            <a:off x="8266175"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6" name="Rectangle 945"/>
          <p:cNvSpPr/>
          <p:nvPr/>
        </p:nvSpPr>
        <p:spPr>
          <a:xfrm>
            <a:off x="8430767"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7" name="Rectangle 946"/>
          <p:cNvSpPr/>
          <p:nvPr/>
        </p:nvSpPr>
        <p:spPr>
          <a:xfrm>
            <a:off x="8595359" y="3657600"/>
            <a:ext cx="146304"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8" name="Rectangle 947"/>
          <p:cNvSpPr/>
          <p:nvPr/>
        </p:nvSpPr>
        <p:spPr>
          <a:xfrm>
            <a:off x="8759952"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9" name="Rectangle 948"/>
          <p:cNvSpPr/>
          <p:nvPr/>
        </p:nvSpPr>
        <p:spPr>
          <a:xfrm>
            <a:off x="8924544"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0" name="Rectangle 949"/>
          <p:cNvSpPr/>
          <p:nvPr/>
        </p:nvSpPr>
        <p:spPr>
          <a:xfrm>
            <a:off x="9089136" y="3657600"/>
            <a:ext cx="146304"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51" name="Connector 950"/>
          <p:cNvCxnSpPr/>
          <p:nvPr/>
        </p:nvCxnSpPr>
        <p:spPr>
          <a:xfrm flipH="1">
            <a:off x="5376672" y="2743200"/>
            <a:ext cx="201168"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52" name="Connector 951"/>
          <p:cNvCxnSpPr/>
          <p:nvPr/>
        </p:nvCxnSpPr>
        <p:spPr>
          <a:xfrm flipH="1">
            <a:off x="6035040" y="2743200"/>
            <a:ext cx="182880"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53" name="Connector 952"/>
          <p:cNvCxnSpPr/>
          <p:nvPr/>
        </p:nvCxnSpPr>
        <p:spPr>
          <a:xfrm flipH="1">
            <a:off x="6693408" y="2743200"/>
            <a:ext cx="164592"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54" name="Connector 953"/>
          <p:cNvCxnSpPr/>
          <p:nvPr/>
        </p:nvCxnSpPr>
        <p:spPr>
          <a:xfrm flipH="1">
            <a:off x="7351775" y="2743200"/>
            <a:ext cx="146304"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55" name="Connector 954"/>
          <p:cNvCxnSpPr/>
          <p:nvPr/>
        </p:nvCxnSpPr>
        <p:spPr>
          <a:xfrm flipH="1">
            <a:off x="8010144" y="2743200"/>
            <a:ext cx="128015"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956" name="Connector 955"/>
          <p:cNvCxnSpPr/>
          <p:nvPr/>
        </p:nvCxnSpPr>
        <p:spPr>
          <a:xfrm flipH="1">
            <a:off x="8668512" y="2743200"/>
            <a:ext cx="109728" cy="91440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57" name="TextBox 956"/>
          <p:cNvSpPr txBox="1"/>
          <p:nvPr/>
        </p:nvSpPr>
        <p:spPr>
          <a:xfrm>
            <a:off x="731520" y="4251960"/>
            <a:ext cx="4114800" cy="365760"/>
          </a:xfrm>
          <a:prstGeom prst="rect">
            <a:avLst/>
          </a:prstGeom>
          <a:noFill/>
        </p:spPr>
        <p:txBody>
          <a:bodyPr wrap="square" lIns="0" tIns="0" rIns="0" bIns="0" anchor="ctr">
            <a:spAutoFit/>
          </a:bodyPr>
          <a:lstStyle/>
          <a:p>
            <a:pPr algn="l"/>
            <a:r>
              <a:rPr sz="1600" b="0" i="1">
                <a:solidFill>
                  <a:srgbClr val="000000"/>
                </a:solidFill>
                <a:latin typeface="Cambria"/>
              </a:rPr>
              <a:t>one wide memory transaction</a:t>
            </a:r>
          </a:p>
        </p:txBody>
      </p:sp>
      <p:sp>
        <p:nvSpPr>
          <p:cNvPr id="958" name="TextBox 957"/>
          <p:cNvSpPr txBox="1"/>
          <p:nvPr/>
        </p:nvSpPr>
        <p:spPr>
          <a:xfrm>
            <a:off x="5212080" y="4251960"/>
            <a:ext cx="4206240" cy="365760"/>
          </a:xfrm>
          <a:prstGeom prst="rect">
            <a:avLst/>
          </a:prstGeom>
          <a:noFill/>
        </p:spPr>
        <p:txBody>
          <a:bodyPr wrap="square" lIns="0" tIns="0" rIns="0" bIns="0" anchor="ctr">
            <a:spAutoFit/>
          </a:bodyPr>
          <a:lstStyle/>
          <a:p>
            <a:pPr algn="l"/>
            <a:r>
              <a:rPr sz="1600" b="0" i="1">
                <a:solidFill>
                  <a:srgbClr val="000000"/>
                </a:solidFill>
                <a:latin typeface="Cambria"/>
              </a:rPr>
              <a:t>many transactions,  most bytes wasted</a:t>
            </a:r>
          </a:p>
        </p:txBody>
      </p:sp>
      <p:sp>
        <p:nvSpPr>
          <p:cNvPr id="959" name="TextBox 958"/>
          <p:cNvSpPr txBox="1"/>
          <p:nvPr/>
        </p:nvSpPr>
        <p:spPr>
          <a:xfrm>
            <a:off x="731520" y="5029200"/>
            <a:ext cx="8595360" cy="14630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Neighbouring threads should touch </a:t>
            </a:r>
            <a:r>
              <a:rPr sz="2200" b="1" i="0">
                <a:solidFill>
                  <a:srgbClr val="000000"/>
                </a:solidFill>
                <a:latin typeface="Cambria"/>
              </a:rPr>
              <a:t>neighbouring addresses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The hardware merges a warp's 32 loads into a few wide ones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Occupancy</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Occupancy</a:t>
            </a:r>
            <a:r>
              <a:rPr sz="2600" b="0" i="0">
                <a:solidFill>
                  <a:srgbClr val="000000"/>
                </a:solidFill>
                <a:latin typeface="Cambria"/>
              </a:rPr>
              <a:t>  =  warps resident  /  maximum warps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More resident warps  →  more to switch to</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  better latency hiding</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Limited by what each thread and block uses: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registers per thread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shared memory per block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Matrix Multiply</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the operation that runs modern AI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  =  A × B</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Each element of  C  is a </a:t>
            </a:r>
            <a:r>
              <a:rPr sz="2600" b="1" i="0">
                <a:solidFill>
                  <a:srgbClr val="000000"/>
                </a:solidFill>
                <a:latin typeface="Cambria"/>
              </a:rPr>
              <a:t>dot product</a:t>
            </a:r>
            <a:r>
              <a:rPr sz="2600" b="0" i="0">
                <a:solidFill>
                  <a:srgbClr val="000000"/>
                </a:solidFill>
                <a:latin typeface="Cambria"/>
              </a:rPr>
              <a:t>:</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C[r][c]  =  Σ   A[r][k] · B[k][c]</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 × N matrices: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N²  outputs,  each needs  N  multiply-adds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total  </a:t>
            </a:r>
            <a:r>
              <a:rPr sz="2600" b="1" i="0">
                <a:solidFill>
                  <a:srgbClr val="000000"/>
                </a:solidFill>
                <a:latin typeface="Cambria"/>
              </a:rPr>
              <a:t>2 N³</a:t>
            </a:r>
            <a:r>
              <a:rPr sz="2600" b="0" i="0">
                <a:solidFill>
                  <a:srgbClr val="000000"/>
                </a:solidFill>
                <a:latin typeface="Cambria"/>
              </a:rPr>
              <a:t>  floating point operations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 = 4096:   about  137 billion  operations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Matrix Multiply on the CPU</a:t>
            </a:r>
          </a:p>
        </p:txBody>
      </p:sp>
      <p:sp>
        <p:nvSpPr>
          <p:cNvPr id="901" name="Rectangle 900"/>
          <p:cNvSpPr/>
          <p:nvPr/>
        </p:nvSpPr>
        <p:spPr>
          <a:xfrm>
            <a:off x="731520" y="1691640"/>
            <a:ext cx="8595360" cy="3342132"/>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void matmul(const float *A, const float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float *C, int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for (int r = 0; r &lt; N; r++)</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for (int c = 0; c &lt; N; c++)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float sum = 0.0f;</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for (int k = 0; k &lt; N; 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sum += A[r * N + k] * B[k * N + c];</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C[r * N + c] = sum;</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Naive Matrix Multiply Kernel</a:t>
            </a:r>
          </a:p>
        </p:txBody>
      </p:sp>
      <p:sp>
        <p:nvSpPr>
          <p:cNvPr id="901" name="Rectangle 900"/>
          <p:cNvSpPr/>
          <p:nvPr/>
        </p:nvSpPr>
        <p:spPr>
          <a:xfrm>
            <a:off x="731520" y="1691640"/>
            <a:ext cx="8595360" cy="3961891"/>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__global__</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void matmul(const float *A, const float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float *C, int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int row = blockIdx.y * blockDim.y + threadIdx.y;</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int col = blockIdx.x * blockDim.x + threadIdx.x;</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if (row &lt; N &amp;&amp; col &lt; N)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float sum = 0.0f;</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for (int k = 0; k &lt; N; 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sum += A[row * N + k] * B[k * N + col];</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C[row * N + col] = sum;</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 2-D Launch</a:t>
            </a:r>
          </a:p>
        </p:txBody>
      </p:sp>
      <p:sp>
        <p:nvSpPr>
          <p:cNvPr id="901" name="Rectangle 900"/>
          <p:cNvSpPr/>
          <p:nvPr/>
        </p:nvSpPr>
        <p:spPr>
          <a:xfrm>
            <a:off x="731520" y="1691640"/>
            <a:ext cx="8595360" cy="182372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dirty="0">
                <a:solidFill>
                  <a:srgbClr val="000000"/>
                </a:solidFill>
                <a:latin typeface="Courier New"/>
              </a:rPr>
              <a:t>dim3 threads(16, 16);        </a:t>
            </a:r>
            <a:r>
              <a:rPr sz="2000" dirty="0" smtClean="0">
                <a:solidFill>
                  <a:srgbClr val="000000"/>
                </a:solidFill>
                <a:latin typeface="Courier New"/>
              </a:rPr>
              <a:t> </a:t>
            </a:r>
            <a:r>
              <a:rPr sz="2000" dirty="0">
                <a:solidFill>
                  <a:srgbClr val="000000"/>
                </a:solidFill>
                <a:latin typeface="Courier New"/>
              </a:rPr>
              <a:t>// 256 threads per block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dirty="0">
                <a:solidFill>
                  <a:srgbClr val="000000"/>
                </a:solidFill>
                <a:latin typeface="Courier New"/>
              </a:rPr>
              <a:t>dim3 blocks((N + 15) / 16,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dirty="0">
                <a:solidFill>
                  <a:srgbClr val="000000"/>
                </a:solidFill>
                <a:latin typeface="Courier New"/>
              </a:rPr>
              <a:t>            </a:t>
            </a:r>
            <a:r>
              <a:rPr sz="2000" dirty="0" smtClean="0">
                <a:solidFill>
                  <a:srgbClr val="000000"/>
                </a:solidFill>
                <a:latin typeface="Courier New"/>
              </a:rPr>
              <a:t>(</a:t>
            </a:r>
            <a:r>
              <a:rPr sz="2000" dirty="0">
                <a:solidFill>
                  <a:srgbClr val="000000"/>
                </a:solidFill>
                <a:latin typeface="Courier New"/>
              </a:rPr>
              <a:t>N + 15) / 16);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dirty="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dirty="0" err="1">
                <a:solidFill>
                  <a:srgbClr val="000000"/>
                </a:solidFill>
                <a:latin typeface="Courier New"/>
              </a:rPr>
              <a:t>matmul</a:t>
            </a:r>
            <a:r>
              <a:rPr sz="2000" dirty="0">
                <a:solidFill>
                  <a:srgbClr val="000000"/>
                </a:solidFill>
                <a:latin typeface="Courier New"/>
              </a:rPr>
              <a:t>&lt;&lt;&lt;blocks, threads&gt;&gt;&gt;(</a:t>
            </a:r>
            <a:r>
              <a:rPr sz="2000" dirty="0" err="1">
                <a:solidFill>
                  <a:srgbClr val="000000"/>
                </a:solidFill>
                <a:latin typeface="Courier New"/>
              </a:rPr>
              <a:t>d_A</a:t>
            </a:r>
            <a:r>
              <a:rPr sz="2000" dirty="0">
                <a:solidFill>
                  <a:srgbClr val="000000"/>
                </a:solidFill>
                <a:latin typeface="Courier New"/>
              </a:rPr>
              <a:t>, </a:t>
            </a:r>
            <a:r>
              <a:rPr sz="2000" dirty="0" err="1">
                <a:solidFill>
                  <a:srgbClr val="000000"/>
                </a:solidFill>
                <a:latin typeface="Courier New"/>
              </a:rPr>
              <a:t>d_B</a:t>
            </a:r>
            <a:r>
              <a:rPr sz="2000" dirty="0">
                <a:solidFill>
                  <a:srgbClr val="000000"/>
                </a:solidFill>
                <a:latin typeface="Courier New"/>
              </a:rPr>
              <a:t>, </a:t>
            </a:r>
            <a:r>
              <a:rPr sz="2000" dirty="0" err="1">
                <a:solidFill>
                  <a:srgbClr val="000000"/>
                </a:solidFill>
                <a:latin typeface="Courier New"/>
              </a:rPr>
              <a:t>d_C</a:t>
            </a:r>
            <a:r>
              <a:rPr sz="2000" dirty="0">
                <a:solidFill>
                  <a:srgbClr val="000000"/>
                </a:solidFill>
                <a:latin typeface="Courier New"/>
              </a:rPr>
              <a:t>, N);</a:t>
            </a:r>
          </a:p>
        </p:txBody>
      </p:sp>
      <p:sp>
        <p:nvSpPr>
          <p:cNvPr id="902" name="TextBox 901"/>
          <p:cNvSpPr txBox="1"/>
          <p:nvPr/>
        </p:nvSpPr>
        <p:spPr>
          <a:xfrm>
            <a:off x="731520" y="3606800"/>
            <a:ext cx="8595360" cy="457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1800" b="0" i="1">
                <a:solidFill>
                  <a:srgbClr val="000000"/>
                </a:solidFill>
                <a:latin typeface="Cambria"/>
              </a:rPr>
              <a:t>Each block computes a 16 × 16 tile of  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What Is Wrong with the Naive Kernel?</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Each thread reads a whole row of  A</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and a whole column of  B  from </a:t>
            </a:r>
            <a:r>
              <a:rPr sz="2600" b="1" i="0">
                <a:solidFill>
                  <a:srgbClr val="000000"/>
                </a:solidFill>
                <a:latin typeface="Cambria"/>
              </a:rPr>
              <a:t>global memory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Every element of  A  is read  </a:t>
            </a:r>
            <a:r>
              <a:rPr sz="2600" b="1" i="0">
                <a:solidFill>
                  <a:srgbClr val="000000"/>
                </a:solidFill>
                <a:latin typeface="Cambria"/>
              </a:rPr>
              <a:t>N  times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2 loads for every multiply-add: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the ALUs sit waiting on memory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Fix:  </a:t>
            </a:r>
            <a:r>
              <a:rPr sz="2600" b="1" i="0">
                <a:solidFill>
                  <a:srgbClr val="000000"/>
                </a:solidFill>
                <a:latin typeface="Cambria"/>
              </a:rPr>
              <a:t>reuse</a:t>
            </a:r>
            <a:r>
              <a:rPr sz="2600" b="0" i="0">
                <a:solidFill>
                  <a:srgbClr val="000000"/>
                </a:solidFill>
                <a:latin typeface="Cambria"/>
              </a:rPr>
              <a:t> data from fast on-chip memory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Tiling</a:t>
            </a:r>
          </a:p>
        </p:txBody>
      </p:sp>
      <p:sp>
        <p:nvSpPr>
          <p:cNvPr id="901" name="Rectangle 900"/>
          <p:cNvSpPr/>
          <p:nvPr/>
        </p:nvSpPr>
        <p:spPr>
          <a:xfrm>
            <a:off x="731520"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2" name="Rectangle 901"/>
          <p:cNvSpPr/>
          <p:nvPr/>
        </p:nvSpPr>
        <p:spPr>
          <a:xfrm>
            <a:off x="1115568"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3" name="Rectangle 902"/>
          <p:cNvSpPr/>
          <p:nvPr/>
        </p:nvSpPr>
        <p:spPr>
          <a:xfrm>
            <a:off x="1499616"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4" name="Rectangle 903"/>
          <p:cNvSpPr/>
          <p:nvPr/>
        </p:nvSpPr>
        <p:spPr>
          <a:xfrm>
            <a:off x="1883664"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5" name="Rectangle 904"/>
          <p:cNvSpPr/>
          <p:nvPr/>
        </p:nvSpPr>
        <p:spPr>
          <a:xfrm>
            <a:off x="2267712"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6" name="Rectangle 905"/>
          <p:cNvSpPr/>
          <p:nvPr/>
        </p:nvSpPr>
        <p:spPr>
          <a:xfrm>
            <a:off x="2651760"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7" name="Rectangle 906"/>
          <p:cNvSpPr/>
          <p:nvPr/>
        </p:nvSpPr>
        <p:spPr>
          <a:xfrm>
            <a:off x="731520"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Rectangle 907"/>
          <p:cNvSpPr/>
          <p:nvPr/>
        </p:nvSpPr>
        <p:spPr>
          <a:xfrm>
            <a:off x="1115568"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Rectangle 908"/>
          <p:cNvSpPr/>
          <p:nvPr/>
        </p:nvSpPr>
        <p:spPr>
          <a:xfrm>
            <a:off x="1499616"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0" name="Rectangle 909"/>
          <p:cNvSpPr/>
          <p:nvPr/>
        </p:nvSpPr>
        <p:spPr>
          <a:xfrm>
            <a:off x="1883664"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1" name="Rectangle 910"/>
          <p:cNvSpPr/>
          <p:nvPr/>
        </p:nvSpPr>
        <p:spPr>
          <a:xfrm>
            <a:off x="2267712"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Rectangle 911"/>
          <p:cNvSpPr/>
          <p:nvPr/>
        </p:nvSpPr>
        <p:spPr>
          <a:xfrm>
            <a:off x="2651760"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3" name="Rectangle 912"/>
          <p:cNvSpPr/>
          <p:nvPr/>
        </p:nvSpPr>
        <p:spPr>
          <a:xfrm>
            <a:off x="731520" y="3145536"/>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Rectangle 913"/>
          <p:cNvSpPr/>
          <p:nvPr/>
        </p:nvSpPr>
        <p:spPr>
          <a:xfrm>
            <a:off x="1115568" y="3145536"/>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Rectangle 914"/>
          <p:cNvSpPr/>
          <p:nvPr/>
        </p:nvSpPr>
        <p:spPr>
          <a:xfrm>
            <a:off x="1499616" y="3145536"/>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1883664" y="3145536"/>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Rectangle 916"/>
          <p:cNvSpPr/>
          <p:nvPr/>
        </p:nvSpPr>
        <p:spPr>
          <a:xfrm>
            <a:off x="2267712" y="3145536"/>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8" name="Rectangle 917"/>
          <p:cNvSpPr/>
          <p:nvPr/>
        </p:nvSpPr>
        <p:spPr>
          <a:xfrm>
            <a:off x="2651760" y="3145536"/>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9" name="Rectangle 918"/>
          <p:cNvSpPr/>
          <p:nvPr/>
        </p:nvSpPr>
        <p:spPr>
          <a:xfrm>
            <a:off x="731520" y="3529584"/>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0" name="Rectangle 919"/>
          <p:cNvSpPr/>
          <p:nvPr/>
        </p:nvSpPr>
        <p:spPr>
          <a:xfrm>
            <a:off x="1115568" y="3529584"/>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1" name="Rectangle 920"/>
          <p:cNvSpPr/>
          <p:nvPr/>
        </p:nvSpPr>
        <p:spPr>
          <a:xfrm>
            <a:off x="1499616" y="3529584"/>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2" name="Rectangle 921"/>
          <p:cNvSpPr/>
          <p:nvPr/>
        </p:nvSpPr>
        <p:spPr>
          <a:xfrm>
            <a:off x="1883664" y="3529584"/>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3" name="Rectangle 922"/>
          <p:cNvSpPr/>
          <p:nvPr/>
        </p:nvSpPr>
        <p:spPr>
          <a:xfrm>
            <a:off x="2267712" y="3529584"/>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4" name="Rectangle 923"/>
          <p:cNvSpPr/>
          <p:nvPr/>
        </p:nvSpPr>
        <p:spPr>
          <a:xfrm>
            <a:off x="2651760" y="3529584"/>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5" name="Rectangle 924"/>
          <p:cNvSpPr/>
          <p:nvPr/>
        </p:nvSpPr>
        <p:spPr>
          <a:xfrm>
            <a:off x="731520"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6" name="Rectangle 925"/>
          <p:cNvSpPr/>
          <p:nvPr/>
        </p:nvSpPr>
        <p:spPr>
          <a:xfrm>
            <a:off x="1115568"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7" name="Rectangle 926"/>
          <p:cNvSpPr/>
          <p:nvPr/>
        </p:nvSpPr>
        <p:spPr>
          <a:xfrm>
            <a:off x="1499616"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8" name="Rectangle 927"/>
          <p:cNvSpPr/>
          <p:nvPr/>
        </p:nvSpPr>
        <p:spPr>
          <a:xfrm>
            <a:off x="1883664"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9" name="Rectangle 928"/>
          <p:cNvSpPr/>
          <p:nvPr/>
        </p:nvSpPr>
        <p:spPr>
          <a:xfrm>
            <a:off x="2267712"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0" name="Rectangle 929"/>
          <p:cNvSpPr/>
          <p:nvPr/>
        </p:nvSpPr>
        <p:spPr>
          <a:xfrm>
            <a:off x="2651760"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1" name="Rectangle 930"/>
          <p:cNvSpPr/>
          <p:nvPr/>
        </p:nvSpPr>
        <p:spPr>
          <a:xfrm>
            <a:off x="731520"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2" name="Rectangle 931"/>
          <p:cNvSpPr/>
          <p:nvPr/>
        </p:nvSpPr>
        <p:spPr>
          <a:xfrm>
            <a:off x="1115568"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3" name="Rectangle 932"/>
          <p:cNvSpPr/>
          <p:nvPr/>
        </p:nvSpPr>
        <p:spPr>
          <a:xfrm>
            <a:off x="1499616"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4" name="Rectangle 933"/>
          <p:cNvSpPr/>
          <p:nvPr/>
        </p:nvSpPr>
        <p:spPr>
          <a:xfrm>
            <a:off x="1883664"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5" name="Rectangle 934"/>
          <p:cNvSpPr/>
          <p:nvPr/>
        </p:nvSpPr>
        <p:spPr>
          <a:xfrm>
            <a:off x="2267712"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6" name="Rectangle 935"/>
          <p:cNvSpPr/>
          <p:nvPr/>
        </p:nvSpPr>
        <p:spPr>
          <a:xfrm>
            <a:off x="2651760"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7" name="TextBox 936"/>
          <p:cNvSpPr txBox="1"/>
          <p:nvPr/>
        </p:nvSpPr>
        <p:spPr>
          <a:xfrm>
            <a:off x="731520" y="4727448"/>
            <a:ext cx="2304288" cy="365760"/>
          </a:xfrm>
          <a:prstGeom prst="rect">
            <a:avLst/>
          </a:prstGeom>
          <a:noFill/>
        </p:spPr>
        <p:txBody>
          <a:bodyPr wrap="square" lIns="0" tIns="0" rIns="0" bIns="0" anchor="ctr">
            <a:spAutoFit/>
          </a:bodyPr>
          <a:lstStyle/>
          <a:p>
            <a:pPr algn="ctr"/>
            <a:r>
              <a:rPr sz="2000" b="1" i="0">
                <a:solidFill>
                  <a:srgbClr val="000000"/>
                </a:solidFill>
                <a:latin typeface="Cambria"/>
              </a:rPr>
              <a:t>A</a:t>
            </a:r>
          </a:p>
        </p:txBody>
      </p:sp>
      <p:sp>
        <p:nvSpPr>
          <p:cNvPr id="938" name="Rectangle 937"/>
          <p:cNvSpPr/>
          <p:nvPr/>
        </p:nvSpPr>
        <p:spPr>
          <a:xfrm>
            <a:off x="3520440"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9" name="Rectangle 938"/>
          <p:cNvSpPr/>
          <p:nvPr/>
        </p:nvSpPr>
        <p:spPr>
          <a:xfrm>
            <a:off x="3904488"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0" name="Rectangle 939"/>
          <p:cNvSpPr/>
          <p:nvPr/>
        </p:nvSpPr>
        <p:spPr>
          <a:xfrm>
            <a:off x="4288536" y="237744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1" name="Rectangle 940"/>
          <p:cNvSpPr/>
          <p:nvPr/>
        </p:nvSpPr>
        <p:spPr>
          <a:xfrm>
            <a:off x="4672584" y="237744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2" name="Rectangle 941"/>
          <p:cNvSpPr/>
          <p:nvPr/>
        </p:nvSpPr>
        <p:spPr>
          <a:xfrm>
            <a:off x="5056632"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3" name="Rectangle 942"/>
          <p:cNvSpPr/>
          <p:nvPr/>
        </p:nvSpPr>
        <p:spPr>
          <a:xfrm>
            <a:off x="5440680"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4" name="Rectangle 943"/>
          <p:cNvSpPr/>
          <p:nvPr/>
        </p:nvSpPr>
        <p:spPr>
          <a:xfrm>
            <a:off x="3520440"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5" name="Rectangle 944"/>
          <p:cNvSpPr/>
          <p:nvPr/>
        </p:nvSpPr>
        <p:spPr>
          <a:xfrm>
            <a:off x="3904488"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6" name="Rectangle 945"/>
          <p:cNvSpPr/>
          <p:nvPr/>
        </p:nvSpPr>
        <p:spPr>
          <a:xfrm>
            <a:off x="4288536" y="276148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7" name="Rectangle 946"/>
          <p:cNvSpPr/>
          <p:nvPr/>
        </p:nvSpPr>
        <p:spPr>
          <a:xfrm>
            <a:off x="4672584" y="2761488"/>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8" name="Rectangle 947"/>
          <p:cNvSpPr/>
          <p:nvPr/>
        </p:nvSpPr>
        <p:spPr>
          <a:xfrm>
            <a:off x="5056632"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9" name="Rectangle 948"/>
          <p:cNvSpPr/>
          <p:nvPr/>
        </p:nvSpPr>
        <p:spPr>
          <a:xfrm>
            <a:off x="5440680"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0" name="Rectangle 949"/>
          <p:cNvSpPr/>
          <p:nvPr/>
        </p:nvSpPr>
        <p:spPr>
          <a:xfrm>
            <a:off x="3520440" y="3145536"/>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1" name="Rectangle 950"/>
          <p:cNvSpPr/>
          <p:nvPr/>
        </p:nvSpPr>
        <p:spPr>
          <a:xfrm>
            <a:off x="3904488" y="3145536"/>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2" name="Rectangle 951"/>
          <p:cNvSpPr/>
          <p:nvPr/>
        </p:nvSpPr>
        <p:spPr>
          <a:xfrm>
            <a:off x="4288536" y="3145536"/>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3" name="Rectangle 952"/>
          <p:cNvSpPr/>
          <p:nvPr/>
        </p:nvSpPr>
        <p:spPr>
          <a:xfrm>
            <a:off x="4672584" y="3145536"/>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4" name="Rectangle 953"/>
          <p:cNvSpPr/>
          <p:nvPr/>
        </p:nvSpPr>
        <p:spPr>
          <a:xfrm>
            <a:off x="5056632" y="3145536"/>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5" name="Rectangle 954"/>
          <p:cNvSpPr/>
          <p:nvPr/>
        </p:nvSpPr>
        <p:spPr>
          <a:xfrm>
            <a:off x="5440680" y="3145536"/>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6" name="Rectangle 955"/>
          <p:cNvSpPr/>
          <p:nvPr/>
        </p:nvSpPr>
        <p:spPr>
          <a:xfrm>
            <a:off x="3520440" y="3529584"/>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7" name="Rectangle 956"/>
          <p:cNvSpPr/>
          <p:nvPr/>
        </p:nvSpPr>
        <p:spPr>
          <a:xfrm>
            <a:off x="3904488" y="3529584"/>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8" name="Rectangle 957"/>
          <p:cNvSpPr/>
          <p:nvPr/>
        </p:nvSpPr>
        <p:spPr>
          <a:xfrm>
            <a:off x="4288536" y="3529584"/>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9" name="Rectangle 958"/>
          <p:cNvSpPr/>
          <p:nvPr/>
        </p:nvSpPr>
        <p:spPr>
          <a:xfrm>
            <a:off x="4672584" y="3529584"/>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0" name="Rectangle 959"/>
          <p:cNvSpPr/>
          <p:nvPr/>
        </p:nvSpPr>
        <p:spPr>
          <a:xfrm>
            <a:off x="5056632" y="3529584"/>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1" name="Rectangle 960"/>
          <p:cNvSpPr/>
          <p:nvPr/>
        </p:nvSpPr>
        <p:spPr>
          <a:xfrm>
            <a:off x="5440680" y="3529584"/>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2" name="Rectangle 961"/>
          <p:cNvSpPr/>
          <p:nvPr/>
        </p:nvSpPr>
        <p:spPr>
          <a:xfrm>
            <a:off x="3520440"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3" name="Rectangle 962"/>
          <p:cNvSpPr/>
          <p:nvPr/>
        </p:nvSpPr>
        <p:spPr>
          <a:xfrm>
            <a:off x="3904488"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4" name="Rectangle 963"/>
          <p:cNvSpPr/>
          <p:nvPr/>
        </p:nvSpPr>
        <p:spPr>
          <a:xfrm>
            <a:off x="4288536" y="3913632"/>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5" name="Rectangle 964"/>
          <p:cNvSpPr/>
          <p:nvPr/>
        </p:nvSpPr>
        <p:spPr>
          <a:xfrm>
            <a:off x="4672584" y="3913632"/>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6" name="Rectangle 965"/>
          <p:cNvSpPr/>
          <p:nvPr/>
        </p:nvSpPr>
        <p:spPr>
          <a:xfrm>
            <a:off x="5056632"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7" name="Rectangle 966"/>
          <p:cNvSpPr/>
          <p:nvPr/>
        </p:nvSpPr>
        <p:spPr>
          <a:xfrm>
            <a:off x="5440680"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8" name="Rectangle 967"/>
          <p:cNvSpPr/>
          <p:nvPr/>
        </p:nvSpPr>
        <p:spPr>
          <a:xfrm>
            <a:off x="3520440"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9" name="Rectangle 968"/>
          <p:cNvSpPr/>
          <p:nvPr/>
        </p:nvSpPr>
        <p:spPr>
          <a:xfrm>
            <a:off x="3904488"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0" name="Rectangle 969"/>
          <p:cNvSpPr/>
          <p:nvPr/>
        </p:nvSpPr>
        <p:spPr>
          <a:xfrm>
            <a:off x="4288536" y="429768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1" name="Rectangle 970"/>
          <p:cNvSpPr/>
          <p:nvPr/>
        </p:nvSpPr>
        <p:spPr>
          <a:xfrm>
            <a:off x="4672584" y="4297680"/>
            <a:ext cx="384048" cy="384048"/>
          </a:xfrm>
          <a:prstGeom prst="rect">
            <a:avLst/>
          </a:prstGeom>
          <a:solidFill>
            <a:srgbClr val="BDD7EE"/>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2" name="Rectangle 971"/>
          <p:cNvSpPr/>
          <p:nvPr/>
        </p:nvSpPr>
        <p:spPr>
          <a:xfrm>
            <a:off x="5056632"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3" name="Rectangle 972"/>
          <p:cNvSpPr/>
          <p:nvPr/>
        </p:nvSpPr>
        <p:spPr>
          <a:xfrm>
            <a:off x="5440680"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4" name="TextBox 973"/>
          <p:cNvSpPr txBox="1"/>
          <p:nvPr/>
        </p:nvSpPr>
        <p:spPr>
          <a:xfrm>
            <a:off x="3520440" y="4727448"/>
            <a:ext cx="2304288" cy="365760"/>
          </a:xfrm>
          <a:prstGeom prst="rect">
            <a:avLst/>
          </a:prstGeom>
          <a:noFill/>
        </p:spPr>
        <p:txBody>
          <a:bodyPr wrap="square" lIns="0" tIns="0" rIns="0" bIns="0" anchor="ctr">
            <a:spAutoFit/>
          </a:bodyPr>
          <a:lstStyle/>
          <a:p>
            <a:pPr algn="ctr"/>
            <a:r>
              <a:rPr sz="2000" b="1" i="0">
                <a:solidFill>
                  <a:srgbClr val="000000"/>
                </a:solidFill>
                <a:latin typeface="Cambria"/>
              </a:rPr>
              <a:t>B</a:t>
            </a:r>
          </a:p>
        </p:txBody>
      </p:sp>
      <p:sp>
        <p:nvSpPr>
          <p:cNvPr id="975" name="Rectangle 974"/>
          <p:cNvSpPr/>
          <p:nvPr/>
        </p:nvSpPr>
        <p:spPr>
          <a:xfrm>
            <a:off x="6309360"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6" name="Rectangle 975"/>
          <p:cNvSpPr/>
          <p:nvPr/>
        </p:nvSpPr>
        <p:spPr>
          <a:xfrm>
            <a:off x="6693408"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7" name="Rectangle 976"/>
          <p:cNvSpPr/>
          <p:nvPr/>
        </p:nvSpPr>
        <p:spPr>
          <a:xfrm>
            <a:off x="7077456"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8" name="Rectangle 977"/>
          <p:cNvSpPr/>
          <p:nvPr/>
        </p:nvSpPr>
        <p:spPr>
          <a:xfrm>
            <a:off x="7461504"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9" name="Rectangle 978"/>
          <p:cNvSpPr/>
          <p:nvPr/>
        </p:nvSpPr>
        <p:spPr>
          <a:xfrm>
            <a:off x="7845552"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0" name="Rectangle 979"/>
          <p:cNvSpPr/>
          <p:nvPr/>
        </p:nvSpPr>
        <p:spPr>
          <a:xfrm>
            <a:off x="8229600" y="237744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1" name="Rectangle 980"/>
          <p:cNvSpPr/>
          <p:nvPr/>
        </p:nvSpPr>
        <p:spPr>
          <a:xfrm>
            <a:off x="6309360"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2" name="Rectangle 981"/>
          <p:cNvSpPr/>
          <p:nvPr/>
        </p:nvSpPr>
        <p:spPr>
          <a:xfrm>
            <a:off x="6693408"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3" name="Rectangle 982"/>
          <p:cNvSpPr/>
          <p:nvPr/>
        </p:nvSpPr>
        <p:spPr>
          <a:xfrm>
            <a:off x="7077456"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4" name="Rectangle 983"/>
          <p:cNvSpPr/>
          <p:nvPr/>
        </p:nvSpPr>
        <p:spPr>
          <a:xfrm>
            <a:off x="7461504"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5" name="Rectangle 984"/>
          <p:cNvSpPr/>
          <p:nvPr/>
        </p:nvSpPr>
        <p:spPr>
          <a:xfrm>
            <a:off x="7845552"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6" name="Rectangle 985"/>
          <p:cNvSpPr/>
          <p:nvPr/>
        </p:nvSpPr>
        <p:spPr>
          <a:xfrm>
            <a:off x="8229600" y="2761488"/>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7" name="Rectangle 986"/>
          <p:cNvSpPr/>
          <p:nvPr/>
        </p:nvSpPr>
        <p:spPr>
          <a:xfrm>
            <a:off x="6309360" y="3145536"/>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8" name="Rectangle 987"/>
          <p:cNvSpPr/>
          <p:nvPr/>
        </p:nvSpPr>
        <p:spPr>
          <a:xfrm>
            <a:off x="6693408" y="3145536"/>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9" name="Rectangle 988"/>
          <p:cNvSpPr/>
          <p:nvPr/>
        </p:nvSpPr>
        <p:spPr>
          <a:xfrm>
            <a:off x="7077456" y="3145536"/>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0" name="Rectangle 989"/>
          <p:cNvSpPr/>
          <p:nvPr/>
        </p:nvSpPr>
        <p:spPr>
          <a:xfrm>
            <a:off x="7461504" y="3145536"/>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1" name="Rectangle 990"/>
          <p:cNvSpPr/>
          <p:nvPr/>
        </p:nvSpPr>
        <p:spPr>
          <a:xfrm>
            <a:off x="7845552" y="3145536"/>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2" name="Rectangle 991"/>
          <p:cNvSpPr/>
          <p:nvPr/>
        </p:nvSpPr>
        <p:spPr>
          <a:xfrm>
            <a:off x="8229600" y="3145536"/>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3" name="Rectangle 992"/>
          <p:cNvSpPr/>
          <p:nvPr/>
        </p:nvSpPr>
        <p:spPr>
          <a:xfrm>
            <a:off x="6309360" y="3529584"/>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4" name="Rectangle 993"/>
          <p:cNvSpPr/>
          <p:nvPr/>
        </p:nvSpPr>
        <p:spPr>
          <a:xfrm>
            <a:off x="6693408" y="3529584"/>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5" name="Rectangle 994"/>
          <p:cNvSpPr/>
          <p:nvPr/>
        </p:nvSpPr>
        <p:spPr>
          <a:xfrm>
            <a:off x="7077456" y="3529584"/>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6" name="Rectangle 995"/>
          <p:cNvSpPr/>
          <p:nvPr/>
        </p:nvSpPr>
        <p:spPr>
          <a:xfrm>
            <a:off x="7461504" y="3529584"/>
            <a:ext cx="384048" cy="384048"/>
          </a:xfrm>
          <a:prstGeom prst="rect">
            <a:avLst/>
          </a:prstGeom>
          <a:solidFill>
            <a:srgbClr val="F4B183"/>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7" name="Rectangle 996"/>
          <p:cNvSpPr/>
          <p:nvPr/>
        </p:nvSpPr>
        <p:spPr>
          <a:xfrm>
            <a:off x="7845552" y="3529584"/>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8" name="Rectangle 997"/>
          <p:cNvSpPr/>
          <p:nvPr/>
        </p:nvSpPr>
        <p:spPr>
          <a:xfrm>
            <a:off x="8229600" y="3529584"/>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9" name="Rectangle 998"/>
          <p:cNvSpPr/>
          <p:nvPr/>
        </p:nvSpPr>
        <p:spPr>
          <a:xfrm>
            <a:off x="6309360"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0" name="Rectangle 999"/>
          <p:cNvSpPr/>
          <p:nvPr/>
        </p:nvSpPr>
        <p:spPr>
          <a:xfrm>
            <a:off x="6693408"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1" name="Rectangle 1000"/>
          <p:cNvSpPr/>
          <p:nvPr/>
        </p:nvSpPr>
        <p:spPr>
          <a:xfrm>
            <a:off x="7077456"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2" name="Rectangle 1001"/>
          <p:cNvSpPr/>
          <p:nvPr/>
        </p:nvSpPr>
        <p:spPr>
          <a:xfrm>
            <a:off x="7461504"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3" name="Rectangle 1002"/>
          <p:cNvSpPr/>
          <p:nvPr/>
        </p:nvSpPr>
        <p:spPr>
          <a:xfrm>
            <a:off x="7845552"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4" name="Rectangle 1003"/>
          <p:cNvSpPr/>
          <p:nvPr/>
        </p:nvSpPr>
        <p:spPr>
          <a:xfrm>
            <a:off x="8229600" y="3913632"/>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5" name="Rectangle 1004"/>
          <p:cNvSpPr/>
          <p:nvPr/>
        </p:nvSpPr>
        <p:spPr>
          <a:xfrm>
            <a:off x="6309360"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6" name="Rectangle 1005"/>
          <p:cNvSpPr/>
          <p:nvPr/>
        </p:nvSpPr>
        <p:spPr>
          <a:xfrm>
            <a:off x="6693408"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7" name="Rectangle 1006"/>
          <p:cNvSpPr/>
          <p:nvPr/>
        </p:nvSpPr>
        <p:spPr>
          <a:xfrm>
            <a:off x="7077456"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8" name="Rectangle 1007"/>
          <p:cNvSpPr/>
          <p:nvPr/>
        </p:nvSpPr>
        <p:spPr>
          <a:xfrm>
            <a:off x="7461504"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9" name="Rectangle 1008"/>
          <p:cNvSpPr/>
          <p:nvPr/>
        </p:nvSpPr>
        <p:spPr>
          <a:xfrm>
            <a:off x="7845552"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0" name="Rectangle 1009"/>
          <p:cNvSpPr/>
          <p:nvPr/>
        </p:nvSpPr>
        <p:spPr>
          <a:xfrm>
            <a:off x="8229600" y="4297680"/>
            <a:ext cx="384048" cy="384048"/>
          </a:xfrm>
          <a:prstGeom prst="rect">
            <a:avLst/>
          </a:prstGeom>
          <a:solidFill>
            <a:srgbClr val="FFFFFF"/>
          </a:solidFill>
          <a:ln w="6350">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1" name="TextBox 1010"/>
          <p:cNvSpPr txBox="1"/>
          <p:nvPr/>
        </p:nvSpPr>
        <p:spPr>
          <a:xfrm>
            <a:off x="6309360" y="4727448"/>
            <a:ext cx="2304288" cy="365760"/>
          </a:xfrm>
          <a:prstGeom prst="rect">
            <a:avLst/>
          </a:prstGeom>
          <a:noFill/>
        </p:spPr>
        <p:txBody>
          <a:bodyPr wrap="square" lIns="0" tIns="0" rIns="0" bIns="0" anchor="ctr">
            <a:spAutoFit/>
          </a:bodyPr>
          <a:lstStyle/>
          <a:p>
            <a:pPr algn="ctr"/>
            <a:r>
              <a:rPr sz="2000" b="1" i="0">
                <a:solidFill>
                  <a:srgbClr val="000000"/>
                </a:solidFill>
                <a:latin typeface="Cambria"/>
              </a:rPr>
              <a:t>C</a:t>
            </a:r>
          </a:p>
        </p:txBody>
      </p:sp>
      <p:sp>
        <p:nvSpPr>
          <p:cNvPr id="1012" name="TextBox 1011"/>
          <p:cNvSpPr txBox="1"/>
          <p:nvPr/>
        </p:nvSpPr>
        <p:spPr>
          <a:xfrm>
            <a:off x="3063240" y="3291840"/>
            <a:ext cx="457200" cy="457200"/>
          </a:xfrm>
          <a:prstGeom prst="rect">
            <a:avLst/>
          </a:prstGeom>
          <a:noFill/>
        </p:spPr>
        <p:txBody>
          <a:bodyPr wrap="square" lIns="0" tIns="0" rIns="0" bIns="0" anchor="ctr">
            <a:spAutoFit/>
          </a:bodyPr>
          <a:lstStyle/>
          <a:p>
            <a:pPr algn="ctr"/>
            <a:r>
              <a:rPr sz="3000" b="1" i="0">
                <a:solidFill>
                  <a:srgbClr val="000000"/>
                </a:solidFill>
                <a:latin typeface="Cambria"/>
              </a:rPr>
              <a:t>×</a:t>
            </a:r>
          </a:p>
        </p:txBody>
      </p:sp>
      <p:sp>
        <p:nvSpPr>
          <p:cNvPr id="1013" name="TextBox 1012"/>
          <p:cNvSpPr txBox="1"/>
          <p:nvPr/>
        </p:nvSpPr>
        <p:spPr>
          <a:xfrm>
            <a:off x="5852160" y="3291840"/>
            <a:ext cx="457200" cy="457200"/>
          </a:xfrm>
          <a:prstGeom prst="rect">
            <a:avLst/>
          </a:prstGeom>
          <a:noFill/>
        </p:spPr>
        <p:txBody>
          <a:bodyPr wrap="square" lIns="0" tIns="0" rIns="0" bIns="0" anchor="ctr">
            <a:spAutoFit/>
          </a:bodyPr>
          <a:lstStyle/>
          <a:p>
            <a:pPr algn="ctr"/>
            <a:r>
              <a:rPr sz="3000" b="1" i="0">
                <a:solidFill>
                  <a:srgbClr val="000000"/>
                </a:solidFill>
                <a:latin typeface="Cambria"/>
              </a:rPr>
              <a:t>=</a:t>
            </a:r>
          </a:p>
        </p:txBody>
      </p:sp>
      <p:sp>
        <p:nvSpPr>
          <p:cNvPr id="1014" name="TextBox 1013"/>
          <p:cNvSpPr txBox="1"/>
          <p:nvPr/>
        </p:nvSpPr>
        <p:spPr>
          <a:xfrm>
            <a:off x="731520" y="5120640"/>
            <a:ext cx="8595360" cy="14630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A block loads one </a:t>
            </a:r>
            <a:r>
              <a:rPr sz="2100" b="1" i="0">
                <a:solidFill>
                  <a:srgbClr val="000000"/>
                </a:solidFill>
                <a:latin typeface="Cambria"/>
              </a:rPr>
              <a:t>tile</a:t>
            </a:r>
            <a:r>
              <a:rPr sz="2100" b="0" i="0">
                <a:solidFill>
                  <a:srgbClr val="000000"/>
                </a:solidFill>
                <a:latin typeface="Cambria"/>
              </a:rPr>
              <a:t> of A and one of B into </a:t>
            </a:r>
            <a:r>
              <a:rPr sz="2100" b="1" i="0">
                <a:solidFill>
                  <a:srgbClr val="000000"/>
                </a:solidFill>
                <a:latin typeface="Cambria"/>
              </a:rPr>
              <a:t>shared memory</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All its threads reuse those tiles,  then move to the next pair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Tiled Kernel:  Setup</a:t>
            </a:r>
          </a:p>
        </p:txBody>
      </p:sp>
      <p:sp>
        <p:nvSpPr>
          <p:cNvPr id="901" name="Rectangle 900"/>
          <p:cNvSpPr/>
          <p:nvPr/>
        </p:nvSpPr>
        <p:spPr>
          <a:xfrm>
            <a:off x="731520" y="1691640"/>
            <a:ext cx="8595360" cy="3899916"/>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#define TILE 16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__global__</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void matmul_tiled(const float *A, const float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float *C, int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__shared__ float As[TILE][TILE];    // one tile of 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__shared__ float Bs[TILE][TILE];    // one tile of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int tx  = threadIdx.x,  ty = threadIdx.y;</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int row = blockIdx.y * TILE + ty;</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int col = blockIdx.x * TILE + tx;</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float sum = 0.0f;</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Tiled Kernel:  The Loop</a:t>
            </a:r>
          </a:p>
        </p:txBody>
      </p:sp>
      <p:sp>
        <p:nvSpPr>
          <p:cNvPr id="901" name="Rectangle 900"/>
          <p:cNvSpPr/>
          <p:nvPr/>
        </p:nvSpPr>
        <p:spPr>
          <a:xfrm>
            <a:off x="731520" y="1691640"/>
            <a:ext cx="8595360" cy="399287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for (int t = 0; t &lt; (N + TILE - 1) / TILE; 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int ac = t * TILE + tx;     // column in 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int br = t * TILE + ty;     // row in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As[ty][tx] = (row &lt; N &amp;&amp; ac &lt; N) ? A[row * N + ac] : 0.0f;</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Bs[ty][tx] = (br &lt; N &amp;&amp; col &lt; N) ? B[br * N + col] : 0.0f;</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__syncthreads();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for (int k = 0; k &lt; TILE; 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sum += As[ty][k] * Bs[k][tx];</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__syncthreads();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if (row &lt; N &amp;&amp; col &lt;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        C[row * N + col] = sum;</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600">
                <a:solidFill>
                  <a:srgbClr val="000000"/>
                </a:solidFill>
                <a:latin typeface="Courier New"/>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Why  __syncthreads()  Twice?</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barrier:  no thread passes until </a:t>
            </a:r>
            <a:r>
              <a:rPr sz="2600" b="1" i="0">
                <a:solidFill>
                  <a:srgbClr val="000000"/>
                </a:solidFill>
                <a:latin typeface="Cambria"/>
              </a:rPr>
              <a:t>all</a:t>
            </a:r>
            <a:r>
              <a:rPr sz="2600" b="0" i="0">
                <a:solidFill>
                  <a:srgbClr val="000000"/>
                </a:solidFill>
                <a:latin typeface="Cambria"/>
              </a:rPr>
              <a:t> in the block arrive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First</a:t>
            </a:r>
            <a:r>
              <a:rPr sz="2600" b="0" i="0">
                <a:solidFill>
                  <a:srgbClr val="000000"/>
                </a:solidFill>
                <a:latin typeface="Cambria"/>
              </a:rPr>
              <a:t>:  do not compute until the tiles are fully loaded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otherwise you read stale shared memory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Second</a:t>
            </a:r>
            <a:r>
              <a:rPr sz="2600" b="0" i="0">
                <a:solidFill>
                  <a:srgbClr val="000000"/>
                </a:solidFill>
                <a:latin typeface="Cambria"/>
              </a:rPr>
              <a:t>:  do not load the next tile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until everyone has finished with this 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Above CUDA</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libraries and frameworks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Software Stack</a:t>
            </a:r>
          </a:p>
        </p:txBody>
      </p:sp>
      <p:sp>
        <p:nvSpPr>
          <p:cNvPr id="901" name="Rectangle 900"/>
          <p:cNvSpPr/>
          <p:nvPr/>
        </p:nvSpPr>
        <p:spPr>
          <a:xfrm>
            <a:off x="1371600" y="1737360"/>
            <a:ext cx="7315200" cy="7772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0">
                <a:solidFill>
                  <a:srgbClr val="000000"/>
                </a:solidFill>
                <a:latin typeface="Cambria"/>
              </a:rPr>
              <a:t>PyTorch  /  JAX  /  TensorFlow</a:t>
            </a:r>
          </a:p>
        </p:txBody>
      </p:sp>
      <p:sp>
        <p:nvSpPr>
          <p:cNvPr id="902" name="Rectangle 901"/>
          <p:cNvSpPr/>
          <p:nvPr/>
        </p:nvSpPr>
        <p:spPr>
          <a:xfrm>
            <a:off x="1371600" y="2651760"/>
            <a:ext cx="7315200" cy="77724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0">
                <a:solidFill>
                  <a:srgbClr val="000000"/>
                </a:solidFill>
                <a:latin typeface="Cambria"/>
              </a:rPr>
              <a:t>cuBLAS  ·  cuDNN  ·  CUTLASS  ·  Triton</a:t>
            </a:r>
          </a:p>
        </p:txBody>
      </p:sp>
      <p:sp>
        <p:nvSpPr>
          <p:cNvPr id="903" name="Rectangle 902"/>
          <p:cNvSpPr/>
          <p:nvPr/>
        </p:nvSpPr>
        <p:spPr>
          <a:xfrm>
            <a:off x="1371600" y="3566160"/>
            <a:ext cx="7315200" cy="77724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a:solidFill>
                  <a:srgbClr val="000000"/>
                </a:solidFill>
                <a:latin typeface="Cambria"/>
              </a:rPr>
              <a:t>CUDA runtime  +  your kernels</a:t>
            </a:r>
          </a:p>
        </p:txBody>
      </p:sp>
      <p:sp>
        <p:nvSpPr>
          <p:cNvPr id="904" name="Rectangle 903"/>
          <p:cNvSpPr/>
          <p:nvPr/>
        </p:nvSpPr>
        <p:spPr>
          <a:xfrm>
            <a:off x="1371600" y="4480560"/>
            <a:ext cx="7315200" cy="77724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0">
                <a:solidFill>
                  <a:srgbClr val="000000"/>
                </a:solidFill>
                <a:latin typeface="Cambria"/>
              </a:rPr>
              <a:t>Driver</a:t>
            </a:r>
          </a:p>
        </p:txBody>
      </p:sp>
      <p:sp>
        <p:nvSpPr>
          <p:cNvPr id="905" name="Rectangle 904"/>
          <p:cNvSpPr/>
          <p:nvPr/>
        </p:nvSpPr>
        <p:spPr>
          <a:xfrm>
            <a:off x="1371600" y="5394960"/>
            <a:ext cx="7315200" cy="77724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0">
                <a:solidFill>
                  <a:srgbClr val="000000"/>
                </a:solidFill>
                <a:latin typeface="Cambria"/>
              </a:rPr>
              <a:t>GPU hardware</a:t>
            </a:r>
          </a:p>
        </p:txBody>
      </p:sp>
      <p:sp>
        <p:nvSpPr>
          <p:cNvPr id="906" name="TextBox 905"/>
          <p:cNvSpPr txBox="1"/>
          <p:nvPr/>
        </p:nvSpPr>
        <p:spPr>
          <a:xfrm>
            <a:off x="365760" y="1737360"/>
            <a:ext cx="914400" cy="777240"/>
          </a:xfrm>
          <a:prstGeom prst="rect">
            <a:avLst/>
          </a:prstGeom>
          <a:noFill/>
        </p:spPr>
        <p:txBody>
          <a:bodyPr wrap="square" lIns="0" tIns="0" rIns="0" bIns="0" anchor="ctr">
            <a:spAutoFit/>
          </a:bodyPr>
          <a:lstStyle/>
          <a:p>
            <a:pPr algn="ctr"/>
            <a:r>
              <a:rPr sz="1600" b="0" i="1">
                <a:solidFill>
                  <a:srgbClr val="595959"/>
                </a:solidFill>
                <a:latin typeface="Cambria"/>
              </a:rPr>
              <a:t>easier</a:t>
            </a:r>
          </a:p>
        </p:txBody>
      </p:sp>
      <p:sp>
        <p:nvSpPr>
          <p:cNvPr id="907" name="TextBox 906"/>
          <p:cNvSpPr txBox="1"/>
          <p:nvPr/>
        </p:nvSpPr>
        <p:spPr>
          <a:xfrm>
            <a:off x="365760" y="5394960"/>
            <a:ext cx="914400" cy="777240"/>
          </a:xfrm>
          <a:prstGeom prst="rect">
            <a:avLst/>
          </a:prstGeom>
          <a:noFill/>
        </p:spPr>
        <p:txBody>
          <a:bodyPr wrap="square" lIns="0" tIns="0" rIns="0" bIns="0" anchor="ctr">
            <a:spAutoFit/>
          </a:bodyPr>
          <a:lstStyle/>
          <a:p>
            <a:pPr algn="ctr"/>
            <a:r>
              <a:rPr sz="1600" b="0" i="1">
                <a:solidFill>
                  <a:srgbClr val="595959"/>
                </a:solidFill>
                <a:latin typeface="Cambria"/>
              </a:rPr>
              <a:t>more</a:t>
            </a:r>
          </a:p>
          <a:p>
            <a:pPr algn="ctr"/>
            <a:r>
              <a:rPr sz="1600" b="0" i="1">
                <a:solidFill>
                  <a:srgbClr val="595959"/>
                </a:solidFill>
                <a:latin typeface="Cambria"/>
              </a:rPr>
              <a:t>control</a:t>
            </a:r>
          </a:p>
        </p:txBody>
      </p:sp>
      <p:cxnSp>
        <p:nvCxnSpPr>
          <p:cNvPr id="908" name="Connector 907"/>
          <p:cNvCxnSpPr/>
          <p:nvPr/>
        </p:nvCxnSpPr>
        <p:spPr>
          <a:xfrm>
            <a:off x="822960" y="2560320"/>
            <a:ext cx="0" cy="2788920"/>
          </a:xfrm>
          <a:prstGeom prst="line">
            <a:avLst/>
          </a:prstGeom>
          <a:ln w="19050">
            <a:solidFill>
              <a:srgbClr val="595959"/>
            </a:solidFill>
            <a:headEnd type="triangle"/>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err="1" smtClean="0">
                <a:solidFill>
                  <a:srgbClr val="FFFFFF"/>
                </a:solidFill>
                <a:latin typeface="Arial"/>
                <a:cs typeface="Arial"/>
              </a:rPr>
              <a:t>cuBLAS</a:t>
            </a:r>
            <a:endParaRPr lang="en-US" sz="4400" b="1" dirty="0">
              <a:solidFill>
                <a:srgbClr val="FFFFFF"/>
              </a:solidFill>
              <a:latin typeface="Arial"/>
              <a:cs typeface="Arial"/>
            </a:endParaRPr>
          </a:p>
        </p:txBody>
      </p:sp>
      <p:sp>
        <p:nvSpPr>
          <p:cNvPr id="901" name="Rectangle 900"/>
          <p:cNvSpPr/>
          <p:nvPr/>
        </p:nvSpPr>
        <p:spPr>
          <a:xfrm>
            <a:off x="731520" y="1691640"/>
            <a:ext cx="8943422" cy="3698494"/>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2400" b="1" dirty="0" err="1" smtClean="0">
                <a:solidFill>
                  <a:srgbClr val="000000"/>
                </a:solidFill>
                <a:latin typeface="Courier New"/>
              </a:rPr>
              <a:t>cuBLAS</a:t>
            </a:r>
            <a:r>
              <a:rPr lang="en-US" sz="2400" b="1" dirty="0" smtClean="0">
                <a:solidFill>
                  <a:srgbClr val="000000"/>
                </a:solidFill>
                <a:latin typeface="Courier New"/>
              </a:rPr>
              <a:t> </a:t>
            </a:r>
            <a:r>
              <a:rPr lang="en-US" sz="2400" b="1" dirty="0">
                <a:solidFill>
                  <a:srgbClr val="000000"/>
                </a:solidFill>
                <a:latin typeface="Courier New"/>
              </a:rPr>
              <a:t>(CUDA Basic Linear Algebra Subroutines) </a:t>
            </a:r>
            <a:endParaRPr lang="en-US" sz="2400" b="1"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sz="1700"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NVIDIA GPU-accelerated library</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Implements </a:t>
            </a:r>
            <a:r>
              <a:rPr lang="en-US" dirty="0">
                <a:solidFill>
                  <a:srgbClr val="000000"/>
                </a:solidFill>
                <a:latin typeface="Courier New"/>
              </a:rPr>
              <a:t>standard </a:t>
            </a:r>
            <a:r>
              <a:rPr lang="en-US" dirty="0" smtClean="0">
                <a:solidFill>
                  <a:srgbClr val="000000"/>
                </a:solidFill>
                <a:latin typeface="Courier New"/>
              </a:rPr>
              <a:t>basic linear </a:t>
            </a:r>
            <a:r>
              <a:rPr lang="en-US" dirty="0">
                <a:solidFill>
                  <a:srgbClr val="000000"/>
                </a:solidFill>
                <a:latin typeface="Courier New"/>
              </a:rPr>
              <a:t>algebra subprograms </a:t>
            </a: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Used for </a:t>
            </a:r>
            <a:r>
              <a:rPr lang="en-US" dirty="0">
                <a:solidFill>
                  <a:srgbClr val="000000"/>
                </a:solidFill>
                <a:latin typeface="Courier New"/>
              </a:rPr>
              <a:t>high-performance </a:t>
            </a:r>
            <a:r>
              <a:rPr lang="en-US" dirty="0" smtClean="0">
                <a:solidFill>
                  <a:srgbClr val="000000"/>
                </a:solidFill>
                <a:latin typeface="Courier New"/>
              </a:rPr>
              <a:t>numerical computing / deep learning</a:t>
            </a:r>
            <a:endParaRPr dirty="0">
              <a:solidFill>
                <a:srgbClr val="000000"/>
              </a:solidFill>
              <a:latin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err="1" smtClean="0">
                <a:solidFill>
                  <a:srgbClr val="FFFFFF"/>
                </a:solidFill>
                <a:latin typeface="Arial"/>
                <a:cs typeface="Arial"/>
              </a:rPr>
              <a:t>cuDNN</a:t>
            </a:r>
            <a:endParaRPr lang="en-US" sz="4400" b="1" dirty="0">
              <a:solidFill>
                <a:srgbClr val="FFFFFF"/>
              </a:solidFill>
              <a:latin typeface="Arial"/>
              <a:cs typeface="Arial"/>
            </a:endParaRPr>
          </a:p>
        </p:txBody>
      </p:sp>
      <p:sp>
        <p:nvSpPr>
          <p:cNvPr id="901" name="Rectangle 900"/>
          <p:cNvSpPr/>
          <p:nvPr/>
        </p:nvSpPr>
        <p:spPr>
          <a:xfrm>
            <a:off x="786089" y="1651446"/>
            <a:ext cx="8943422" cy="3698494"/>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2400" b="1" dirty="0" err="1" smtClean="0">
                <a:solidFill>
                  <a:srgbClr val="000000"/>
                </a:solidFill>
                <a:latin typeface="Courier New"/>
              </a:rPr>
              <a:t>cuDNN</a:t>
            </a:r>
            <a:r>
              <a:rPr lang="en-US" sz="2400" b="1" dirty="0" smtClean="0">
                <a:solidFill>
                  <a:srgbClr val="000000"/>
                </a:solidFill>
                <a:latin typeface="Courier New"/>
              </a:rPr>
              <a:t> </a:t>
            </a:r>
            <a:r>
              <a:rPr lang="en-US" sz="2400" b="1" dirty="0">
                <a:solidFill>
                  <a:srgbClr val="000000"/>
                </a:solidFill>
                <a:latin typeface="Courier New"/>
              </a:rPr>
              <a:t>(CUDA Deep Neural Network library</a:t>
            </a:r>
            <a:r>
              <a:rPr lang="en-US" sz="2400" b="1" dirty="0" smtClean="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sz="2400" b="1"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700" dirty="0" smtClean="0">
                <a:solidFill>
                  <a:srgbClr val="000000"/>
                </a:solidFill>
                <a:latin typeface="Courier New"/>
              </a:rPr>
              <a:t>GPU-accelerated </a:t>
            </a:r>
            <a:r>
              <a:rPr lang="en-US" sz="1700" dirty="0">
                <a:solidFill>
                  <a:srgbClr val="000000"/>
                </a:solidFill>
                <a:latin typeface="Courier New"/>
              </a:rPr>
              <a:t>library from </a:t>
            </a:r>
            <a:r>
              <a:rPr lang="en-US" sz="1700" dirty="0" smtClean="0">
                <a:solidFill>
                  <a:srgbClr val="000000"/>
                </a:solidFill>
                <a:latin typeface="Courier New"/>
              </a:rPr>
              <a:t>NVIDIA</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700" dirty="0">
                <a:solidFill>
                  <a:srgbClr val="000000"/>
                </a:solidFill>
                <a:latin typeface="Courier New"/>
              </a:rPr>
              <a:t>P</a:t>
            </a:r>
            <a:r>
              <a:rPr lang="en-US" sz="1700" dirty="0" smtClean="0">
                <a:solidFill>
                  <a:srgbClr val="000000"/>
                </a:solidFill>
                <a:latin typeface="Courier New"/>
              </a:rPr>
              <a:t>rovides </a:t>
            </a:r>
            <a:r>
              <a:rPr lang="en-US" sz="1700" dirty="0">
                <a:solidFill>
                  <a:srgbClr val="000000"/>
                </a:solidFill>
                <a:latin typeface="Courier New"/>
              </a:rPr>
              <a:t>highly optimized routines for deep learning </a:t>
            </a:r>
            <a:r>
              <a:rPr lang="en-US" sz="1700" dirty="0" smtClean="0">
                <a:solidFill>
                  <a:srgbClr val="000000"/>
                </a:solidFill>
                <a:latin typeface="Courier New"/>
              </a:rPr>
              <a:t>tasks</a:t>
            </a:r>
            <a:endParaRPr lang="en-US" sz="1700"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700" dirty="0">
                <a:solidFill>
                  <a:srgbClr val="000000"/>
                </a:solidFill>
                <a:latin typeface="Courier New"/>
              </a:rPr>
              <a:t>Provides building blocks (primitives) for deep neural </a:t>
            </a:r>
            <a:r>
              <a:rPr lang="en-US" sz="1700" dirty="0" smtClean="0">
                <a:solidFill>
                  <a:srgbClr val="000000"/>
                </a:solidFill>
                <a:latin typeface="Courier New"/>
              </a:rPr>
              <a:t>networks</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sz="1700" dirty="0" smtClean="0">
                <a:solidFill>
                  <a:srgbClr val="000000"/>
                </a:solidFill>
                <a:latin typeface="Courier New"/>
              </a:rPr>
              <a:t>Convolution</a:t>
            </a:r>
            <a:r>
              <a:rPr lang="en-US" sz="1700" dirty="0">
                <a:solidFill>
                  <a:srgbClr val="000000"/>
                </a:solidFill>
                <a:latin typeface="Courier New"/>
              </a:rPr>
              <a:t>, pooling, normalization, and attention layers.</a:t>
            </a:r>
            <a:endParaRPr sz="1700" dirty="0">
              <a:solidFill>
                <a:srgbClr val="000000"/>
              </a:solidFill>
              <a:latin typeface="Courier New"/>
            </a:endParaRPr>
          </a:p>
        </p:txBody>
      </p:sp>
    </p:spTree>
    <p:extLst>
      <p:ext uri="{BB962C8B-B14F-4D97-AF65-F5344CB8AC3E}">
        <p14:creationId xmlns:p14="http://schemas.microsoft.com/office/powerpoint/2010/main" val="988400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CUTLASS</a:t>
            </a:r>
            <a:endParaRPr lang="en-US" sz="4400" b="1" dirty="0">
              <a:solidFill>
                <a:srgbClr val="FFFFFF"/>
              </a:solidFill>
              <a:latin typeface="Arial"/>
              <a:cs typeface="Arial"/>
            </a:endParaRPr>
          </a:p>
        </p:txBody>
      </p:sp>
      <p:sp>
        <p:nvSpPr>
          <p:cNvPr id="901" name="Rectangle 900"/>
          <p:cNvSpPr/>
          <p:nvPr/>
        </p:nvSpPr>
        <p:spPr>
          <a:xfrm>
            <a:off x="786088" y="1651445"/>
            <a:ext cx="9016673" cy="6025495"/>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r>
              <a:rPr lang="en-US" sz="2400" b="1" dirty="0" smtClean="0">
                <a:solidFill>
                  <a:srgbClr val="000000"/>
                </a:solidFill>
                <a:latin typeface="Courier New"/>
              </a:rPr>
              <a:t>CUTLASS (</a:t>
            </a:r>
            <a:r>
              <a:rPr lang="en-US" sz="2400" b="1" dirty="0">
                <a:solidFill>
                  <a:srgbClr val="000000"/>
                </a:solidFill>
                <a:latin typeface="Courier New"/>
              </a:rPr>
              <a:t>CUDA Templates for Linear Algebra </a:t>
            </a:r>
            <a:endParaRPr lang="en-US" sz="2400" b="1" dirty="0" smtClean="0">
              <a:solidFill>
                <a:srgbClr val="000000"/>
              </a:solidFill>
              <a:latin typeface="Courier New"/>
            </a:endParaRPr>
          </a:p>
          <a:p>
            <a:r>
              <a:rPr lang="en-US" sz="2400" b="1" dirty="0">
                <a:solidFill>
                  <a:srgbClr val="000000"/>
                </a:solidFill>
                <a:latin typeface="Courier New"/>
              </a:rPr>
              <a:t> </a:t>
            </a:r>
            <a:r>
              <a:rPr lang="en-US" sz="2400" b="1" dirty="0" smtClean="0">
                <a:solidFill>
                  <a:srgbClr val="000000"/>
                </a:solidFill>
                <a:latin typeface="Courier New"/>
              </a:rPr>
              <a:t>        Subroutines </a:t>
            </a:r>
            <a:r>
              <a:rPr lang="en-US" sz="2400" b="1" dirty="0">
                <a:solidFill>
                  <a:srgbClr val="000000"/>
                </a:solidFill>
                <a:latin typeface="Courier New"/>
              </a:rPr>
              <a:t>and </a:t>
            </a:r>
            <a:r>
              <a:rPr lang="en-US" sz="2400" b="1" dirty="0" smtClean="0">
                <a:solidFill>
                  <a:srgbClr val="000000"/>
                </a:solidFill>
                <a:latin typeface="Courier New"/>
              </a:rPr>
              <a:t>Solvers</a:t>
            </a:r>
            <a:r>
              <a:rPr lang="en-US" sz="2400" b="1" dirty="0" smtClean="0">
                <a:solidFill>
                  <a:srgbClr val="000000"/>
                </a:solidFill>
                <a:latin typeface="Courier New"/>
              </a:rPr>
              <a:t>)</a:t>
            </a:r>
            <a:endParaRPr lang="en-US" sz="2400" b="1" dirty="0" smtClean="0">
              <a:solidFill>
                <a:srgbClr val="000000"/>
              </a:solidFill>
              <a:latin typeface="Courier New"/>
            </a:endParaRPr>
          </a:p>
          <a:p>
            <a:endParaRPr lang="en-US" sz="1700" dirty="0" smtClean="0">
              <a:solidFill>
                <a:srgbClr val="000000"/>
              </a:solidFill>
              <a:latin typeface="Courier New"/>
            </a:endParaRPr>
          </a:p>
          <a:p>
            <a:r>
              <a:rPr lang="en-US" sz="1700" dirty="0" smtClean="0">
                <a:solidFill>
                  <a:srgbClr val="000000"/>
                </a:solidFill>
                <a:latin typeface="Courier New"/>
              </a:rPr>
              <a:t>Open-source </a:t>
            </a:r>
            <a:r>
              <a:rPr lang="en-US" sz="1700" dirty="0">
                <a:solidFill>
                  <a:srgbClr val="000000"/>
                </a:solidFill>
                <a:latin typeface="Courier New"/>
              </a:rPr>
              <a:t>collection of CUDA C++ template abstractions and </a:t>
            </a:r>
            <a:endParaRPr lang="en-US" sz="1700" dirty="0" smtClean="0">
              <a:solidFill>
                <a:srgbClr val="000000"/>
              </a:solidFill>
              <a:latin typeface="Courier New"/>
            </a:endParaRPr>
          </a:p>
          <a:p>
            <a:r>
              <a:rPr lang="en-US" sz="1700" dirty="0" smtClean="0">
                <a:solidFill>
                  <a:srgbClr val="000000"/>
                </a:solidFill>
                <a:latin typeface="Courier New"/>
              </a:rPr>
              <a:t>      Python </a:t>
            </a:r>
            <a:r>
              <a:rPr lang="en-US" sz="1700" dirty="0">
                <a:solidFill>
                  <a:srgbClr val="000000"/>
                </a:solidFill>
                <a:latin typeface="Courier New"/>
              </a:rPr>
              <a:t>domain-specific languages (DSLs) </a:t>
            </a:r>
            <a:endParaRPr lang="en-US" sz="1700" dirty="0" smtClean="0">
              <a:solidFill>
                <a:srgbClr val="000000"/>
              </a:solidFill>
              <a:latin typeface="Courier New"/>
            </a:endParaRPr>
          </a:p>
          <a:p>
            <a:endParaRPr lang="en-US" sz="1700" dirty="0" smtClean="0">
              <a:solidFill>
                <a:srgbClr val="000000"/>
              </a:solidFill>
              <a:latin typeface="Courier New"/>
            </a:endParaRPr>
          </a:p>
          <a:p>
            <a:r>
              <a:rPr lang="en-US" sz="1700" dirty="0" smtClean="0">
                <a:solidFill>
                  <a:srgbClr val="000000"/>
                </a:solidFill>
                <a:latin typeface="Courier New"/>
              </a:rPr>
              <a:t>Designed </a:t>
            </a:r>
            <a:r>
              <a:rPr lang="en-US" sz="1700" dirty="0">
                <a:solidFill>
                  <a:srgbClr val="000000"/>
                </a:solidFill>
                <a:latin typeface="Courier New"/>
              </a:rPr>
              <a:t>to implement high-performance matrix-matrix </a:t>
            </a:r>
            <a:r>
              <a:rPr lang="en-US" sz="1700" dirty="0" smtClean="0">
                <a:solidFill>
                  <a:srgbClr val="000000"/>
                </a:solidFill>
                <a:latin typeface="Courier New"/>
              </a:rPr>
              <a:t>multiplication</a:t>
            </a:r>
          </a:p>
          <a:p>
            <a:r>
              <a:rPr lang="en-US" sz="1700" dirty="0" smtClean="0">
                <a:solidFill>
                  <a:srgbClr val="000000"/>
                </a:solidFill>
                <a:latin typeface="Courier New"/>
              </a:rPr>
              <a:t>(</a:t>
            </a:r>
            <a:r>
              <a:rPr lang="en-US" sz="1700" dirty="0">
                <a:solidFill>
                  <a:srgbClr val="000000"/>
                </a:solidFill>
                <a:latin typeface="Courier New"/>
              </a:rPr>
              <a:t>GEMM) and linear algebra computations on NVIDIA </a:t>
            </a:r>
            <a:r>
              <a:rPr lang="en-US" sz="1700" dirty="0" smtClean="0">
                <a:solidFill>
                  <a:srgbClr val="000000"/>
                </a:solidFill>
                <a:latin typeface="Courier New"/>
              </a:rPr>
              <a:t>GPUs</a:t>
            </a:r>
          </a:p>
          <a:p>
            <a:endParaRPr lang="en-US" sz="1700" dirty="0">
              <a:solidFill>
                <a:srgbClr val="000000"/>
              </a:solidFill>
              <a:latin typeface="Courier New"/>
            </a:endParaRPr>
          </a:p>
          <a:p>
            <a:r>
              <a:rPr lang="en-US" sz="1700" dirty="0">
                <a:solidFill>
                  <a:srgbClr val="000000"/>
                </a:solidFill>
                <a:latin typeface="Courier New"/>
              </a:rPr>
              <a:t>Hierarchical Design: Decomposes complex linear algebra operations </a:t>
            </a:r>
            <a:endParaRPr lang="en-US" sz="1700" dirty="0" smtClean="0">
              <a:solidFill>
                <a:srgbClr val="000000"/>
              </a:solidFill>
              <a:latin typeface="Courier New"/>
            </a:endParaRPr>
          </a:p>
          <a:p>
            <a:r>
              <a:rPr lang="en-US" sz="1700" dirty="0" smtClean="0">
                <a:solidFill>
                  <a:srgbClr val="000000"/>
                </a:solidFill>
                <a:latin typeface="Courier New"/>
              </a:rPr>
              <a:t>	into </a:t>
            </a:r>
            <a:r>
              <a:rPr lang="en-US" sz="1700" dirty="0">
                <a:solidFill>
                  <a:srgbClr val="000000"/>
                </a:solidFill>
                <a:latin typeface="Courier New"/>
              </a:rPr>
              <a:t>thread-block tiles, warps, and individual threads </a:t>
            </a:r>
            <a:endParaRPr lang="en-US" sz="1700" dirty="0" smtClean="0">
              <a:solidFill>
                <a:srgbClr val="000000"/>
              </a:solidFill>
              <a:latin typeface="Courier New"/>
            </a:endParaRPr>
          </a:p>
          <a:p>
            <a:r>
              <a:rPr lang="en-US" sz="1700" dirty="0" smtClean="0">
                <a:solidFill>
                  <a:srgbClr val="000000"/>
                </a:solidFill>
                <a:latin typeface="Courier New"/>
              </a:rPr>
              <a:t>	matching </a:t>
            </a:r>
            <a:r>
              <a:rPr lang="en-US" sz="1700" dirty="0">
                <a:solidFill>
                  <a:srgbClr val="000000"/>
                </a:solidFill>
                <a:latin typeface="Courier New"/>
              </a:rPr>
              <a:t>the CUDA hardware </a:t>
            </a:r>
            <a:r>
              <a:rPr lang="en-US" sz="1700" dirty="0" smtClean="0">
                <a:solidFill>
                  <a:srgbClr val="000000"/>
                </a:solidFill>
                <a:latin typeface="Courier New"/>
              </a:rPr>
              <a:t>model</a:t>
            </a:r>
          </a:p>
          <a:p>
            <a:endParaRPr lang="en-US" sz="1700" dirty="0">
              <a:solidFill>
                <a:srgbClr val="000000"/>
              </a:solidFill>
              <a:latin typeface="Courier New"/>
            </a:endParaRPr>
          </a:p>
          <a:p>
            <a:r>
              <a:rPr lang="en-US" sz="1700" dirty="0" err="1" smtClean="0">
                <a:solidFill>
                  <a:srgbClr val="000000"/>
                </a:solidFill>
                <a:latin typeface="Courier New"/>
              </a:rPr>
              <a:t>pCuTe</a:t>
            </a:r>
            <a:r>
              <a:rPr lang="en-US" sz="1700" dirty="0" smtClean="0">
                <a:solidFill>
                  <a:srgbClr val="000000"/>
                </a:solidFill>
                <a:latin typeface="Courier New"/>
              </a:rPr>
              <a:t> </a:t>
            </a:r>
            <a:r>
              <a:rPr lang="en-US" sz="1700" dirty="0">
                <a:solidFill>
                  <a:srgbClr val="000000"/>
                </a:solidFill>
                <a:latin typeface="Courier New"/>
              </a:rPr>
              <a:t>Library: Uses a core foundation called </a:t>
            </a:r>
            <a:r>
              <a:rPr lang="en-US" sz="1700" dirty="0" err="1">
                <a:solidFill>
                  <a:srgbClr val="000000"/>
                </a:solidFill>
                <a:latin typeface="Courier New"/>
              </a:rPr>
              <a:t>CuTe</a:t>
            </a:r>
            <a:r>
              <a:rPr lang="en-US" sz="1700" dirty="0">
                <a:solidFill>
                  <a:srgbClr val="000000"/>
                </a:solidFill>
                <a:latin typeface="Courier New"/>
              </a:rPr>
              <a:t> for defining </a:t>
            </a:r>
            <a:endParaRPr lang="en-US" sz="1700" dirty="0" smtClean="0">
              <a:solidFill>
                <a:srgbClr val="000000"/>
              </a:solidFill>
              <a:latin typeface="Courier New"/>
            </a:endParaRPr>
          </a:p>
          <a:p>
            <a:r>
              <a:rPr lang="en-US" sz="1700" dirty="0">
                <a:solidFill>
                  <a:srgbClr val="000000"/>
                </a:solidFill>
                <a:latin typeface="Courier New"/>
              </a:rPr>
              <a:t>	</a:t>
            </a:r>
            <a:r>
              <a:rPr lang="en-US" sz="1700" dirty="0" smtClean="0">
                <a:solidFill>
                  <a:srgbClr val="000000"/>
                </a:solidFill>
                <a:latin typeface="Courier New"/>
              </a:rPr>
              <a:t>multidimensional </a:t>
            </a:r>
            <a:r>
              <a:rPr lang="en-US" sz="1700" dirty="0">
                <a:solidFill>
                  <a:srgbClr val="000000"/>
                </a:solidFill>
                <a:latin typeface="Courier New"/>
              </a:rPr>
              <a:t>tensor layouts, memory spaces, and </a:t>
            </a:r>
            <a:r>
              <a:rPr lang="en-US" sz="1700" dirty="0" smtClean="0">
                <a:solidFill>
                  <a:srgbClr val="000000"/>
                </a:solidFill>
                <a:latin typeface="Courier New"/>
              </a:rPr>
              <a:t>thread</a:t>
            </a:r>
          </a:p>
          <a:p>
            <a:r>
              <a:rPr lang="en-US" sz="1700" dirty="0">
                <a:solidFill>
                  <a:srgbClr val="000000"/>
                </a:solidFill>
                <a:latin typeface="Courier New"/>
              </a:rPr>
              <a:t>	</a:t>
            </a:r>
            <a:r>
              <a:rPr lang="en-US" sz="1700" dirty="0" smtClean="0">
                <a:solidFill>
                  <a:srgbClr val="000000"/>
                </a:solidFill>
                <a:latin typeface="Courier New"/>
              </a:rPr>
              <a:t>organization</a:t>
            </a:r>
            <a:r>
              <a:rPr lang="en-US" sz="1700" dirty="0">
                <a:solidFill>
                  <a:srgbClr val="000000"/>
                </a:solidFill>
                <a:latin typeface="Courier New"/>
              </a:rPr>
              <a:t>, simplifying complex data indexing</a:t>
            </a:r>
          </a:p>
          <a:p>
            <a:endParaRPr lang="en-US" sz="1700" dirty="0">
              <a:solidFill>
                <a:srgbClr val="000000"/>
              </a:solidFill>
              <a:latin typeface="Courier New"/>
            </a:endParaRPr>
          </a:p>
          <a:p>
            <a:r>
              <a:rPr lang="en-US" sz="1700" dirty="0">
                <a:solidFill>
                  <a:srgbClr val="000000"/>
                </a:solidFill>
                <a:latin typeface="Courier New"/>
              </a:rPr>
              <a:t>Mixed-Precision Support: Supports FP64, FP32, TF32, FP16, BF16, </a:t>
            </a:r>
            <a:endParaRPr lang="en-US" sz="1700" dirty="0" smtClean="0">
              <a:solidFill>
                <a:srgbClr val="000000"/>
              </a:solidFill>
              <a:latin typeface="Courier New"/>
            </a:endParaRPr>
          </a:p>
          <a:p>
            <a:r>
              <a:rPr lang="en-US" sz="1700" dirty="0">
                <a:solidFill>
                  <a:srgbClr val="000000"/>
                </a:solidFill>
                <a:latin typeface="Courier New"/>
              </a:rPr>
              <a:t>	</a:t>
            </a:r>
            <a:r>
              <a:rPr lang="en-US" sz="1700" dirty="0" smtClean="0">
                <a:solidFill>
                  <a:srgbClr val="000000"/>
                </a:solidFill>
                <a:latin typeface="Courier New"/>
              </a:rPr>
              <a:t>8-bit/4-bit </a:t>
            </a:r>
            <a:r>
              <a:rPr lang="en-US" sz="1700" dirty="0">
                <a:solidFill>
                  <a:srgbClr val="000000"/>
                </a:solidFill>
                <a:latin typeface="Courier New"/>
              </a:rPr>
              <a:t>integers, and newer block-scaled formats </a:t>
            </a:r>
            <a:endParaRPr lang="en-US" sz="1700" dirty="0" smtClean="0">
              <a:solidFill>
                <a:srgbClr val="000000"/>
              </a:solidFill>
              <a:latin typeface="Courier New"/>
            </a:endParaRPr>
          </a:p>
          <a:p>
            <a:r>
              <a:rPr lang="en-US" sz="1700" dirty="0">
                <a:solidFill>
                  <a:srgbClr val="000000"/>
                </a:solidFill>
                <a:latin typeface="Courier New"/>
              </a:rPr>
              <a:t>	</a:t>
            </a:r>
            <a:r>
              <a:rPr lang="en-US" sz="1700" dirty="0" smtClean="0">
                <a:solidFill>
                  <a:srgbClr val="000000"/>
                </a:solidFill>
                <a:latin typeface="Courier New"/>
              </a:rPr>
              <a:t>like </a:t>
            </a:r>
            <a:r>
              <a:rPr lang="en-US" sz="1700" dirty="0">
                <a:solidFill>
                  <a:srgbClr val="000000"/>
                </a:solidFill>
                <a:latin typeface="Courier New"/>
              </a:rPr>
              <a:t>NVFP4 and </a:t>
            </a:r>
            <a:r>
              <a:rPr lang="en-US" sz="1700" dirty="0" smtClean="0">
                <a:solidFill>
                  <a:srgbClr val="000000"/>
                </a:solidFill>
                <a:latin typeface="Courier New"/>
              </a:rPr>
              <a:t>MXFP4/MXFP8</a:t>
            </a:r>
            <a:endParaRPr lang="en-US" sz="1700" dirty="0" smtClean="0">
              <a:solidFill>
                <a:srgbClr val="000000"/>
              </a:solidFill>
              <a:latin typeface="Courier New"/>
            </a:endParaRPr>
          </a:p>
          <a:p>
            <a:endParaRPr sz="1700" dirty="0">
              <a:solidFill>
                <a:srgbClr val="000000"/>
              </a:solidFill>
              <a:latin typeface="Courier New"/>
            </a:endParaRPr>
          </a:p>
        </p:txBody>
      </p:sp>
    </p:spTree>
    <p:extLst>
      <p:ext uri="{BB962C8B-B14F-4D97-AF65-F5344CB8AC3E}">
        <p14:creationId xmlns:p14="http://schemas.microsoft.com/office/powerpoint/2010/main" val="8728488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4-bit floating point </a:t>
            </a:r>
            <a:r>
              <a:rPr lang="en-US" sz="4400" b="1" dirty="0" smtClean="0">
                <a:solidFill>
                  <a:srgbClr val="FFFFFF"/>
                </a:solidFill>
                <a:latin typeface="Arial"/>
                <a:cs typeface="Arial"/>
              </a:rPr>
              <a:t>(NVFP4</a:t>
            </a:r>
            <a:r>
              <a:rPr lang="en-US" sz="4400" b="1" dirty="0" smtClean="0">
                <a:solidFill>
                  <a:srgbClr val="FFFFFF"/>
                </a:solidFill>
                <a:latin typeface="Arial"/>
                <a:cs typeface="Arial"/>
              </a:rPr>
              <a:t>)</a:t>
            </a:r>
            <a:endParaRPr lang="en-US" sz="4400" b="1" dirty="0">
              <a:solidFill>
                <a:srgbClr val="FFFFFF"/>
              </a:solidFill>
              <a:latin typeface="Arial"/>
              <a:cs typeface="Arial"/>
            </a:endParaRPr>
          </a:p>
        </p:txBody>
      </p:sp>
      <p:sp>
        <p:nvSpPr>
          <p:cNvPr id="901" name="TextBox 900"/>
          <p:cNvSpPr txBox="1"/>
          <p:nvPr/>
        </p:nvSpPr>
        <p:spPr>
          <a:xfrm>
            <a:off x="776520" y="1724086"/>
            <a:ext cx="8778240" cy="6124754"/>
          </a:xfrm>
          <a:prstGeom prst="rect">
            <a:avLst/>
          </a:prstGeom>
          <a:noFill/>
        </p:spPr>
        <p:txBody>
          <a:bodyPr wrap="square" anchor="t">
            <a:spAutoFit/>
          </a:bodyPr>
          <a:lstStyle/>
          <a:p>
            <a:r>
              <a:rPr lang="en-US" sz="2800" b="1" dirty="0" smtClean="0"/>
              <a:t>Bit </a:t>
            </a:r>
            <a:r>
              <a:rPr lang="en-US" sz="2800" b="1" dirty="0"/>
              <a:t>Layout: </a:t>
            </a:r>
            <a:r>
              <a:rPr lang="en-US" sz="2800" dirty="0"/>
              <a:t>Uses an E2M1 configuration consisting of 1 sign bit, 2 exponent bits, and 1 mantissa bit, covering a value range of approximately -6 to 6</a:t>
            </a:r>
            <a:r>
              <a:rPr lang="en-US" sz="2800" dirty="0" smtClean="0"/>
              <a:t>.</a:t>
            </a:r>
          </a:p>
          <a:p>
            <a:endParaRPr lang="en-US" sz="2800" dirty="0"/>
          </a:p>
          <a:p>
            <a:r>
              <a:rPr lang="en-US" sz="2800" b="1" dirty="0" smtClean="0"/>
              <a:t>Two-Level </a:t>
            </a:r>
            <a:r>
              <a:rPr lang="en-US" sz="2800" b="1" dirty="0"/>
              <a:t>Scaling: </a:t>
            </a:r>
            <a:r>
              <a:rPr lang="en-US" sz="2800" dirty="0"/>
              <a:t>Employs fine-grained hierarchical scaling—using an FP8 scale for local micro-blocks of 16 values and a second FP32 scale for the entire tensor—to preserve dynamic range and global distribution</a:t>
            </a:r>
            <a:r>
              <a:rPr lang="en-US" sz="2800" dirty="0" smtClean="0"/>
              <a:t>.</a:t>
            </a:r>
          </a:p>
          <a:p>
            <a:endParaRPr lang="en-US" sz="2800" dirty="0"/>
          </a:p>
          <a:p>
            <a:r>
              <a:rPr lang="en-US" sz="2800" b="1" dirty="0"/>
              <a:t>Hardware Acceleration</a:t>
            </a:r>
            <a:r>
              <a:rPr lang="en-US" sz="2800" dirty="0"/>
              <a:t>: Designed for native execution on NVIDIA Blackwell fifth-generation Tensor Cores, allowing direct 4-bit math processing with higher-precision accumulation.</a:t>
            </a:r>
          </a:p>
          <a:p>
            <a:r>
              <a:rPr lang="en-US" sz="2800" dirty="0" smtClean="0"/>
              <a:t> </a:t>
            </a:r>
            <a:endParaRPr lang="en-US" sz="2800" dirty="0"/>
          </a:p>
        </p:txBody>
      </p:sp>
    </p:spTree>
    <p:extLst>
      <p:ext uri="{BB962C8B-B14F-4D97-AF65-F5344CB8AC3E}">
        <p14:creationId xmlns:p14="http://schemas.microsoft.com/office/powerpoint/2010/main" val="41448559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4-bit floating point </a:t>
            </a:r>
            <a:r>
              <a:rPr lang="en-US" sz="4400" b="1" dirty="0" smtClean="0">
                <a:solidFill>
                  <a:srgbClr val="FFFFFF"/>
                </a:solidFill>
                <a:latin typeface="Arial"/>
                <a:cs typeface="Arial"/>
              </a:rPr>
              <a:t>(MXFP4</a:t>
            </a:r>
            <a:r>
              <a:rPr lang="en-US" sz="4400" b="1" dirty="0" smtClean="0">
                <a:solidFill>
                  <a:srgbClr val="FFFFFF"/>
                </a:solidFill>
                <a:latin typeface="Arial"/>
                <a:cs typeface="Arial"/>
              </a:rPr>
              <a:t>)</a:t>
            </a:r>
            <a:endParaRPr lang="en-US" sz="4400" b="1" dirty="0">
              <a:solidFill>
                <a:srgbClr val="FFFFFF"/>
              </a:solidFill>
              <a:latin typeface="Arial"/>
              <a:cs typeface="Arial"/>
            </a:endParaRPr>
          </a:p>
        </p:txBody>
      </p:sp>
      <p:sp>
        <p:nvSpPr>
          <p:cNvPr id="901" name="TextBox 900"/>
          <p:cNvSpPr txBox="1"/>
          <p:nvPr/>
        </p:nvSpPr>
        <p:spPr>
          <a:xfrm>
            <a:off x="776520" y="1724086"/>
            <a:ext cx="8778240" cy="4401205"/>
          </a:xfrm>
          <a:prstGeom prst="rect">
            <a:avLst/>
          </a:prstGeom>
          <a:noFill/>
        </p:spPr>
        <p:txBody>
          <a:bodyPr wrap="square" anchor="t">
            <a:spAutoFit/>
          </a:bodyPr>
          <a:lstStyle/>
          <a:p>
            <a:r>
              <a:rPr lang="en-US" sz="2800" b="1" dirty="0" smtClean="0"/>
              <a:t>Bit </a:t>
            </a:r>
            <a:r>
              <a:rPr lang="en-US" sz="2800" b="1" dirty="0"/>
              <a:t>Layout: </a:t>
            </a:r>
            <a:r>
              <a:rPr lang="en-US" sz="2800" dirty="0" smtClean="0"/>
              <a:t>Each </a:t>
            </a:r>
            <a:r>
              <a:rPr lang="en-US" sz="2800" dirty="0"/>
              <a:t>weight uses only 4 bits in an E2M1 layout (1 sign bit, 2 exponent bits, and 1 mantissa bit).</a:t>
            </a:r>
          </a:p>
          <a:p>
            <a:r>
              <a:rPr lang="en-US" sz="2800" dirty="0"/>
              <a:t>                                                                                                                        </a:t>
            </a:r>
            <a:r>
              <a:rPr lang="en-US" sz="2800" b="1" dirty="0"/>
              <a:t>Block sharing: </a:t>
            </a:r>
            <a:r>
              <a:rPr lang="en-US" sz="2800" dirty="0"/>
              <a:t>Instead of scaling every number alone, it groups 32 values into a single block</a:t>
            </a:r>
          </a:p>
          <a:p>
            <a:endParaRPr lang="en-US" sz="2800" dirty="0"/>
          </a:p>
          <a:p>
            <a:r>
              <a:rPr lang="en-US" sz="2800" b="1" dirty="0"/>
              <a:t>Shared scale: </a:t>
            </a:r>
            <a:r>
              <a:rPr lang="en-US" sz="2800" dirty="0"/>
              <a:t>The whole block shares one 8-bit exponent scaling factor. This method gives small groups a wide dynamic range without wasting memory. </a:t>
            </a:r>
          </a:p>
          <a:p>
            <a:r>
              <a:rPr lang="en-US" sz="2800" dirty="0" smtClean="0"/>
              <a:t> </a:t>
            </a:r>
            <a:endParaRPr lang="en-US" sz="2800" dirty="0"/>
          </a:p>
        </p:txBody>
      </p:sp>
    </p:spTree>
    <p:extLst>
      <p:ext uri="{BB962C8B-B14F-4D97-AF65-F5344CB8AC3E}">
        <p14:creationId xmlns:p14="http://schemas.microsoft.com/office/powerpoint/2010/main" val="25453309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8</a:t>
            </a:r>
            <a:r>
              <a:rPr lang="en-US" sz="4400" b="1" dirty="0" smtClean="0">
                <a:solidFill>
                  <a:srgbClr val="FFFFFF"/>
                </a:solidFill>
                <a:latin typeface="Arial"/>
                <a:cs typeface="Arial"/>
              </a:rPr>
              <a:t>-bit </a:t>
            </a:r>
            <a:r>
              <a:rPr lang="en-US" sz="4400" b="1" dirty="0" smtClean="0">
                <a:solidFill>
                  <a:srgbClr val="FFFFFF"/>
                </a:solidFill>
                <a:latin typeface="Arial"/>
                <a:cs typeface="Arial"/>
              </a:rPr>
              <a:t>floating point </a:t>
            </a:r>
            <a:r>
              <a:rPr lang="en-US" sz="4400" b="1" dirty="0" smtClean="0">
                <a:solidFill>
                  <a:srgbClr val="FFFFFF"/>
                </a:solidFill>
                <a:latin typeface="Arial"/>
                <a:cs typeface="Arial"/>
              </a:rPr>
              <a:t>(MXFP8)</a:t>
            </a:r>
            <a:endParaRPr lang="en-US" sz="4400" b="1" dirty="0">
              <a:solidFill>
                <a:srgbClr val="FFFFFF"/>
              </a:solidFill>
              <a:latin typeface="Arial"/>
              <a:cs typeface="Arial"/>
            </a:endParaRPr>
          </a:p>
        </p:txBody>
      </p:sp>
      <p:sp>
        <p:nvSpPr>
          <p:cNvPr id="901" name="TextBox 900"/>
          <p:cNvSpPr txBox="1"/>
          <p:nvPr/>
        </p:nvSpPr>
        <p:spPr>
          <a:xfrm>
            <a:off x="776520" y="1724086"/>
            <a:ext cx="8778240" cy="6555641"/>
          </a:xfrm>
          <a:prstGeom prst="rect">
            <a:avLst/>
          </a:prstGeom>
          <a:noFill/>
        </p:spPr>
        <p:txBody>
          <a:bodyPr wrap="square" anchor="t">
            <a:spAutoFit/>
          </a:bodyPr>
          <a:lstStyle/>
          <a:p>
            <a:r>
              <a:rPr lang="en-US" sz="2800" b="1" dirty="0" smtClean="0"/>
              <a:t>Bit </a:t>
            </a:r>
            <a:r>
              <a:rPr lang="en-US" sz="2800" b="1" dirty="0"/>
              <a:t>Layout: </a:t>
            </a:r>
            <a:r>
              <a:rPr lang="en-US" sz="2800" dirty="0"/>
              <a:t>Values are encoded using the FP8 E4M3 format (1 sign bit, 4 exponent bits, and 3 mantissa bits).</a:t>
            </a:r>
          </a:p>
          <a:p>
            <a:r>
              <a:rPr lang="en-US" sz="2800" b="1" dirty="0" smtClean="0"/>
              <a:t>Block </a:t>
            </a:r>
            <a:r>
              <a:rPr lang="en-US" sz="2800" b="1" dirty="0"/>
              <a:t>Scaling: </a:t>
            </a:r>
            <a:r>
              <a:rPr lang="en-US" sz="2800" dirty="0"/>
              <a:t>Unlike standard per-tensor FP8, MXFP8 divides tensors into contiguous blocks of 32 elements along an axis.</a:t>
            </a:r>
          </a:p>
          <a:p>
            <a:r>
              <a:rPr lang="en-US" sz="2800" b="1" dirty="0" smtClean="0"/>
              <a:t>Shared </a:t>
            </a:r>
            <a:r>
              <a:rPr lang="en-US" sz="2800" b="1" dirty="0"/>
              <a:t>Scaling Factors: </a:t>
            </a:r>
            <a:r>
              <a:rPr lang="en-US" sz="2800" dirty="0"/>
              <a:t>Each 32-element block shares a single unsigned exponent-only scaling factor in the E8M0 format (8 exponent bits, 0 mantissa bits).</a:t>
            </a:r>
          </a:p>
          <a:p>
            <a:r>
              <a:rPr lang="en-US" sz="2800" b="1" dirty="0" smtClean="0"/>
              <a:t>Granularity </a:t>
            </a:r>
            <a:r>
              <a:rPr lang="en-US" sz="2800" b="1" dirty="0"/>
              <a:t>Benefits</a:t>
            </a:r>
            <a:r>
              <a:rPr lang="en-US" sz="2800" dirty="0"/>
              <a:t>: Fine-grained 1x32 scaling limits the impact of data outliers to their specific local block, preventing the severe quantization noise or clipping seen in traditional 8-bit </a:t>
            </a:r>
            <a:r>
              <a:rPr lang="en-US" sz="2800" dirty="0" smtClean="0"/>
              <a:t>formats</a:t>
            </a:r>
          </a:p>
          <a:p>
            <a:r>
              <a:rPr lang="en-US" sz="2800" b="1" dirty="0" smtClean="0"/>
              <a:t>Claims</a:t>
            </a:r>
            <a:r>
              <a:rPr lang="en-US" sz="2800" dirty="0" smtClean="0"/>
              <a:t> </a:t>
            </a:r>
            <a:r>
              <a:rPr lang="en-US" sz="2800" dirty="0" smtClean="0">
                <a:hlinkClick r:id="rId3"/>
              </a:rPr>
              <a:t>near-lossless 16-bit (BF16) accuracy</a:t>
            </a:r>
            <a:endParaRPr lang="en-US" sz="2800" dirty="0"/>
          </a:p>
          <a:p>
            <a:endParaRPr lang="en-US" sz="2800" dirty="0"/>
          </a:p>
          <a:p>
            <a:r>
              <a:rPr lang="en-US" sz="2800" dirty="0" smtClean="0"/>
              <a:t> </a:t>
            </a:r>
            <a:endParaRPr lang="en-US" sz="2800" dirty="0"/>
          </a:p>
        </p:txBody>
      </p:sp>
    </p:spTree>
    <p:extLst>
      <p:ext uri="{BB962C8B-B14F-4D97-AF65-F5344CB8AC3E}">
        <p14:creationId xmlns:p14="http://schemas.microsoft.com/office/powerpoint/2010/main" val="233850013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err="1" smtClean="0">
                <a:solidFill>
                  <a:srgbClr val="FFFFFF"/>
                </a:solidFill>
                <a:latin typeface="Arial"/>
                <a:cs typeface="Arial"/>
              </a:rPr>
              <a:t>OpenAI</a:t>
            </a:r>
            <a:r>
              <a:rPr lang="en-US" sz="4400" b="1" dirty="0" smtClean="0">
                <a:solidFill>
                  <a:srgbClr val="FFFFFF"/>
                </a:solidFill>
                <a:latin typeface="Arial"/>
                <a:cs typeface="Arial"/>
              </a:rPr>
              <a:t> Triton</a:t>
            </a:r>
            <a:endParaRPr lang="en-US" sz="4400" b="1" dirty="0">
              <a:solidFill>
                <a:srgbClr val="FFFFFF"/>
              </a:solidFill>
              <a:latin typeface="Arial"/>
              <a:cs typeface="Arial"/>
            </a:endParaRPr>
          </a:p>
        </p:txBody>
      </p:sp>
      <p:sp>
        <p:nvSpPr>
          <p:cNvPr id="901" name="Rectangle 900"/>
          <p:cNvSpPr/>
          <p:nvPr/>
        </p:nvSpPr>
        <p:spPr>
          <a:xfrm>
            <a:off x="319538" y="1691640"/>
            <a:ext cx="9235222" cy="5780876"/>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37160" tIns="91440" rIns="91440" rtlCol="0" anchor="t"/>
          <a:lstStyle/>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O</a:t>
            </a:r>
            <a:r>
              <a:rPr lang="en-US" dirty="0" smtClean="0">
                <a:solidFill>
                  <a:srgbClr val="000000"/>
                </a:solidFill>
                <a:latin typeface="Courier New"/>
              </a:rPr>
              <a:t>pen-source</a:t>
            </a:r>
            <a:r>
              <a:rPr lang="en-US" dirty="0">
                <a:solidFill>
                  <a:srgbClr val="000000"/>
                </a:solidFill>
                <a:latin typeface="Courier New"/>
              </a:rPr>
              <a:t>, Python-embedded </a:t>
            </a:r>
            <a:r>
              <a:rPr lang="en-US" dirty="0" smtClean="0">
                <a:solidFill>
                  <a:srgbClr val="000000"/>
                </a:solidFill>
                <a:latin typeface="Courier New"/>
              </a:rPr>
              <a:t>domain specific </a:t>
            </a:r>
            <a:r>
              <a:rPr lang="en-US" dirty="0">
                <a:solidFill>
                  <a:srgbClr val="000000"/>
                </a:solidFill>
                <a:latin typeface="Courier New"/>
              </a:rPr>
              <a:t>language (DSL) and compiler designed to write highly efficient custom GPU kernels. </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Triton abstracts </a:t>
            </a:r>
            <a:r>
              <a:rPr lang="en-US" dirty="0">
                <a:solidFill>
                  <a:srgbClr val="000000"/>
                </a:solidFill>
                <a:latin typeface="Courier New"/>
              </a:rPr>
              <a:t>the grid of individual hardware threads into a blocked program representation—meaning operations are executed on blocks of data rather than individual scalar elements.</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Operation </a:t>
            </a:r>
            <a:r>
              <a:rPr lang="en-US" dirty="0">
                <a:solidFill>
                  <a:srgbClr val="000000"/>
                </a:solidFill>
                <a:latin typeface="Courier New"/>
              </a:rPr>
              <a:t>Fusion: In standard deep learning setups, executing multiple individual functions sequentially forces data to move back and forth between the GPU's fast cache (shared memory) and its slower High Bandwidth Memory (HBM/VRAM). Triton fuses these operations into a single, unified kernel. Temporary data stays directly inside the Streaming Multiprocessor's (SM) shared memory, eliminating massive data-transfer overheads.</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Automatic </a:t>
            </a:r>
            <a:r>
              <a:rPr lang="en-US" dirty="0">
                <a:solidFill>
                  <a:srgbClr val="000000"/>
                </a:solidFill>
                <a:latin typeface="Courier New"/>
              </a:rPr>
              <a:t>Hardware Optimization: The Triton compiler takes the high-level Python Abstract Syntax Tree (AST) and automatically handles low-level optimizations like memory coalescing, shared memory management, software pipelining, and scheduling within SMs</a:t>
            </a:r>
            <a:r>
              <a:rPr lang="en-US" dirty="0" smtClean="0">
                <a:solidFill>
                  <a:srgbClr val="000000"/>
                </a:solidFill>
                <a:latin typeface="Courier New"/>
              </a:rPr>
              <a:t>.</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Used by </a:t>
            </a:r>
            <a:r>
              <a:rPr lang="en-US" dirty="0" err="1" smtClean="0">
                <a:solidFill>
                  <a:srgbClr val="000000"/>
                </a:solidFill>
                <a:latin typeface="Courier New"/>
              </a:rPr>
              <a:t>PyTorch</a:t>
            </a:r>
            <a:r>
              <a:rPr lang="en-US" dirty="0" smtClean="0">
                <a:solidFill>
                  <a:srgbClr val="000000"/>
                </a:solidFill>
                <a:latin typeface="Courier New"/>
              </a:rPr>
              <a:t> 2.x</a:t>
            </a:r>
            <a:endParaRPr lang="en-US" dirty="0">
              <a:solidFill>
                <a:srgbClr val="000000"/>
              </a:solidFill>
              <a:latin typeface="Courier New"/>
            </a:endParaRPr>
          </a:p>
        </p:txBody>
      </p:sp>
    </p:spTree>
    <p:extLst>
      <p:ext uri="{BB962C8B-B14F-4D97-AF65-F5344CB8AC3E}">
        <p14:creationId xmlns:p14="http://schemas.microsoft.com/office/powerpoint/2010/main" val="4676248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err="1" smtClean="0">
                <a:solidFill>
                  <a:srgbClr val="FFFFFF"/>
                </a:solidFill>
                <a:latin typeface="Arial"/>
                <a:cs typeface="Arial"/>
              </a:rPr>
              <a:t>PyTorch</a:t>
            </a:r>
            <a:endParaRPr lang="en-US" sz="4400" b="1" dirty="0">
              <a:solidFill>
                <a:srgbClr val="FFFFFF"/>
              </a:solidFill>
              <a:latin typeface="Arial"/>
              <a:cs typeface="Arial"/>
            </a:endParaRPr>
          </a:p>
        </p:txBody>
      </p:sp>
      <p:sp>
        <p:nvSpPr>
          <p:cNvPr id="901" name="Rectangle 900"/>
          <p:cNvSpPr/>
          <p:nvPr/>
        </p:nvSpPr>
        <p:spPr>
          <a:xfrm>
            <a:off x="319538" y="1691640"/>
            <a:ext cx="9235222" cy="5780876"/>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37160" tIns="91440" rIns="91440" rtlCol="0" anchor="t"/>
          <a:lstStyle/>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Open-source </a:t>
            </a:r>
            <a:r>
              <a:rPr lang="en-US" dirty="0">
                <a:solidFill>
                  <a:srgbClr val="000000"/>
                </a:solidFill>
                <a:latin typeface="Courier New"/>
              </a:rPr>
              <a:t>machine learning and deep learning framework                                                             </a:t>
            </a: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Provides </a:t>
            </a:r>
            <a:r>
              <a:rPr lang="en-US" dirty="0">
                <a:solidFill>
                  <a:srgbClr val="000000"/>
                </a:solidFill>
                <a:latin typeface="Courier New"/>
              </a:rPr>
              <a:t>a multi-dimensional array object called a Tensor that runs on GPUs and </a:t>
            </a:r>
            <a:r>
              <a:rPr lang="en-US" dirty="0" smtClean="0">
                <a:solidFill>
                  <a:srgbClr val="000000"/>
                </a:solidFill>
                <a:latin typeface="Courier New"/>
              </a:rPr>
              <a:t>TPUs                                 </a:t>
            </a:r>
            <a:r>
              <a:rPr lang="en-US" dirty="0">
                <a:solidFill>
                  <a:srgbClr val="000000"/>
                </a:solidFill>
                <a:latin typeface="Courier New"/>
              </a:rPr>
              <a:t>• </a:t>
            </a: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err="1" smtClean="0">
                <a:solidFill>
                  <a:srgbClr val="000000"/>
                </a:solidFill>
                <a:latin typeface="Courier New"/>
              </a:rPr>
              <a:t>Autograd</a:t>
            </a:r>
            <a:r>
              <a:rPr lang="en-US" dirty="0" smtClean="0">
                <a:solidFill>
                  <a:srgbClr val="000000"/>
                </a:solidFill>
                <a:latin typeface="Courier New"/>
              </a:rPr>
              <a:t> </a:t>
            </a:r>
            <a:r>
              <a:rPr lang="en-US" dirty="0">
                <a:solidFill>
                  <a:srgbClr val="000000"/>
                </a:solidFill>
                <a:latin typeface="Courier New"/>
              </a:rPr>
              <a:t>engine automatically calculates gradients (derivatives) required for training neural networks                </a:t>
            </a: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Uses </a:t>
            </a:r>
            <a:r>
              <a:rPr lang="en-US" dirty="0">
                <a:solidFill>
                  <a:srgbClr val="000000"/>
                </a:solidFill>
                <a:latin typeface="Courier New"/>
              </a:rPr>
              <a:t>a dynamic graph execution </a:t>
            </a:r>
            <a:r>
              <a:rPr lang="en-US" dirty="0" smtClean="0">
                <a:solidFill>
                  <a:srgbClr val="000000"/>
                </a:solidFill>
                <a:latin typeface="Courier New"/>
              </a:rPr>
              <a:t>style so code </a:t>
            </a:r>
            <a:r>
              <a:rPr lang="en-US" dirty="0">
                <a:solidFill>
                  <a:srgbClr val="000000"/>
                </a:solidFill>
                <a:latin typeface="Courier New"/>
              </a:rPr>
              <a:t>runs line-by-line just like standard </a:t>
            </a:r>
            <a:r>
              <a:rPr lang="en-US" dirty="0" smtClean="0">
                <a:solidFill>
                  <a:srgbClr val="000000"/>
                </a:solidFill>
                <a:latin typeface="Courier New"/>
              </a:rPr>
              <a:t>Python</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err="1">
                <a:solidFill>
                  <a:srgbClr val="000000"/>
                </a:solidFill>
                <a:latin typeface="Courier New"/>
              </a:rPr>
              <a:t>PyTorch</a:t>
            </a:r>
            <a:r>
              <a:rPr lang="en-US" dirty="0">
                <a:solidFill>
                  <a:srgbClr val="000000"/>
                </a:solidFill>
                <a:latin typeface="Courier New"/>
              </a:rPr>
              <a:t> 2.x and </a:t>
            </a:r>
            <a:r>
              <a:rPr lang="en-US" dirty="0" err="1">
                <a:solidFill>
                  <a:srgbClr val="000000"/>
                </a:solidFill>
                <a:latin typeface="Courier New"/>
              </a:rPr>
              <a:t>TorchInductor</a:t>
            </a:r>
            <a:r>
              <a:rPr lang="en-US" dirty="0">
                <a:solidFill>
                  <a:srgbClr val="000000"/>
                </a:solidFill>
                <a:latin typeface="Courier New"/>
              </a:rPr>
              <a:t> converts Python to highly optimized </a:t>
            </a:r>
            <a:r>
              <a:rPr lang="en-US" dirty="0" err="1">
                <a:solidFill>
                  <a:srgbClr val="000000"/>
                </a:solidFill>
                <a:latin typeface="Courier New"/>
              </a:rPr>
              <a:t>OpenAI</a:t>
            </a:r>
            <a:r>
              <a:rPr lang="en-US" dirty="0">
                <a:solidFill>
                  <a:srgbClr val="000000"/>
                </a:solidFill>
                <a:latin typeface="Courier New"/>
              </a:rPr>
              <a:t> Triton kernels </a:t>
            </a:r>
          </a:p>
        </p:txBody>
      </p:sp>
    </p:spTree>
    <p:extLst>
      <p:ext uri="{BB962C8B-B14F-4D97-AF65-F5344CB8AC3E}">
        <p14:creationId xmlns:p14="http://schemas.microsoft.com/office/powerpoint/2010/main" val="32254122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JAX</a:t>
            </a:r>
            <a:endParaRPr lang="en-US" sz="4400" b="1" dirty="0">
              <a:solidFill>
                <a:srgbClr val="FFFFFF"/>
              </a:solidFill>
              <a:latin typeface="Arial"/>
              <a:cs typeface="Arial"/>
            </a:endParaRPr>
          </a:p>
        </p:txBody>
      </p:sp>
      <p:sp>
        <p:nvSpPr>
          <p:cNvPr id="901" name="Rectangle 900"/>
          <p:cNvSpPr/>
          <p:nvPr/>
        </p:nvSpPr>
        <p:spPr>
          <a:xfrm>
            <a:off x="319538" y="1691640"/>
            <a:ext cx="9235222" cy="5780876"/>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37160" tIns="91440" rIns="91440" rtlCol="0" anchor="t"/>
          <a:lstStyle/>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Open-source</a:t>
            </a:r>
            <a:r>
              <a:rPr lang="en-US" dirty="0">
                <a:solidFill>
                  <a:srgbClr val="000000"/>
                </a:solidFill>
                <a:latin typeface="Courier New"/>
              </a:rPr>
              <a:t>, high-performance </a:t>
            </a:r>
            <a:r>
              <a:rPr lang="en-US" dirty="0" smtClean="0">
                <a:solidFill>
                  <a:srgbClr val="000000"/>
                </a:solidFill>
                <a:latin typeface="Courier New"/>
              </a:rPr>
              <a:t>low level Python </a:t>
            </a:r>
            <a:r>
              <a:rPr lang="en-US" dirty="0">
                <a:solidFill>
                  <a:srgbClr val="000000"/>
                </a:solidFill>
                <a:latin typeface="Courier New"/>
              </a:rPr>
              <a:t>library developed by </a:t>
            </a:r>
            <a:r>
              <a:rPr lang="en-US" dirty="0" smtClean="0">
                <a:solidFill>
                  <a:srgbClr val="000000"/>
                </a:solidFill>
                <a:latin typeface="Courier New"/>
              </a:rPr>
              <a:t>Google</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D</a:t>
            </a:r>
            <a:r>
              <a:rPr lang="en-US" dirty="0" smtClean="0">
                <a:solidFill>
                  <a:srgbClr val="000000"/>
                </a:solidFill>
                <a:latin typeface="Courier New"/>
              </a:rPr>
              <a:t>esigned </a:t>
            </a:r>
            <a:r>
              <a:rPr lang="en-US" dirty="0">
                <a:solidFill>
                  <a:srgbClr val="000000"/>
                </a:solidFill>
                <a:latin typeface="Courier New"/>
              </a:rPr>
              <a:t>to </a:t>
            </a:r>
            <a:r>
              <a:rPr lang="en-US" dirty="0" smtClean="0">
                <a:solidFill>
                  <a:srgbClr val="000000"/>
                </a:solidFill>
                <a:latin typeface="Courier New"/>
              </a:rPr>
              <a:t>mimic Numerical Python (</a:t>
            </a:r>
            <a:r>
              <a:rPr lang="en-US" dirty="0" err="1" smtClean="0">
                <a:solidFill>
                  <a:srgbClr val="000000"/>
                </a:solidFill>
                <a:latin typeface="Courier New"/>
              </a:rPr>
              <a:t>NumPy</a:t>
            </a:r>
            <a:r>
              <a:rPr lang="en-US" dirty="0" smtClean="0">
                <a:solidFill>
                  <a:srgbClr val="000000"/>
                </a:solidFill>
                <a:latin typeface="Courier New"/>
              </a:rPr>
              <a:t>)</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Adds transformations </a:t>
            </a:r>
            <a:r>
              <a:rPr lang="en-US" dirty="0">
                <a:solidFill>
                  <a:srgbClr val="000000"/>
                </a:solidFill>
                <a:latin typeface="Courier New"/>
              </a:rPr>
              <a:t>that make it incredibly fast on hardware accelerators like GPUs and TPUs.</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F</a:t>
            </a:r>
            <a:r>
              <a:rPr lang="en-US" dirty="0" smtClean="0">
                <a:solidFill>
                  <a:srgbClr val="000000"/>
                </a:solidFill>
                <a:latin typeface="Courier New"/>
              </a:rPr>
              <a:t>unctional </a:t>
            </a:r>
            <a:r>
              <a:rPr lang="en-US" dirty="0">
                <a:solidFill>
                  <a:srgbClr val="000000"/>
                </a:solidFill>
                <a:latin typeface="Courier New"/>
              </a:rPr>
              <a:t>programming                                                                                                  </a:t>
            </a: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T</a:t>
            </a:r>
            <a:r>
              <a:rPr lang="en-US" dirty="0" smtClean="0">
                <a:solidFill>
                  <a:srgbClr val="000000"/>
                </a:solidFill>
                <a:latin typeface="Courier New"/>
              </a:rPr>
              <a:t>reats </a:t>
            </a:r>
            <a:r>
              <a:rPr lang="en-US" dirty="0">
                <a:solidFill>
                  <a:srgbClr val="000000"/>
                </a:solidFill>
                <a:latin typeface="Courier New"/>
              </a:rPr>
              <a:t>your code as pure mathematical </a:t>
            </a:r>
            <a:r>
              <a:rPr lang="en-US" dirty="0" smtClean="0">
                <a:solidFill>
                  <a:srgbClr val="000000"/>
                </a:solidFill>
                <a:latin typeface="Courier New"/>
              </a:rPr>
              <a:t>functions                                                                        </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Low level </a:t>
            </a:r>
            <a:endParaRPr lang="en-US" dirty="0">
              <a:solidFill>
                <a:srgbClr val="000000"/>
              </a:solidFill>
              <a:latin typeface="Courier New"/>
            </a:endParaRPr>
          </a:p>
        </p:txBody>
      </p:sp>
    </p:spTree>
    <p:extLst>
      <p:ext uri="{BB962C8B-B14F-4D97-AF65-F5344CB8AC3E}">
        <p14:creationId xmlns:p14="http://schemas.microsoft.com/office/powerpoint/2010/main" val="33132231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err="1" smtClean="0">
                <a:solidFill>
                  <a:srgbClr val="FFFFFF"/>
                </a:solidFill>
                <a:latin typeface="Arial"/>
                <a:cs typeface="Arial"/>
              </a:rPr>
              <a:t>TensorFlow</a:t>
            </a:r>
            <a:endParaRPr lang="en-US" sz="4400" b="1" dirty="0">
              <a:solidFill>
                <a:srgbClr val="FFFFFF"/>
              </a:solidFill>
              <a:latin typeface="Arial"/>
              <a:cs typeface="Arial"/>
            </a:endParaRPr>
          </a:p>
        </p:txBody>
      </p:sp>
      <p:sp>
        <p:nvSpPr>
          <p:cNvPr id="901" name="Rectangle 900"/>
          <p:cNvSpPr/>
          <p:nvPr/>
        </p:nvSpPr>
        <p:spPr>
          <a:xfrm>
            <a:off x="319538" y="1691640"/>
            <a:ext cx="9235222" cy="5780876"/>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37160" tIns="91440" rIns="91440" rtlCol="0" anchor="t"/>
          <a:lstStyle/>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Open-source</a:t>
            </a:r>
            <a:r>
              <a:rPr lang="en-US" dirty="0">
                <a:solidFill>
                  <a:srgbClr val="000000"/>
                </a:solidFill>
                <a:latin typeface="Courier New"/>
              </a:rPr>
              <a:t>, end-to-end machine learning platform developed by </a:t>
            </a:r>
            <a:r>
              <a:rPr lang="en-US" dirty="0" smtClean="0">
                <a:solidFill>
                  <a:srgbClr val="000000"/>
                </a:solidFill>
                <a:latin typeface="Courier New"/>
              </a:rPr>
              <a:t>Google</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Released </a:t>
            </a:r>
            <a:r>
              <a:rPr lang="en-US" dirty="0">
                <a:solidFill>
                  <a:srgbClr val="000000"/>
                </a:solidFill>
                <a:latin typeface="Courier New"/>
              </a:rPr>
              <a:t>in </a:t>
            </a:r>
            <a:r>
              <a:rPr lang="en-US" dirty="0" smtClean="0">
                <a:solidFill>
                  <a:srgbClr val="000000"/>
                </a:solidFill>
                <a:latin typeface="Courier New"/>
              </a:rPr>
              <a:t>2015</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Python bindings                                                                                                                                                                                                                                </a:t>
            </a: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Historically </a:t>
            </a:r>
            <a:r>
              <a:rPr lang="en-US" dirty="0">
                <a:solidFill>
                  <a:srgbClr val="000000"/>
                </a:solidFill>
                <a:latin typeface="Courier New"/>
              </a:rPr>
              <a:t>dominant framework for building and training deep neural networks                                                                                                                                                                  </a:t>
            </a: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err="1" smtClean="0">
                <a:solidFill>
                  <a:srgbClr val="000000"/>
                </a:solidFill>
                <a:latin typeface="Courier New"/>
              </a:rPr>
              <a:t>TensorFlow</a:t>
            </a:r>
            <a:r>
              <a:rPr lang="en-US" dirty="0" smtClean="0">
                <a:solidFill>
                  <a:srgbClr val="000000"/>
                </a:solidFill>
                <a:latin typeface="Courier New"/>
              </a:rPr>
              <a:t> </a:t>
            </a:r>
            <a:r>
              <a:rPr lang="en-US" dirty="0">
                <a:solidFill>
                  <a:srgbClr val="000000"/>
                </a:solidFill>
                <a:latin typeface="Courier New"/>
              </a:rPr>
              <a:t>originally relied entirely on static computation graphs                                                                                                                                                                              </a:t>
            </a:r>
            <a:endParaRPr lang="en-US" dirty="0" smtClean="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marL="285750" indent="-285750">
              <a:buFont typeface="Arial" panose="020B0604020202020204" pitchFamily="34" charset="0"/>
              <a:buChar cha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Now </a:t>
            </a:r>
            <a:r>
              <a:rPr lang="en-US" dirty="0">
                <a:solidFill>
                  <a:srgbClr val="000000"/>
                </a:solidFill>
                <a:latin typeface="Courier New"/>
              </a:rPr>
              <a:t>uses Eager execution which is dynamic but core strength remains static mapping</a:t>
            </a:r>
          </a:p>
        </p:txBody>
      </p:sp>
    </p:spTree>
    <p:extLst>
      <p:ext uri="{BB962C8B-B14F-4D97-AF65-F5344CB8AC3E}">
        <p14:creationId xmlns:p14="http://schemas.microsoft.com/office/powerpoint/2010/main" val="21676284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Calling cuBLAS</a:t>
            </a:r>
          </a:p>
        </p:txBody>
      </p:sp>
      <p:sp>
        <p:nvSpPr>
          <p:cNvPr id="901" name="Rectangle 900"/>
          <p:cNvSpPr/>
          <p:nvPr/>
        </p:nvSpPr>
        <p:spPr>
          <a:xfrm>
            <a:off x="731520" y="1691640"/>
            <a:ext cx="8595360" cy="3698494"/>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#include &lt;cublas_v2.h&gt;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cublasHandle_t handle;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cublasCreate(&amp;handle);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const float alpha = 1.0f, beta = 0.0f;</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cuBLAS is column-major:  ask for  C^T = B^T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cublasSgemm(handle, CUBLAS_OP_N, CUBLAS_OP_N,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N, N, N, &amp;alpha,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d_B, N,  d_A,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&amp;beta, d_C,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700">
                <a:solidFill>
                  <a:srgbClr val="000000"/>
                </a:solidFill>
                <a:latin typeface="Courier New"/>
              </a:rPr>
              <a:t>cublasDestroy(handle);</a:t>
            </a:r>
          </a:p>
        </p:txBody>
      </p:sp>
    </p:spTree>
    <p:extLst>
      <p:ext uri="{BB962C8B-B14F-4D97-AF65-F5344CB8AC3E}">
        <p14:creationId xmlns:p14="http://schemas.microsoft.com/office/powerpoint/2010/main" val="421353990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PyTorch:  One Line</a:t>
            </a:r>
          </a:p>
        </p:txBody>
      </p:sp>
      <p:sp>
        <p:nvSpPr>
          <p:cNvPr id="901" name="Rectangle 900"/>
          <p:cNvSpPr/>
          <p:nvPr/>
        </p:nvSpPr>
        <p:spPr>
          <a:xfrm>
            <a:off x="731520" y="1691640"/>
            <a:ext cx="8595360" cy="2784347"/>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import torch</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a = torch.randn(4096, 4096, device="cuda")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b = torch.randn(4096, 4096, device="cuda")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c = a @ b           # runs a cuBLAS kernel on the GPU</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torch.cuda.synchronize()    # wait, like cudaDeviceSynchronize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a:solidFill>
                  <a:srgbClr val="000000"/>
                </a:solidFill>
                <a:latin typeface="Courier New"/>
              </a:rPr>
              <a:t>print(c.shape)</a:t>
            </a:r>
          </a:p>
        </p:txBody>
      </p:sp>
      <p:sp>
        <p:nvSpPr>
          <p:cNvPr id="902" name="TextBox 901"/>
          <p:cNvSpPr txBox="1"/>
          <p:nvPr/>
        </p:nvSpPr>
        <p:spPr>
          <a:xfrm>
            <a:off x="731520" y="4567427"/>
            <a:ext cx="8595360" cy="457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1800" b="0" i="1">
                <a:solidFill>
                  <a:srgbClr val="000000"/>
                </a:solidFill>
                <a:latin typeface="Cambria"/>
              </a:rPr>
              <a:t>Same five steps as before,  hidden inside the library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Writing Kernels in Python:  Triton</a:t>
            </a:r>
          </a:p>
        </p:txBody>
      </p:sp>
      <p:sp>
        <p:nvSpPr>
          <p:cNvPr id="901" name="Rectangle 900"/>
          <p:cNvSpPr/>
          <p:nvPr/>
        </p:nvSpPr>
        <p:spPr>
          <a:xfrm>
            <a:off x="731520" y="1691640"/>
            <a:ext cx="8595360" cy="329565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import triton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import triton.language as tl</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@triton.jit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def add_kernel(x_ptr, y_ptr, out_ptr, n, BLOCK: tl.constexpr):</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pid  = tl.program_id(0)             # like blockIdx.x</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offs = pid * BLOCK + tl.arange(0, BLOCK)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mask = offs &lt; n                     # like if (i &lt; n)</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x = tl.load(x_ptr + offs, mask=mask)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y = tl.load(y_ptr + offs, mask=mask)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tl.store(out_ptr + offs, x + y, mask=mask)</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500">
                <a:solidFill>
                  <a:srgbClr val="000000"/>
                </a:solidFill>
                <a:latin typeface="Courier New"/>
              </a:rPr>
              <a:t>add_kernel[(triton.cdiv(n, 1024),)](x, y, out, n, BLOCK=1024)</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Other Ways In</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CuPy</a:t>
            </a:r>
            <a:r>
              <a:rPr sz="2600" b="0" i="0">
                <a:solidFill>
                  <a:srgbClr val="000000"/>
                </a:solidFill>
                <a:latin typeface="Cambria"/>
              </a:rPr>
              <a:t>,  </a:t>
            </a:r>
            <a:r>
              <a:rPr sz="2600" b="1" i="0">
                <a:solidFill>
                  <a:srgbClr val="000000"/>
                </a:solidFill>
                <a:latin typeface="Cambria"/>
              </a:rPr>
              <a:t>Numba</a:t>
            </a:r>
            <a:r>
              <a:rPr sz="2600" b="0" i="0">
                <a:solidFill>
                  <a:srgbClr val="000000"/>
                </a:solidFill>
                <a:latin typeface="Cambria"/>
              </a:rPr>
              <a:t>:  NumPy-style arrays on the GPU</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HIP</a:t>
            </a:r>
            <a:r>
              <a:rPr sz="2600" b="0" i="0">
                <a:solidFill>
                  <a:srgbClr val="000000"/>
                </a:solidFill>
                <a:latin typeface="Cambria"/>
              </a:rPr>
              <a:t>:  AMD's CUDA look-alike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OpenCL</a:t>
            </a:r>
            <a:r>
              <a:rPr sz="2600" b="0" i="0">
                <a:solidFill>
                  <a:srgbClr val="000000"/>
                </a:solidFill>
                <a:latin typeface="Cambria"/>
              </a:rPr>
              <a:t>,  </a:t>
            </a:r>
            <a:r>
              <a:rPr sz="2600" b="1" i="0">
                <a:solidFill>
                  <a:srgbClr val="000000"/>
                </a:solidFill>
                <a:latin typeface="Cambria"/>
              </a:rPr>
              <a:t>SYCL</a:t>
            </a:r>
            <a:r>
              <a:rPr sz="2600" b="0" i="0">
                <a:solidFill>
                  <a:srgbClr val="000000"/>
                </a:solidFill>
                <a:latin typeface="Cambria"/>
              </a:rPr>
              <a:t>:  vendor-neutral standards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model underneath is always the same: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grid  →  blocks  →  threads  →  warps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Key Ideas from Part 2</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Write the kernel for </a:t>
            </a:r>
            <a:r>
              <a:rPr sz="2600" b="1" i="0">
                <a:solidFill>
                  <a:srgbClr val="000000"/>
                </a:solidFill>
                <a:latin typeface="Cambria"/>
              </a:rPr>
              <a:t>one</a:t>
            </a:r>
            <a:r>
              <a:rPr sz="2600" b="0" i="0">
                <a:solidFill>
                  <a:srgbClr val="000000"/>
                </a:solidFill>
                <a:latin typeface="Cambria"/>
              </a:rPr>
              <a:t> thread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Index with  blockIdx,  blockDim,  threadIdx</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Warps of 32 run in lockstep:  avoid divergence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Neighbours touch neighbours:  coalesce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Reuse data in </a:t>
            </a:r>
            <a:r>
              <a:rPr sz="2600" b="1" i="0">
                <a:solidFill>
                  <a:srgbClr val="000000"/>
                </a:solidFill>
                <a:latin typeface="Cambria"/>
              </a:rPr>
              <a:t>shared memory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In practice:  call cuBLAS or PyTorch</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Let's Write Some Kernels</a:t>
            </a:r>
          </a:p>
        </p:txBody>
      </p:sp>
      <p:sp>
        <p:nvSpPr>
          <p:cNvPr id="901" name="TextBox 900"/>
          <p:cNvSpPr txBox="1"/>
          <p:nvPr/>
        </p:nvSpPr>
        <p:spPr>
          <a:xfrm>
            <a:off x="731520" y="1691640"/>
            <a:ext cx="8595360" cy="731520"/>
          </a:xfrm>
          <a:prstGeom prst="rect">
            <a:avLst/>
          </a:prstGeom>
          <a:noFill/>
        </p:spPr>
        <p:txBody>
          <a:bodyPr wrap="square" lIns="0" tIns="0" rIns="0" bIns="0" anchor="ctr">
            <a:spAutoFit/>
          </a:bodyPr>
          <a:lstStyle/>
          <a:p>
            <a:pPr algn="ctr"/>
            <a:r>
              <a:rPr sz="3600" b="0" i="0">
                <a:solidFill>
                  <a:srgbClr val="000000"/>
                </a:solidFill>
                <a:latin typeface="Calibri"/>
              </a:rPr>
              <a:t>Exercise:  Three Matrix Multiplies</a:t>
            </a:r>
          </a:p>
        </p:txBody>
      </p:sp>
      <p:sp>
        <p:nvSpPr>
          <p:cNvPr id="902" name="TextBox 901"/>
          <p:cNvSpPr txBox="1"/>
          <p:nvPr/>
        </p:nvSpPr>
        <p:spPr>
          <a:xfrm>
            <a:off x="731520" y="251460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1.	Build  vec_add  and check every element against the CPU</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2.	Write the naive and tiled  matmul  kernels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3.	Time each for  N = 512,  1024,  2048  using  cudaEvent</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4.	Time  cublasSgemm  and  PyTorch  a @ b  at the same sizes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5.	Report  GFLOP/s  =  2 N³  /  time.   Plot all four</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6.	Try  TILE = 8,  16,  32.   Explain what you see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60214</TotalTime>
  <Words>5846</Words>
  <Application>Microsoft Office PowerPoint</Application>
  <PresentationFormat>Custom</PresentationFormat>
  <Paragraphs>648</Paragraphs>
  <Slides>55</Slides>
  <Notes>55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55</vt:i4>
      </vt:variant>
    </vt:vector>
  </HeadingPairs>
  <TitlesOfParts>
    <vt:vector size="69" baseType="lpstr">
      <vt:lpstr>ＭＳ Ｐゴシック</vt:lpstr>
      <vt:lpstr>Arial</vt:lpstr>
      <vt:lpstr>Calibri</vt:lpstr>
      <vt:lpstr>Cambria</vt:lpstr>
      <vt:lpstr>Courier New</vt:lpstr>
      <vt:lpstr>DejaVu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597</cp:revision>
  <dcterms:created xsi:type="dcterms:W3CDTF">2013-08-28T11:36:20Z</dcterms:created>
  <dcterms:modified xsi:type="dcterms:W3CDTF">2026-10-05T15:26:25Z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